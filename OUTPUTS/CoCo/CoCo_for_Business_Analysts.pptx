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session is for senior business analysts who know our processes and data better than anyone. You do not need to write code to use CoCo (short for Cortex Code, Snowflake's AI agent). The goal today is to show how your domain expertise plus CoCo gets you faster, safer answers. Product facts in this deck come from Snowflake's documentation as of early October 2026; the product changes quickly, so check the changelog before relying on any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outcomes for today. Everything is framed around work you already do: finding data, defining fields, answering questions, reconciling, mapping and explaining logic. No coding is required to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parts. Parts 1 to 3 are about 30 minutes, the playbooks are the core, and the labs are where we practice together. Skip ahead to the labs if time is short.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message for this team: your expertise is what makes CoCo's output useful. CoCo can produce confident but wrong answers, and only someone who knows the business can tell. Treat it like a fast junior colleague who needs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CoCo is documented by Snowflake as an AI coding agent. For analysts the useful framing is an assistant that can read our schemas and write and run SQL on request. Because it can act, not just answer, we use approval modes, covered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in Snowsight because it needs no installation and uses the browser you already have. Desktop is worth exploring for visualization and app building. The command line is mostly for developers. Preview features can change; check with the admin before depending on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CoCo is not a one-shot chatbot. It iterates: it plans, runs a query, reads the result and adjusts. You steer by asking, approving actions and checking the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CoCo is safer than a tool with its own service account: it inherits our governance. Access requires both the right role and a non-zero daily limit. If someone on the team is blocked, those are the two things to check, plus cross-region inference at the account level.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reminder of medallion architecture, which the data lake team already built. The BA tip: start with Gold, go to Silver when a number looks wrong, and go to Bronze to see what the source system really delivered.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cheat sheet. Each layer has a natural kind of question. CoCo can infer logic from table structure and SQL, but inferred logic is a hypothesis. Confirm with the owners.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understood 'Cortex Code and Streamlit enabled for all employees'. The documentation I reviewed describes Streamlit and App Runtime app building in CoCo Desktop and CLI, so please confirm the exact availability in Snowsight with the platform admin.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live if possible. The exact menu placement changes by release, so rely on in-product help. If someone sees an access message, they need the role and a non-zero daily limit.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prompts only read. They are a gentle way to see how CoCo responds. Encourage everyone to try all four with a table they know well so they can judge the quality of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poor results come from missing context. You hold the business definitions, so supply them. Asking for assumptions up front turns hidden guesses into reviewable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checklist: Goal, Data, Rules, Output, Check. It keeps prompts short but complete. Print it or paste it in a team channel.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weak prompt forces CoCo to guess everything. The strong one is only five short lines, and it makes the result testable. Table names here are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1. This replaces asking around for table names. The result is a shortlist, not an answer. Always confirm with the data steward.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2. CoCo can show distinct values and counts, but meaning comes from you and the glossary. The 'mark guesses' instruction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3. You do not need to write SQL, but learn to read the filters. Most wrong answers come from wrong date logic or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4. Reconciliation is a classic BA task. CoCo finds where numbers diverge and offers hypotheses; the owners confirm the cause.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5. A strong BA use case. CoCo drafts from table structures and code it can see. Anything it cannot see should be marked unknown.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6. Useful for change requests. Remind the team that dependencies outside Snowflake, such as some reports, may not appear.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7. This turns undocumented logic into reviewable business rules. It is a quick path to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8. Great for prototypes. Note that sharing an app is a data access decision, so involve the data owner.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Playbook 9. Semantic models let business questions map to approved metrics. BAs are ideal authors of the definitions. Deployment is a developer task.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rules for everyday use. The healthcare context matters: Snowflake documentation I reviewed does not address HIPAA, BAA or data residency for CoCo, so ask Compliance and Snowflake before using regulated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Approval modes control how much CoCo can do without asking. For this team, default approvals is the right choice. Bypass is for experienced developers in isolated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these as seatbelts. They exist so individual users do not have to be perfect. Ask the platform team which of these are configured in our account.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limits. The benchmark figure of 72.1 percent versus 65.1 percent on ADE-Bench is reported by the vendor and has not been independently replicated. The prompt-injection issue was reported by PromptArmor and fixed in CLI 1.0.25.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habit that matters most. Verification is where your business expertise is most valuable, and it is how the team stays comfortable with AI-assisted 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details: per-user daily limits are configured through account parameters for each surface, and usage appears in usage history views. I did not read the token rate tables, so I am not quoting prices here.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 the easiest way for BAs to scale their expertise. Write the steps you would tell a new colleague, and CoCo follows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example, not copied from Snowflake docs. The front matter names and describes the skill, and the body holds steps in plain language. Check the current docs for exact format and locations.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files such as AGENTS.md carry standing rules. The content shown is an example of the kind of rules a team might add. Schema names are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multiplies value and risk. Anything shared should be reviewed by someone other than the author, and it should not contain secrets or sensitive data.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Automations are powerful because nobody is there to approve actions. That is why they should be read-only and reviewed. Details are from Snowflake documentation and may change while in preview.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CoCo shortens the path to a draft, but production still needs engineering discipline. Hand-offs work best when BAs give developers tested drafts and clear acceptance checks.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build trust through a table you know. Capture where CoCo was wrong; those examples are the best teaching material.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lab is the heart of the session. The comparison with a known answer shows both the value and the risk. Discuss differences as a group.</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realistic deliverable for a BA. Emphasize the unknowns list: it is the most valuable output because it highlights where to ask questions.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suggested pace; adjust to workload. The aim is small habits, measured gently, and a growing library of reviewed skills.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proposals to discuss, not policy. Adopt, edit or discard them as a team.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people only remember one thing, it is the last bullet.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open items that I could not answer from public documentation. The healthcare questions in particular need a formal answer from Compliance and Snowflake.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are in section 18 of the learning guide. Third-party claims are labeled as such there. The videos were not reviewed.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then begin Lab 1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63A"/>
        </a:solidFill>
        <a:effectLst/>
      </p:bgPr>
    </p:bg>
    <p:spTree>
      <p:nvGrpSpPr>
        <p:cNvPr id="1" name=""/>
        <p:cNvGrpSpPr/>
        <p:nvPr/>
      </p:nvGrpSpPr>
      <p:grpSpPr/>
      <p:sp>
        <p:nvSpPr>
          <p:cNvPr id="2" name="TextBox 1"/>
          <p:cNvSpPr txBox="1"/>
          <p:nvPr/>
        </p:nvSpPr>
        <p:spPr>
          <a:xfrm>
            <a:off x="812800" y="812800"/>
            <a:ext cx="10566400" cy="341312"/>
          </a:xfrm>
          <a:prstGeom prst="rect">
            <a:avLst/>
          </a:prstGeom>
          <a:noFill/>
        </p:spPr>
        <p:txBody>
          <a:bodyPr wrap="square" lIns="0" rIns="0" tIns="0" bIns="0">
            <a:spAutoFit/>
          </a:bodyPr>
          <a:lstStyle/>
          <a:p>
            <a:pPr>
              <a:lnSpc>
                <a:spcPct val="104167"/>
              </a:lnSpc>
            </a:pPr>
            <a:r>
              <a:rPr sz="1750" b="1">
                <a:solidFill>
                  <a:srgbClr val="7CC4E8"/>
                </a:solidFill>
                <a:latin typeface="Calibri"/>
              </a:rPr>
              <a:t>TEAM KNOWLEDGE SESSION</a:t>
            </a:r>
          </a:p>
        </p:txBody>
      </p:sp>
      <p:sp>
        <p:nvSpPr>
          <p:cNvPr id="3" name="TextBox 2"/>
          <p:cNvSpPr txBox="1"/>
          <p:nvPr/>
        </p:nvSpPr>
        <p:spPr>
          <a:xfrm>
            <a:off x="812800" y="1779270"/>
            <a:ext cx="10566400" cy="2200910"/>
          </a:xfrm>
          <a:prstGeom prst="rect">
            <a:avLst/>
          </a:prstGeom>
          <a:noFill/>
        </p:spPr>
        <p:txBody>
          <a:bodyPr wrap="square" lIns="0" rIns="0" tIns="0" bIns="0">
            <a:spAutoFit/>
          </a:bodyPr>
          <a:lstStyle/>
          <a:p>
            <a:pPr>
              <a:lnSpc>
                <a:spcPct val="90000"/>
              </a:lnSpc>
            </a:pPr>
            <a:r>
              <a:rPr sz="8250" b="1">
                <a:solidFill>
                  <a:srgbClr val="F6F4EF"/>
                </a:solidFill>
                <a:latin typeface="Calibri"/>
              </a:rPr>
              <a:t>CoCo for</a:t>
            </a:r>
          </a:p>
          <a:p>
            <a:pPr>
              <a:lnSpc>
                <a:spcPct val="90000"/>
              </a:lnSpc>
            </a:pPr>
            <a:r>
              <a:rPr sz="8250" b="1">
                <a:solidFill>
                  <a:srgbClr val="F6F4EF"/>
                </a:solidFill>
                <a:latin typeface="Calibri"/>
              </a:rPr>
              <a:t>Business Analysts</a:t>
            </a:r>
          </a:p>
        </p:txBody>
      </p:sp>
      <p:sp>
        <p:nvSpPr>
          <p:cNvPr id="4" name="TextBox 3"/>
          <p:cNvSpPr txBox="1"/>
          <p:nvPr/>
        </p:nvSpPr>
        <p:spPr>
          <a:xfrm>
            <a:off x="812800" y="4145279"/>
            <a:ext cx="10566400" cy="971550"/>
          </a:xfrm>
          <a:prstGeom prst="rect">
            <a:avLst/>
          </a:prstGeom>
          <a:noFill/>
        </p:spPr>
        <p:txBody>
          <a:bodyPr wrap="square" lIns="0" rIns="0" tIns="0" bIns="0">
            <a:spAutoFit/>
          </a:bodyPr>
          <a:lstStyle/>
          <a:p>
            <a:pPr>
              <a:lnSpc>
                <a:spcPct val="108333"/>
              </a:lnSpc>
            </a:pPr>
            <a:r>
              <a:rPr sz="2750" b="0">
                <a:solidFill>
                  <a:srgbClr val="B9C7D3"/>
                </a:solidFill>
                <a:latin typeface="Calibri"/>
              </a:rPr>
              <a:t>Using Snowflake Cortex Code with our medallion data lake: a practical, no-code-required guide</a:t>
            </a:r>
          </a:p>
        </p:txBody>
      </p:sp>
      <p:sp>
        <p:nvSpPr>
          <p:cNvPr id="5" name="TextBox 4"/>
          <p:cNvSpPr txBox="1"/>
          <p:nvPr/>
        </p:nvSpPr>
        <p:spPr>
          <a:xfrm>
            <a:off x="812800" y="5741987"/>
            <a:ext cx="1610360" cy="341312"/>
          </a:xfrm>
          <a:prstGeom prst="rect">
            <a:avLst/>
          </a:prstGeom>
          <a:noFill/>
        </p:spPr>
        <p:txBody>
          <a:bodyPr wrap="square" lIns="0" rIns="0" tIns="0" bIns="0">
            <a:spAutoFit/>
          </a:bodyPr>
          <a:lstStyle/>
          <a:p>
            <a:pPr>
              <a:lnSpc>
                <a:spcPct val="104167"/>
              </a:lnSpc>
            </a:pPr>
            <a:r>
              <a:rPr sz="1750" b="1">
                <a:solidFill>
                  <a:srgbClr val="F2A06B"/>
                </a:solidFill>
                <a:latin typeface="Calibri"/>
              </a:rPr>
              <a:t>October 2026</a:t>
            </a:r>
          </a:p>
        </p:txBody>
      </p:sp>
      <p:sp>
        <p:nvSpPr>
          <p:cNvPr id="6" name="TextBox 5"/>
          <p:cNvSpPr txBox="1"/>
          <p:nvPr/>
        </p:nvSpPr>
        <p:spPr>
          <a:xfrm>
            <a:off x="2727960" y="5741987"/>
            <a:ext cx="8651240" cy="341312"/>
          </a:xfrm>
          <a:prstGeom prst="rect">
            <a:avLst/>
          </a:prstGeom>
          <a:noFill/>
        </p:spPr>
        <p:txBody>
          <a:bodyPr wrap="square" lIns="0" rIns="0" tIns="0" bIns="0">
            <a:spAutoFit/>
          </a:bodyPr>
          <a:lstStyle/>
          <a:p>
            <a:pPr>
              <a:lnSpc>
                <a:spcPct val="104167"/>
              </a:lnSpc>
            </a:pPr>
            <a:r>
              <a:rPr sz="1750" b="0">
                <a:solidFill>
                  <a:srgbClr val="B9C7D3"/>
                </a:solidFill>
                <a:latin typeface="Calibri"/>
              </a:rPr>
              <a:t>Snowsight · Desktop · Streamlit · Governance · Hands-on labs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WELCOME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What you will take away</a:t>
            </a:r>
          </a:p>
        </p:txBody>
      </p:sp>
      <p:sp>
        <p:nvSpPr>
          <p:cNvPr id="4" name="Rounded Rectangle 3"/>
          <p:cNvSpPr/>
          <p:nvPr/>
        </p:nvSpPr>
        <p:spPr>
          <a:xfrm>
            <a:off x="812800" y="2127408"/>
            <a:ext cx="5194300" cy="1546225"/>
          </a:xfrm>
          <a:prstGeom prst="roundRect">
            <a:avLst>
              <a:gd name="adj" fmla="val 821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47879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Explain it</a:t>
            </a:r>
          </a:p>
        </p:txBody>
      </p:sp>
      <p:sp>
        <p:nvSpPr>
          <p:cNvPr id="6" name="TextBox 5"/>
          <p:cNvSpPr txBox="1"/>
          <p:nvPr/>
        </p:nvSpPr>
        <p:spPr>
          <a:xfrm>
            <a:off x="1016000" y="2802096"/>
            <a:ext cx="4787900" cy="706437"/>
          </a:xfrm>
          <a:prstGeom prst="rect">
            <a:avLst/>
          </a:prstGeom>
          <a:noFill/>
        </p:spPr>
        <p:txBody>
          <a:bodyPr wrap="square" lIns="0" rIns="0" tIns="0" bIns="0">
            <a:spAutoFit/>
          </a:bodyPr>
          <a:lstStyle/>
          <a:p>
            <a:pPr>
              <a:lnSpc>
                <a:spcPct val="112500"/>
              </a:lnSpc>
            </a:pPr>
            <a:r>
              <a:rPr sz="1875" b="0">
                <a:solidFill>
                  <a:srgbClr val="4A5A6A"/>
                </a:solidFill>
                <a:latin typeface="Calibri"/>
              </a:rPr>
              <a:t>Say in two sentences what CoCo is, what it can do, and what it cannot do for you.</a:t>
            </a:r>
          </a:p>
        </p:txBody>
      </p:sp>
      <p:sp>
        <p:nvSpPr>
          <p:cNvPr id="7" name="Rounded Rectangle 6"/>
          <p:cNvSpPr/>
          <p:nvPr/>
        </p:nvSpPr>
        <p:spPr>
          <a:xfrm>
            <a:off x="6184900" y="2127408"/>
            <a:ext cx="5194300" cy="1546225"/>
          </a:xfrm>
          <a:prstGeom prst="roundRect">
            <a:avLst>
              <a:gd name="adj" fmla="val 821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8100" y="2330608"/>
            <a:ext cx="47879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Use it</a:t>
            </a:r>
          </a:p>
        </p:txBody>
      </p:sp>
      <p:sp>
        <p:nvSpPr>
          <p:cNvPr id="9" name="TextBox 8"/>
          <p:cNvSpPr txBox="1"/>
          <p:nvPr/>
        </p:nvSpPr>
        <p:spPr>
          <a:xfrm>
            <a:off x="6388100" y="2802096"/>
            <a:ext cx="4787900" cy="706437"/>
          </a:xfrm>
          <a:prstGeom prst="rect">
            <a:avLst/>
          </a:prstGeom>
          <a:noFill/>
        </p:spPr>
        <p:txBody>
          <a:bodyPr wrap="square" lIns="0" rIns="0" tIns="0" bIns="0">
            <a:spAutoFit/>
          </a:bodyPr>
          <a:lstStyle/>
          <a:p>
            <a:pPr>
              <a:lnSpc>
                <a:spcPct val="112500"/>
              </a:lnSpc>
            </a:pPr>
            <a:r>
              <a:rPr sz="1875" b="0">
                <a:solidFill>
                  <a:srgbClr val="4A5A6A"/>
                </a:solidFill>
                <a:latin typeface="Calibri"/>
              </a:rPr>
              <a:t>Open CoCo in Snowsight and write a first prompt that gets a useful answer.</a:t>
            </a:r>
          </a:p>
        </p:txBody>
      </p:sp>
      <p:sp>
        <p:nvSpPr>
          <p:cNvPr id="10" name="Rounded Rectangle 9"/>
          <p:cNvSpPr/>
          <p:nvPr/>
        </p:nvSpPr>
        <p:spPr>
          <a:xfrm>
            <a:off x="812800" y="3851433"/>
            <a:ext cx="5194300" cy="1546225"/>
          </a:xfrm>
          <a:prstGeom prst="roundRect">
            <a:avLst>
              <a:gd name="adj" fmla="val 821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4054633"/>
            <a:ext cx="47879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Apply it</a:t>
            </a:r>
          </a:p>
        </p:txBody>
      </p:sp>
      <p:sp>
        <p:nvSpPr>
          <p:cNvPr id="12" name="TextBox 11"/>
          <p:cNvSpPr txBox="1"/>
          <p:nvPr/>
        </p:nvSpPr>
        <p:spPr>
          <a:xfrm>
            <a:off x="1016000" y="4526121"/>
            <a:ext cx="4787900" cy="706437"/>
          </a:xfrm>
          <a:prstGeom prst="rect">
            <a:avLst/>
          </a:prstGeom>
          <a:noFill/>
        </p:spPr>
        <p:txBody>
          <a:bodyPr wrap="square" lIns="0" rIns="0" tIns="0" bIns="0">
            <a:spAutoFit/>
          </a:bodyPr>
          <a:lstStyle/>
          <a:p>
            <a:pPr>
              <a:lnSpc>
                <a:spcPct val="112500"/>
              </a:lnSpc>
            </a:pPr>
            <a:r>
              <a:rPr sz="1875" b="0">
                <a:solidFill>
                  <a:srgbClr val="4A5A6A"/>
                </a:solidFill>
                <a:latin typeface="Calibri"/>
              </a:rPr>
              <a:t>Run nine business-analyst playbooks against our medallion data lake.</a:t>
            </a:r>
          </a:p>
        </p:txBody>
      </p:sp>
      <p:sp>
        <p:nvSpPr>
          <p:cNvPr id="13" name="Rounded Rectangle 12"/>
          <p:cNvSpPr/>
          <p:nvPr/>
        </p:nvSpPr>
        <p:spPr>
          <a:xfrm>
            <a:off x="6184900" y="3851433"/>
            <a:ext cx="5194300" cy="1546225"/>
          </a:xfrm>
          <a:prstGeom prst="roundRect">
            <a:avLst>
              <a:gd name="adj" fmla="val 821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100" y="4054633"/>
            <a:ext cx="47879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Trust it wisely</a:t>
            </a:r>
          </a:p>
        </p:txBody>
      </p:sp>
      <p:sp>
        <p:nvSpPr>
          <p:cNvPr id="15" name="TextBox 14"/>
          <p:cNvSpPr txBox="1"/>
          <p:nvPr/>
        </p:nvSpPr>
        <p:spPr>
          <a:xfrm>
            <a:off x="6388100" y="4526121"/>
            <a:ext cx="4787900" cy="706437"/>
          </a:xfrm>
          <a:prstGeom prst="rect">
            <a:avLst/>
          </a:prstGeom>
          <a:noFill/>
        </p:spPr>
        <p:txBody>
          <a:bodyPr wrap="square" lIns="0" rIns="0" tIns="0" bIns="0">
            <a:spAutoFit/>
          </a:bodyPr>
          <a:lstStyle/>
          <a:p>
            <a:pPr>
              <a:lnSpc>
                <a:spcPct val="112500"/>
              </a:lnSpc>
            </a:pPr>
            <a:r>
              <a:rPr sz="1875" b="0">
                <a:solidFill>
                  <a:srgbClr val="4A5A6A"/>
                </a:solidFill>
                <a:latin typeface="Calibri"/>
              </a:rPr>
              <a:t>Know the approval modes, verify results, and know when to ask for help.</a:t>
            </a:r>
          </a:p>
        </p:txBody>
      </p:sp>
      <p:sp>
        <p:nvSpPr>
          <p:cNvPr id="16" name="TextBox 1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WELCOME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Agenda</a:t>
            </a:r>
          </a:p>
        </p:txBody>
      </p:sp>
      <p:sp>
        <p:nvSpPr>
          <p:cNvPr id="4" name="TextBox 3"/>
          <p:cNvSpPr txBox="1"/>
          <p:nvPr/>
        </p:nvSpPr>
        <p:spPr>
          <a:xfrm>
            <a:off x="812800" y="2127408"/>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1</a:t>
            </a:r>
          </a:p>
        </p:txBody>
      </p:sp>
      <p:sp>
        <p:nvSpPr>
          <p:cNvPr id="5" name="TextBox 4"/>
          <p:cNvSpPr txBox="1"/>
          <p:nvPr/>
        </p:nvSpPr>
        <p:spPr>
          <a:xfrm>
            <a:off x="1346200" y="2127408"/>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Welcome and mindset</a:t>
            </a:r>
          </a:p>
        </p:txBody>
      </p:sp>
      <p:sp>
        <p:nvSpPr>
          <p:cNvPr id="6" name="TextBox 5"/>
          <p:cNvSpPr txBox="1"/>
          <p:nvPr/>
        </p:nvSpPr>
        <p:spPr>
          <a:xfrm>
            <a:off x="812800" y="2689383"/>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2</a:t>
            </a:r>
          </a:p>
        </p:txBody>
      </p:sp>
      <p:sp>
        <p:nvSpPr>
          <p:cNvPr id="7" name="TextBox 6"/>
          <p:cNvSpPr txBox="1"/>
          <p:nvPr/>
        </p:nvSpPr>
        <p:spPr>
          <a:xfrm>
            <a:off x="1346200" y="2689383"/>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What CoCo is and how it fits our data lake</a:t>
            </a:r>
          </a:p>
        </p:txBody>
      </p:sp>
      <p:sp>
        <p:nvSpPr>
          <p:cNvPr id="8" name="TextBox 7"/>
          <p:cNvSpPr txBox="1"/>
          <p:nvPr/>
        </p:nvSpPr>
        <p:spPr>
          <a:xfrm>
            <a:off x="812800" y="3251358"/>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3</a:t>
            </a:r>
          </a:p>
        </p:txBody>
      </p:sp>
      <p:sp>
        <p:nvSpPr>
          <p:cNvPr id="9" name="TextBox 8"/>
          <p:cNvSpPr txBox="1"/>
          <p:nvPr/>
        </p:nvSpPr>
        <p:spPr>
          <a:xfrm>
            <a:off x="1346200" y="3251358"/>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Getting started and prompting</a:t>
            </a:r>
          </a:p>
        </p:txBody>
      </p:sp>
      <p:sp>
        <p:nvSpPr>
          <p:cNvPr id="10" name="TextBox 9"/>
          <p:cNvSpPr txBox="1"/>
          <p:nvPr/>
        </p:nvSpPr>
        <p:spPr>
          <a:xfrm>
            <a:off x="812800" y="3813333"/>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4</a:t>
            </a:r>
          </a:p>
        </p:txBody>
      </p:sp>
      <p:sp>
        <p:nvSpPr>
          <p:cNvPr id="11" name="TextBox 10"/>
          <p:cNvSpPr txBox="1"/>
          <p:nvPr/>
        </p:nvSpPr>
        <p:spPr>
          <a:xfrm>
            <a:off x="1346200" y="3813333"/>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Nine playbooks for business analysts</a:t>
            </a:r>
          </a:p>
        </p:txBody>
      </p:sp>
      <p:sp>
        <p:nvSpPr>
          <p:cNvPr id="12" name="TextBox 11"/>
          <p:cNvSpPr txBox="1"/>
          <p:nvPr/>
        </p:nvSpPr>
        <p:spPr>
          <a:xfrm>
            <a:off x="812800" y="4375308"/>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5</a:t>
            </a:r>
          </a:p>
        </p:txBody>
      </p:sp>
      <p:sp>
        <p:nvSpPr>
          <p:cNvPr id="13" name="TextBox 12"/>
          <p:cNvSpPr txBox="1"/>
          <p:nvPr/>
        </p:nvSpPr>
        <p:spPr>
          <a:xfrm>
            <a:off x="1346200" y="4375308"/>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Trust, safety and cost</a:t>
            </a:r>
          </a:p>
        </p:txBody>
      </p:sp>
      <p:sp>
        <p:nvSpPr>
          <p:cNvPr id="14" name="TextBox 13"/>
          <p:cNvSpPr txBox="1"/>
          <p:nvPr/>
        </p:nvSpPr>
        <p:spPr>
          <a:xfrm>
            <a:off x="812800" y="4937283"/>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6</a:t>
            </a:r>
          </a:p>
        </p:txBody>
      </p:sp>
      <p:sp>
        <p:nvSpPr>
          <p:cNvPr id="15" name="TextBox 14"/>
          <p:cNvSpPr txBox="1"/>
          <p:nvPr/>
        </p:nvSpPr>
        <p:spPr>
          <a:xfrm>
            <a:off x="1346200" y="4937283"/>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Leveling up: skills, sharing, automation</a:t>
            </a:r>
          </a:p>
        </p:txBody>
      </p:sp>
      <p:sp>
        <p:nvSpPr>
          <p:cNvPr id="16" name="TextBox 15"/>
          <p:cNvSpPr txBox="1"/>
          <p:nvPr/>
        </p:nvSpPr>
        <p:spPr>
          <a:xfrm>
            <a:off x="812800" y="5499258"/>
            <a:ext cx="355600" cy="460375"/>
          </a:xfrm>
          <a:prstGeom prst="rect">
            <a:avLst/>
          </a:prstGeom>
          <a:noFill/>
        </p:spPr>
        <p:txBody>
          <a:bodyPr wrap="square" lIns="0" rIns="0" tIns="0" bIns="0">
            <a:spAutoFit/>
          </a:bodyPr>
          <a:lstStyle/>
          <a:p>
            <a:pPr>
              <a:lnSpc>
                <a:spcPct val="104167"/>
              </a:lnSpc>
            </a:pPr>
            <a:r>
              <a:rPr sz="2500" b="1">
                <a:solidFill>
                  <a:srgbClr val="B84E12"/>
                </a:solidFill>
                <a:latin typeface="Calibri"/>
              </a:rPr>
              <a:t>7</a:t>
            </a:r>
          </a:p>
        </p:txBody>
      </p:sp>
      <p:sp>
        <p:nvSpPr>
          <p:cNvPr id="17" name="TextBox 16"/>
          <p:cNvSpPr txBox="1"/>
          <p:nvPr/>
        </p:nvSpPr>
        <p:spPr>
          <a:xfrm>
            <a:off x="1346200" y="5499258"/>
            <a:ext cx="10033000" cy="440531"/>
          </a:xfrm>
          <a:prstGeom prst="rect">
            <a:avLst/>
          </a:prstGeom>
          <a:noFill/>
        </p:spPr>
        <p:txBody>
          <a:bodyPr wrap="square" lIns="0" rIns="0" tIns="0" bIns="0">
            <a:spAutoFit/>
          </a:bodyPr>
          <a:lstStyle/>
          <a:p>
            <a:pPr>
              <a:lnSpc>
                <a:spcPct val="104167"/>
              </a:lnSpc>
            </a:pPr>
            <a:r>
              <a:rPr sz="2375" b="0">
                <a:solidFill>
                  <a:srgbClr val="14263A"/>
                </a:solidFill>
                <a:latin typeface="Calibri"/>
              </a:rPr>
              <a:t>Hands-on labs and our adoption plan</a:t>
            </a:r>
          </a:p>
        </p:txBody>
      </p:sp>
      <p:sp>
        <p:nvSpPr>
          <p:cNvPr id="18" name="TextBox 17"/>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WELCOME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You are the SME. CoCo is the accelerator.</a:t>
            </a:r>
          </a:p>
        </p:txBody>
      </p:sp>
      <p:sp>
        <p:nvSpPr>
          <p:cNvPr id="4" name="Rounded Rectangle 3"/>
          <p:cNvSpPr/>
          <p:nvPr/>
        </p:nvSpPr>
        <p:spPr>
          <a:xfrm>
            <a:off x="812800" y="2127408"/>
            <a:ext cx="5194300" cy="1951831"/>
          </a:xfrm>
          <a:prstGeom prst="roundRect">
            <a:avLst>
              <a:gd name="adj" fmla="val 650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4787900" cy="440531"/>
          </a:xfrm>
          <a:prstGeom prst="rect">
            <a:avLst/>
          </a:prstGeom>
          <a:noFill/>
        </p:spPr>
        <p:txBody>
          <a:bodyPr wrap="square" lIns="0" rIns="0" tIns="0" bIns="0">
            <a:spAutoFit/>
          </a:bodyPr>
          <a:lstStyle/>
          <a:p>
            <a:pPr>
              <a:lnSpc>
                <a:spcPct val="104167"/>
              </a:lnSpc>
            </a:pPr>
            <a:r>
              <a:rPr sz="2375" b="1">
                <a:solidFill>
                  <a:srgbClr val="1B6F9A"/>
                </a:solidFill>
                <a:latin typeface="Calibri"/>
              </a:rPr>
              <a:t>You bring</a:t>
            </a:r>
          </a:p>
        </p:txBody>
      </p:sp>
      <p:sp>
        <p:nvSpPr>
          <p:cNvPr id="6" name="TextBox 5"/>
          <p:cNvSpPr txBox="1"/>
          <p:nvPr/>
        </p:nvSpPr>
        <p:spPr>
          <a:xfrm>
            <a:off x="1016000" y="2821940"/>
            <a:ext cx="4787900" cy="1092200"/>
          </a:xfrm>
          <a:prstGeom prst="rect">
            <a:avLst/>
          </a:prstGeom>
          <a:noFill/>
        </p:spPr>
        <p:txBody>
          <a:bodyPr wrap="square" lIns="0" rIns="0" tIns="0" bIns="0">
            <a:spAutoFit/>
          </a:bodyPr>
          <a:lstStyle/>
          <a:p>
            <a:pPr>
              <a:lnSpc>
                <a:spcPct val="112500"/>
              </a:lnSpc>
            </a:pPr>
            <a:r>
              <a:rPr sz="2000" b="0">
                <a:solidFill>
                  <a:srgbClr val="4A5A6A"/>
                </a:solidFill>
                <a:latin typeface="Calibri"/>
              </a:rPr>
              <a:t>Business meaning, process knowledge, what a correct number looks like, and judgment on exceptions.</a:t>
            </a:r>
          </a:p>
        </p:txBody>
      </p:sp>
      <p:sp>
        <p:nvSpPr>
          <p:cNvPr id="7" name="Rounded Rectangle 6"/>
          <p:cNvSpPr/>
          <p:nvPr/>
        </p:nvSpPr>
        <p:spPr>
          <a:xfrm>
            <a:off x="6184900" y="2127408"/>
            <a:ext cx="5194300" cy="1951831"/>
          </a:xfrm>
          <a:prstGeom prst="roundRect">
            <a:avLst>
              <a:gd name="adj" fmla="val 650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8100" y="2330608"/>
            <a:ext cx="4787900" cy="440531"/>
          </a:xfrm>
          <a:prstGeom prst="rect">
            <a:avLst/>
          </a:prstGeom>
          <a:noFill/>
        </p:spPr>
        <p:txBody>
          <a:bodyPr wrap="square" lIns="0" rIns="0" tIns="0" bIns="0">
            <a:spAutoFit/>
          </a:bodyPr>
          <a:lstStyle/>
          <a:p>
            <a:pPr>
              <a:lnSpc>
                <a:spcPct val="104167"/>
              </a:lnSpc>
            </a:pPr>
            <a:r>
              <a:rPr sz="2375" b="1">
                <a:solidFill>
                  <a:srgbClr val="1B6F9A"/>
                </a:solidFill>
                <a:latin typeface="Calibri"/>
              </a:rPr>
              <a:t>CoCo brings</a:t>
            </a:r>
          </a:p>
        </p:txBody>
      </p:sp>
      <p:sp>
        <p:nvSpPr>
          <p:cNvPr id="9" name="TextBox 8"/>
          <p:cNvSpPr txBox="1"/>
          <p:nvPr/>
        </p:nvSpPr>
        <p:spPr>
          <a:xfrm>
            <a:off x="6388100" y="2821940"/>
            <a:ext cx="4787900" cy="1092200"/>
          </a:xfrm>
          <a:prstGeom prst="rect">
            <a:avLst/>
          </a:prstGeom>
          <a:noFill/>
        </p:spPr>
        <p:txBody>
          <a:bodyPr wrap="square" lIns="0" rIns="0" tIns="0" bIns="0">
            <a:spAutoFit/>
          </a:bodyPr>
          <a:lstStyle/>
          <a:p>
            <a:pPr>
              <a:lnSpc>
                <a:spcPct val="112500"/>
              </a:lnSpc>
            </a:pPr>
            <a:r>
              <a:rPr sz="2000" b="0">
                <a:solidFill>
                  <a:srgbClr val="4A5A6A"/>
                </a:solidFill>
                <a:latin typeface="Calibri"/>
              </a:rPr>
              <a:t>Fast SQL drafts, table exploration, summaries, small apps, and patience for tedious steps.</a:t>
            </a:r>
          </a:p>
        </p:txBody>
      </p:sp>
      <p:sp>
        <p:nvSpPr>
          <p:cNvPr id="10" name="Rectangle 9"/>
          <p:cNvSpPr/>
          <p:nvPr/>
        </p:nvSpPr>
        <p:spPr>
          <a:xfrm>
            <a:off x="812800" y="4307840"/>
            <a:ext cx="50800" cy="368300"/>
          </a:xfrm>
          <a:prstGeom prst="rect">
            <a:avLst/>
          </a:prstGeom>
          <a:solidFill>
            <a:srgbClr val="B84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0600" y="4307840"/>
            <a:ext cx="10388600" cy="406400"/>
          </a:xfrm>
          <a:prstGeom prst="rect">
            <a:avLst/>
          </a:prstGeom>
          <a:noFill/>
        </p:spPr>
        <p:txBody>
          <a:bodyPr wrap="square" lIns="0" rIns="0" tIns="0" bIns="0">
            <a:spAutoFit/>
          </a:bodyPr>
          <a:lstStyle/>
          <a:p>
            <a:pPr>
              <a:lnSpc>
                <a:spcPct val="112500"/>
              </a:lnSpc>
            </a:pPr>
            <a:r>
              <a:rPr sz="2000" b="1">
                <a:solidFill>
                  <a:srgbClr val="B84E12"/>
                </a:solidFill>
                <a:latin typeface="Calibri"/>
              </a:rPr>
              <a:t>CoCo drafts. You decide. Nothing leaves your hands unchecked.</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What is CoCo?</a:t>
            </a:r>
          </a:p>
        </p:txBody>
      </p:sp>
      <p:sp>
        <p:nvSpPr>
          <p:cNvPr id="4" name="TextBox 3"/>
          <p:cNvSpPr txBox="1"/>
          <p:nvPr/>
        </p:nvSpPr>
        <p:spPr>
          <a:xfrm>
            <a:off x="812800" y="2127408"/>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792162"/>
          </a:xfrm>
          <a:prstGeom prst="rect">
            <a:avLst/>
          </a:prstGeom>
          <a:noFill/>
        </p:spPr>
        <p:txBody>
          <a:bodyPr wrap="square" lIns="0" rIns="0" tIns="0" bIns="0">
            <a:spAutoFit/>
          </a:bodyPr>
          <a:lstStyle/>
          <a:p>
            <a:pPr>
              <a:lnSpc>
                <a:spcPct val="112500"/>
              </a:lnSpc>
            </a:pPr>
            <a:r>
              <a:rPr sz="2125" b="1">
                <a:solidFill>
                  <a:srgbClr val="14263A"/>
                </a:solidFill>
                <a:latin typeface="Calibri"/>
              </a:rPr>
              <a:t>CoCo</a:t>
            </a:r>
            <a:r>
              <a:rPr sz="2125" b="0">
                <a:solidFill>
                  <a:srgbClr val="14263A"/>
                </a:solidFill>
                <a:latin typeface="Calibri"/>
              </a:rPr>
              <a:t> is the nickname for </a:t>
            </a:r>
            <a:r>
              <a:rPr sz="2125" b="1">
                <a:solidFill>
                  <a:srgbClr val="14263A"/>
                </a:solidFill>
                <a:latin typeface="Calibri"/>
              </a:rPr>
              <a:t>Cortex Code</a:t>
            </a:r>
            <a:r>
              <a:rPr sz="2125" b="0">
                <a:solidFill>
                  <a:srgbClr val="14263A"/>
                </a:solidFill>
                <a:latin typeface="Calibri"/>
              </a:rPr>
              <a:t>, Snowflake's AI agent for working with data.</a:t>
            </a:r>
          </a:p>
        </p:txBody>
      </p:sp>
      <p:sp>
        <p:nvSpPr>
          <p:cNvPr id="6" name="TextBox 5"/>
          <p:cNvSpPr txBox="1"/>
          <p:nvPr/>
        </p:nvSpPr>
        <p:spPr>
          <a:xfrm>
            <a:off x="812800" y="2995771"/>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995771"/>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You chat in plain English. It plans, writes SQL, runs it, reads the result and tries again.</a:t>
            </a:r>
          </a:p>
        </p:txBody>
      </p:sp>
      <p:sp>
        <p:nvSpPr>
          <p:cNvPr id="8" name="TextBox 7"/>
          <p:cNvSpPr txBox="1"/>
          <p:nvPr/>
        </p:nvSpPr>
        <p:spPr>
          <a:xfrm>
            <a:off x="812800" y="38641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8641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It works </a:t>
            </a:r>
            <a:r>
              <a:rPr sz="2125" b="1">
                <a:solidFill>
                  <a:srgbClr val="14263A"/>
                </a:solidFill>
                <a:latin typeface="Calibri"/>
              </a:rPr>
              <a:t>inside our Snowflake</a:t>
            </a:r>
            <a:r>
              <a:rPr sz="2125" b="0">
                <a:solidFill>
                  <a:srgbClr val="14263A"/>
                </a:solidFill>
                <a:latin typeface="Calibri"/>
              </a:rPr>
              <a:t>, under </a:t>
            </a:r>
            <a:r>
              <a:rPr sz="2125" b="1">
                <a:solidFill>
                  <a:srgbClr val="14263A"/>
                </a:solidFill>
                <a:latin typeface="Calibri"/>
              </a:rPr>
              <a:t>your</a:t>
            </a:r>
            <a:r>
              <a:rPr sz="2125" b="0">
                <a:solidFill>
                  <a:srgbClr val="14263A"/>
                </a:solidFill>
                <a:latin typeface="Calibri"/>
              </a:rPr>
              <a:t> role and permissions.</a:t>
            </a:r>
          </a:p>
        </p:txBody>
      </p:sp>
      <p:sp>
        <p:nvSpPr>
          <p:cNvPr id="10" name="TextBox 9"/>
          <p:cNvSpPr txBox="1"/>
          <p:nvPr/>
        </p:nvSpPr>
        <p:spPr>
          <a:xfrm>
            <a:off x="812800" y="4368165"/>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368165"/>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It can </a:t>
            </a:r>
            <a:r>
              <a:rPr sz="2125" b="1">
                <a:solidFill>
                  <a:srgbClr val="14263A"/>
                </a:solidFill>
                <a:latin typeface="Calibri"/>
              </a:rPr>
              <a:t>take actions</a:t>
            </a:r>
            <a:r>
              <a:rPr sz="2125" b="0">
                <a:solidFill>
                  <a:srgbClr val="14263A"/>
                </a:solidFill>
                <a:latin typeface="Calibri"/>
              </a:rPr>
              <a:t> (run queries, create objects), so approvals matter.</a:t>
            </a:r>
          </a:p>
        </p:txBody>
      </p:sp>
      <p:sp>
        <p:nvSpPr>
          <p:cNvPr id="12" name="TextBox 11"/>
          <p:cNvSpPr txBox="1"/>
          <p:nvPr/>
        </p:nvSpPr>
        <p:spPr>
          <a:xfrm>
            <a:off x="812800" y="4872196"/>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872196"/>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Three ways to use it: Snowsight, CoCo Desktop and the command line.</a:t>
            </a:r>
          </a:p>
        </p:txBody>
      </p:sp>
      <p:sp>
        <p:nvSpPr>
          <p:cNvPr id="14" name="Rectangle 13"/>
          <p:cNvSpPr/>
          <p:nvPr/>
        </p:nvSpPr>
        <p:spPr>
          <a:xfrm>
            <a:off x="812800" y="5490527"/>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5490527"/>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Think: a data-savvy assistant sitting next to you in Snowflake.</a:t>
            </a:r>
          </a:p>
        </p:txBody>
      </p:sp>
      <p:sp>
        <p:nvSpPr>
          <p:cNvPr id="16" name="TextBox 1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Three places to use CoCo</a:t>
            </a:r>
          </a:p>
        </p:txBody>
      </p:sp>
      <p:sp>
        <p:nvSpPr>
          <p:cNvPr id="4" name="Rounded Rectangle 3"/>
          <p:cNvSpPr/>
          <p:nvPr/>
        </p:nvSpPr>
        <p:spPr>
          <a:xfrm>
            <a:off x="812800" y="2127408"/>
            <a:ext cx="3403600" cy="2189162"/>
          </a:xfrm>
          <a:prstGeom prst="roundRect">
            <a:avLst>
              <a:gd name="adj" fmla="val 580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29972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CoCo in Snowsight</a:t>
            </a:r>
          </a:p>
        </p:txBody>
      </p:sp>
      <p:sp>
        <p:nvSpPr>
          <p:cNvPr id="6" name="TextBox 5"/>
          <p:cNvSpPr txBox="1"/>
          <p:nvPr/>
        </p:nvSpPr>
        <p:spPr>
          <a:xfrm>
            <a:off x="1016000" y="2802096"/>
            <a:ext cx="2997200" cy="1027906"/>
          </a:xfrm>
          <a:prstGeom prst="rect">
            <a:avLst/>
          </a:prstGeom>
          <a:noFill/>
        </p:spPr>
        <p:txBody>
          <a:bodyPr wrap="square" lIns="0" rIns="0" tIns="0" bIns="0">
            <a:spAutoFit/>
          </a:bodyPr>
          <a:lstStyle/>
          <a:p>
            <a:pPr>
              <a:lnSpc>
                <a:spcPct val="112500"/>
              </a:lnSpc>
            </a:pPr>
            <a:r>
              <a:rPr sz="1875" b="0">
                <a:solidFill>
                  <a:srgbClr val="4A5A6A"/>
                </a:solidFill>
                <a:latin typeface="Calibri"/>
              </a:rPr>
              <a:t>A panel in the Snowflake web interface. No install. </a:t>
            </a:r>
            <a:r>
              <a:rPr sz="1875" b="1">
                <a:solidFill>
                  <a:srgbClr val="4A5A6A"/>
                </a:solidFill>
                <a:latin typeface="Calibri"/>
              </a:rPr>
              <a:t>Your home base as a BA.</a:t>
            </a:r>
          </a:p>
        </p:txBody>
      </p:sp>
      <p:sp>
        <p:nvSpPr>
          <p:cNvPr id="7" name="Rounded Rectangle 6"/>
          <p:cNvSpPr/>
          <p:nvPr/>
        </p:nvSpPr>
        <p:spPr>
          <a:xfrm>
            <a:off x="4394200" y="2127408"/>
            <a:ext cx="3403600" cy="2189162"/>
          </a:xfrm>
          <a:prstGeom prst="roundRect">
            <a:avLst>
              <a:gd name="adj" fmla="val 580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400" y="2330608"/>
            <a:ext cx="29972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CoCo Desktop</a:t>
            </a:r>
          </a:p>
        </p:txBody>
      </p:sp>
      <p:sp>
        <p:nvSpPr>
          <p:cNvPr id="9" name="TextBox 8"/>
          <p:cNvSpPr txBox="1"/>
          <p:nvPr/>
        </p:nvSpPr>
        <p:spPr>
          <a:xfrm>
            <a:off x="4597400" y="2802096"/>
            <a:ext cx="2997200" cy="1349375"/>
          </a:xfrm>
          <a:prstGeom prst="rect">
            <a:avLst/>
          </a:prstGeom>
          <a:noFill/>
        </p:spPr>
        <p:txBody>
          <a:bodyPr wrap="square" lIns="0" rIns="0" tIns="0" bIns="0">
            <a:spAutoFit/>
          </a:bodyPr>
          <a:lstStyle/>
          <a:p>
            <a:pPr>
              <a:lnSpc>
                <a:spcPct val="112500"/>
              </a:lnSpc>
            </a:pPr>
            <a:r>
              <a:rPr sz="1875" b="0">
                <a:solidFill>
                  <a:srgbClr val="4A5A6A"/>
                </a:solidFill>
                <a:latin typeface="Calibri"/>
              </a:rPr>
              <a:t>A desktop app (macOS, Windows) with chat, SQL playground, charts, notebooks, dbt and app building.</a:t>
            </a:r>
          </a:p>
        </p:txBody>
      </p:sp>
      <p:sp>
        <p:nvSpPr>
          <p:cNvPr id="10" name="Rounded Rectangle 9"/>
          <p:cNvSpPr/>
          <p:nvPr/>
        </p:nvSpPr>
        <p:spPr>
          <a:xfrm>
            <a:off x="7975600" y="2127408"/>
            <a:ext cx="3403600" cy="2189162"/>
          </a:xfrm>
          <a:prstGeom prst="roundRect">
            <a:avLst>
              <a:gd name="adj" fmla="val 580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8800" y="2330608"/>
            <a:ext cx="2997200" cy="420687"/>
          </a:xfrm>
          <a:prstGeom prst="rect">
            <a:avLst/>
          </a:prstGeom>
          <a:noFill/>
        </p:spPr>
        <p:txBody>
          <a:bodyPr wrap="square" lIns="0" rIns="0" tIns="0" bIns="0">
            <a:spAutoFit/>
          </a:bodyPr>
          <a:lstStyle/>
          <a:p>
            <a:pPr>
              <a:lnSpc>
                <a:spcPct val="104167"/>
              </a:lnSpc>
            </a:pPr>
            <a:r>
              <a:rPr sz="2250" b="1">
                <a:solidFill>
                  <a:srgbClr val="1B6F9A"/>
                </a:solidFill>
                <a:latin typeface="Calibri"/>
              </a:rPr>
              <a:t>CoCo CLI</a:t>
            </a:r>
          </a:p>
        </p:txBody>
      </p:sp>
      <p:sp>
        <p:nvSpPr>
          <p:cNvPr id="12" name="TextBox 11"/>
          <p:cNvSpPr txBox="1"/>
          <p:nvPr/>
        </p:nvSpPr>
        <p:spPr>
          <a:xfrm>
            <a:off x="8178800" y="2802096"/>
            <a:ext cx="2997200" cy="1027906"/>
          </a:xfrm>
          <a:prstGeom prst="rect">
            <a:avLst/>
          </a:prstGeom>
          <a:noFill/>
        </p:spPr>
        <p:txBody>
          <a:bodyPr wrap="square" lIns="0" rIns="0" tIns="0" bIns="0">
            <a:spAutoFit/>
          </a:bodyPr>
          <a:lstStyle/>
          <a:p>
            <a:pPr>
              <a:lnSpc>
                <a:spcPct val="112500"/>
              </a:lnSpc>
            </a:pPr>
            <a:r>
              <a:rPr sz="1875" b="0">
                <a:solidFill>
                  <a:srgbClr val="4A5A6A"/>
                </a:solidFill>
                <a:latin typeface="Calibri"/>
              </a:rPr>
              <a:t>A terminal tool called </a:t>
            </a:r>
            <a:r>
              <a:rPr sz="1875" b="0">
                <a:solidFill>
                  <a:srgbClr val="4A5A6A"/>
                </a:solidFill>
                <a:latin typeface="Consolas"/>
              </a:rPr>
              <a:t>cortex</a:t>
            </a:r>
            <a:r>
              <a:rPr sz="1875" b="0">
                <a:solidFill>
                  <a:srgbClr val="4A5A6A"/>
                </a:solidFill>
                <a:latin typeface="Calibri"/>
              </a:rPr>
              <a:t>. Used by developers and for automation.</a:t>
            </a:r>
          </a:p>
        </p:txBody>
      </p:sp>
      <p:sp>
        <p:nvSpPr>
          <p:cNvPr id="13" name="TextBox 12"/>
          <p:cNvSpPr txBox="1"/>
          <p:nvPr/>
        </p:nvSpPr>
        <p:spPr>
          <a:xfrm>
            <a:off x="812800" y="4545171"/>
            <a:ext cx="10566400" cy="579437"/>
          </a:xfrm>
          <a:prstGeom prst="rect">
            <a:avLst/>
          </a:prstGeom>
          <a:noFill/>
        </p:spPr>
        <p:txBody>
          <a:bodyPr wrap="square" lIns="0" rIns="0" tIns="0" bIns="0">
            <a:spAutoFit/>
          </a:bodyPr>
          <a:lstStyle/>
          <a:p>
            <a:pPr>
              <a:lnSpc>
                <a:spcPct val="104167"/>
              </a:lnSpc>
            </a:pPr>
            <a:r>
              <a:rPr sz="1625" b="0">
                <a:solidFill>
                  <a:srgbClr val="4A5A6A"/>
                </a:solidFill>
                <a:latin typeface="Calibri"/>
              </a:rPr>
              <a:t>Snowflake docs list all three as generally available; extras such as MCP, plugins and the Agent SDK are listed as preview.</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How CoCo works: an agent loop</a:t>
            </a:r>
          </a:p>
        </p:txBody>
      </p:sp>
      <p:sp>
        <p:nvSpPr>
          <p:cNvPr id="4" name="Rounded Rectangle 3"/>
          <p:cNvSpPr/>
          <p:nvPr/>
        </p:nvSpPr>
        <p:spPr>
          <a:xfrm>
            <a:off x="812800" y="2127408"/>
            <a:ext cx="1595120" cy="1684337"/>
          </a:xfrm>
          <a:prstGeom prst="roundRect">
            <a:avLst>
              <a:gd name="adj" fmla="val 79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305208"/>
            <a:ext cx="1239520" cy="460375"/>
          </a:xfrm>
          <a:prstGeom prst="rect">
            <a:avLst/>
          </a:prstGeom>
          <a:noFill/>
        </p:spPr>
        <p:txBody>
          <a:bodyPr wrap="square" lIns="0" rIns="0" tIns="0" bIns="0">
            <a:spAutoFit/>
          </a:bodyPr>
          <a:lstStyle/>
          <a:p>
            <a:pPr>
              <a:lnSpc>
                <a:spcPct val="104167"/>
              </a:lnSpc>
            </a:pPr>
            <a:r>
              <a:rPr sz="2500" b="1">
                <a:solidFill>
                  <a:srgbClr val="1B6F9A"/>
                </a:solidFill>
                <a:latin typeface="Calibri"/>
              </a:rPr>
              <a:t>Ask</a:t>
            </a:r>
          </a:p>
        </p:txBody>
      </p:sp>
      <p:sp>
        <p:nvSpPr>
          <p:cNvPr id="6" name="TextBox 5"/>
          <p:cNvSpPr txBox="1"/>
          <p:nvPr/>
        </p:nvSpPr>
        <p:spPr>
          <a:xfrm>
            <a:off x="990600" y="2803683"/>
            <a:ext cx="1239520" cy="868362"/>
          </a:xfrm>
          <a:prstGeom prst="rect">
            <a:avLst/>
          </a:prstGeom>
          <a:noFill/>
        </p:spPr>
        <p:txBody>
          <a:bodyPr wrap="square" lIns="0" rIns="0" tIns="0" bIns="0">
            <a:spAutoFit/>
          </a:bodyPr>
          <a:lstStyle/>
          <a:p>
            <a:pPr>
              <a:lnSpc>
                <a:spcPct val="108333"/>
              </a:lnSpc>
            </a:pPr>
            <a:r>
              <a:rPr sz="1625" b="0">
                <a:solidFill>
                  <a:srgbClr val="4A5A6A"/>
                </a:solidFill>
                <a:latin typeface="Calibri"/>
              </a:rPr>
              <a:t>You state the goal in plain English</a:t>
            </a:r>
          </a:p>
        </p:txBody>
      </p:sp>
      <p:sp>
        <p:nvSpPr>
          <p:cNvPr id="7" name="TextBox 6"/>
          <p:cNvSpPr txBox="1"/>
          <p:nvPr/>
        </p:nvSpPr>
        <p:spPr>
          <a:xfrm>
            <a:off x="2509520" y="2715577"/>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8" name="Rounded Rectangle 7"/>
          <p:cNvSpPr/>
          <p:nvPr/>
        </p:nvSpPr>
        <p:spPr>
          <a:xfrm>
            <a:off x="3055620" y="2127408"/>
            <a:ext cx="1595120" cy="1684337"/>
          </a:xfrm>
          <a:prstGeom prst="roundRect">
            <a:avLst>
              <a:gd name="adj" fmla="val 79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33420" y="2305208"/>
            <a:ext cx="1239520" cy="460375"/>
          </a:xfrm>
          <a:prstGeom prst="rect">
            <a:avLst/>
          </a:prstGeom>
          <a:noFill/>
        </p:spPr>
        <p:txBody>
          <a:bodyPr wrap="square" lIns="0" rIns="0" tIns="0" bIns="0">
            <a:spAutoFit/>
          </a:bodyPr>
          <a:lstStyle/>
          <a:p>
            <a:pPr>
              <a:lnSpc>
                <a:spcPct val="104167"/>
              </a:lnSpc>
            </a:pPr>
            <a:r>
              <a:rPr sz="2500" b="1">
                <a:solidFill>
                  <a:srgbClr val="1B6F9A"/>
                </a:solidFill>
                <a:latin typeface="Calibri"/>
              </a:rPr>
              <a:t>Plan</a:t>
            </a:r>
          </a:p>
        </p:txBody>
      </p:sp>
      <p:sp>
        <p:nvSpPr>
          <p:cNvPr id="10" name="TextBox 9"/>
          <p:cNvSpPr txBox="1"/>
          <p:nvPr/>
        </p:nvSpPr>
        <p:spPr>
          <a:xfrm>
            <a:off x="3233420" y="2803683"/>
            <a:ext cx="123952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CoCo proposes steps</a:t>
            </a:r>
          </a:p>
        </p:txBody>
      </p:sp>
      <p:sp>
        <p:nvSpPr>
          <p:cNvPr id="11" name="TextBox 10"/>
          <p:cNvSpPr txBox="1"/>
          <p:nvPr/>
        </p:nvSpPr>
        <p:spPr>
          <a:xfrm>
            <a:off x="4752340" y="2715577"/>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12" name="Rounded Rectangle 11"/>
          <p:cNvSpPr/>
          <p:nvPr/>
        </p:nvSpPr>
        <p:spPr>
          <a:xfrm>
            <a:off x="5298440" y="2127408"/>
            <a:ext cx="1595120" cy="1684337"/>
          </a:xfrm>
          <a:prstGeom prst="roundRect">
            <a:avLst>
              <a:gd name="adj" fmla="val 79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76240" y="2305208"/>
            <a:ext cx="1239520" cy="460375"/>
          </a:xfrm>
          <a:prstGeom prst="rect">
            <a:avLst/>
          </a:prstGeom>
          <a:noFill/>
        </p:spPr>
        <p:txBody>
          <a:bodyPr wrap="square" lIns="0" rIns="0" tIns="0" bIns="0">
            <a:spAutoFit/>
          </a:bodyPr>
          <a:lstStyle/>
          <a:p>
            <a:pPr>
              <a:lnSpc>
                <a:spcPct val="104167"/>
              </a:lnSpc>
            </a:pPr>
            <a:r>
              <a:rPr sz="2500" b="1">
                <a:solidFill>
                  <a:srgbClr val="1B6F9A"/>
                </a:solidFill>
                <a:latin typeface="Calibri"/>
              </a:rPr>
              <a:t>Act</a:t>
            </a:r>
          </a:p>
        </p:txBody>
      </p:sp>
      <p:sp>
        <p:nvSpPr>
          <p:cNvPr id="14" name="TextBox 13"/>
          <p:cNvSpPr txBox="1"/>
          <p:nvPr/>
        </p:nvSpPr>
        <p:spPr>
          <a:xfrm>
            <a:off x="5476240" y="2803683"/>
            <a:ext cx="1239520" cy="868362"/>
          </a:xfrm>
          <a:prstGeom prst="rect">
            <a:avLst/>
          </a:prstGeom>
          <a:noFill/>
        </p:spPr>
        <p:txBody>
          <a:bodyPr wrap="square" lIns="0" rIns="0" tIns="0" bIns="0">
            <a:spAutoFit/>
          </a:bodyPr>
          <a:lstStyle/>
          <a:p>
            <a:pPr>
              <a:lnSpc>
                <a:spcPct val="108333"/>
              </a:lnSpc>
            </a:pPr>
            <a:r>
              <a:rPr sz="1625" b="0">
                <a:solidFill>
                  <a:srgbClr val="4A5A6A"/>
                </a:solidFill>
                <a:latin typeface="Calibri"/>
              </a:rPr>
              <a:t>Runs SQL or tools, with your approval</a:t>
            </a:r>
          </a:p>
        </p:txBody>
      </p:sp>
      <p:sp>
        <p:nvSpPr>
          <p:cNvPr id="15" name="TextBox 14"/>
          <p:cNvSpPr txBox="1"/>
          <p:nvPr/>
        </p:nvSpPr>
        <p:spPr>
          <a:xfrm>
            <a:off x="6995159" y="2715577"/>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16" name="Rounded Rectangle 15"/>
          <p:cNvSpPr/>
          <p:nvPr/>
        </p:nvSpPr>
        <p:spPr>
          <a:xfrm>
            <a:off x="7541259" y="2127408"/>
            <a:ext cx="1595120" cy="1684337"/>
          </a:xfrm>
          <a:prstGeom prst="roundRect">
            <a:avLst>
              <a:gd name="adj" fmla="val 79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9059" y="2305208"/>
            <a:ext cx="1239520" cy="460375"/>
          </a:xfrm>
          <a:prstGeom prst="rect">
            <a:avLst/>
          </a:prstGeom>
          <a:noFill/>
        </p:spPr>
        <p:txBody>
          <a:bodyPr wrap="square" lIns="0" rIns="0" tIns="0" bIns="0">
            <a:spAutoFit/>
          </a:bodyPr>
          <a:lstStyle/>
          <a:p>
            <a:pPr>
              <a:lnSpc>
                <a:spcPct val="104167"/>
              </a:lnSpc>
            </a:pPr>
            <a:r>
              <a:rPr sz="2500" b="1">
                <a:solidFill>
                  <a:srgbClr val="1B6F9A"/>
                </a:solidFill>
                <a:latin typeface="Calibri"/>
              </a:rPr>
              <a:t>Check</a:t>
            </a:r>
          </a:p>
        </p:txBody>
      </p:sp>
      <p:sp>
        <p:nvSpPr>
          <p:cNvPr id="18" name="TextBox 17"/>
          <p:cNvSpPr txBox="1"/>
          <p:nvPr/>
        </p:nvSpPr>
        <p:spPr>
          <a:xfrm>
            <a:off x="7719059" y="2803683"/>
            <a:ext cx="1239520" cy="868362"/>
          </a:xfrm>
          <a:prstGeom prst="rect">
            <a:avLst/>
          </a:prstGeom>
          <a:noFill/>
        </p:spPr>
        <p:txBody>
          <a:bodyPr wrap="square" lIns="0" rIns="0" tIns="0" bIns="0">
            <a:spAutoFit/>
          </a:bodyPr>
          <a:lstStyle/>
          <a:p>
            <a:pPr>
              <a:lnSpc>
                <a:spcPct val="108333"/>
              </a:lnSpc>
            </a:pPr>
            <a:r>
              <a:rPr sz="1625" b="0">
                <a:solidFill>
                  <a:srgbClr val="4A5A6A"/>
                </a:solidFill>
                <a:latin typeface="Calibri"/>
              </a:rPr>
              <a:t>Shows results and assumptions</a:t>
            </a:r>
          </a:p>
        </p:txBody>
      </p:sp>
      <p:sp>
        <p:nvSpPr>
          <p:cNvPr id="19" name="TextBox 18"/>
          <p:cNvSpPr txBox="1"/>
          <p:nvPr/>
        </p:nvSpPr>
        <p:spPr>
          <a:xfrm>
            <a:off x="9237980" y="2715577"/>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20" name="Rounded Rectangle 19"/>
          <p:cNvSpPr/>
          <p:nvPr/>
        </p:nvSpPr>
        <p:spPr>
          <a:xfrm>
            <a:off x="9784080" y="2127408"/>
            <a:ext cx="1595120" cy="1684337"/>
          </a:xfrm>
          <a:prstGeom prst="roundRect">
            <a:avLst>
              <a:gd name="adj" fmla="val 79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1880" y="2305208"/>
            <a:ext cx="1239520" cy="460375"/>
          </a:xfrm>
          <a:prstGeom prst="rect">
            <a:avLst/>
          </a:prstGeom>
          <a:noFill/>
        </p:spPr>
        <p:txBody>
          <a:bodyPr wrap="square" lIns="0" rIns="0" tIns="0" bIns="0">
            <a:spAutoFit/>
          </a:bodyPr>
          <a:lstStyle/>
          <a:p>
            <a:pPr>
              <a:lnSpc>
                <a:spcPct val="104167"/>
              </a:lnSpc>
            </a:pPr>
            <a:r>
              <a:rPr sz="2500" b="1">
                <a:solidFill>
                  <a:srgbClr val="1B6F9A"/>
                </a:solidFill>
                <a:latin typeface="Calibri"/>
              </a:rPr>
              <a:t>Refine</a:t>
            </a:r>
          </a:p>
        </p:txBody>
      </p:sp>
      <p:sp>
        <p:nvSpPr>
          <p:cNvPr id="22" name="TextBox 21"/>
          <p:cNvSpPr txBox="1"/>
          <p:nvPr/>
        </p:nvSpPr>
        <p:spPr>
          <a:xfrm>
            <a:off x="9961880" y="2803683"/>
            <a:ext cx="123952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You adjust and repeat</a:t>
            </a:r>
          </a:p>
        </p:txBody>
      </p:sp>
      <p:sp>
        <p:nvSpPr>
          <p:cNvPr id="23" name="Rectangle 22"/>
          <p:cNvSpPr/>
          <p:nvPr/>
        </p:nvSpPr>
        <p:spPr>
          <a:xfrm>
            <a:off x="812800" y="4040346"/>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600" y="4040346"/>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You stay in the loop at Ask, Act (approval) and Check.</a:t>
            </a:r>
          </a:p>
        </p:txBody>
      </p:sp>
      <p:sp>
        <p:nvSpPr>
          <p:cNvPr id="25" name="TextBox 24"/>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CoCo runs as you</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It uses </a:t>
            </a:r>
            <a:r>
              <a:rPr sz="2125" b="1">
                <a:solidFill>
                  <a:srgbClr val="14263A"/>
                </a:solidFill>
                <a:latin typeface="Calibri"/>
              </a:rPr>
              <a:t>your Snowflake role</a:t>
            </a:r>
            <a:r>
              <a:rPr sz="2125" b="0">
                <a:solidFill>
                  <a:srgbClr val="14263A"/>
                </a:solidFill>
                <a:latin typeface="Calibri"/>
              </a:rPr>
              <a:t>. If you cannot see a table, neither can CoCo.</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Masking policies and row access policies still apply.</a:t>
            </a:r>
          </a:p>
        </p:txBody>
      </p:sp>
      <p:sp>
        <p:nvSpPr>
          <p:cNvPr id="8" name="TextBox 7"/>
          <p:cNvSpPr txBox="1"/>
          <p:nvPr/>
        </p:nvSpPr>
        <p:spPr>
          <a:xfrm>
            <a:off x="812800" y="3135471"/>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Access needs a role such as </a:t>
            </a:r>
            <a:r>
              <a:rPr sz="2125" b="1">
                <a:solidFill>
                  <a:srgbClr val="14263A"/>
                </a:solidFill>
                <a:latin typeface="Calibri"/>
              </a:rPr>
              <a:t>SNOWFLAKE.CORTEX_USER</a:t>
            </a:r>
            <a:r>
              <a:rPr sz="2125" b="0">
                <a:solidFill>
                  <a:srgbClr val="14263A"/>
                </a:solidFill>
                <a:latin typeface="Calibri"/>
              </a:rPr>
              <a:t> (or CORTEX_AGENT_USER); Snowsight also needs </a:t>
            </a:r>
            <a:r>
              <a:rPr sz="2125" b="1">
                <a:solidFill>
                  <a:srgbClr val="14263A"/>
                </a:solidFill>
                <a:latin typeface="Calibri"/>
              </a:rPr>
              <a:t>COPILOT_USER</a:t>
            </a:r>
            <a:r>
              <a:rPr sz="2125" b="0">
                <a:solidFill>
                  <a:srgbClr val="14263A"/>
                </a:solidFill>
                <a:latin typeface="Calibri"/>
              </a:rPr>
              <a:t>.</a:t>
            </a:r>
          </a:p>
        </p:txBody>
      </p:sp>
      <p:sp>
        <p:nvSpPr>
          <p:cNvPr id="10" name="TextBox 9"/>
          <p:cNvSpPr txBox="1"/>
          <p:nvPr/>
        </p:nvSpPr>
        <p:spPr>
          <a:xfrm>
            <a:off x="812800" y="40038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0038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Admins also set a </a:t>
            </a:r>
            <a:r>
              <a:rPr sz="2125" b="1">
                <a:solidFill>
                  <a:srgbClr val="14263A"/>
                </a:solidFill>
                <a:latin typeface="Calibri"/>
              </a:rPr>
              <a:t>daily credit limit</a:t>
            </a:r>
            <a:r>
              <a:rPr sz="2125" b="0">
                <a:solidFill>
                  <a:srgbClr val="14263A"/>
                </a:solidFill>
                <a:latin typeface="Calibri"/>
              </a:rPr>
              <a:t> per user. Zero means blocked.</a:t>
            </a:r>
          </a:p>
        </p:txBody>
      </p:sp>
      <p:sp>
        <p:nvSpPr>
          <p:cNvPr id="12" name="TextBox 11"/>
          <p:cNvSpPr txBox="1"/>
          <p:nvPr/>
        </p:nvSpPr>
        <p:spPr>
          <a:xfrm>
            <a:off x="812800" y="4507865"/>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507865"/>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Cross-region inference must be enabled for the account.</a:t>
            </a:r>
          </a:p>
        </p:txBody>
      </p:sp>
      <p:sp>
        <p:nvSpPr>
          <p:cNvPr id="14" name="Rectangle 13"/>
          <p:cNvSpPr/>
          <p:nvPr/>
        </p:nvSpPr>
        <p:spPr>
          <a:xfrm>
            <a:off x="812800" y="5126196"/>
            <a:ext cx="50800" cy="368300"/>
          </a:xfrm>
          <a:prstGeom prst="rect">
            <a:avLst/>
          </a:prstGeom>
          <a:solidFill>
            <a:srgbClr val="B84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5126196"/>
            <a:ext cx="10388600" cy="406400"/>
          </a:xfrm>
          <a:prstGeom prst="rect">
            <a:avLst/>
          </a:prstGeom>
          <a:noFill/>
        </p:spPr>
        <p:txBody>
          <a:bodyPr wrap="square" lIns="0" rIns="0" tIns="0" bIns="0">
            <a:spAutoFit/>
          </a:bodyPr>
          <a:lstStyle/>
          <a:p>
            <a:pPr>
              <a:lnSpc>
                <a:spcPct val="112500"/>
              </a:lnSpc>
            </a:pPr>
            <a:r>
              <a:rPr sz="2000" b="1">
                <a:solidFill>
                  <a:srgbClr val="B84E12"/>
                </a:solidFill>
                <a:latin typeface="Calibri"/>
              </a:rPr>
              <a:t>Cannot open CoCo? Ask your admin about the role and the daily limit.</a:t>
            </a:r>
          </a:p>
        </p:txBody>
      </p:sp>
      <p:sp>
        <p:nvSpPr>
          <p:cNvPr id="16" name="TextBox 1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Our data lake: Medallion refresher</a:t>
            </a:r>
          </a:p>
        </p:txBody>
      </p:sp>
      <p:sp>
        <p:nvSpPr>
          <p:cNvPr id="4" name="Rounded Rectangle 3"/>
          <p:cNvSpPr/>
          <p:nvPr/>
        </p:nvSpPr>
        <p:spPr>
          <a:xfrm>
            <a:off x="812800" y="2127408"/>
            <a:ext cx="3090333" cy="1947068"/>
          </a:xfrm>
          <a:prstGeom prst="roundRect">
            <a:avLst>
              <a:gd name="adj" fmla="val 652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1700" y="2127408"/>
            <a:ext cx="2912533" cy="76200"/>
          </a:xfrm>
          <a:prstGeom prst="rect">
            <a:avLst/>
          </a:prstGeom>
          <a:solidFill>
            <a:srgbClr val="8C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330608"/>
            <a:ext cx="2683933" cy="500062"/>
          </a:xfrm>
          <a:prstGeom prst="rect">
            <a:avLst/>
          </a:prstGeom>
          <a:noFill/>
        </p:spPr>
        <p:txBody>
          <a:bodyPr wrap="square" lIns="0" rIns="0" tIns="0" bIns="0">
            <a:spAutoFit/>
          </a:bodyPr>
          <a:lstStyle/>
          <a:p>
            <a:pPr>
              <a:lnSpc>
                <a:spcPct val="104167"/>
              </a:lnSpc>
            </a:pPr>
            <a:r>
              <a:rPr sz="2750" b="1">
                <a:solidFill>
                  <a:srgbClr val="14263A"/>
                </a:solidFill>
                <a:latin typeface="Calibri"/>
              </a:rPr>
              <a:t>Bronze</a:t>
            </a:r>
          </a:p>
        </p:txBody>
      </p:sp>
      <p:sp>
        <p:nvSpPr>
          <p:cNvPr id="7" name="TextBox 6"/>
          <p:cNvSpPr txBox="1"/>
          <p:nvPr/>
        </p:nvSpPr>
        <p:spPr>
          <a:xfrm>
            <a:off x="1016000" y="2881471"/>
            <a:ext cx="2683933" cy="706437"/>
          </a:xfrm>
          <a:prstGeom prst="rect">
            <a:avLst/>
          </a:prstGeom>
          <a:noFill/>
        </p:spPr>
        <p:txBody>
          <a:bodyPr wrap="square" lIns="0" rIns="0" tIns="0" bIns="0">
            <a:spAutoFit/>
          </a:bodyPr>
          <a:lstStyle/>
          <a:p>
            <a:pPr>
              <a:lnSpc>
                <a:spcPct val="112500"/>
              </a:lnSpc>
            </a:pPr>
            <a:r>
              <a:rPr sz="1875" b="0">
                <a:solidFill>
                  <a:srgbClr val="4A5A6A"/>
                </a:solidFill>
                <a:latin typeface="Calibri"/>
              </a:rPr>
              <a:t>Raw data exactly as landed from source systems.</a:t>
            </a:r>
          </a:p>
        </p:txBody>
      </p:sp>
      <p:sp>
        <p:nvSpPr>
          <p:cNvPr id="8" name="TextBox 7"/>
          <p:cNvSpPr txBox="1"/>
          <p:nvPr/>
        </p:nvSpPr>
        <p:spPr>
          <a:xfrm>
            <a:off x="4004733" y="2846943"/>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9" name="Rounded Rectangle 8"/>
          <p:cNvSpPr/>
          <p:nvPr/>
        </p:nvSpPr>
        <p:spPr>
          <a:xfrm>
            <a:off x="4550833" y="2127408"/>
            <a:ext cx="3090333" cy="1947068"/>
          </a:xfrm>
          <a:prstGeom prst="roundRect">
            <a:avLst>
              <a:gd name="adj" fmla="val 652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39733" y="2127408"/>
            <a:ext cx="2912533" cy="76200"/>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033" y="2330608"/>
            <a:ext cx="2683933" cy="500062"/>
          </a:xfrm>
          <a:prstGeom prst="rect">
            <a:avLst/>
          </a:prstGeom>
          <a:noFill/>
        </p:spPr>
        <p:txBody>
          <a:bodyPr wrap="square" lIns="0" rIns="0" tIns="0" bIns="0">
            <a:spAutoFit/>
          </a:bodyPr>
          <a:lstStyle/>
          <a:p>
            <a:pPr>
              <a:lnSpc>
                <a:spcPct val="104167"/>
              </a:lnSpc>
            </a:pPr>
            <a:r>
              <a:rPr sz="2750" b="1">
                <a:solidFill>
                  <a:srgbClr val="14263A"/>
                </a:solidFill>
                <a:latin typeface="Calibri"/>
              </a:rPr>
              <a:t>Silver</a:t>
            </a:r>
          </a:p>
        </p:txBody>
      </p:sp>
      <p:sp>
        <p:nvSpPr>
          <p:cNvPr id="12" name="TextBox 11"/>
          <p:cNvSpPr txBox="1"/>
          <p:nvPr/>
        </p:nvSpPr>
        <p:spPr>
          <a:xfrm>
            <a:off x="4754033" y="2881471"/>
            <a:ext cx="2683933" cy="1027906"/>
          </a:xfrm>
          <a:prstGeom prst="rect">
            <a:avLst/>
          </a:prstGeom>
          <a:noFill/>
        </p:spPr>
        <p:txBody>
          <a:bodyPr wrap="square" lIns="0" rIns="0" tIns="0" bIns="0">
            <a:spAutoFit/>
          </a:bodyPr>
          <a:lstStyle/>
          <a:p>
            <a:pPr>
              <a:lnSpc>
                <a:spcPct val="112500"/>
              </a:lnSpc>
            </a:pPr>
            <a:r>
              <a:rPr sz="1875" b="0">
                <a:solidFill>
                  <a:srgbClr val="4A5A6A"/>
                </a:solidFill>
                <a:latin typeface="Calibri"/>
              </a:rPr>
              <a:t>Cleansed, conformed, de-duplicated business entities.</a:t>
            </a:r>
          </a:p>
        </p:txBody>
      </p:sp>
      <p:sp>
        <p:nvSpPr>
          <p:cNvPr id="13" name="TextBox 12"/>
          <p:cNvSpPr txBox="1"/>
          <p:nvPr/>
        </p:nvSpPr>
        <p:spPr>
          <a:xfrm>
            <a:off x="7742766" y="2846943"/>
            <a:ext cx="444500" cy="508000"/>
          </a:xfrm>
          <a:prstGeom prst="rect">
            <a:avLst/>
          </a:prstGeom>
          <a:noFill/>
        </p:spPr>
        <p:txBody>
          <a:bodyPr wrap="square" lIns="0" rIns="0" tIns="0" bIns="0">
            <a:spAutoFit/>
          </a:bodyPr>
          <a:lstStyle/>
          <a:p>
            <a:pPr algn="ctr">
              <a:lnSpc>
                <a:spcPct val="90000"/>
              </a:lnSpc>
            </a:pPr>
            <a:r>
              <a:rPr sz="2800" b="1">
                <a:solidFill>
                  <a:srgbClr val="B84E12"/>
                </a:solidFill>
                <a:latin typeface="Calibri"/>
              </a:rPr>
              <a:t>→</a:t>
            </a:r>
          </a:p>
        </p:txBody>
      </p:sp>
      <p:sp>
        <p:nvSpPr>
          <p:cNvPr id="14" name="Rounded Rectangle 13"/>
          <p:cNvSpPr/>
          <p:nvPr/>
        </p:nvSpPr>
        <p:spPr>
          <a:xfrm>
            <a:off x="8288866" y="2127408"/>
            <a:ext cx="3090333" cy="1947068"/>
          </a:xfrm>
          <a:prstGeom prst="roundRect">
            <a:avLst>
              <a:gd name="adj" fmla="val 652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77766" y="2127408"/>
            <a:ext cx="2912533" cy="76200"/>
          </a:xfrm>
          <a:prstGeom prst="rect">
            <a:avLst/>
          </a:prstGeom>
          <a:solidFill>
            <a:srgbClr val="B89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92066" y="2330608"/>
            <a:ext cx="2683933" cy="500062"/>
          </a:xfrm>
          <a:prstGeom prst="rect">
            <a:avLst/>
          </a:prstGeom>
          <a:noFill/>
        </p:spPr>
        <p:txBody>
          <a:bodyPr wrap="square" lIns="0" rIns="0" tIns="0" bIns="0">
            <a:spAutoFit/>
          </a:bodyPr>
          <a:lstStyle/>
          <a:p>
            <a:pPr>
              <a:lnSpc>
                <a:spcPct val="104167"/>
              </a:lnSpc>
            </a:pPr>
            <a:r>
              <a:rPr sz="2750" b="1">
                <a:solidFill>
                  <a:srgbClr val="14263A"/>
                </a:solidFill>
                <a:latin typeface="Calibri"/>
              </a:rPr>
              <a:t>Gold</a:t>
            </a:r>
          </a:p>
        </p:txBody>
      </p:sp>
      <p:sp>
        <p:nvSpPr>
          <p:cNvPr id="17" name="TextBox 16"/>
          <p:cNvSpPr txBox="1"/>
          <p:nvPr/>
        </p:nvSpPr>
        <p:spPr>
          <a:xfrm>
            <a:off x="8492066" y="2881471"/>
            <a:ext cx="2683933" cy="1027906"/>
          </a:xfrm>
          <a:prstGeom prst="rect">
            <a:avLst/>
          </a:prstGeom>
          <a:noFill/>
        </p:spPr>
        <p:txBody>
          <a:bodyPr wrap="square" lIns="0" rIns="0" tIns="0" bIns="0">
            <a:spAutoFit/>
          </a:bodyPr>
          <a:lstStyle/>
          <a:p>
            <a:pPr>
              <a:lnSpc>
                <a:spcPct val="112500"/>
              </a:lnSpc>
            </a:pPr>
            <a:r>
              <a:rPr sz="1875" b="0">
                <a:solidFill>
                  <a:srgbClr val="4A5A6A"/>
                </a:solidFill>
                <a:latin typeface="Calibri"/>
              </a:rPr>
              <a:t>Business-ready, aggregated, reporting-friendly data.</a:t>
            </a:r>
          </a:p>
        </p:txBody>
      </p:sp>
      <p:sp>
        <p:nvSpPr>
          <p:cNvPr id="18" name="TextBox 17"/>
          <p:cNvSpPr txBox="1"/>
          <p:nvPr/>
        </p:nvSpPr>
        <p:spPr>
          <a:xfrm>
            <a:off x="812800" y="4303077"/>
            <a:ext cx="190500" cy="7112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9" name="TextBox 18"/>
          <p:cNvSpPr txBox="1"/>
          <p:nvPr/>
        </p:nvSpPr>
        <p:spPr>
          <a:xfrm>
            <a:off x="1117600" y="4303077"/>
            <a:ext cx="10261600" cy="749300"/>
          </a:xfrm>
          <a:prstGeom prst="rect">
            <a:avLst/>
          </a:prstGeom>
          <a:noFill/>
        </p:spPr>
        <p:txBody>
          <a:bodyPr wrap="square" lIns="0" rIns="0" tIns="0" bIns="0">
            <a:spAutoFit/>
          </a:bodyPr>
          <a:lstStyle/>
          <a:p>
            <a:pPr>
              <a:lnSpc>
                <a:spcPct val="112500"/>
              </a:lnSpc>
            </a:pPr>
            <a:r>
              <a:rPr sz="2000" b="1">
                <a:solidFill>
                  <a:srgbClr val="14263A"/>
                </a:solidFill>
                <a:latin typeface="Calibri"/>
              </a:rPr>
              <a:t>Gold</a:t>
            </a:r>
            <a:r>
              <a:rPr sz="2000" b="0">
                <a:solidFill>
                  <a:srgbClr val="14263A"/>
                </a:solidFill>
                <a:latin typeface="Calibri"/>
              </a:rPr>
              <a:t> for answers and reports. </a:t>
            </a:r>
            <a:r>
              <a:rPr sz="2000" b="1">
                <a:solidFill>
                  <a:srgbClr val="14263A"/>
                </a:solidFill>
                <a:latin typeface="Calibri"/>
              </a:rPr>
              <a:t>Silver</a:t>
            </a:r>
            <a:r>
              <a:rPr sz="2000" b="0">
                <a:solidFill>
                  <a:srgbClr val="14263A"/>
                </a:solidFill>
                <a:latin typeface="Calibri"/>
              </a:rPr>
              <a:t> to trace how a value was derived. </a:t>
            </a:r>
            <a:r>
              <a:rPr sz="2000" b="1">
                <a:solidFill>
                  <a:srgbClr val="14263A"/>
                </a:solidFill>
                <a:latin typeface="Calibri"/>
              </a:rPr>
              <a:t>Bronze</a:t>
            </a:r>
            <a:r>
              <a:rPr sz="2000" b="0">
                <a:solidFill>
                  <a:srgbClr val="14263A"/>
                </a:solidFill>
                <a:latin typeface="Calibri"/>
              </a:rPr>
              <a:t> to see what the source actually sent.</a:t>
            </a:r>
          </a:p>
        </p:txBody>
      </p:sp>
      <p:sp>
        <p:nvSpPr>
          <p:cNvPr id="20" name="TextBox 19"/>
          <p:cNvSpPr txBox="1"/>
          <p:nvPr/>
        </p:nvSpPr>
        <p:spPr>
          <a:xfrm>
            <a:off x="812800" y="5242877"/>
            <a:ext cx="10566400" cy="321468"/>
          </a:xfrm>
          <a:prstGeom prst="rect">
            <a:avLst/>
          </a:prstGeom>
          <a:noFill/>
        </p:spPr>
        <p:txBody>
          <a:bodyPr wrap="square" lIns="0" rIns="0" tIns="0" bIns="0">
            <a:spAutoFit/>
          </a:bodyPr>
          <a:lstStyle/>
          <a:p>
            <a:pPr>
              <a:lnSpc>
                <a:spcPct val="104167"/>
              </a:lnSpc>
            </a:pPr>
            <a:r>
              <a:rPr sz="1625" b="0">
                <a:solidFill>
                  <a:srgbClr val="4A5A6A"/>
                </a:solidFill>
                <a:latin typeface="Calibri"/>
              </a:rPr>
              <a:t>Layer and schema names in our Snowflake may differ; use your own naming.</a:t>
            </a:r>
          </a:p>
        </p:txBody>
      </p:sp>
      <p:sp>
        <p:nvSpPr>
          <p:cNvPr id="21" name="TextBox 20"/>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CoCo across the medallion layers</a:t>
            </a:r>
          </a:p>
        </p:txBody>
      </p:sp>
      <p:graphicFrame>
        <p:nvGraphicFramePr>
          <p:cNvPr id="4" name="Table 3"/>
          <p:cNvGraphicFramePr>
            <a:graphicFrameLocks noGrp="1"/>
          </p:cNvGraphicFramePr>
          <p:nvPr/>
        </p:nvGraphicFramePr>
        <p:xfrm>
          <a:off x="812800" y="2127408"/>
          <a:ext cx="10566399" cy="3038475"/>
        </p:xfrm>
        <a:graphic>
          <a:graphicData uri="http://schemas.openxmlformats.org/drawingml/2006/table">
            <a:tbl>
              <a:tblPr firstRow="1">
                <a:tableStyleId>{5C22544A-7EE6-4342-B048-85BDC9FD1C3A}</a:tableStyleId>
              </a:tblPr>
              <a:tblGrid>
                <a:gridCol w="972865"/>
                <a:gridCol w="4675159"/>
                <a:gridCol w="4918375"/>
              </a:tblGrid>
              <a:tr h="542925">
                <a:tc>
                  <a:txBody>
                    <a:bodyPr wrap="square"/>
                    <a:lstStyle/>
                    <a:p>
                      <a:r>
                        <a:rPr sz="1750" b="1">
                          <a:solidFill>
                            <a:srgbClr val="F6F4EF"/>
                          </a:solidFill>
                          <a:latin typeface="Calibri"/>
                        </a:rPr>
                        <a:t>Layer</a:t>
                      </a:r>
                    </a:p>
                  </a:txBody>
                  <a:tcPr marL="152400" marR="152400" marT="101600" marB="101600" anchor="t">
                    <a:solidFill>
                      <a:srgbClr val="14263A"/>
                    </a:solidFill>
                  </a:tcPr>
                </a:tc>
                <a:tc>
                  <a:txBody>
                    <a:bodyPr wrap="square"/>
                    <a:lstStyle/>
                    <a:p>
                      <a:r>
                        <a:rPr sz="1750" b="1">
                          <a:solidFill>
                            <a:srgbClr val="F6F4EF"/>
                          </a:solidFill>
                          <a:latin typeface="Calibri"/>
                        </a:rPr>
                        <a:t>Good questions for CoCo</a:t>
                      </a:r>
                    </a:p>
                  </a:txBody>
                  <a:tcPr marL="152400" marR="152400" marT="101600" marB="101600" anchor="t">
                    <a:solidFill>
                      <a:srgbClr val="14263A"/>
                    </a:solidFill>
                  </a:tcPr>
                </a:tc>
                <a:tc>
                  <a:txBody>
                    <a:bodyPr wrap="square"/>
                    <a:lstStyle/>
                    <a:p>
                      <a:r>
                        <a:rPr sz="1750" b="1">
                          <a:solidFill>
                            <a:srgbClr val="F6F4EF"/>
                          </a:solidFill>
                          <a:latin typeface="Calibri"/>
                        </a:rPr>
                        <a:t>Watch out for</a:t>
                      </a:r>
                    </a:p>
                  </a:txBody>
                  <a:tcPr marL="152400" marR="152400" marT="101600" marB="101600" anchor="t">
                    <a:solidFill>
                      <a:srgbClr val="14263A"/>
                    </a:solidFill>
                  </a:tcPr>
                </a:tc>
              </a:tr>
              <a:tr h="831850">
                <a:tc>
                  <a:txBody>
                    <a:bodyPr wrap="square"/>
                    <a:lstStyle/>
                    <a:p>
                      <a:r>
                        <a:rPr sz="1750" b="0">
                          <a:solidFill>
                            <a:srgbClr val="14263A"/>
                          </a:solidFill>
                          <a:latin typeface="Calibri"/>
                        </a:rPr>
                        <a:t>Bronze</a:t>
                      </a:r>
                    </a:p>
                  </a:txBody>
                  <a:tcPr marL="152400" marR="152400" marT="101600" marB="101600" anchor="t">
                    <a:solidFill>
                      <a:srgbClr val="FDFCF9"/>
                    </a:solidFill>
                  </a:tcPr>
                </a:tc>
                <a:tc>
                  <a:txBody>
                    <a:bodyPr wrap="square"/>
                    <a:lstStyle/>
                    <a:p>
                      <a:r>
                        <a:rPr sz="1750" b="0">
                          <a:solidFill>
                            <a:srgbClr val="14263A"/>
                          </a:solidFill>
                          <a:latin typeface="Calibri"/>
                        </a:rPr>
                        <a:t>What columns does this feed land? Show 10 sample rows.</a:t>
                      </a:r>
                    </a:p>
                  </a:txBody>
                  <a:tcPr marL="152400" marR="152400" marT="101600" marB="101600" anchor="t">
                    <a:solidFill>
                      <a:srgbClr val="FDFCF9"/>
                    </a:solidFill>
                  </a:tcPr>
                </a:tc>
                <a:tc>
                  <a:txBody>
                    <a:bodyPr wrap="square"/>
                    <a:lstStyle/>
                    <a:p>
                      <a:r>
                        <a:rPr sz="1750" b="0">
                          <a:solidFill>
                            <a:srgbClr val="14263A"/>
                          </a:solidFill>
                          <a:latin typeface="Calibri"/>
                        </a:rPr>
                        <a:t>Raw and possibly sensitive. Large tables cost more to scan.</a:t>
                      </a:r>
                    </a:p>
                  </a:txBody>
                  <a:tcPr marL="152400" marR="152400" marT="101600" marB="101600" anchor="t">
                    <a:solidFill>
                      <a:srgbClr val="FDFCF9"/>
                    </a:solidFill>
                  </a:tcPr>
                </a:tc>
              </a:tr>
              <a:tr h="831850">
                <a:tc>
                  <a:txBody>
                    <a:bodyPr wrap="square"/>
                    <a:lstStyle/>
                    <a:p>
                      <a:r>
                        <a:rPr sz="1750" b="0">
                          <a:solidFill>
                            <a:srgbClr val="14263A"/>
                          </a:solidFill>
                          <a:latin typeface="Calibri"/>
                        </a:rPr>
                        <a:t>Silver</a:t>
                      </a:r>
                    </a:p>
                  </a:txBody>
                  <a:tcPr marL="152400" marR="152400" marT="101600" marB="101600" anchor="t">
                    <a:solidFill>
                      <a:srgbClr val="FDFCF9"/>
                    </a:solidFill>
                  </a:tcPr>
                </a:tc>
                <a:tc>
                  <a:txBody>
                    <a:bodyPr wrap="square"/>
                    <a:lstStyle/>
                    <a:p>
                      <a:r>
                        <a:rPr sz="1750" b="0">
                          <a:solidFill>
                            <a:srgbClr val="14263A"/>
                          </a:solidFill>
                          <a:latin typeface="Calibri"/>
                        </a:rPr>
                        <a:t>What rules standardize member status? Which keys join these tables?</a:t>
                      </a:r>
                    </a:p>
                  </a:txBody>
                  <a:tcPr marL="152400" marR="152400" marT="101600" marB="101600" anchor="t">
                    <a:solidFill>
                      <a:srgbClr val="FDFCF9"/>
                    </a:solidFill>
                  </a:tcPr>
                </a:tc>
                <a:tc>
                  <a:txBody>
                    <a:bodyPr wrap="square"/>
                    <a:lstStyle/>
                    <a:p>
                      <a:r>
                        <a:rPr sz="1750" b="0">
                          <a:solidFill>
                            <a:srgbClr val="14263A"/>
                          </a:solidFill>
                          <a:latin typeface="Calibri"/>
                        </a:rPr>
                        <a:t>Transformation logic may be undocumented. Confirm with data engineering.</a:t>
                      </a:r>
                    </a:p>
                  </a:txBody>
                  <a:tcPr marL="152400" marR="152400" marT="101600" marB="101600" anchor="t">
                    <a:solidFill>
                      <a:srgbClr val="FDFCF9"/>
                    </a:solidFill>
                  </a:tcPr>
                </a:tc>
              </a:tr>
              <a:tr h="831850">
                <a:tc>
                  <a:txBody>
                    <a:bodyPr wrap="square"/>
                    <a:lstStyle/>
                    <a:p>
                      <a:r>
                        <a:rPr sz="1750" b="0">
                          <a:solidFill>
                            <a:srgbClr val="14263A"/>
                          </a:solidFill>
                          <a:latin typeface="Calibri"/>
                        </a:rPr>
                        <a:t>Gold</a:t>
                      </a:r>
                    </a:p>
                  </a:txBody>
                  <a:tcPr marL="152400" marR="152400" marT="101600" marB="101600" anchor="t">
                    <a:solidFill>
                      <a:srgbClr val="FDFCF9"/>
                    </a:solidFill>
                  </a:tcPr>
                </a:tc>
                <a:tc>
                  <a:txBody>
                    <a:bodyPr wrap="square"/>
                    <a:lstStyle/>
                    <a:p>
                      <a:r>
                        <a:rPr sz="1750" b="0">
                          <a:solidFill>
                            <a:srgbClr val="14263A"/>
                          </a:solidFill>
                          <a:latin typeface="Calibri"/>
                        </a:rPr>
                        <a:t>Monthly count of X by Y. Which tables feed this KPI?</a:t>
                      </a:r>
                    </a:p>
                  </a:txBody>
                  <a:tcPr marL="152400" marR="152400" marT="101600" marB="101600" anchor="t">
                    <a:solidFill>
                      <a:srgbClr val="FDFCF9"/>
                    </a:solidFill>
                  </a:tcPr>
                </a:tc>
                <a:tc>
                  <a:txBody>
                    <a:bodyPr wrap="square"/>
                    <a:lstStyle/>
                    <a:p>
                      <a:r>
                        <a:rPr sz="1750" b="0">
                          <a:solidFill>
                            <a:srgbClr val="14263A"/>
                          </a:solidFill>
                          <a:latin typeface="Calibri"/>
                        </a:rPr>
                        <a:t>Check that the definition matches the official KPI.</a:t>
                      </a:r>
                    </a:p>
                  </a:txBody>
                  <a:tcPr marL="152400" marR="152400" marT="101600" marB="101600" anchor="t">
                    <a:solidFill>
                      <a:srgbClr val="FDFCF9"/>
                    </a:solidFill>
                  </a:tcPr>
                </a:tc>
              </a:tr>
            </a:tbl>
          </a:graphicData>
        </a:graphic>
      </p:graphicFrame>
      <p:sp>
        <p:nvSpPr>
          <p:cNvPr id="5" name="TextBox 4"/>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UNDERSTAND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Streamlit: small apps from a prompt</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1">
                <a:solidFill>
                  <a:srgbClr val="14263A"/>
                </a:solidFill>
                <a:latin typeface="Calibri"/>
              </a:rPr>
              <a:t>Streamlit</a:t>
            </a:r>
            <a:r>
              <a:rPr sz="2125" b="0">
                <a:solidFill>
                  <a:srgbClr val="14263A"/>
                </a:solidFill>
                <a:latin typeface="Calibri"/>
              </a:rPr>
              <a:t> is a Python framework for simple interactive data apps.</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CoCo can generate one from a description: filters, tables, charts.</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Good uses: lookup tools, validation checkers, quick dashboards for the team.</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Treat every generated app as a </a:t>
            </a:r>
            <a:r>
              <a:rPr sz="2125" b="1">
                <a:solidFill>
                  <a:srgbClr val="14263A"/>
                </a:solidFill>
                <a:latin typeface="Calibri"/>
              </a:rPr>
              <a:t>draft</a:t>
            </a:r>
            <a:r>
              <a:rPr sz="2125" b="0">
                <a:solidFill>
                  <a:srgbClr val="14263A"/>
                </a:solidFill>
                <a:latin typeface="Calibri"/>
              </a:rPr>
              <a:t> until data owners and developers review it.</a:t>
            </a:r>
          </a:p>
        </p:txBody>
      </p:sp>
      <p:sp>
        <p:nvSpPr>
          <p:cNvPr id="12" name="TextBox 11"/>
          <p:cNvSpPr txBox="1"/>
          <p:nvPr/>
        </p:nvSpPr>
        <p:spPr>
          <a:xfrm>
            <a:off x="812800" y="41435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1435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Sharing an app shares data access: check who can open it.</a:t>
            </a:r>
          </a:p>
        </p:txBody>
      </p:sp>
      <p:sp>
        <p:nvSpPr>
          <p:cNvPr id="14" name="Rectangle 13"/>
          <p:cNvSpPr/>
          <p:nvPr/>
        </p:nvSpPr>
        <p:spPr>
          <a:xfrm>
            <a:off x="812800" y="4761865"/>
            <a:ext cx="50800" cy="625475"/>
          </a:xfrm>
          <a:prstGeom prst="rect">
            <a:avLst/>
          </a:prstGeom>
          <a:solidFill>
            <a:srgbClr val="B84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4761865"/>
            <a:ext cx="10388600" cy="663575"/>
          </a:xfrm>
          <a:prstGeom prst="rect">
            <a:avLst/>
          </a:prstGeom>
          <a:noFill/>
        </p:spPr>
        <p:txBody>
          <a:bodyPr wrap="square" lIns="0" rIns="0" tIns="0" bIns="0">
            <a:spAutoFit/>
          </a:bodyPr>
          <a:lstStyle/>
          <a:p>
            <a:pPr>
              <a:lnSpc>
                <a:spcPct val="112500"/>
              </a:lnSpc>
            </a:pPr>
            <a:r>
              <a:rPr sz="1750" b="1">
                <a:solidFill>
                  <a:srgbClr val="B84E12"/>
                </a:solidFill>
                <a:latin typeface="Calibri"/>
              </a:rPr>
              <a:t>Snowflake docs describe app building for Desktop and CLI. Confirm with the admin what is enabled in our Snowsight.</a:t>
            </a:r>
          </a:p>
        </p:txBody>
      </p:sp>
      <p:sp>
        <p:nvSpPr>
          <p:cNvPr id="16" name="TextBox 1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GET STARTED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Opening CoCo in Snowsight</a:t>
            </a:r>
          </a:p>
        </p:txBody>
      </p:sp>
      <p:sp>
        <p:nvSpPr>
          <p:cNvPr id="4" name="Rounded Rectangle 3"/>
          <p:cNvSpPr/>
          <p:nvPr/>
        </p:nvSpPr>
        <p:spPr>
          <a:xfrm>
            <a:off x="812800" y="2127408"/>
            <a:ext cx="3403600" cy="1763712"/>
          </a:xfrm>
          <a:prstGeom prst="roundRect">
            <a:avLst>
              <a:gd name="adj" fmla="val 72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1. Sign in</a:t>
            </a:r>
          </a:p>
        </p:txBody>
      </p:sp>
      <p:sp>
        <p:nvSpPr>
          <p:cNvPr id="6" name="TextBox 5"/>
          <p:cNvSpPr txBox="1"/>
          <p:nvPr/>
        </p:nvSpPr>
        <p:spPr>
          <a:xfrm>
            <a:off x="1016000" y="2762408"/>
            <a:ext cx="29972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Open Snowsight with your normal enterprise login.</a:t>
            </a:r>
          </a:p>
        </p:txBody>
      </p:sp>
      <p:sp>
        <p:nvSpPr>
          <p:cNvPr id="7" name="Rounded Rectangle 6"/>
          <p:cNvSpPr/>
          <p:nvPr/>
        </p:nvSpPr>
        <p:spPr>
          <a:xfrm>
            <a:off x="4394200" y="2127408"/>
            <a:ext cx="3403600" cy="1763712"/>
          </a:xfrm>
          <a:prstGeom prst="roundRect">
            <a:avLst>
              <a:gd name="adj" fmla="val 72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400" y="2330608"/>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2. Pick your role</a:t>
            </a:r>
          </a:p>
        </p:txBody>
      </p:sp>
      <p:sp>
        <p:nvSpPr>
          <p:cNvPr id="9" name="TextBox 8"/>
          <p:cNvSpPr txBox="1"/>
          <p:nvPr/>
        </p:nvSpPr>
        <p:spPr>
          <a:xfrm>
            <a:off x="4597400" y="2762408"/>
            <a:ext cx="29972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Choose a role that has CoCo access.</a:t>
            </a:r>
          </a:p>
        </p:txBody>
      </p:sp>
      <p:sp>
        <p:nvSpPr>
          <p:cNvPr id="10" name="Rounded Rectangle 9"/>
          <p:cNvSpPr/>
          <p:nvPr/>
        </p:nvSpPr>
        <p:spPr>
          <a:xfrm>
            <a:off x="7975600" y="2127408"/>
            <a:ext cx="3403600" cy="1763712"/>
          </a:xfrm>
          <a:prstGeom prst="roundRect">
            <a:avLst>
              <a:gd name="adj" fmla="val 7200"/>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8800" y="2330608"/>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3. Open the CoCo panel</a:t>
            </a:r>
          </a:p>
        </p:txBody>
      </p:sp>
      <p:sp>
        <p:nvSpPr>
          <p:cNvPr id="12" name="TextBox 11"/>
          <p:cNvSpPr txBox="1"/>
          <p:nvPr/>
        </p:nvSpPr>
        <p:spPr>
          <a:xfrm>
            <a:off x="8178800" y="2762408"/>
            <a:ext cx="29972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Use the CoCo option in Snowsight. Placement can change between releases.</a:t>
            </a:r>
          </a:p>
        </p:txBody>
      </p:sp>
      <p:sp>
        <p:nvSpPr>
          <p:cNvPr id="13" name="Rounded Rectangle 12"/>
          <p:cNvSpPr/>
          <p:nvPr/>
        </p:nvSpPr>
        <p:spPr>
          <a:xfrm>
            <a:off x="812800" y="4068921"/>
            <a:ext cx="3403600" cy="1463675"/>
          </a:xfrm>
          <a:prstGeom prst="roundRect">
            <a:avLst>
              <a:gd name="adj" fmla="val 867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4272121"/>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4. Set context</a:t>
            </a:r>
          </a:p>
        </p:txBody>
      </p:sp>
      <p:sp>
        <p:nvSpPr>
          <p:cNvPr id="15" name="TextBox 14"/>
          <p:cNvSpPr txBox="1"/>
          <p:nvPr/>
        </p:nvSpPr>
        <p:spPr>
          <a:xfrm>
            <a:off x="1016000" y="4703921"/>
            <a:ext cx="29972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Choose a warehouse, database and schema to work in.</a:t>
            </a:r>
          </a:p>
        </p:txBody>
      </p:sp>
      <p:sp>
        <p:nvSpPr>
          <p:cNvPr id="16" name="Rounded Rectangle 15"/>
          <p:cNvSpPr/>
          <p:nvPr/>
        </p:nvSpPr>
        <p:spPr>
          <a:xfrm>
            <a:off x="4394200" y="4068921"/>
            <a:ext cx="3403600" cy="1463675"/>
          </a:xfrm>
          <a:prstGeom prst="roundRect">
            <a:avLst>
              <a:gd name="adj" fmla="val 867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7400" y="4272121"/>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5. Type a request</a:t>
            </a:r>
          </a:p>
        </p:txBody>
      </p:sp>
      <p:sp>
        <p:nvSpPr>
          <p:cNvPr id="18" name="TextBox 17"/>
          <p:cNvSpPr txBox="1"/>
          <p:nvPr/>
        </p:nvSpPr>
        <p:spPr>
          <a:xfrm>
            <a:off x="4597400" y="4703921"/>
            <a:ext cx="2997200" cy="363537"/>
          </a:xfrm>
          <a:prstGeom prst="rect">
            <a:avLst/>
          </a:prstGeom>
          <a:noFill/>
        </p:spPr>
        <p:txBody>
          <a:bodyPr wrap="square" lIns="0" rIns="0" tIns="0" bIns="0">
            <a:spAutoFit/>
          </a:bodyPr>
          <a:lstStyle/>
          <a:p>
            <a:pPr>
              <a:lnSpc>
                <a:spcPct val="112500"/>
              </a:lnSpc>
            </a:pPr>
            <a:r>
              <a:rPr sz="1750" b="0">
                <a:solidFill>
                  <a:srgbClr val="4A5A6A"/>
                </a:solidFill>
                <a:latin typeface="Calibri"/>
              </a:rPr>
              <a:t>Plain English. Start small.</a:t>
            </a:r>
          </a:p>
        </p:txBody>
      </p:sp>
      <p:sp>
        <p:nvSpPr>
          <p:cNvPr id="19" name="Rounded Rectangle 18"/>
          <p:cNvSpPr/>
          <p:nvPr/>
        </p:nvSpPr>
        <p:spPr>
          <a:xfrm>
            <a:off x="7975600" y="4068921"/>
            <a:ext cx="3403600" cy="1463675"/>
          </a:xfrm>
          <a:prstGeom prst="roundRect">
            <a:avLst>
              <a:gd name="adj" fmla="val 867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8800" y="4272121"/>
            <a:ext cx="2997200" cy="381000"/>
          </a:xfrm>
          <a:prstGeom prst="rect">
            <a:avLst/>
          </a:prstGeom>
          <a:noFill/>
        </p:spPr>
        <p:txBody>
          <a:bodyPr wrap="square" lIns="0" rIns="0" tIns="0" bIns="0">
            <a:spAutoFit/>
          </a:bodyPr>
          <a:lstStyle/>
          <a:p>
            <a:pPr>
              <a:lnSpc>
                <a:spcPct val="104167"/>
              </a:lnSpc>
            </a:pPr>
            <a:r>
              <a:rPr sz="2000" b="1">
                <a:solidFill>
                  <a:srgbClr val="1B6F9A"/>
                </a:solidFill>
                <a:latin typeface="Calibri"/>
              </a:rPr>
              <a:t>6. Review and approve</a:t>
            </a:r>
          </a:p>
        </p:txBody>
      </p:sp>
      <p:sp>
        <p:nvSpPr>
          <p:cNvPr id="21" name="TextBox 20"/>
          <p:cNvSpPr txBox="1"/>
          <p:nvPr/>
        </p:nvSpPr>
        <p:spPr>
          <a:xfrm>
            <a:off x="8178800" y="4703921"/>
            <a:ext cx="29972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Read what CoCo proposes before it runs.</a:t>
            </a:r>
          </a:p>
        </p:txBody>
      </p:sp>
      <p:sp>
        <p:nvSpPr>
          <p:cNvPr id="22" name="TextBox 2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GET STARTED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Four safe first prompts</a:t>
            </a:r>
          </a:p>
        </p:txBody>
      </p:sp>
      <p:sp>
        <p:nvSpPr>
          <p:cNvPr id="4" name="Rounded Rectangle 3"/>
          <p:cNvSpPr/>
          <p:nvPr/>
        </p:nvSpPr>
        <p:spPr>
          <a:xfrm>
            <a:off x="812800" y="2127408"/>
            <a:ext cx="5194300" cy="1373187"/>
          </a:xfrm>
          <a:prstGeom prst="roundRect">
            <a:avLst>
              <a:gd name="adj" fmla="val 9248"/>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4787900" cy="966787"/>
          </a:xfrm>
          <a:prstGeom prst="rect">
            <a:avLst/>
          </a:prstGeom>
          <a:noFill/>
        </p:spPr>
        <p:txBody>
          <a:bodyPr wrap="square" lIns="0" rIns="0" tIns="0" bIns="0">
            <a:spAutoFit/>
          </a:bodyPr>
          <a:lstStyle/>
          <a:p>
            <a:pPr>
              <a:lnSpc>
                <a:spcPct val="120833"/>
              </a:lnSpc>
            </a:pPr>
            <a:r>
              <a:rPr sz="1750" b="0">
                <a:solidFill>
                  <a:srgbClr val="F6F4EF"/>
                </a:solidFill>
                <a:latin typeface="Consolas"/>
              </a:rPr>
              <a:t>What databases and schemas can I see? Summarize each in plain English.</a:t>
            </a:r>
          </a:p>
        </p:txBody>
      </p:sp>
      <p:sp>
        <p:nvSpPr>
          <p:cNvPr id="6" name="Rounded Rectangle 5"/>
          <p:cNvSpPr/>
          <p:nvPr/>
        </p:nvSpPr>
        <p:spPr>
          <a:xfrm>
            <a:off x="6184900" y="2127408"/>
            <a:ext cx="5194300" cy="1373187"/>
          </a:xfrm>
          <a:prstGeom prst="roundRect">
            <a:avLst>
              <a:gd name="adj" fmla="val 9248"/>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8100" y="2330608"/>
            <a:ext cx="4787900" cy="966787"/>
          </a:xfrm>
          <a:prstGeom prst="rect">
            <a:avLst/>
          </a:prstGeom>
          <a:noFill/>
        </p:spPr>
        <p:txBody>
          <a:bodyPr wrap="square" lIns="0" rIns="0" tIns="0" bIns="0">
            <a:spAutoFit/>
          </a:bodyPr>
          <a:lstStyle/>
          <a:p>
            <a:pPr>
              <a:lnSpc>
                <a:spcPct val="120833"/>
              </a:lnSpc>
            </a:pPr>
            <a:r>
              <a:rPr sz="1750" b="0">
                <a:solidFill>
                  <a:srgbClr val="F6F4EF"/>
                </a:solidFill>
                <a:latin typeface="Consolas"/>
              </a:rPr>
              <a:t>Describe table &lt;GOLD_TABLE&gt;: columns, likely meaning of each, and 5 sample rows.</a:t>
            </a:r>
          </a:p>
        </p:txBody>
      </p:sp>
      <p:sp>
        <p:nvSpPr>
          <p:cNvPr id="8" name="Rounded Rectangle 7"/>
          <p:cNvSpPr/>
          <p:nvPr/>
        </p:nvSpPr>
        <p:spPr>
          <a:xfrm>
            <a:off x="812800" y="3678396"/>
            <a:ext cx="5194300" cy="1373187"/>
          </a:xfrm>
          <a:prstGeom prst="roundRect">
            <a:avLst>
              <a:gd name="adj" fmla="val 9248"/>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3881596"/>
            <a:ext cx="4787900" cy="966787"/>
          </a:xfrm>
          <a:prstGeom prst="rect">
            <a:avLst/>
          </a:prstGeom>
          <a:noFill/>
        </p:spPr>
        <p:txBody>
          <a:bodyPr wrap="square" lIns="0" rIns="0" tIns="0" bIns="0">
            <a:spAutoFit/>
          </a:bodyPr>
          <a:lstStyle/>
          <a:p>
            <a:pPr>
              <a:lnSpc>
                <a:spcPct val="120833"/>
              </a:lnSpc>
            </a:pPr>
            <a:r>
              <a:rPr sz="1750" b="0">
                <a:solidFill>
                  <a:srgbClr val="F6F4EF"/>
                </a:solidFill>
                <a:latin typeface="Consolas"/>
              </a:rPr>
              <a:t>How many rows were loaded into &lt;TABLE&gt; each day over the last 30 days?</a:t>
            </a:r>
          </a:p>
        </p:txBody>
      </p:sp>
      <p:sp>
        <p:nvSpPr>
          <p:cNvPr id="10" name="Rounded Rectangle 9"/>
          <p:cNvSpPr/>
          <p:nvPr/>
        </p:nvSpPr>
        <p:spPr>
          <a:xfrm>
            <a:off x="6184900" y="3678396"/>
            <a:ext cx="5194300" cy="1373187"/>
          </a:xfrm>
          <a:prstGeom prst="roundRect">
            <a:avLst>
              <a:gd name="adj" fmla="val 9248"/>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8100" y="3881596"/>
            <a:ext cx="4787900" cy="966787"/>
          </a:xfrm>
          <a:prstGeom prst="rect">
            <a:avLst/>
          </a:prstGeom>
          <a:noFill/>
        </p:spPr>
        <p:txBody>
          <a:bodyPr wrap="square" lIns="0" rIns="0" tIns="0" bIns="0">
            <a:spAutoFit/>
          </a:bodyPr>
          <a:lstStyle/>
          <a:p>
            <a:pPr>
              <a:lnSpc>
                <a:spcPct val="120833"/>
              </a:lnSpc>
            </a:pPr>
            <a:r>
              <a:rPr sz="1750" b="0">
                <a:solidFill>
                  <a:srgbClr val="F6F4EF"/>
                </a:solidFill>
                <a:latin typeface="Consolas"/>
              </a:rPr>
              <a:t>Explain this query in business terms:</a:t>
            </a:r>
          </a:p>
          <a:p>
            <a:pPr>
              <a:lnSpc>
                <a:spcPct val="120833"/>
              </a:lnSpc>
            </a:pPr>
            <a:r>
              <a:rPr sz="1750" b="0">
                <a:solidFill>
                  <a:srgbClr val="F6F4EF"/>
                </a:solidFill>
                <a:latin typeface="Consolas"/>
              </a:rPr>
              <a:t>&lt;paste SQL here&gt;</a:t>
            </a:r>
          </a:p>
        </p:txBody>
      </p:sp>
      <p:sp>
        <p:nvSpPr>
          <p:cNvPr id="12" name="TextBox 11"/>
          <p:cNvSpPr txBox="1"/>
          <p:nvPr/>
        </p:nvSpPr>
        <p:spPr>
          <a:xfrm>
            <a:off x="812800" y="5280183"/>
            <a:ext cx="10566400" cy="321468"/>
          </a:xfrm>
          <a:prstGeom prst="rect">
            <a:avLst/>
          </a:prstGeom>
          <a:noFill/>
        </p:spPr>
        <p:txBody>
          <a:bodyPr wrap="square" lIns="0" rIns="0" tIns="0" bIns="0">
            <a:spAutoFit/>
          </a:bodyPr>
          <a:lstStyle/>
          <a:p>
            <a:pPr>
              <a:lnSpc>
                <a:spcPct val="104167"/>
              </a:lnSpc>
            </a:pPr>
            <a:r>
              <a:rPr sz="1625" b="0">
                <a:solidFill>
                  <a:srgbClr val="4A5A6A"/>
                </a:solidFill>
                <a:latin typeface="Calibri"/>
              </a:rPr>
              <a:t>All four are read-only. Replace the bracketed names with your own objects.</a:t>
            </a:r>
          </a:p>
        </p:txBody>
      </p:sp>
      <p:sp>
        <p:nvSpPr>
          <p:cNvPr id="13" name="TextBox 12"/>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GET STARTED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Give CoCo context</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Use the </a:t>
            </a:r>
            <a:r>
              <a:rPr sz="2125" b="1">
                <a:solidFill>
                  <a:srgbClr val="14263A"/>
                </a:solidFill>
                <a:latin typeface="Calibri"/>
              </a:rPr>
              <a:t>full name</a:t>
            </a:r>
            <a:r>
              <a:rPr sz="2125" b="0">
                <a:solidFill>
                  <a:srgbClr val="14263A"/>
                </a:solidFill>
                <a:latin typeface="Calibri"/>
              </a:rPr>
              <a:t> of objects: DATABASE.SCHEMA.TABLE.</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State the </a:t>
            </a:r>
            <a:r>
              <a:rPr sz="2125" b="1">
                <a:solidFill>
                  <a:srgbClr val="14263A"/>
                </a:solidFill>
                <a:latin typeface="Calibri"/>
              </a:rPr>
              <a:t>business purpose</a:t>
            </a:r>
            <a:r>
              <a:rPr sz="2125" b="0">
                <a:solidFill>
                  <a:srgbClr val="14263A"/>
                </a:solidFill>
                <a:latin typeface="Calibri"/>
              </a:rPr>
              <a:t>: who will use the answer and why.</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Paste the </a:t>
            </a:r>
            <a:r>
              <a:rPr sz="2125" b="1">
                <a:solidFill>
                  <a:srgbClr val="14263A"/>
                </a:solidFill>
                <a:latin typeface="Calibri"/>
              </a:rPr>
              <a:t>rule or definition</a:t>
            </a:r>
            <a:r>
              <a:rPr sz="2125" b="0">
                <a:solidFill>
                  <a:srgbClr val="14263A"/>
                </a:solidFill>
                <a:latin typeface="Calibri"/>
              </a:rPr>
              <a:t> you know to be correct.</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Say the </a:t>
            </a:r>
            <a:r>
              <a:rPr sz="2125" b="1">
                <a:solidFill>
                  <a:srgbClr val="14263A"/>
                </a:solidFill>
                <a:latin typeface="Calibri"/>
              </a:rPr>
              <a:t>time window</a:t>
            </a:r>
            <a:r>
              <a:rPr sz="2125" b="0">
                <a:solidFill>
                  <a:srgbClr val="14263A"/>
                </a:solidFill>
                <a:latin typeface="Calibri"/>
              </a:rPr>
              <a:t> and the </a:t>
            </a:r>
            <a:r>
              <a:rPr sz="2125" b="1">
                <a:solidFill>
                  <a:srgbClr val="14263A"/>
                </a:solidFill>
                <a:latin typeface="Calibri"/>
              </a:rPr>
              <a:t>output shape</a:t>
            </a:r>
            <a:r>
              <a:rPr sz="2125" b="0">
                <a:solidFill>
                  <a:srgbClr val="14263A"/>
                </a:solidFill>
                <a:latin typeface="Calibri"/>
              </a:rPr>
              <a:t> you want.</a:t>
            </a:r>
          </a:p>
        </p:txBody>
      </p:sp>
      <p:sp>
        <p:nvSpPr>
          <p:cNvPr id="12" name="TextBox 11"/>
          <p:cNvSpPr txBox="1"/>
          <p:nvPr/>
        </p:nvSpPr>
        <p:spPr>
          <a:xfrm>
            <a:off x="812800" y="41435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1435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Ask it to list </a:t>
            </a:r>
            <a:r>
              <a:rPr sz="2125" b="1">
                <a:solidFill>
                  <a:srgbClr val="14263A"/>
                </a:solidFill>
                <a:latin typeface="Calibri"/>
              </a:rPr>
              <a:t>assumptions</a:t>
            </a:r>
            <a:r>
              <a:rPr sz="2125" b="0">
                <a:solidFill>
                  <a:srgbClr val="14263A"/>
                </a:solidFill>
                <a:latin typeface="Calibri"/>
              </a:rPr>
              <a:t> and to show the SQL it ran.</a:t>
            </a:r>
          </a:p>
        </p:txBody>
      </p:sp>
      <p:sp>
        <p:nvSpPr>
          <p:cNvPr id="14" name="Rectangle 13"/>
          <p:cNvSpPr/>
          <p:nvPr/>
        </p:nvSpPr>
        <p:spPr>
          <a:xfrm>
            <a:off x="812800" y="4761865"/>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 y="4761865"/>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Context you know is the context CoCo cannot guess.</a:t>
            </a:r>
          </a:p>
        </p:txBody>
      </p:sp>
      <p:sp>
        <p:nvSpPr>
          <p:cNvPr id="16" name="TextBox 1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GET STARTED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The prompt recipe: G-D-R-O-C</a:t>
            </a:r>
          </a:p>
        </p:txBody>
      </p:sp>
      <p:sp>
        <p:nvSpPr>
          <p:cNvPr id="4" name="Rounded Rectangle 3"/>
          <p:cNvSpPr/>
          <p:nvPr/>
        </p:nvSpPr>
        <p:spPr>
          <a:xfrm>
            <a:off x="812800" y="2127408"/>
            <a:ext cx="2011680" cy="1795462"/>
          </a:xfrm>
          <a:prstGeom prst="roundRect">
            <a:avLst>
              <a:gd name="adj" fmla="val 707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305208"/>
            <a:ext cx="1656080" cy="321468"/>
          </a:xfrm>
          <a:prstGeom prst="rect">
            <a:avLst/>
          </a:prstGeom>
          <a:noFill/>
        </p:spPr>
        <p:txBody>
          <a:bodyPr wrap="square" lIns="0" rIns="0" tIns="0" bIns="0">
            <a:spAutoFit/>
          </a:bodyPr>
          <a:lstStyle/>
          <a:p>
            <a:pPr>
              <a:lnSpc>
                <a:spcPct val="104167"/>
              </a:lnSpc>
            </a:pPr>
            <a:r>
              <a:rPr sz="1625" b="1">
                <a:solidFill>
                  <a:srgbClr val="B84E12"/>
                </a:solidFill>
                <a:latin typeface="Calibri"/>
              </a:rPr>
              <a:t>STEP 1</a:t>
            </a:r>
          </a:p>
        </p:txBody>
      </p:sp>
      <p:sp>
        <p:nvSpPr>
          <p:cNvPr id="6" name="TextBox 5"/>
          <p:cNvSpPr txBox="1"/>
          <p:nvPr/>
        </p:nvSpPr>
        <p:spPr>
          <a:xfrm>
            <a:off x="990600" y="2664777"/>
            <a:ext cx="1656080" cy="480218"/>
          </a:xfrm>
          <a:prstGeom prst="rect">
            <a:avLst/>
          </a:prstGeom>
          <a:noFill/>
        </p:spPr>
        <p:txBody>
          <a:bodyPr wrap="square" lIns="0" rIns="0" tIns="0" bIns="0">
            <a:spAutoFit/>
          </a:bodyPr>
          <a:lstStyle/>
          <a:p>
            <a:pPr>
              <a:lnSpc>
                <a:spcPct val="104167"/>
              </a:lnSpc>
            </a:pPr>
            <a:r>
              <a:rPr sz="2625" b="1">
                <a:solidFill>
                  <a:srgbClr val="1B6F9A"/>
                </a:solidFill>
                <a:latin typeface="Calibri"/>
              </a:rPr>
              <a:t>Goal</a:t>
            </a:r>
          </a:p>
        </p:txBody>
      </p:sp>
      <p:sp>
        <p:nvSpPr>
          <p:cNvPr id="7" name="TextBox 6"/>
          <p:cNvSpPr txBox="1"/>
          <p:nvPr/>
        </p:nvSpPr>
        <p:spPr>
          <a:xfrm>
            <a:off x="990600" y="3183096"/>
            <a:ext cx="165608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The business question</a:t>
            </a:r>
          </a:p>
        </p:txBody>
      </p:sp>
      <p:sp>
        <p:nvSpPr>
          <p:cNvPr id="8" name="Rounded Rectangle 7"/>
          <p:cNvSpPr/>
          <p:nvPr/>
        </p:nvSpPr>
        <p:spPr>
          <a:xfrm>
            <a:off x="2951480" y="2127408"/>
            <a:ext cx="2011680" cy="1795462"/>
          </a:xfrm>
          <a:prstGeom prst="roundRect">
            <a:avLst>
              <a:gd name="adj" fmla="val 707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9280" y="2305208"/>
            <a:ext cx="1656080" cy="321468"/>
          </a:xfrm>
          <a:prstGeom prst="rect">
            <a:avLst/>
          </a:prstGeom>
          <a:noFill/>
        </p:spPr>
        <p:txBody>
          <a:bodyPr wrap="square" lIns="0" rIns="0" tIns="0" bIns="0">
            <a:spAutoFit/>
          </a:bodyPr>
          <a:lstStyle/>
          <a:p>
            <a:pPr>
              <a:lnSpc>
                <a:spcPct val="104167"/>
              </a:lnSpc>
            </a:pPr>
            <a:r>
              <a:rPr sz="1625" b="1">
                <a:solidFill>
                  <a:srgbClr val="B84E12"/>
                </a:solidFill>
                <a:latin typeface="Calibri"/>
              </a:rPr>
              <a:t>STEP 2</a:t>
            </a:r>
          </a:p>
        </p:txBody>
      </p:sp>
      <p:sp>
        <p:nvSpPr>
          <p:cNvPr id="10" name="TextBox 9"/>
          <p:cNvSpPr txBox="1"/>
          <p:nvPr/>
        </p:nvSpPr>
        <p:spPr>
          <a:xfrm>
            <a:off x="3129280" y="2664777"/>
            <a:ext cx="1656080" cy="480218"/>
          </a:xfrm>
          <a:prstGeom prst="rect">
            <a:avLst/>
          </a:prstGeom>
          <a:noFill/>
        </p:spPr>
        <p:txBody>
          <a:bodyPr wrap="square" lIns="0" rIns="0" tIns="0" bIns="0">
            <a:spAutoFit/>
          </a:bodyPr>
          <a:lstStyle/>
          <a:p>
            <a:pPr>
              <a:lnSpc>
                <a:spcPct val="104167"/>
              </a:lnSpc>
            </a:pPr>
            <a:r>
              <a:rPr sz="2625" b="1">
                <a:solidFill>
                  <a:srgbClr val="1B6F9A"/>
                </a:solidFill>
                <a:latin typeface="Calibri"/>
              </a:rPr>
              <a:t>Data</a:t>
            </a:r>
          </a:p>
        </p:txBody>
      </p:sp>
      <p:sp>
        <p:nvSpPr>
          <p:cNvPr id="11" name="TextBox 10"/>
          <p:cNvSpPr txBox="1"/>
          <p:nvPr/>
        </p:nvSpPr>
        <p:spPr>
          <a:xfrm>
            <a:off x="3129280" y="3183096"/>
            <a:ext cx="165608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Which tables or layer</a:t>
            </a:r>
          </a:p>
        </p:txBody>
      </p:sp>
      <p:sp>
        <p:nvSpPr>
          <p:cNvPr id="12" name="Rounded Rectangle 11"/>
          <p:cNvSpPr/>
          <p:nvPr/>
        </p:nvSpPr>
        <p:spPr>
          <a:xfrm>
            <a:off x="5090160" y="2127408"/>
            <a:ext cx="2011680" cy="1795462"/>
          </a:xfrm>
          <a:prstGeom prst="roundRect">
            <a:avLst>
              <a:gd name="adj" fmla="val 707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67960" y="2305208"/>
            <a:ext cx="1656080" cy="321468"/>
          </a:xfrm>
          <a:prstGeom prst="rect">
            <a:avLst/>
          </a:prstGeom>
          <a:noFill/>
        </p:spPr>
        <p:txBody>
          <a:bodyPr wrap="square" lIns="0" rIns="0" tIns="0" bIns="0">
            <a:spAutoFit/>
          </a:bodyPr>
          <a:lstStyle/>
          <a:p>
            <a:pPr>
              <a:lnSpc>
                <a:spcPct val="104167"/>
              </a:lnSpc>
            </a:pPr>
            <a:r>
              <a:rPr sz="1625" b="1">
                <a:solidFill>
                  <a:srgbClr val="B84E12"/>
                </a:solidFill>
                <a:latin typeface="Calibri"/>
              </a:rPr>
              <a:t>STEP 3</a:t>
            </a:r>
          </a:p>
        </p:txBody>
      </p:sp>
      <p:sp>
        <p:nvSpPr>
          <p:cNvPr id="14" name="TextBox 13"/>
          <p:cNvSpPr txBox="1"/>
          <p:nvPr/>
        </p:nvSpPr>
        <p:spPr>
          <a:xfrm>
            <a:off x="5267960" y="2664777"/>
            <a:ext cx="1656080" cy="480218"/>
          </a:xfrm>
          <a:prstGeom prst="rect">
            <a:avLst/>
          </a:prstGeom>
          <a:noFill/>
        </p:spPr>
        <p:txBody>
          <a:bodyPr wrap="square" lIns="0" rIns="0" tIns="0" bIns="0">
            <a:spAutoFit/>
          </a:bodyPr>
          <a:lstStyle/>
          <a:p>
            <a:pPr>
              <a:lnSpc>
                <a:spcPct val="104167"/>
              </a:lnSpc>
            </a:pPr>
            <a:r>
              <a:rPr sz="2625" b="1">
                <a:solidFill>
                  <a:srgbClr val="1B6F9A"/>
                </a:solidFill>
                <a:latin typeface="Calibri"/>
              </a:rPr>
              <a:t>Rules</a:t>
            </a:r>
          </a:p>
        </p:txBody>
      </p:sp>
      <p:sp>
        <p:nvSpPr>
          <p:cNvPr id="15" name="TextBox 14"/>
          <p:cNvSpPr txBox="1"/>
          <p:nvPr/>
        </p:nvSpPr>
        <p:spPr>
          <a:xfrm>
            <a:off x="5267960" y="3183096"/>
            <a:ext cx="165608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Definitions and filters</a:t>
            </a:r>
          </a:p>
        </p:txBody>
      </p:sp>
      <p:sp>
        <p:nvSpPr>
          <p:cNvPr id="16" name="Rounded Rectangle 15"/>
          <p:cNvSpPr/>
          <p:nvPr/>
        </p:nvSpPr>
        <p:spPr>
          <a:xfrm>
            <a:off x="7228840" y="2127408"/>
            <a:ext cx="2011680" cy="1795462"/>
          </a:xfrm>
          <a:prstGeom prst="roundRect">
            <a:avLst>
              <a:gd name="adj" fmla="val 707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2305208"/>
            <a:ext cx="1656080" cy="321468"/>
          </a:xfrm>
          <a:prstGeom prst="rect">
            <a:avLst/>
          </a:prstGeom>
          <a:noFill/>
        </p:spPr>
        <p:txBody>
          <a:bodyPr wrap="square" lIns="0" rIns="0" tIns="0" bIns="0">
            <a:spAutoFit/>
          </a:bodyPr>
          <a:lstStyle/>
          <a:p>
            <a:pPr>
              <a:lnSpc>
                <a:spcPct val="104167"/>
              </a:lnSpc>
            </a:pPr>
            <a:r>
              <a:rPr sz="1625" b="1">
                <a:solidFill>
                  <a:srgbClr val="B84E12"/>
                </a:solidFill>
                <a:latin typeface="Calibri"/>
              </a:rPr>
              <a:t>STEP 4</a:t>
            </a:r>
          </a:p>
        </p:txBody>
      </p:sp>
      <p:sp>
        <p:nvSpPr>
          <p:cNvPr id="18" name="TextBox 17"/>
          <p:cNvSpPr txBox="1"/>
          <p:nvPr/>
        </p:nvSpPr>
        <p:spPr>
          <a:xfrm>
            <a:off x="7406640" y="2664777"/>
            <a:ext cx="1656080" cy="480218"/>
          </a:xfrm>
          <a:prstGeom prst="rect">
            <a:avLst/>
          </a:prstGeom>
          <a:noFill/>
        </p:spPr>
        <p:txBody>
          <a:bodyPr wrap="square" lIns="0" rIns="0" tIns="0" bIns="0">
            <a:spAutoFit/>
          </a:bodyPr>
          <a:lstStyle/>
          <a:p>
            <a:pPr>
              <a:lnSpc>
                <a:spcPct val="104167"/>
              </a:lnSpc>
            </a:pPr>
            <a:r>
              <a:rPr sz="2625" b="1">
                <a:solidFill>
                  <a:srgbClr val="1B6F9A"/>
                </a:solidFill>
                <a:latin typeface="Calibri"/>
              </a:rPr>
              <a:t>Output</a:t>
            </a:r>
          </a:p>
        </p:txBody>
      </p:sp>
      <p:sp>
        <p:nvSpPr>
          <p:cNvPr id="19" name="TextBox 18"/>
          <p:cNvSpPr txBox="1"/>
          <p:nvPr/>
        </p:nvSpPr>
        <p:spPr>
          <a:xfrm>
            <a:off x="7406640" y="3183096"/>
            <a:ext cx="165608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Table, chart, mapping</a:t>
            </a:r>
          </a:p>
        </p:txBody>
      </p:sp>
      <p:sp>
        <p:nvSpPr>
          <p:cNvPr id="20" name="Rounded Rectangle 19"/>
          <p:cNvSpPr/>
          <p:nvPr/>
        </p:nvSpPr>
        <p:spPr>
          <a:xfrm>
            <a:off x="9367520" y="2127408"/>
            <a:ext cx="2011680" cy="1795462"/>
          </a:xfrm>
          <a:prstGeom prst="roundRect">
            <a:avLst>
              <a:gd name="adj" fmla="val 707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45320" y="2305208"/>
            <a:ext cx="1656080" cy="321468"/>
          </a:xfrm>
          <a:prstGeom prst="rect">
            <a:avLst/>
          </a:prstGeom>
          <a:noFill/>
        </p:spPr>
        <p:txBody>
          <a:bodyPr wrap="square" lIns="0" rIns="0" tIns="0" bIns="0">
            <a:spAutoFit/>
          </a:bodyPr>
          <a:lstStyle/>
          <a:p>
            <a:pPr>
              <a:lnSpc>
                <a:spcPct val="104167"/>
              </a:lnSpc>
            </a:pPr>
            <a:r>
              <a:rPr sz="1625" b="1">
                <a:solidFill>
                  <a:srgbClr val="B84E12"/>
                </a:solidFill>
                <a:latin typeface="Calibri"/>
              </a:rPr>
              <a:t>STEP 5</a:t>
            </a:r>
          </a:p>
        </p:txBody>
      </p:sp>
      <p:sp>
        <p:nvSpPr>
          <p:cNvPr id="22" name="TextBox 21"/>
          <p:cNvSpPr txBox="1"/>
          <p:nvPr/>
        </p:nvSpPr>
        <p:spPr>
          <a:xfrm>
            <a:off x="9545320" y="2664777"/>
            <a:ext cx="1656080" cy="480218"/>
          </a:xfrm>
          <a:prstGeom prst="rect">
            <a:avLst/>
          </a:prstGeom>
          <a:noFill/>
        </p:spPr>
        <p:txBody>
          <a:bodyPr wrap="square" lIns="0" rIns="0" tIns="0" bIns="0">
            <a:spAutoFit/>
          </a:bodyPr>
          <a:lstStyle/>
          <a:p>
            <a:pPr>
              <a:lnSpc>
                <a:spcPct val="104167"/>
              </a:lnSpc>
            </a:pPr>
            <a:r>
              <a:rPr sz="2625" b="1">
                <a:solidFill>
                  <a:srgbClr val="1B6F9A"/>
                </a:solidFill>
                <a:latin typeface="Calibri"/>
              </a:rPr>
              <a:t>Check</a:t>
            </a:r>
          </a:p>
        </p:txBody>
      </p:sp>
      <p:sp>
        <p:nvSpPr>
          <p:cNvPr id="23" name="TextBox 22"/>
          <p:cNvSpPr txBox="1"/>
          <p:nvPr/>
        </p:nvSpPr>
        <p:spPr>
          <a:xfrm>
            <a:off x="9545320" y="3183096"/>
            <a:ext cx="1656080" cy="600075"/>
          </a:xfrm>
          <a:prstGeom prst="rect">
            <a:avLst/>
          </a:prstGeom>
          <a:noFill/>
        </p:spPr>
        <p:txBody>
          <a:bodyPr wrap="square" lIns="0" rIns="0" tIns="0" bIns="0">
            <a:spAutoFit/>
          </a:bodyPr>
          <a:lstStyle/>
          <a:p>
            <a:pPr>
              <a:lnSpc>
                <a:spcPct val="108333"/>
              </a:lnSpc>
            </a:pPr>
            <a:r>
              <a:rPr sz="1625" b="0">
                <a:solidFill>
                  <a:srgbClr val="4A5A6A"/>
                </a:solidFill>
                <a:latin typeface="Calibri"/>
              </a:rPr>
              <a:t>Assumptions and SQL</a:t>
            </a:r>
          </a:p>
        </p:txBody>
      </p:sp>
      <p:sp>
        <p:nvSpPr>
          <p:cNvPr id="24" name="Rectangle 23"/>
          <p:cNvSpPr/>
          <p:nvPr/>
        </p:nvSpPr>
        <p:spPr>
          <a:xfrm>
            <a:off x="812800" y="4151471"/>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600" y="4151471"/>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One sentence per step is enough.</a:t>
            </a:r>
          </a:p>
        </p:txBody>
      </p:sp>
      <p:sp>
        <p:nvSpPr>
          <p:cNvPr id="26" name="TextBox 2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GET STARTED</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Weak prompt vs strong prompt</a:t>
            </a:r>
          </a:p>
        </p:txBody>
      </p:sp>
      <p:sp>
        <p:nvSpPr>
          <p:cNvPr id="4" name="TextBox 3"/>
          <p:cNvSpPr txBox="1"/>
          <p:nvPr/>
        </p:nvSpPr>
        <p:spPr>
          <a:xfrm>
            <a:off x="812800" y="2127408"/>
            <a:ext cx="5194300" cy="361156"/>
          </a:xfrm>
          <a:prstGeom prst="rect">
            <a:avLst/>
          </a:prstGeom>
          <a:noFill/>
        </p:spPr>
        <p:txBody>
          <a:bodyPr wrap="square" lIns="0" rIns="0" tIns="0" bIns="0">
            <a:spAutoFit/>
          </a:bodyPr>
          <a:lstStyle/>
          <a:p>
            <a:pPr>
              <a:lnSpc>
                <a:spcPct val="104167"/>
              </a:lnSpc>
            </a:pPr>
            <a:r>
              <a:rPr sz="1875" b="1">
                <a:solidFill>
                  <a:srgbClr val="B84E12"/>
                </a:solidFill>
                <a:latin typeface="Calibri"/>
              </a:rPr>
              <a:t>Weak</a:t>
            </a:r>
          </a:p>
        </p:txBody>
      </p:sp>
      <p:sp>
        <p:nvSpPr>
          <p:cNvPr id="5" name="Rounded Rectangle 4"/>
          <p:cNvSpPr/>
          <p:nvPr/>
        </p:nvSpPr>
        <p:spPr>
          <a:xfrm>
            <a:off x="812800" y="2526665"/>
            <a:ext cx="5194300" cy="774700"/>
          </a:xfrm>
          <a:prstGeom prst="roundRect">
            <a:avLst>
              <a:gd name="adj" fmla="val 16393"/>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729865"/>
            <a:ext cx="4787900" cy="368300"/>
          </a:xfrm>
          <a:prstGeom prst="rect">
            <a:avLst/>
          </a:prstGeom>
          <a:noFill/>
        </p:spPr>
        <p:txBody>
          <a:bodyPr wrap="square" lIns="0" rIns="0" tIns="0" bIns="0">
            <a:spAutoFit/>
          </a:bodyPr>
          <a:lstStyle/>
          <a:p>
            <a:pPr>
              <a:lnSpc>
                <a:spcPct val="120833"/>
              </a:lnSpc>
            </a:pPr>
            <a:r>
              <a:rPr sz="2000" b="0">
                <a:solidFill>
                  <a:srgbClr val="F6F4EF"/>
                </a:solidFill>
                <a:latin typeface="Consolas"/>
              </a:rPr>
              <a:t>Show me claims.</a:t>
            </a:r>
          </a:p>
        </p:txBody>
      </p:sp>
      <p:sp>
        <p:nvSpPr>
          <p:cNvPr id="7" name="TextBox 6"/>
          <p:cNvSpPr txBox="1"/>
          <p:nvPr/>
        </p:nvSpPr>
        <p:spPr>
          <a:xfrm>
            <a:off x="6184900" y="2127408"/>
            <a:ext cx="51943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Strong</a:t>
            </a:r>
          </a:p>
        </p:txBody>
      </p:sp>
      <p:sp>
        <p:nvSpPr>
          <p:cNvPr id="8" name="Rounded Rectangle 7"/>
          <p:cNvSpPr/>
          <p:nvPr/>
        </p:nvSpPr>
        <p:spPr>
          <a:xfrm>
            <a:off x="6184900" y="2526665"/>
            <a:ext cx="5194300" cy="2501106"/>
          </a:xfrm>
          <a:prstGeom prst="roundRect">
            <a:avLst>
              <a:gd name="adj" fmla="val 5077"/>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8100" y="2729865"/>
            <a:ext cx="4787900" cy="2094706"/>
          </a:xfrm>
          <a:prstGeom prst="rect">
            <a:avLst/>
          </a:prstGeom>
          <a:noFill/>
        </p:spPr>
        <p:txBody>
          <a:bodyPr wrap="square" lIns="0" rIns="0" tIns="0" bIns="0">
            <a:spAutoFit/>
          </a:bodyPr>
          <a:lstStyle/>
          <a:p>
            <a:pPr>
              <a:lnSpc>
                <a:spcPct val="120833"/>
              </a:lnSpc>
            </a:pPr>
            <a:r>
              <a:rPr sz="1625" b="0">
                <a:solidFill>
                  <a:srgbClr val="F6F4EF"/>
                </a:solidFill>
                <a:latin typeface="Consolas"/>
              </a:rPr>
              <a:t>Goal: count paid claims by month for last quarter.</a:t>
            </a:r>
          </a:p>
          <a:p>
            <a:pPr>
              <a:lnSpc>
                <a:spcPct val="120833"/>
              </a:lnSpc>
            </a:pPr>
            <a:r>
              <a:rPr sz="1625" b="0">
                <a:solidFill>
                  <a:srgbClr val="F6F4EF"/>
                </a:solidFill>
                <a:latin typeface="Consolas"/>
              </a:rPr>
              <a:t>Data: &lt;GOLD.CLAIMS_FACT&gt;.</a:t>
            </a:r>
          </a:p>
          <a:p>
            <a:pPr>
              <a:lnSpc>
                <a:spcPct val="120833"/>
              </a:lnSpc>
            </a:pPr>
            <a:r>
              <a:rPr sz="1625" b="0">
                <a:solidFill>
                  <a:srgbClr val="F6F4EF"/>
                </a:solidFill>
                <a:latin typeface="Consolas"/>
              </a:rPr>
              <a:t>Rules: exclude voided claims; use service date.</a:t>
            </a:r>
          </a:p>
          <a:p>
            <a:pPr>
              <a:lnSpc>
                <a:spcPct val="120833"/>
              </a:lnSpc>
            </a:pPr>
            <a:r>
              <a:rPr sz="1625" b="0">
                <a:solidFill>
                  <a:srgbClr val="F6F4EF"/>
                </a:solidFill>
                <a:latin typeface="Consolas"/>
              </a:rPr>
              <a:t>Output: table by month and plan type.</a:t>
            </a:r>
          </a:p>
          <a:p>
            <a:pPr>
              <a:lnSpc>
                <a:spcPct val="120833"/>
              </a:lnSpc>
            </a:pPr>
            <a:r>
              <a:rPr sz="1625" b="0">
                <a:solidFill>
                  <a:srgbClr val="F6F4EF"/>
                </a:solidFill>
                <a:latin typeface="Consolas"/>
              </a:rPr>
              <a:t>Check: show SQL and list assumptions.</a:t>
            </a:r>
          </a:p>
        </p:txBody>
      </p:sp>
      <p:sp>
        <p:nvSpPr>
          <p:cNvPr id="10" name="TextBox 9"/>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1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Find the right data</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I need data about member enrollment changes. Search the schemas I can access and list candidate tables with a one-line description, row count and last-updated date. Rank by likelihood.</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You know the business concept but not the table name.</a:t>
            </a:r>
          </a:p>
        </p:txBody>
      </p:sp>
      <p:sp>
        <p:nvSpPr>
          <p:cNvPr id="9" name="Rounded Rectangle 8"/>
          <p:cNvSpPr/>
          <p:nvPr/>
        </p:nvSpPr>
        <p:spPr>
          <a:xfrm>
            <a:off x="6807200" y="3749040"/>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Confirm the table owner or steward. Prefer Gold unless you need detail.</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2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Define a field in plain English</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Explain column STATUS_CD in &lt;TABLE&gt;. List distinct values with counts and propose a plain-English meaning for each. Mark any meaning that is a guess.</a:t>
            </a:r>
          </a:p>
        </p:txBody>
      </p:sp>
      <p:sp>
        <p:nvSpPr>
          <p:cNvPr id="6" name="Rounded Rectangle 5"/>
          <p:cNvSpPr/>
          <p:nvPr/>
        </p:nvSpPr>
        <p:spPr>
          <a:xfrm>
            <a:off x="6807200" y="2127408"/>
            <a:ext cx="4572000" cy="1143793"/>
          </a:xfrm>
          <a:prstGeom prst="roundRect">
            <a:avLst>
              <a:gd name="adj" fmla="val 1110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363537"/>
          </a:xfrm>
          <a:prstGeom prst="rect">
            <a:avLst/>
          </a:prstGeom>
          <a:noFill/>
        </p:spPr>
        <p:txBody>
          <a:bodyPr wrap="square" lIns="0" rIns="0" tIns="0" bIns="0">
            <a:spAutoFit/>
          </a:bodyPr>
          <a:lstStyle/>
          <a:p>
            <a:pPr>
              <a:lnSpc>
                <a:spcPct val="112500"/>
              </a:lnSpc>
            </a:pPr>
            <a:r>
              <a:rPr sz="1750" b="0">
                <a:solidFill>
                  <a:srgbClr val="4A5A6A"/>
                </a:solidFill>
                <a:latin typeface="Calibri"/>
              </a:rPr>
              <a:t>A code column has unclear meaning.</a:t>
            </a:r>
          </a:p>
        </p:txBody>
      </p:sp>
      <p:sp>
        <p:nvSpPr>
          <p:cNvPr id="9" name="Rounded Rectangle 8"/>
          <p:cNvSpPr/>
          <p:nvPr/>
        </p:nvSpPr>
        <p:spPr>
          <a:xfrm>
            <a:off x="6807200" y="3449002"/>
            <a:ext cx="4572000" cy="1743868"/>
          </a:xfrm>
          <a:prstGeom prst="roundRect">
            <a:avLst>
              <a:gd name="adj" fmla="val 728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652202"/>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064158"/>
            <a:ext cx="41656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Compare with the business glossary. Treat flagged guesses as questions for the owner.</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3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Answer a question with SQL</a:t>
            </a:r>
          </a:p>
        </p:txBody>
      </p:sp>
      <p:sp>
        <p:nvSpPr>
          <p:cNvPr id="4" name="Rounded Rectangle 3"/>
          <p:cNvSpPr/>
          <p:nvPr/>
        </p:nvSpPr>
        <p:spPr>
          <a:xfrm>
            <a:off x="812800" y="2127408"/>
            <a:ext cx="5791200" cy="2765425"/>
          </a:xfrm>
          <a:prstGeom prst="roundRect">
            <a:avLst>
              <a:gd name="adj" fmla="val 459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359025"/>
          </a:xfrm>
          <a:prstGeom prst="rect">
            <a:avLst/>
          </a:prstGeom>
          <a:noFill/>
        </p:spPr>
        <p:txBody>
          <a:bodyPr wrap="square" lIns="0" rIns="0" tIns="0" bIns="0">
            <a:spAutoFit/>
          </a:bodyPr>
          <a:lstStyle/>
          <a:p>
            <a:pPr>
              <a:lnSpc>
                <a:spcPct val="120833"/>
              </a:lnSpc>
            </a:pPr>
            <a:r>
              <a:rPr sz="1750" b="0">
                <a:solidFill>
                  <a:srgbClr val="F6F4EF"/>
                </a:solidFill>
                <a:latin typeface="Consolas"/>
              </a:rPr>
              <a:t>How many active members by plan type at the end of last quarter? Show the SQL, your assumptions and the result table.</a:t>
            </a:r>
          </a:p>
        </p:txBody>
      </p:sp>
      <p:sp>
        <p:nvSpPr>
          <p:cNvPr id="6" name="Rounded Rectangle 5"/>
          <p:cNvSpPr/>
          <p:nvPr/>
        </p:nvSpPr>
        <p:spPr>
          <a:xfrm>
            <a:off x="6807200" y="2127408"/>
            <a:ext cx="4572000" cy="1143793"/>
          </a:xfrm>
          <a:prstGeom prst="roundRect">
            <a:avLst>
              <a:gd name="adj" fmla="val 1110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363537"/>
          </a:xfrm>
          <a:prstGeom prst="rect">
            <a:avLst/>
          </a:prstGeom>
          <a:noFill/>
        </p:spPr>
        <p:txBody>
          <a:bodyPr wrap="square" lIns="0" rIns="0" tIns="0" bIns="0">
            <a:spAutoFit/>
          </a:bodyPr>
          <a:lstStyle/>
          <a:p>
            <a:pPr>
              <a:lnSpc>
                <a:spcPct val="112500"/>
              </a:lnSpc>
            </a:pPr>
            <a:r>
              <a:rPr sz="1750" b="0">
                <a:solidFill>
                  <a:srgbClr val="4A5A6A"/>
                </a:solidFill>
                <a:latin typeface="Calibri"/>
              </a:rPr>
              <a:t>A stakeholder asks for a number.</a:t>
            </a:r>
          </a:p>
        </p:txBody>
      </p:sp>
      <p:sp>
        <p:nvSpPr>
          <p:cNvPr id="9" name="Rounded Rectangle 8"/>
          <p:cNvSpPr/>
          <p:nvPr/>
        </p:nvSpPr>
        <p:spPr>
          <a:xfrm>
            <a:off x="6807200" y="3449002"/>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652202"/>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064158"/>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Read the filters and dates. Reconcile with a figure you already trust.</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4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Data quality and reconciliation</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Compare record counts and totals between &lt;SILVER_TABLE&gt; and &lt;GOLD_TABLE&gt; by month. List the differences and likely causes.</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Numbers differ between two layers or reports.</a:t>
            </a:r>
          </a:p>
        </p:txBody>
      </p:sp>
      <p:sp>
        <p:nvSpPr>
          <p:cNvPr id="9" name="Rounded Rectangle 8"/>
          <p:cNvSpPr/>
          <p:nvPr/>
        </p:nvSpPr>
        <p:spPr>
          <a:xfrm>
            <a:off x="6807200" y="3749040"/>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Confirm causes with data engineering. Save the query for next time.</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5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Source-to-target mapping</a:t>
            </a:r>
          </a:p>
        </p:txBody>
      </p:sp>
      <p:sp>
        <p:nvSpPr>
          <p:cNvPr id="4" name="Rounded Rectangle 3"/>
          <p:cNvSpPr/>
          <p:nvPr/>
        </p:nvSpPr>
        <p:spPr>
          <a:xfrm>
            <a:off x="812800" y="2127408"/>
            <a:ext cx="5791200" cy="3365500"/>
          </a:xfrm>
          <a:prstGeom prst="roundRect">
            <a:avLst>
              <a:gd name="adj" fmla="val 3773"/>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959100"/>
          </a:xfrm>
          <a:prstGeom prst="rect">
            <a:avLst/>
          </a:prstGeom>
          <a:noFill/>
        </p:spPr>
        <p:txBody>
          <a:bodyPr wrap="square" lIns="0" rIns="0" tIns="0" bIns="0">
            <a:spAutoFit/>
          </a:bodyPr>
          <a:lstStyle/>
          <a:p>
            <a:pPr>
              <a:lnSpc>
                <a:spcPct val="120833"/>
              </a:lnSpc>
            </a:pPr>
            <a:r>
              <a:rPr sz="1750" b="0">
                <a:solidFill>
                  <a:srgbClr val="F6F4EF"/>
                </a:solidFill>
                <a:latin typeface="Consolas"/>
              </a:rPr>
              <a:t>Create a source-to-target mapping for &lt;TARGET_TABLE&gt; from &lt;SOURCE_TABLES&gt;: target column, source column, transformation, rule, notes. Mark anything unknown.</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You need a mapping document for a target table.</a:t>
            </a:r>
          </a:p>
        </p:txBody>
      </p:sp>
      <p:sp>
        <p:nvSpPr>
          <p:cNvPr id="9" name="Rounded Rectangle 8"/>
          <p:cNvSpPr/>
          <p:nvPr/>
        </p:nvSpPr>
        <p:spPr>
          <a:xfrm>
            <a:off x="6807200" y="3749040"/>
            <a:ext cx="4572000" cy="1743868"/>
          </a:xfrm>
          <a:prstGeom prst="roundRect">
            <a:avLst>
              <a:gd name="adj" fmla="val 728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Unknowns must be listed, not invented. Validate with the ETL or pipeline owners.</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6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Impact analysis</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If we rename or change the meaning of column X in &lt;TABLE&gt;, which downstream views and tables depend on it? List them by layer.</a:t>
            </a:r>
          </a:p>
        </p:txBody>
      </p:sp>
      <p:sp>
        <p:nvSpPr>
          <p:cNvPr id="6" name="Rounded Rectangle 5"/>
          <p:cNvSpPr/>
          <p:nvPr/>
        </p:nvSpPr>
        <p:spPr>
          <a:xfrm>
            <a:off x="6807200" y="2127408"/>
            <a:ext cx="4572000" cy="1143793"/>
          </a:xfrm>
          <a:prstGeom prst="roundRect">
            <a:avLst>
              <a:gd name="adj" fmla="val 11103"/>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363537"/>
          </a:xfrm>
          <a:prstGeom prst="rect">
            <a:avLst/>
          </a:prstGeom>
          <a:noFill/>
        </p:spPr>
        <p:txBody>
          <a:bodyPr wrap="square" lIns="0" rIns="0" tIns="0" bIns="0">
            <a:spAutoFit/>
          </a:bodyPr>
          <a:lstStyle/>
          <a:p>
            <a:pPr>
              <a:lnSpc>
                <a:spcPct val="112500"/>
              </a:lnSpc>
            </a:pPr>
            <a:r>
              <a:rPr sz="1750" b="0">
                <a:solidFill>
                  <a:srgbClr val="4A5A6A"/>
                </a:solidFill>
                <a:latin typeface="Calibri"/>
              </a:rPr>
              <a:t>A column or table is about to change.</a:t>
            </a:r>
          </a:p>
        </p:txBody>
      </p:sp>
      <p:sp>
        <p:nvSpPr>
          <p:cNvPr id="9" name="Rounded Rectangle 8"/>
          <p:cNvSpPr/>
          <p:nvPr/>
        </p:nvSpPr>
        <p:spPr>
          <a:xfrm>
            <a:off x="6807200" y="3449002"/>
            <a:ext cx="4572000" cy="1743868"/>
          </a:xfrm>
          <a:prstGeom prst="roundRect">
            <a:avLst>
              <a:gd name="adj" fmla="val 728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652202"/>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064158"/>
            <a:ext cx="41656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Results cover what Snowflake can see. Reports outside Snowflake may be missed, so confirm with owners.</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7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Explain SQL in business language</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Explain this SQL step by step for a business audience. List the filters, joins and business rules embedded in it.</a:t>
            </a:r>
          </a:p>
          <a:p>
            <a:pPr>
              <a:lnSpc>
                <a:spcPct val="120833"/>
              </a:lnSpc>
            </a:pPr>
            <a:r>
              <a:rPr sz="1750" b="0">
                <a:solidFill>
                  <a:srgbClr val="F6F4EF"/>
                </a:solidFill>
                <a:latin typeface="Consolas"/>
              </a:rPr>
              <a:t>&lt;paste SQL&gt;</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You inherit a query or view nobody documented.</a:t>
            </a:r>
          </a:p>
        </p:txBody>
      </p:sp>
      <p:sp>
        <p:nvSpPr>
          <p:cNvPr id="9" name="Rounded Rectangle 8"/>
          <p:cNvSpPr/>
          <p:nvPr/>
        </p:nvSpPr>
        <p:spPr>
          <a:xfrm>
            <a:off x="6807200" y="3749040"/>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Compare with documented rules. Ask the owner about any rule you did not expect.</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8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Charts and small apps</a:t>
            </a:r>
          </a:p>
        </p:txBody>
      </p:sp>
      <p:sp>
        <p:nvSpPr>
          <p:cNvPr id="4" name="Rounded Rectangle 3"/>
          <p:cNvSpPr/>
          <p:nvPr/>
        </p:nvSpPr>
        <p:spPr>
          <a:xfrm>
            <a:off x="812800" y="2127408"/>
            <a:ext cx="5791200" cy="3365500"/>
          </a:xfrm>
          <a:prstGeom prst="roundRect">
            <a:avLst>
              <a:gd name="adj" fmla="val 3773"/>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959100"/>
          </a:xfrm>
          <a:prstGeom prst="rect">
            <a:avLst/>
          </a:prstGeom>
          <a:noFill/>
        </p:spPr>
        <p:txBody>
          <a:bodyPr wrap="square" lIns="0" rIns="0" tIns="0" bIns="0">
            <a:spAutoFit/>
          </a:bodyPr>
          <a:lstStyle/>
          <a:p>
            <a:pPr>
              <a:lnSpc>
                <a:spcPct val="120833"/>
              </a:lnSpc>
            </a:pPr>
            <a:r>
              <a:rPr sz="1750" b="0">
                <a:solidFill>
                  <a:srgbClr val="F6F4EF"/>
                </a:solidFill>
                <a:latin typeface="Consolas"/>
              </a:rPr>
              <a:t>Build a simple Streamlit app with filters for month and plan type and a bar chart of member counts from &lt;GOLD_TABLE&gt;.</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You want a quick visual or a team lookup tool.</a:t>
            </a:r>
          </a:p>
        </p:txBody>
      </p:sp>
      <p:sp>
        <p:nvSpPr>
          <p:cNvPr id="9" name="Rounded Rectangle 8"/>
          <p:cNvSpPr/>
          <p:nvPr/>
        </p:nvSpPr>
        <p:spPr>
          <a:xfrm>
            <a:off x="6807200" y="3749040"/>
            <a:ext cx="4572000" cy="1743868"/>
          </a:xfrm>
          <a:prstGeom prst="roundRect">
            <a:avLst>
              <a:gd name="adj" fmla="val 7282"/>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Chart row limits apply (Desktop visualization up to 500 rows). Get developer review before sharing.</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PLAYBOOK 9 OF 9</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Draft semantic definitions</a:t>
            </a:r>
          </a:p>
        </p:txBody>
      </p:sp>
      <p:sp>
        <p:nvSpPr>
          <p:cNvPr id="4" name="Rounded Rectangle 3"/>
          <p:cNvSpPr/>
          <p:nvPr/>
        </p:nvSpPr>
        <p:spPr>
          <a:xfrm>
            <a:off x="812800" y="2127408"/>
            <a:ext cx="5791200" cy="3065462"/>
          </a:xfrm>
          <a:prstGeom prst="roundRect">
            <a:avLst>
              <a:gd name="adj" fmla="val 4142"/>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5384800" cy="2659062"/>
          </a:xfrm>
          <a:prstGeom prst="rect">
            <a:avLst/>
          </a:prstGeom>
          <a:noFill/>
        </p:spPr>
        <p:txBody>
          <a:bodyPr wrap="square" lIns="0" rIns="0" tIns="0" bIns="0">
            <a:spAutoFit/>
          </a:bodyPr>
          <a:lstStyle/>
          <a:p>
            <a:pPr>
              <a:lnSpc>
                <a:spcPct val="120833"/>
              </a:lnSpc>
            </a:pPr>
            <a:r>
              <a:rPr sz="1750" b="0">
                <a:solidFill>
                  <a:srgbClr val="F6F4EF"/>
                </a:solidFill>
                <a:latin typeface="Consolas"/>
              </a:rPr>
              <a:t>Draft semantic definitions for &lt;GOLD_TABLES&gt;: metrics (e.g. active members), dimensions, synonyms and standard filters, each with a plain-English description.</a:t>
            </a:r>
          </a:p>
        </p:txBody>
      </p:sp>
      <p:sp>
        <p:nvSpPr>
          <p:cNvPr id="6" name="Rounded Rectangle 5"/>
          <p:cNvSpPr/>
          <p:nvPr/>
        </p:nvSpPr>
        <p:spPr>
          <a:xfrm>
            <a:off x="6807200" y="2127408"/>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330608"/>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Use it when</a:t>
            </a:r>
          </a:p>
        </p:txBody>
      </p:sp>
      <p:sp>
        <p:nvSpPr>
          <p:cNvPr id="8" name="TextBox 7"/>
          <p:cNvSpPr txBox="1"/>
          <p:nvPr/>
        </p:nvSpPr>
        <p:spPr>
          <a:xfrm>
            <a:off x="7010400" y="2742565"/>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You want governed business metrics for natural-language questions.</a:t>
            </a:r>
          </a:p>
        </p:txBody>
      </p:sp>
      <p:sp>
        <p:nvSpPr>
          <p:cNvPr id="9" name="Rounded Rectangle 8"/>
          <p:cNvSpPr/>
          <p:nvPr/>
        </p:nvSpPr>
        <p:spPr>
          <a:xfrm>
            <a:off x="6807200" y="3749040"/>
            <a:ext cx="4572000" cy="1443831"/>
          </a:xfrm>
          <a:prstGeom prst="roundRect">
            <a:avLst>
              <a:gd name="adj" fmla="val 8796"/>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400" y="3952240"/>
            <a:ext cx="41656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Check before you trust it</a:t>
            </a:r>
          </a:p>
        </p:txBody>
      </p:sp>
      <p:sp>
        <p:nvSpPr>
          <p:cNvPr id="11" name="TextBox 10"/>
          <p:cNvSpPr txBox="1"/>
          <p:nvPr/>
        </p:nvSpPr>
        <p:spPr>
          <a:xfrm>
            <a:off x="7010400" y="4364196"/>
            <a:ext cx="4165600" cy="663575"/>
          </a:xfrm>
          <a:prstGeom prst="rect">
            <a:avLst/>
          </a:prstGeom>
          <a:noFill/>
        </p:spPr>
        <p:txBody>
          <a:bodyPr wrap="square" lIns="0" rIns="0" tIns="0" bIns="0">
            <a:spAutoFit/>
          </a:bodyPr>
          <a:lstStyle/>
          <a:p>
            <a:pPr>
              <a:lnSpc>
                <a:spcPct val="112500"/>
              </a:lnSpc>
            </a:pPr>
            <a:r>
              <a:rPr sz="1750" b="0">
                <a:solidFill>
                  <a:srgbClr val="4A5A6A"/>
                </a:solidFill>
                <a:latin typeface="Calibri"/>
              </a:rPr>
              <a:t>Definitions are your domain. Get sign-off from data owners; developers deploy.</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Seven golden rules</a:t>
            </a:r>
          </a:p>
        </p:txBody>
      </p:sp>
      <p:sp>
        <p:nvSpPr>
          <p:cNvPr id="4" name="TextBox 3"/>
          <p:cNvSpPr txBox="1"/>
          <p:nvPr/>
        </p:nvSpPr>
        <p:spPr>
          <a:xfrm>
            <a:off x="812800" y="2127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5" name="TextBox 4"/>
          <p:cNvSpPr txBox="1"/>
          <p:nvPr/>
        </p:nvSpPr>
        <p:spPr>
          <a:xfrm>
            <a:off x="1117600" y="2127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Read the plan before you approve any action.</a:t>
            </a:r>
          </a:p>
        </p:txBody>
      </p:sp>
      <p:sp>
        <p:nvSpPr>
          <p:cNvPr id="6" name="TextBox 5"/>
          <p:cNvSpPr txBox="1"/>
          <p:nvPr/>
        </p:nvSpPr>
        <p:spPr>
          <a:xfrm>
            <a:off x="812800" y="26100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7" name="TextBox 6"/>
          <p:cNvSpPr txBox="1"/>
          <p:nvPr/>
        </p:nvSpPr>
        <p:spPr>
          <a:xfrm>
            <a:off x="1117600" y="26100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Prefer read-only work; experiment in a sandbox schema.</a:t>
            </a:r>
          </a:p>
        </p:txBody>
      </p:sp>
      <p:sp>
        <p:nvSpPr>
          <p:cNvPr id="8" name="TextBox 7"/>
          <p:cNvSpPr txBox="1"/>
          <p:nvPr/>
        </p:nvSpPr>
        <p:spPr>
          <a:xfrm>
            <a:off x="812800" y="30926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9" name="TextBox 8"/>
          <p:cNvSpPr txBox="1"/>
          <p:nvPr/>
        </p:nvSpPr>
        <p:spPr>
          <a:xfrm>
            <a:off x="1117600" y="30926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Follow data classification policy; confirm with Compliance before using PHI or PII.</a:t>
            </a:r>
          </a:p>
        </p:txBody>
      </p:sp>
      <p:sp>
        <p:nvSpPr>
          <p:cNvPr id="10" name="TextBox 9"/>
          <p:cNvSpPr txBox="1"/>
          <p:nvPr/>
        </p:nvSpPr>
        <p:spPr>
          <a:xfrm>
            <a:off x="812800" y="35752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1" name="TextBox 10"/>
          <p:cNvSpPr txBox="1"/>
          <p:nvPr/>
        </p:nvSpPr>
        <p:spPr>
          <a:xfrm>
            <a:off x="1117600" y="35752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Verify numbers against a source you trust.</a:t>
            </a:r>
          </a:p>
        </p:txBody>
      </p:sp>
      <p:sp>
        <p:nvSpPr>
          <p:cNvPr id="12" name="TextBox 11"/>
          <p:cNvSpPr txBox="1"/>
          <p:nvPr/>
        </p:nvSpPr>
        <p:spPr>
          <a:xfrm>
            <a:off x="812800" y="40578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3" name="TextBox 12"/>
          <p:cNvSpPr txBox="1"/>
          <p:nvPr/>
        </p:nvSpPr>
        <p:spPr>
          <a:xfrm>
            <a:off x="1117600" y="40578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Never approve deletes or writes you do not understand.</a:t>
            </a:r>
          </a:p>
        </p:txBody>
      </p:sp>
      <p:sp>
        <p:nvSpPr>
          <p:cNvPr id="14" name="TextBox 13"/>
          <p:cNvSpPr txBox="1"/>
          <p:nvPr/>
        </p:nvSpPr>
        <p:spPr>
          <a:xfrm>
            <a:off x="812800" y="4540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5" name="TextBox 14"/>
          <p:cNvSpPr txBox="1"/>
          <p:nvPr/>
        </p:nvSpPr>
        <p:spPr>
          <a:xfrm>
            <a:off x="1117600" y="4540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Treat third-party skills and plugins as untrusted until reviewed.</a:t>
            </a:r>
          </a:p>
        </p:txBody>
      </p:sp>
      <p:sp>
        <p:nvSpPr>
          <p:cNvPr id="16" name="TextBox 15"/>
          <p:cNvSpPr txBox="1"/>
          <p:nvPr/>
        </p:nvSpPr>
        <p:spPr>
          <a:xfrm>
            <a:off x="812800" y="50230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7" name="TextBox 16"/>
          <p:cNvSpPr txBox="1"/>
          <p:nvPr/>
        </p:nvSpPr>
        <p:spPr>
          <a:xfrm>
            <a:off x="1117600" y="50230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Save what works, and keep a human accountable for results.</a:t>
            </a:r>
          </a:p>
        </p:txBody>
      </p:sp>
      <p:sp>
        <p:nvSpPr>
          <p:cNvPr id="18" name="TextBox 17"/>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Approval modes</a:t>
            </a:r>
          </a:p>
        </p:txBody>
      </p:sp>
      <p:graphicFrame>
        <p:nvGraphicFramePr>
          <p:cNvPr id="4" name="Table 3"/>
          <p:cNvGraphicFramePr>
            <a:graphicFrameLocks noGrp="1"/>
          </p:cNvGraphicFramePr>
          <p:nvPr/>
        </p:nvGraphicFramePr>
        <p:xfrm>
          <a:off x="812800" y="2127408"/>
          <a:ext cx="10566398" cy="3182937"/>
        </p:xfrm>
        <a:graphic>
          <a:graphicData uri="http://schemas.openxmlformats.org/drawingml/2006/table">
            <a:tbl>
              <a:tblPr firstRow="1">
                <a:tableStyleId>{5C22544A-7EE6-4342-B048-85BDC9FD1C3A}</a:tableStyleId>
              </a:tblPr>
              <a:tblGrid>
                <a:gridCol w="3506951"/>
                <a:gridCol w="3552496"/>
                <a:gridCol w="3506951"/>
              </a:tblGrid>
              <a:tr h="563562">
                <a:tc>
                  <a:txBody>
                    <a:bodyPr wrap="square"/>
                    <a:lstStyle/>
                    <a:p>
                      <a:r>
                        <a:rPr sz="1875" b="1">
                          <a:solidFill>
                            <a:srgbClr val="F6F4EF"/>
                          </a:solidFill>
                          <a:latin typeface="Calibri"/>
                        </a:rPr>
                        <a:t>Mode</a:t>
                      </a:r>
                    </a:p>
                  </a:txBody>
                  <a:tcPr marL="152400" marR="152400" marT="101600" marB="101600" anchor="t">
                    <a:solidFill>
                      <a:srgbClr val="14263A"/>
                    </a:solidFill>
                  </a:tcPr>
                </a:tc>
                <a:tc>
                  <a:txBody>
                    <a:bodyPr wrap="square"/>
                    <a:lstStyle/>
                    <a:p>
                      <a:r>
                        <a:rPr sz="1875" b="1">
                          <a:solidFill>
                            <a:srgbClr val="F6F4EF"/>
                          </a:solidFill>
                          <a:latin typeface="Calibri"/>
                        </a:rPr>
                        <a:t>What it does</a:t>
                      </a:r>
                    </a:p>
                  </a:txBody>
                  <a:tcPr marL="152400" marR="152400" marT="101600" marB="101600" anchor="t">
                    <a:solidFill>
                      <a:srgbClr val="14263A"/>
                    </a:solidFill>
                  </a:tcPr>
                </a:tc>
                <a:tc>
                  <a:txBody>
                    <a:bodyPr wrap="square"/>
                    <a:lstStyle/>
                    <a:p>
                      <a:r>
                        <a:rPr sz="1875" b="1">
                          <a:solidFill>
                            <a:srgbClr val="F6F4EF"/>
                          </a:solidFill>
                          <a:latin typeface="Calibri"/>
                        </a:rPr>
                        <a:t>Our advice</a:t>
                      </a:r>
                    </a:p>
                  </a:txBody>
                  <a:tcPr marL="152400" marR="152400" marT="101600" marB="101600" anchor="t">
                    <a:solidFill>
                      <a:srgbClr val="14263A"/>
                    </a:solidFill>
                  </a:tcPr>
                </a:tc>
              </a:tr>
              <a:tr h="873125">
                <a:tc>
                  <a:txBody>
                    <a:bodyPr wrap="square"/>
                    <a:lstStyle/>
                    <a:p>
                      <a:r>
                        <a:rPr sz="1875" b="0">
                          <a:solidFill>
                            <a:srgbClr val="14263A"/>
                          </a:solidFill>
                          <a:latin typeface="Calibri"/>
                        </a:rPr>
                        <a:t>Confirm (CLI) / Default Approvals (Desktop)</a:t>
                      </a:r>
                    </a:p>
                  </a:txBody>
                  <a:tcPr marL="152400" marR="152400" marT="101600" marB="101600" anchor="t">
                    <a:solidFill>
                      <a:srgbClr val="FDFCF9"/>
                    </a:solidFill>
                  </a:tcPr>
                </a:tc>
                <a:tc>
                  <a:txBody>
                    <a:bodyPr wrap="square"/>
                    <a:lstStyle/>
                    <a:p>
                      <a:r>
                        <a:rPr sz="1875" b="0">
                          <a:solidFill>
                            <a:srgbClr val="14263A"/>
                          </a:solidFill>
                          <a:latin typeface="Calibri"/>
                        </a:rPr>
                        <a:t>Asks before each action.</a:t>
                      </a:r>
                    </a:p>
                  </a:txBody>
                  <a:tcPr marL="152400" marR="152400" marT="101600" marB="101600" anchor="t">
                    <a:solidFill>
                      <a:srgbClr val="FDFCF9"/>
                    </a:solidFill>
                  </a:tcPr>
                </a:tc>
                <a:tc>
                  <a:txBody>
                    <a:bodyPr wrap="square"/>
                    <a:lstStyle/>
                    <a:p>
                      <a:r>
                        <a:rPr sz="1875" b="1">
                          <a:solidFill>
                            <a:srgbClr val="14263A"/>
                          </a:solidFill>
                          <a:latin typeface="Calibri"/>
                        </a:rPr>
                        <a:t>Use this.</a:t>
                      </a:r>
                    </a:p>
                  </a:txBody>
                  <a:tcPr marL="152400" marR="152400" marT="101600" marB="101600" anchor="t">
                    <a:solidFill>
                      <a:srgbClr val="FDFCF9"/>
                    </a:solidFill>
                  </a:tcPr>
                </a:tc>
              </a:tr>
              <a:tr h="873125">
                <a:tc>
                  <a:txBody>
                    <a:bodyPr wrap="square"/>
                    <a:lstStyle/>
                    <a:p>
                      <a:r>
                        <a:rPr sz="1875" b="0">
                          <a:solidFill>
                            <a:srgbClr val="14263A"/>
                          </a:solidFill>
                          <a:latin typeface="Calibri"/>
                        </a:rPr>
                        <a:t>Plan (CLI)</a:t>
                      </a:r>
                    </a:p>
                  </a:txBody>
                  <a:tcPr marL="152400" marR="152400" marT="101600" marB="101600" anchor="t">
                    <a:solidFill>
                      <a:srgbClr val="FDFCF9"/>
                    </a:solidFill>
                  </a:tcPr>
                </a:tc>
                <a:tc>
                  <a:txBody>
                    <a:bodyPr wrap="square"/>
                    <a:lstStyle/>
                    <a:p>
                      <a:r>
                        <a:rPr sz="1875" b="0">
                          <a:solidFill>
                            <a:srgbClr val="14263A"/>
                          </a:solidFill>
                          <a:latin typeface="Calibri"/>
                        </a:rPr>
                        <a:t>Proposes a plan, makes no changes.</a:t>
                      </a:r>
                    </a:p>
                  </a:txBody>
                  <a:tcPr marL="152400" marR="152400" marT="101600" marB="101600" anchor="t">
                    <a:solidFill>
                      <a:srgbClr val="FDFCF9"/>
                    </a:solidFill>
                  </a:tcPr>
                </a:tc>
                <a:tc>
                  <a:txBody>
                    <a:bodyPr wrap="square"/>
                    <a:lstStyle/>
                    <a:p>
                      <a:r>
                        <a:rPr sz="1875" b="0">
                          <a:solidFill>
                            <a:srgbClr val="14263A"/>
                          </a:solidFill>
                          <a:latin typeface="Calibri"/>
                        </a:rPr>
                        <a:t>Great for learning and review.</a:t>
                      </a:r>
                    </a:p>
                  </a:txBody>
                  <a:tcPr marL="152400" marR="152400" marT="101600" marB="101600" anchor="t">
                    <a:solidFill>
                      <a:srgbClr val="FDFCF9"/>
                    </a:solidFill>
                  </a:tcPr>
                </a:tc>
              </a:tr>
              <a:tr h="873125">
                <a:tc>
                  <a:txBody>
                    <a:bodyPr wrap="square"/>
                    <a:lstStyle/>
                    <a:p>
                      <a:r>
                        <a:rPr sz="1875" b="0">
                          <a:solidFill>
                            <a:srgbClr val="14263A"/>
                          </a:solidFill>
                          <a:latin typeface="Calibri"/>
                        </a:rPr>
                        <a:t>Bypass (CLI and Desktop)</a:t>
                      </a:r>
                    </a:p>
                  </a:txBody>
                  <a:tcPr marL="152400" marR="152400" marT="101600" marB="101600" anchor="t">
                    <a:solidFill>
                      <a:srgbClr val="FDFCF9"/>
                    </a:solidFill>
                  </a:tcPr>
                </a:tc>
                <a:tc>
                  <a:txBody>
                    <a:bodyPr wrap="square"/>
                    <a:lstStyle/>
                    <a:p>
                      <a:r>
                        <a:rPr sz="1875" b="0">
                          <a:solidFill>
                            <a:srgbClr val="14263A"/>
                          </a:solidFill>
                          <a:latin typeface="Calibri"/>
                        </a:rPr>
                        <a:t>Runs without asking.</a:t>
                      </a:r>
                    </a:p>
                  </a:txBody>
                  <a:tcPr marL="152400" marR="152400" marT="101600" marB="101600" anchor="t">
                    <a:solidFill>
                      <a:srgbClr val="FDFCF9"/>
                    </a:solidFill>
                  </a:tcPr>
                </a:tc>
                <a:tc>
                  <a:txBody>
                    <a:bodyPr wrap="square"/>
                    <a:lstStyle/>
                    <a:p>
                      <a:r>
                        <a:rPr sz="1875" b="1">
                          <a:solidFill>
                            <a:srgbClr val="14263A"/>
                          </a:solidFill>
                          <a:latin typeface="Calibri"/>
                        </a:rPr>
                        <a:t>Avoid</a:t>
                      </a:r>
                      <a:r>
                        <a:rPr sz="1875" b="0">
                          <a:solidFill>
                            <a:srgbClr val="14263A"/>
                          </a:solidFill>
                          <a:latin typeface="Calibri"/>
                        </a:rPr>
                        <a:t> unless in a locked-down sandbox.</a:t>
                      </a:r>
                    </a:p>
                  </a:txBody>
                  <a:tcPr marL="152400" marR="152400" marT="101600" marB="101600" anchor="t">
                    <a:solidFill>
                      <a:srgbClr val="FDFCF9"/>
                    </a:solidFill>
                  </a:tcPr>
                </a:tc>
              </a:tr>
            </a:tbl>
          </a:graphicData>
        </a:graphic>
      </p:graphicFrame>
      <p:sp>
        <p:nvSpPr>
          <p:cNvPr id="5" name="TextBox 4"/>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Guardrails admins can set</a:t>
            </a:r>
          </a:p>
        </p:txBody>
      </p:sp>
      <p:sp>
        <p:nvSpPr>
          <p:cNvPr id="4" name="TextBox 3"/>
          <p:cNvSpPr txBox="1"/>
          <p:nvPr/>
        </p:nvSpPr>
        <p:spPr>
          <a:xfrm>
            <a:off x="812800" y="2127408"/>
            <a:ext cx="190500" cy="7112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5" name="TextBox 4"/>
          <p:cNvSpPr txBox="1"/>
          <p:nvPr/>
        </p:nvSpPr>
        <p:spPr>
          <a:xfrm>
            <a:off x="1117600" y="2127408"/>
            <a:ext cx="10261600" cy="749300"/>
          </a:xfrm>
          <a:prstGeom prst="rect">
            <a:avLst/>
          </a:prstGeom>
          <a:noFill/>
        </p:spPr>
        <p:txBody>
          <a:bodyPr wrap="square" lIns="0" rIns="0" tIns="0" bIns="0">
            <a:spAutoFit/>
          </a:bodyPr>
          <a:lstStyle/>
          <a:p>
            <a:pPr>
              <a:lnSpc>
                <a:spcPct val="112500"/>
              </a:lnSpc>
            </a:pPr>
            <a:r>
              <a:rPr sz="2000" b="1">
                <a:solidFill>
                  <a:srgbClr val="14263A"/>
                </a:solidFill>
                <a:latin typeface="Calibri"/>
              </a:rPr>
              <a:t>Restricted Session Scope:</a:t>
            </a:r>
            <a:r>
              <a:rPr sz="2000" b="0">
                <a:solidFill>
                  <a:srgbClr val="14263A"/>
                </a:solidFill>
                <a:latin typeface="Calibri"/>
              </a:rPr>
              <a:t> narrows what a session may do. It can be switched to another scope but not removed within that session.</a:t>
            </a:r>
          </a:p>
        </p:txBody>
      </p:sp>
      <p:sp>
        <p:nvSpPr>
          <p:cNvPr id="6" name="TextBox 5"/>
          <p:cNvSpPr txBox="1"/>
          <p:nvPr/>
        </p:nvSpPr>
        <p:spPr>
          <a:xfrm>
            <a:off x="812800" y="29529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7" name="TextBox 6"/>
          <p:cNvSpPr txBox="1"/>
          <p:nvPr/>
        </p:nvSpPr>
        <p:spPr>
          <a:xfrm>
            <a:off x="1117600" y="2952908"/>
            <a:ext cx="10261600" cy="406400"/>
          </a:xfrm>
          <a:prstGeom prst="rect">
            <a:avLst/>
          </a:prstGeom>
          <a:noFill/>
        </p:spPr>
        <p:txBody>
          <a:bodyPr wrap="square" lIns="0" rIns="0" tIns="0" bIns="0">
            <a:spAutoFit/>
          </a:bodyPr>
          <a:lstStyle/>
          <a:p>
            <a:pPr>
              <a:lnSpc>
                <a:spcPct val="112500"/>
              </a:lnSpc>
            </a:pPr>
            <a:r>
              <a:rPr sz="2000" b="1">
                <a:solidFill>
                  <a:srgbClr val="14263A"/>
                </a:solidFill>
                <a:latin typeface="Calibri"/>
              </a:rPr>
              <a:t>Managed settings and device management</a:t>
            </a:r>
            <a:r>
              <a:rPr sz="2000" b="0">
                <a:solidFill>
                  <a:srgbClr val="14263A"/>
                </a:solidFill>
                <a:latin typeface="Calibri"/>
              </a:rPr>
              <a:t> let admins enforce organization policy.</a:t>
            </a:r>
          </a:p>
        </p:txBody>
      </p:sp>
      <p:sp>
        <p:nvSpPr>
          <p:cNvPr id="8" name="TextBox 7"/>
          <p:cNvSpPr txBox="1"/>
          <p:nvPr/>
        </p:nvSpPr>
        <p:spPr>
          <a:xfrm>
            <a:off x="812800" y="34355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9" name="TextBox 8"/>
          <p:cNvSpPr txBox="1"/>
          <p:nvPr/>
        </p:nvSpPr>
        <p:spPr>
          <a:xfrm>
            <a:off x="1117600" y="3435508"/>
            <a:ext cx="10261600" cy="406400"/>
          </a:xfrm>
          <a:prstGeom prst="rect">
            <a:avLst/>
          </a:prstGeom>
          <a:noFill/>
        </p:spPr>
        <p:txBody>
          <a:bodyPr wrap="square" lIns="0" rIns="0" tIns="0" bIns="0">
            <a:spAutoFit/>
          </a:bodyPr>
          <a:lstStyle/>
          <a:p>
            <a:pPr>
              <a:lnSpc>
                <a:spcPct val="112500"/>
              </a:lnSpc>
            </a:pPr>
            <a:r>
              <a:rPr sz="2000" b="1">
                <a:solidFill>
                  <a:srgbClr val="14263A"/>
                </a:solidFill>
                <a:latin typeface="Calibri"/>
              </a:rPr>
              <a:t>Roles and policies</a:t>
            </a:r>
            <a:r>
              <a:rPr sz="2000" b="0">
                <a:solidFill>
                  <a:srgbClr val="14263A"/>
                </a:solidFill>
                <a:latin typeface="Calibri"/>
              </a:rPr>
              <a:t> (masking, row access) always apply.</a:t>
            </a:r>
          </a:p>
        </p:txBody>
      </p:sp>
      <p:sp>
        <p:nvSpPr>
          <p:cNvPr id="10" name="TextBox 9"/>
          <p:cNvSpPr txBox="1"/>
          <p:nvPr/>
        </p:nvSpPr>
        <p:spPr>
          <a:xfrm>
            <a:off x="812800" y="39181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1" name="TextBox 10"/>
          <p:cNvSpPr txBox="1"/>
          <p:nvPr/>
        </p:nvSpPr>
        <p:spPr>
          <a:xfrm>
            <a:off x="1117600" y="3918108"/>
            <a:ext cx="10261600" cy="406400"/>
          </a:xfrm>
          <a:prstGeom prst="rect">
            <a:avLst/>
          </a:prstGeom>
          <a:noFill/>
        </p:spPr>
        <p:txBody>
          <a:bodyPr wrap="square" lIns="0" rIns="0" tIns="0" bIns="0">
            <a:spAutoFit/>
          </a:bodyPr>
          <a:lstStyle/>
          <a:p>
            <a:pPr>
              <a:lnSpc>
                <a:spcPct val="112500"/>
              </a:lnSpc>
            </a:pPr>
            <a:r>
              <a:rPr sz="2000" b="1">
                <a:solidFill>
                  <a:srgbClr val="14263A"/>
                </a:solidFill>
                <a:latin typeface="Calibri"/>
              </a:rPr>
              <a:t>Daily credit limits and budgets</a:t>
            </a:r>
            <a:r>
              <a:rPr sz="2000" b="0">
                <a:solidFill>
                  <a:srgbClr val="14263A"/>
                </a:solidFill>
                <a:latin typeface="Calibri"/>
              </a:rPr>
              <a:t> cap spend.</a:t>
            </a:r>
          </a:p>
        </p:txBody>
      </p:sp>
      <p:sp>
        <p:nvSpPr>
          <p:cNvPr id="12" name="Rectangle 11"/>
          <p:cNvSpPr/>
          <p:nvPr/>
        </p:nvSpPr>
        <p:spPr>
          <a:xfrm>
            <a:off x="812800" y="4515008"/>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515008"/>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Ask the admin which guardrails are active for us.</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Know the risks</a:t>
            </a:r>
          </a:p>
        </p:txBody>
      </p:sp>
      <p:sp>
        <p:nvSpPr>
          <p:cNvPr id="4" name="Rounded Rectangle 3"/>
          <p:cNvSpPr/>
          <p:nvPr/>
        </p:nvSpPr>
        <p:spPr>
          <a:xfrm>
            <a:off x="812800" y="2127408"/>
            <a:ext cx="3403600" cy="2236787"/>
          </a:xfrm>
          <a:prstGeom prst="roundRect">
            <a:avLst>
              <a:gd name="adj" fmla="val 5677"/>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Plausible but wrong</a:t>
            </a:r>
          </a:p>
        </p:txBody>
      </p:sp>
      <p:sp>
        <p:nvSpPr>
          <p:cNvPr id="6" name="TextBox 5"/>
          <p:cNvSpPr txBox="1"/>
          <p:nvPr/>
        </p:nvSpPr>
        <p:spPr>
          <a:xfrm>
            <a:off x="1016000" y="2742565"/>
            <a:ext cx="2997200" cy="1456531"/>
          </a:xfrm>
          <a:prstGeom prst="rect">
            <a:avLst/>
          </a:prstGeom>
          <a:noFill/>
        </p:spPr>
        <p:txBody>
          <a:bodyPr wrap="square" lIns="0" rIns="0" tIns="0" bIns="0">
            <a:spAutoFit/>
          </a:bodyPr>
          <a:lstStyle/>
          <a:p>
            <a:pPr>
              <a:lnSpc>
                <a:spcPct val="112500"/>
              </a:lnSpc>
            </a:pPr>
            <a:r>
              <a:rPr sz="1625" b="0">
                <a:solidFill>
                  <a:srgbClr val="4A5A6A"/>
                </a:solidFill>
                <a:latin typeface="Calibri"/>
              </a:rPr>
              <a:t>Fluent answers can have wrong joins or filters. Snowflake-reported benchmark gains are vendor claims, not independent results.</a:t>
            </a:r>
          </a:p>
        </p:txBody>
      </p:sp>
      <p:sp>
        <p:nvSpPr>
          <p:cNvPr id="7" name="Rounded Rectangle 6"/>
          <p:cNvSpPr/>
          <p:nvPr/>
        </p:nvSpPr>
        <p:spPr>
          <a:xfrm>
            <a:off x="4394200" y="2127408"/>
            <a:ext cx="3403600" cy="2236787"/>
          </a:xfrm>
          <a:prstGeom prst="roundRect">
            <a:avLst>
              <a:gd name="adj" fmla="val 5677"/>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400" y="2330608"/>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Prompt injection</a:t>
            </a:r>
          </a:p>
        </p:txBody>
      </p:sp>
      <p:sp>
        <p:nvSpPr>
          <p:cNvPr id="9" name="TextBox 8"/>
          <p:cNvSpPr txBox="1"/>
          <p:nvPr/>
        </p:nvSpPr>
        <p:spPr>
          <a:xfrm>
            <a:off x="4597400" y="2742565"/>
            <a:ext cx="2997200" cy="1177925"/>
          </a:xfrm>
          <a:prstGeom prst="rect">
            <a:avLst/>
          </a:prstGeom>
          <a:noFill/>
        </p:spPr>
        <p:txBody>
          <a:bodyPr wrap="square" lIns="0" rIns="0" tIns="0" bIns="0">
            <a:spAutoFit/>
          </a:bodyPr>
          <a:lstStyle/>
          <a:p>
            <a:pPr>
              <a:lnSpc>
                <a:spcPct val="112500"/>
              </a:lnSpc>
            </a:pPr>
            <a:r>
              <a:rPr sz="1625" b="0">
                <a:solidFill>
                  <a:srgbClr val="4A5A6A"/>
                </a:solidFill>
                <a:latin typeface="Calibri"/>
              </a:rPr>
              <a:t>Hostile text in data, files or web pages can steer an agent. A flaw of this kind was reported and fixed in CLI 1.0.25.</a:t>
            </a:r>
          </a:p>
        </p:txBody>
      </p:sp>
      <p:sp>
        <p:nvSpPr>
          <p:cNvPr id="10" name="Rounded Rectangle 9"/>
          <p:cNvSpPr/>
          <p:nvPr/>
        </p:nvSpPr>
        <p:spPr>
          <a:xfrm>
            <a:off x="7975600" y="2127408"/>
            <a:ext cx="3403600" cy="2236787"/>
          </a:xfrm>
          <a:prstGeom prst="roundRect">
            <a:avLst>
              <a:gd name="adj" fmla="val 5677"/>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8800" y="2330608"/>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Unvetted extensions</a:t>
            </a:r>
          </a:p>
        </p:txBody>
      </p:sp>
      <p:sp>
        <p:nvSpPr>
          <p:cNvPr id="12" name="TextBox 11"/>
          <p:cNvSpPr txBox="1"/>
          <p:nvPr/>
        </p:nvSpPr>
        <p:spPr>
          <a:xfrm>
            <a:off x="8178800" y="2742565"/>
            <a:ext cx="2997200" cy="899318"/>
          </a:xfrm>
          <a:prstGeom prst="rect">
            <a:avLst/>
          </a:prstGeom>
          <a:noFill/>
        </p:spPr>
        <p:txBody>
          <a:bodyPr wrap="square" lIns="0" rIns="0" tIns="0" bIns="0">
            <a:spAutoFit/>
          </a:bodyPr>
          <a:lstStyle/>
          <a:p>
            <a:pPr>
              <a:lnSpc>
                <a:spcPct val="112500"/>
              </a:lnSpc>
            </a:pPr>
            <a:r>
              <a:rPr sz="1625" b="0">
                <a:solidFill>
                  <a:srgbClr val="4A5A6A"/>
                </a:solidFill>
                <a:latin typeface="Calibri"/>
              </a:rPr>
              <a:t>The Skill Catalog has no security scanning. Review before use.</a:t>
            </a:r>
          </a:p>
        </p:txBody>
      </p:sp>
      <p:sp>
        <p:nvSpPr>
          <p:cNvPr id="13" name="Rounded Rectangle 12"/>
          <p:cNvSpPr/>
          <p:nvPr/>
        </p:nvSpPr>
        <p:spPr>
          <a:xfrm>
            <a:off x="812800" y="4541996"/>
            <a:ext cx="3403600" cy="1679575"/>
          </a:xfrm>
          <a:prstGeom prst="roundRect">
            <a:avLst>
              <a:gd name="adj" fmla="val 75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4745196"/>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Over-broad access</a:t>
            </a:r>
          </a:p>
        </p:txBody>
      </p:sp>
      <p:sp>
        <p:nvSpPr>
          <p:cNvPr id="15" name="TextBox 14"/>
          <p:cNvSpPr txBox="1"/>
          <p:nvPr/>
        </p:nvSpPr>
        <p:spPr>
          <a:xfrm>
            <a:off x="1016000" y="5157152"/>
            <a:ext cx="2997200" cy="620712"/>
          </a:xfrm>
          <a:prstGeom prst="rect">
            <a:avLst/>
          </a:prstGeom>
          <a:noFill/>
        </p:spPr>
        <p:txBody>
          <a:bodyPr wrap="square" lIns="0" rIns="0" tIns="0" bIns="0">
            <a:spAutoFit/>
          </a:bodyPr>
          <a:lstStyle/>
          <a:p>
            <a:pPr>
              <a:lnSpc>
                <a:spcPct val="112500"/>
              </a:lnSpc>
            </a:pPr>
            <a:r>
              <a:rPr sz="1625" b="0">
                <a:solidFill>
                  <a:srgbClr val="4A5A6A"/>
                </a:solidFill>
                <a:latin typeface="Calibri"/>
              </a:rPr>
              <a:t>Your role is the limit. Ask for least privilege.</a:t>
            </a:r>
          </a:p>
        </p:txBody>
      </p:sp>
      <p:sp>
        <p:nvSpPr>
          <p:cNvPr id="16" name="Rounded Rectangle 15"/>
          <p:cNvSpPr/>
          <p:nvPr/>
        </p:nvSpPr>
        <p:spPr>
          <a:xfrm>
            <a:off x="4394200" y="4541996"/>
            <a:ext cx="3403600" cy="1679575"/>
          </a:xfrm>
          <a:prstGeom prst="roundRect">
            <a:avLst>
              <a:gd name="adj" fmla="val 75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7400" y="4745196"/>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Cost surprises</a:t>
            </a:r>
          </a:p>
        </p:txBody>
      </p:sp>
      <p:sp>
        <p:nvSpPr>
          <p:cNvPr id="18" name="TextBox 17"/>
          <p:cNvSpPr txBox="1"/>
          <p:nvPr/>
        </p:nvSpPr>
        <p:spPr>
          <a:xfrm>
            <a:off x="4597400" y="5157152"/>
            <a:ext cx="2997200" cy="620712"/>
          </a:xfrm>
          <a:prstGeom prst="rect">
            <a:avLst/>
          </a:prstGeom>
          <a:noFill/>
        </p:spPr>
        <p:txBody>
          <a:bodyPr wrap="square" lIns="0" rIns="0" tIns="0" bIns="0">
            <a:spAutoFit/>
          </a:bodyPr>
          <a:lstStyle/>
          <a:p>
            <a:pPr>
              <a:lnSpc>
                <a:spcPct val="112500"/>
              </a:lnSpc>
            </a:pPr>
            <a:r>
              <a:rPr sz="1625" b="0">
                <a:solidFill>
                  <a:srgbClr val="4A5A6A"/>
                </a:solidFill>
                <a:latin typeface="Calibri"/>
              </a:rPr>
              <a:t>Big scans and long sessions use credits.</a:t>
            </a:r>
          </a:p>
        </p:txBody>
      </p:sp>
      <p:sp>
        <p:nvSpPr>
          <p:cNvPr id="19" name="Rounded Rectangle 18"/>
          <p:cNvSpPr/>
          <p:nvPr/>
        </p:nvSpPr>
        <p:spPr>
          <a:xfrm>
            <a:off x="7975600" y="4541996"/>
            <a:ext cx="3403600" cy="1679575"/>
          </a:xfrm>
          <a:prstGeom prst="roundRect">
            <a:avLst>
              <a:gd name="adj" fmla="val 7561"/>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8800" y="4745196"/>
            <a:ext cx="2997200" cy="361156"/>
          </a:xfrm>
          <a:prstGeom prst="rect">
            <a:avLst/>
          </a:prstGeom>
          <a:noFill/>
        </p:spPr>
        <p:txBody>
          <a:bodyPr wrap="square" lIns="0" rIns="0" tIns="0" bIns="0">
            <a:spAutoFit/>
          </a:bodyPr>
          <a:lstStyle/>
          <a:p>
            <a:pPr>
              <a:lnSpc>
                <a:spcPct val="104167"/>
              </a:lnSpc>
            </a:pPr>
            <a:r>
              <a:rPr sz="1875" b="1">
                <a:solidFill>
                  <a:srgbClr val="1B6F9A"/>
                </a:solidFill>
                <a:latin typeface="Calibri"/>
              </a:rPr>
              <a:t>Regulated data</a:t>
            </a:r>
          </a:p>
        </p:txBody>
      </p:sp>
      <p:sp>
        <p:nvSpPr>
          <p:cNvPr id="21" name="TextBox 20"/>
          <p:cNvSpPr txBox="1"/>
          <p:nvPr/>
        </p:nvSpPr>
        <p:spPr>
          <a:xfrm>
            <a:off x="8178800" y="5157152"/>
            <a:ext cx="2997200" cy="899318"/>
          </a:xfrm>
          <a:prstGeom prst="rect">
            <a:avLst/>
          </a:prstGeom>
          <a:noFill/>
        </p:spPr>
        <p:txBody>
          <a:bodyPr wrap="square" lIns="0" rIns="0" tIns="0" bIns="0">
            <a:spAutoFit/>
          </a:bodyPr>
          <a:lstStyle/>
          <a:p>
            <a:pPr>
              <a:lnSpc>
                <a:spcPct val="112500"/>
              </a:lnSpc>
            </a:pPr>
            <a:r>
              <a:rPr sz="1625" b="0">
                <a:solidFill>
                  <a:srgbClr val="4A5A6A"/>
                </a:solidFill>
                <a:latin typeface="Calibri"/>
              </a:rPr>
              <a:t>HIPAA and data residency fit is not covered in the docs I reviewed. Ask Compliance.</a:t>
            </a:r>
          </a:p>
        </p:txBody>
      </p:sp>
      <p:sp>
        <p:nvSpPr>
          <p:cNvPr id="22" name="TextBox 2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Verification checklist</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Read the SQL: tables, joins, filters, dates.</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Do the row counts make sense? Compare with a known report.</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Test one edge case you know the answer to.</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Ask: "What assumptions did you make?"</a:t>
            </a:r>
          </a:p>
        </p:txBody>
      </p:sp>
      <p:sp>
        <p:nvSpPr>
          <p:cNvPr id="12" name="TextBox 11"/>
          <p:cNvSpPr txBox="1"/>
          <p:nvPr/>
        </p:nvSpPr>
        <p:spPr>
          <a:xfrm>
            <a:off x="812800" y="41435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1435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Ask for the same answer a different way and compare.</a:t>
            </a:r>
          </a:p>
        </p:txBody>
      </p:sp>
      <p:sp>
        <p:nvSpPr>
          <p:cNvPr id="14" name="TextBox 13"/>
          <p:cNvSpPr txBox="1"/>
          <p:nvPr/>
        </p:nvSpPr>
        <p:spPr>
          <a:xfrm>
            <a:off x="812800" y="4647565"/>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5" name="TextBox 14"/>
          <p:cNvSpPr txBox="1"/>
          <p:nvPr/>
        </p:nvSpPr>
        <p:spPr>
          <a:xfrm>
            <a:off x="1117600" y="4647565"/>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Get a second pair of eyes before sharing outside the team.</a:t>
            </a:r>
          </a:p>
        </p:txBody>
      </p:sp>
      <p:sp>
        <p:nvSpPr>
          <p:cNvPr id="16" name="Rectangle 15"/>
          <p:cNvSpPr/>
          <p:nvPr/>
        </p:nvSpPr>
        <p:spPr>
          <a:xfrm>
            <a:off x="812800" y="5265896"/>
            <a:ext cx="50800" cy="368300"/>
          </a:xfrm>
          <a:prstGeom prst="rect">
            <a:avLst/>
          </a:prstGeom>
          <a:solidFill>
            <a:srgbClr val="B84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 y="5265896"/>
            <a:ext cx="10388600" cy="406400"/>
          </a:xfrm>
          <a:prstGeom prst="rect">
            <a:avLst/>
          </a:prstGeom>
          <a:noFill/>
        </p:spPr>
        <p:txBody>
          <a:bodyPr wrap="square" lIns="0" rIns="0" tIns="0" bIns="0">
            <a:spAutoFit/>
          </a:bodyPr>
          <a:lstStyle/>
          <a:p>
            <a:pPr>
              <a:lnSpc>
                <a:spcPct val="112500"/>
              </a:lnSpc>
            </a:pPr>
            <a:r>
              <a:rPr sz="2000" b="1">
                <a:solidFill>
                  <a:srgbClr val="B84E12"/>
                </a:solidFill>
                <a:latin typeface="Calibri"/>
              </a:rPr>
              <a:t>If you cannot explain the number, do not send the number.</a:t>
            </a:r>
          </a:p>
        </p:txBody>
      </p:sp>
      <p:sp>
        <p:nvSpPr>
          <p:cNvPr id="18" name="TextBox 17"/>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TRUST AND SAFETY</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Cost basics</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CoCo usage consumes </a:t>
            </a:r>
            <a:r>
              <a:rPr sz="2125" b="1">
                <a:solidFill>
                  <a:srgbClr val="14263A"/>
                </a:solidFill>
                <a:latin typeface="Calibri"/>
              </a:rPr>
              <a:t>Snowflake credits</a:t>
            </a:r>
            <a:r>
              <a:rPr sz="2125" b="0">
                <a:solidFill>
                  <a:srgbClr val="14263A"/>
                </a:solidFill>
                <a:latin typeface="Calibri"/>
              </a:rPr>
              <a:t>, and queries it runs use a </a:t>
            </a:r>
            <a:r>
              <a:rPr sz="2125" b="1">
                <a:solidFill>
                  <a:srgbClr val="14263A"/>
                </a:solidFill>
                <a:latin typeface="Calibri"/>
              </a:rPr>
              <a:t>warehouse</a:t>
            </a:r>
            <a:r>
              <a:rPr sz="2125" b="0">
                <a:solidFill>
                  <a:srgbClr val="14263A"/>
                </a:solidFill>
                <a:latin typeface="Calibri"/>
              </a:rPr>
              <a:t> too.</a:t>
            </a:r>
          </a:p>
        </p:txBody>
      </p:sp>
      <p:sp>
        <p:nvSpPr>
          <p:cNvPr id="6" name="TextBox 5"/>
          <p:cNvSpPr txBox="1"/>
          <p:nvPr/>
        </p:nvSpPr>
        <p:spPr>
          <a:xfrm>
            <a:off x="812800" y="2631440"/>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Admins can set a </a:t>
            </a:r>
            <a:r>
              <a:rPr sz="2125" b="1">
                <a:solidFill>
                  <a:srgbClr val="14263A"/>
                </a:solidFill>
                <a:latin typeface="Calibri"/>
              </a:rPr>
              <a:t>daily per-user limit</a:t>
            </a:r>
            <a:r>
              <a:rPr sz="2125" b="0">
                <a:solidFill>
                  <a:srgbClr val="14263A"/>
                </a:solidFill>
                <a:latin typeface="Calibri"/>
              </a:rPr>
              <a:t> for each surface (-1 unlimited, 0 blocked) and budgets.</a:t>
            </a:r>
          </a:p>
        </p:txBody>
      </p:sp>
      <p:sp>
        <p:nvSpPr>
          <p:cNvPr id="8" name="TextBox 7"/>
          <p:cNvSpPr txBox="1"/>
          <p:nvPr/>
        </p:nvSpPr>
        <p:spPr>
          <a:xfrm>
            <a:off x="812800" y="34998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4998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Usage is visible in the usage history views and observability events.</a:t>
            </a:r>
          </a:p>
        </p:txBody>
      </p:sp>
      <p:sp>
        <p:nvSpPr>
          <p:cNvPr id="10" name="TextBox 9"/>
          <p:cNvSpPr txBox="1"/>
          <p:nvPr/>
        </p:nvSpPr>
        <p:spPr>
          <a:xfrm>
            <a:off x="812800" y="4003833"/>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003833"/>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Save credits: be specific, sample before scanning, start a new chat for a new topic.</a:t>
            </a:r>
          </a:p>
        </p:txBody>
      </p:sp>
      <p:sp>
        <p:nvSpPr>
          <p:cNvPr id="12" name="Rectangle 11"/>
          <p:cNvSpPr/>
          <p:nvPr/>
        </p:nvSpPr>
        <p:spPr>
          <a:xfrm>
            <a:off x="812800" y="4986496"/>
            <a:ext cx="50800" cy="368300"/>
          </a:xfrm>
          <a:prstGeom prst="rect">
            <a:avLst/>
          </a:prstGeom>
          <a:solidFill>
            <a:srgbClr val="1B6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986496"/>
            <a:ext cx="10388600" cy="406400"/>
          </a:xfrm>
          <a:prstGeom prst="rect">
            <a:avLst/>
          </a:prstGeom>
          <a:noFill/>
        </p:spPr>
        <p:txBody>
          <a:bodyPr wrap="square" lIns="0" rIns="0" tIns="0" bIns="0">
            <a:spAutoFit/>
          </a:bodyPr>
          <a:lstStyle/>
          <a:p>
            <a:pPr>
              <a:lnSpc>
                <a:spcPct val="112500"/>
              </a:lnSpc>
            </a:pPr>
            <a:r>
              <a:rPr sz="2000" b="1">
                <a:solidFill>
                  <a:srgbClr val="1B6F9A"/>
                </a:solidFill>
                <a:latin typeface="Calibri"/>
              </a:rPr>
              <a:t>Ask the admin what our daily limit is and where usage reports live.</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Skills: recipe cards for CoCo</a:t>
            </a:r>
          </a:p>
        </p:txBody>
      </p:sp>
      <p:sp>
        <p:nvSpPr>
          <p:cNvPr id="4" name="TextBox 3"/>
          <p:cNvSpPr txBox="1"/>
          <p:nvPr/>
        </p:nvSpPr>
        <p:spPr>
          <a:xfrm>
            <a:off x="812800" y="2127408"/>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A </a:t>
            </a:r>
            <a:r>
              <a:rPr sz="2125" b="1">
                <a:solidFill>
                  <a:srgbClr val="14263A"/>
                </a:solidFill>
                <a:latin typeface="Calibri"/>
              </a:rPr>
              <a:t>skill</a:t>
            </a:r>
            <a:r>
              <a:rPr sz="2125" b="0">
                <a:solidFill>
                  <a:srgbClr val="14263A"/>
                </a:solidFill>
                <a:latin typeface="Calibri"/>
              </a:rPr>
              <a:t> is a folder with a </a:t>
            </a:r>
            <a:r>
              <a:rPr sz="2125" b="0">
                <a:solidFill>
                  <a:srgbClr val="14263A"/>
                </a:solidFill>
                <a:latin typeface="Consolas"/>
              </a:rPr>
              <a:t>SKILL.md</a:t>
            </a:r>
            <a:r>
              <a:rPr sz="2125" b="0">
                <a:solidFill>
                  <a:srgbClr val="14263A"/>
                </a:solidFill>
                <a:latin typeface="Calibri"/>
              </a:rPr>
              <a:t> file of instructions CoCo follows when relevant.</a:t>
            </a:r>
          </a:p>
        </p:txBody>
      </p:sp>
      <p:sp>
        <p:nvSpPr>
          <p:cNvPr id="6" name="TextBox 5"/>
          <p:cNvSpPr txBox="1"/>
          <p:nvPr/>
        </p:nvSpPr>
        <p:spPr>
          <a:xfrm>
            <a:off x="812800" y="29957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9957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Captures </a:t>
            </a:r>
            <a:r>
              <a:rPr sz="2125" b="1">
                <a:solidFill>
                  <a:srgbClr val="14263A"/>
                </a:solidFill>
                <a:latin typeface="Calibri"/>
              </a:rPr>
              <a:t>how our team does a task</a:t>
            </a:r>
            <a:r>
              <a:rPr sz="2125" b="0">
                <a:solidFill>
                  <a:srgbClr val="14263A"/>
                </a:solidFill>
                <a:latin typeface="Calibri"/>
              </a:rPr>
              <a:t> so it is repeatable.</a:t>
            </a:r>
          </a:p>
        </p:txBody>
      </p:sp>
      <p:sp>
        <p:nvSpPr>
          <p:cNvPr id="8" name="TextBox 7"/>
          <p:cNvSpPr txBox="1"/>
          <p:nvPr/>
        </p:nvSpPr>
        <p:spPr>
          <a:xfrm>
            <a:off x="812800" y="3499802"/>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499802"/>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BA examples: mapping template, reconciliation steps, glossary rules, requirement write-up.</a:t>
            </a:r>
          </a:p>
        </p:txBody>
      </p:sp>
      <p:sp>
        <p:nvSpPr>
          <p:cNvPr id="10" name="TextBox 9"/>
          <p:cNvSpPr txBox="1"/>
          <p:nvPr/>
        </p:nvSpPr>
        <p:spPr>
          <a:xfrm>
            <a:off x="812800" y="4368165"/>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368165"/>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You can write one in plain Markdown. No code required.</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Example: a mapping skill (illustrative)</a:t>
            </a:r>
          </a:p>
        </p:txBody>
      </p:sp>
      <p:sp>
        <p:nvSpPr>
          <p:cNvPr id="4" name="Rounded Rectangle 3"/>
          <p:cNvSpPr/>
          <p:nvPr/>
        </p:nvSpPr>
        <p:spPr>
          <a:xfrm>
            <a:off x="812800" y="2127408"/>
            <a:ext cx="10566400" cy="3306762"/>
          </a:xfrm>
          <a:prstGeom prst="roundRect">
            <a:avLst>
              <a:gd name="adj" fmla="val 3840"/>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10160000" cy="2900362"/>
          </a:xfrm>
          <a:prstGeom prst="rect">
            <a:avLst/>
          </a:prstGeom>
          <a:noFill/>
        </p:spPr>
        <p:txBody>
          <a:bodyPr wrap="square" lIns="0" rIns="0" tIns="0" bIns="0">
            <a:spAutoFit/>
          </a:bodyPr>
          <a:lstStyle/>
          <a:p>
            <a:pPr>
              <a:lnSpc>
                <a:spcPct val="120833"/>
              </a:lnSpc>
            </a:pPr>
            <a:r>
              <a:rPr sz="1750" b="0">
                <a:solidFill>
                  <a:srgbClr val="F6F4EF"/>
                </a:solidFill>
                <a:latin typeface="Consolas"/>
              </a:rPr>
              <a:t>---</a:t>
            </a:r>
          </a:p>
          <a:p>
            <a:pPr>
              <a:lnSpc>
                <a:spcPct val="120833"/>
              </a:lnSpc>
            </a:pPr>
            <a:r>
              <a:rPr sz="1750" b="0">
                <a:solidFill>
                  <a:srgbClr val="F6F4EF"/>
                </a:solidFill>
                <a:latin typeface="Consolas"/>
              </a:rPr>
              <a:t>name: source-to-target-mapping</a:t>
            </a:r>
          </a:p>
          <a:p>
            <a:pPr>
              <a:lnSpc>
                <a:spcPct val="120833"/>
              </a:lnSpc>
            </a:pPr>
            <a:r>
              <a:rPr sz="1750" b="0">
                <a:solidFill>
                  <a:srgbClr val="F6F4EF"/>
                </a:solidFill>
                <a:latin typeface="Consolas"/>
              </a:rPr>
              <a:t>description: Use when asked to draft a source-to-target mapping.</a:t>
            </a:r>
          </a:p>
          <a:p>
            <a:pPr>
              <a:lnSpc>
                <a:spcPct val="120833"/>
              </a:lnSpc>
            </a:pPr>
            <a:r>
              <a:rPr sz="1750" b="0">
                <a:solidFill>
                  <a:srgbClr val="F6F4EF"/>
                </a:solidFill>
                <a:latin typeface="Consolas"/>
              </a:rPr>
              <a:t>---</a:t>
            </a:r>
          </a:p>
          <a:p>
            <a:pPr>
              <a:lnSpc>
                <a:spcPct val="120833"/>
              </a:lnSpc>
            </a:pPr>
            <a:r>
              <a:rPr sz="1750" b="0">
                <a:solidFill>
                  <a:srgbClr val="F6F4EF"/>
                </a:solidFill>
                <a:latin typeface="Consolas"/>
              </a:rPr>
              <a:t># Steps</a:t>
            </a:r>
          </a:p>
          <a:p>
            <a:pPr>
              <a:lnSpc>
                <a:spcPct val="120833"/>
              </a:lnSpc>
            </a:pPr>
            <a:r>
              <a:rPr sz="1750" b="0">
                <a:solidFill>
                  <a:srgbClr val="F6F4EF"/>
                </a:solidFill>
                <a:latin typeface="Consolas"/>
              </a:rPr>
              <a:t>1. Ask for the target table and source tables.</a:t>
            </a:r>
          </a:p>
          <a:p>
            <a:pPr>
              <a:lnSpc>
                <a:spcPct val="120833"/>
              </a:lnSpc>
            </a:pPr>
            <a:r>
              <a:rPr sz="1750" b="0">
                <a:solidFill>
                  <a:srgbClr val="F6F4EF"/>
                </a:solidFill>
                <a:latin typeface="Consolas"/>
              </a:rPr>
              <a:t>2. List columns: target, source, transformation, rule.</a:t>
            </a:r>
          </a:p>
          <a:p>
            <a:pPr>
              <a:lnSpc>
                <a:spcPct val="120833"/>
              </a:lnSpc>
            </a:pPr>
            <a:r>
              <a:rPr sz="1750" b="0">
                <a:solidFill>
                  <a:srgbClr val="F6F4EF"/>
                </a:solidFill>
                <a:latin typeface="Consolas"/>
              </a:rPr>
              <a:t>3. Mark anything unknown. Never invent rules.</a:t>
            </a:r>
          </a:p>
          <a:p>
            <a:pPr>
              <a:lnSpc>
                <a:spcPct val="120833"/>
              </a:lnSpc>
            </a:pPr>
            <a:r>
              <a:rPr sz="1750" b="0">
                <a:solidFill>
                  <a:srgbClr val="F6F4EF"/>
                </a:solidFill>
                <a:latin typeface="Consolas"/>
              </a:rPr>
              <a:t>4. Output as a table, then list open questions.</a:t>
            </a:r>
          </a:p>
        </p:txBody>
      </p:sp>
      <p:sp>
        <p:nvSpPr>
          <p:cNvPr id="6" name="TextBox 5"/>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Standing instructions: AGENTS.md</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Instruction files give CoCo </a:t>
            </a:r>
            <a:r>
              <a:rPr sz="2125" b="1">
                <a:solidFill>
                  <a:srgbClr val="14263A"/>
                </a:solidFill>
                <a:latin typeface="Calibri"/>
              </a:rPr>
              <a:t>standing context</a:t>
            </a:r>
            <a:r>
              <a:rPr sz="2125" b="0">
                <a:solidFill>
                  <a:srgbClr val="14263A"/>
                </a:solidFill>
                <a:latin typeface="Calibri"/>
              </a:rPr>
              <a:t> for a project.</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Good for naming standards, layer conventions and safety rules.</a:t>
            </a:r>
          </a:p>
        </p:txBody>
      </p:sp>
      <p:sp>
        <p:nvSpPr>
          <p:cNvPr id="8" name="Rounded Rectangle 7"/>
          <p:cNvSpPr/>
          <p:nvPr/>
        </p:nvSpPr>
        <p:spPr>
          <a:xfrm>
            <a:off x="812800" y="3249771"/>
            <a:ext cx="10566400" cy="2017712"/>
          </a:xfrm>
          <a:prstGeom prst="roundRect">
            <a:avLst>
              <a:gd name="adj" fmla="val 6294"/>
            </a:avLst>
          </a:prstGeom>
          <a:solidFill>
            <a:srgbClr val="14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3452971"/>
            <a:ext cx="10160000" cy="1611312"/>
          </a:xfrm>
          <a:prstGeom prst="rect">
            <a:avLst/>
          </a:prstGeom>
          <a:noFill/>
        </p:spPr>
        <p:txBody>
          <a:bodyPr wrap="square" lIns="0" rIns="0" tIns="0" bIns="0">
            <a:spAutoFit/>
          </a:bodyPr>
          <a:lstStyle/>
          <a:p>
            <a:pPr>
              <a:lnSpc>
                <a:spcPct val="120833"/>
              </a:lnSpc>
            </a:pPr>
            <a:r>
              <a:rPr sz="1750" b="0">
                <a:solidFill>
                  <a:srgbClr val="F6F4EF"/>
                </a:solidFill>
                <a:latin typeface="Consolas"/>
              </a:rPr>
              <a:t># Team rules</a:t>
            </a:r>
          </a:p>
          <a:p>
            <a:pPr>
              <a:lnSpc>
                <a:spcPct val="120833"/>
              </a:lnSpc>
            </a:pPr>
            <a:r>
              <a:rPr sz="1750" b="0">
                <a:solidFill>
                  <a:srgbClr val="F6F4EF"/>
                </a:solidFill>
                <a:latin typeface="Consolas"/>
              </a:rPr>
              <a:t>- Prefer Gold tables; mention if Silver is used.</a:t>
            </a:r>
          </a:p>
          <a:p>
            <a:pPr>
              <a:lnSpc>
                <a:spcPct val="120833"/>
              </a:lnSpc>
            </a:pPr>
            <a:r>
              <a:rPr sz="1750" b="0">
                <a:solidFill>
                  <a:srgbClr val="F6F4EF"/>
                </a:solidFill>
                <a:latin typeface="Consolas"/>
              </a:rPr>
              <a:t>- Always show SQL and assumptions.</a:t>
            </a:r>
          </a:p>
          <a:p>
            <a:pPr>
              <a:lnSpc>
                <a:spcPct val="120833"/>
              </a:lnSpc>
            </a:pPr>
            <a:r>
              <a:rPr sz="1750" b="0">
                <a:solidFill>
                  <a:srgbClr val="F6F4EF"/>
                </a:solidFill>
                <a:latin typeface="Consolas"/>
              </a:rPr>
              <a:t>- Never run DELETE, DROP or UPDATE.</a:t>
            </a:r>
          </a:p>
          <a:p>
            <a:pPr>
              <a:lnSpc>
                <a:spcPct val="120833"/>
              </a:lnSpc>
            </a:pPr>
            <a:r>
              <a:rPr sz="1750" b="0">
                <a:solidFill>
                  <a:srgbClr val="F6F4EF"/>
                </a:solidFill>
                <a:latin typeface="Consolas"/>
              </a:rPr>
              <a:t>- Use sandbox schema ANALYST_SANDBOX for new objects.</a:t>
            </a:r>
          </a:p>
        </p:txBody>
      </p:sp>
      <p:sp>
        <p:nvSpPr>
          <p:cNvPr id="10" name="TextBox 9"/>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Sharing skills and plugins</a:t>
            </a:r>
          </a:p>
        </p:txBody>
      </p:sp>
      <p:sp>
        <p:nvSpPr>
          <p:cNvPr id="4" name="TextBox 3"/>
          <p:cNvSpPr txBox="1"/>
          <p:nvPr/>
        </p:nvSpPr>
        <p:spPr>
          <a:xfrm>
            <a:off x="812800" y="2127408"/>
            <a:ext cx="190500" cy="754062"/>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792162"/>
          </a:xfrm>
          <a:prstGeom prst="rect">
            <a:avLst/>
          </a:prstGeom>
          <a:noFill/>
        </p:spPr>
        <p:txBody>
          <a:bodyPr wrap="square" lIns="0" rIns="0" tIns="0" bIns="0">
            <a:spAutoFit/>
          </a:bodyPr>
          <a:lstStyle/>
          <a:p>
            <a:pPr>
              <a:lnSpc>
                <a:spcPct val="112500"/>
              </a:lnSpc>
            </a:pPr>
            <a:r>
              <a:rPr sz="2125" b="0">
                <a:solidFill>
                  <a:srgbClr val="14263A"/>
                </a:solidFill>
                <a:latin typeface="Calibri"/>
              </a:rPr>
              <a:t>The </a:t>
            </a:r>
            <a:r>
              <a:rPr sz="2125" b="1">
                <a:solidFill>
                  <a:srgbClr val="14263A"/>
                </a:solidFill>
                <a:latin typeface="Calibri"/>
              </a:rPr>
              <a:t>Skill Catalog</a:t>
            </a:r>
            <a:r>
              <a:rPr sz="2125" b="0">
                <a:solidFill>
                  <a:srgbClr val="14263A"/>
                </a:solidFill>
                <a:latin typeface="Calibri"/>
              </a:rPr>
              <a:t> lets teams share skills. It has </a:t>
            </a:r>
            <a:r>
              <a:rPr sz="2125" b="1">
                <a:solidFill>
                  <a:srgbClr val="14263A"/>
                </a:solidFill>
                <a:latin typeface="Calibri"/>
              </a:rPr>
              <a:t>no security scanning</a:t>
            </a:r>
            <a:r>
              <a:rPr sz="2125" b="0">
                <a:solidFill>
                  <a:srgbClr val="14263A"/>
                </a:solidFill>
                <a:latin typeface="Calibri"/>
              </a:rPr>
              <a:t>: review before use.</a:t>
            </a:r>
          </a:p>
        </p:txBody>
      </p:sp>
      <p:sp>
        <p:nvSpPr>
          <p:cNvPr id="6" name="TextBox 5"/>
          <p:cNvSpPr txBox="1"/>
          <p:nvPr/>
        </p:nvSpPr>
        <p:spPr>
          <a:xfrm>
            <a:off x="812800" y="29957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995771"/>
            <a:ext cx="10261600" cy="427831"/>
          </a:xfrm>
          <a:prstGeom prst="rect">
            <a:avLst/>
          </a:prstGeom>
          <a:noFill/>
        </p:spPr>
        <p:txBody>
          <a:bodyPr wrap="square" lIns="0" rIns="0" tIns="0" bIns="0">
            <a:spAutoFit/>
          </a:bodyPr>
          <a:lstStyle/>
          <a:p>
            <a:pPr>
              <a:lnSpc>
                <a:spcPct val="112500"/>
              </a:lnSpc>
            </a:pPr>
            <a:r>
              <a:rPr sz="2125" b="1">
                <a:solidFill>
                  <a:srgbClr val="14263A"/>
                </a:solidFill>
                <a:latin typeface="Calibri"/>
              </a:rPr>
              <a:t>Plugins</a:t>
            </a:r>
            <a:r>
              <a:rPr sz="2125" b="0">
                <a:solidFill>
                  <a:srgbClr val="14263A"/>
                </a:solidFill>
                <a:latin typeface="Calibri"/>
              </a:rPr>
              <a:t> bundle skills and tools. Plugin support is listed as preview.</a:t>
            </a:r>
          </a:p>
        </p:txBody>
      </p:sp>
      <p:sp>
        <p:nvSpPr>
          <p:cNvPr id="8" name="TextBox 7"/>
          <p:cNvSpPr txBox="1"/>
          <p:nvPr/>
        </p:nvSpPr>
        <p:spPr>
          <a:xfrm>
            <a:off x="812800" y="34998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4998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Agree on an owner, a review step and versioning for team-shared skills.</a:t>
            </a:r>
          </a:p>
        </p:txBody>
      </p:sp>
      <p:sp>
        <p:nvSpPr>
          <p:cNvPr id="10" name="TextBox 9"/>
          <p:cNvSpPr txBox="1"/>
          <p:nvPr/>
        </p:nvSpPr>
        <p:spPr>
          <a:xfrm>
            <a:off x="812800" y="40038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0038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Keep a short README: what the skill does, who approved it, when.</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Automations: scheduled agent tasks</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Hosted automations run an agent task on a schedule (public preview).</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Minimum interval is hourly. Run history is kept for two months.</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They run with </a:t>
            </a:r>
            <a:r>
              <a:rPr sz="2125" b="1">
                <a:solidFill>
                  <a:srgbClr val="14263A"/>
                </a:solidFill>
                <a:latin typeface="Calibri"/>
              </a:rPr>
              <a:t>no interactive approvals</a:t>
            </a:r>
            <a:r>
              <a:rPr sz="2125" b="0">
                <a:solidFill>
                  <a:srgbClr val="14263A"/>
                </a:solidFill>
                <a:latin typeface="Calibri"/>
              </a:rPr>
              <a:t>, so keep them read-only.</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BA ideas: weekly data-quality summary, new-table alerts.</a:t>
            </a:r>
          </a:p>
        </p:txBody>
      </p:sp>
      <p:sp>
        <p:nvSpPr>
          <p:cNvPr id="12" name="Rectangle 11"/>
          <p:cNvSpPr/>
          <p:nvPr/>
        </p:nvSpPr>
        <p:spPr>
          <a:xfrm>
            <a:off x="812800" y="4257833"/>
            <a:ext cx="50800" cy="368300"/>
          </a:xfrm>
          <a:prstGeom prst="rect">
            <a:avLst/>
          </a:prstGeom>
          <a:solidFill>
            <a:srgbClr val="B84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 y="4257833"/>
            <a:ext cx="10388600" cy="406400"/>
          </a:xfrm>
          <a:prstGeom prst="rect">
            <a:avLst/>
          </a:prstGeom>
          <a:noFill/>
        </p:spPr>
        <p:txBody>
          <a:bodyPr wrap="square" lIns="0" rIns="0" tIns="0" bIns="0">
            <a:spAutoFit/>
          </a:bodyPr>
          <a:lstStyle/>
          <a:p>
            <a:pPr>
              <a:lnSpc>
                <a:spcPct val="112500"/>
              </a:lnSpc>
            </a:pPr>
            <a:r>
              <a:rPr sz="2000" b="1">
                <a:solidFill>
                  <a:srgbClr val="B84E12"/>
                </a:solidFill>
                <a:latin typeface="Calibri"/>
              </a:rPr>
              <a:t>Involve a developer and your admin before scheduling anything.</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LEVEL UP</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Working with developers</a:t>
            </a:r>
          </a:p>
        </p:txBody>
      </p:sp>
      <p:sp>
        <p:nvSpPr>
          <p:cNvPr id="4" name="Rounded Rectangle 3"/>
          <p:cNvSpPr/>
          <p:nvPr/>
        </p:nvSpPr>
        <p:spPr>
          <a:xfrm>
            <a:off x="8128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You deliver</a:t>
            </a:r>
          </a:p>
        </p:txBody>
      </p:sp>
      <p:sp>
        <p:nvSpPr>
          <p:cNvPr id="6" name="TextBox 5"/>
          <p:cNvSpPr txBox="1"/>
          <p:nvPr/>
        </p:nvSpPr>
        <p:spPr>
          <a:xfrm>
            <a:off x="1016000" y="2782252"/>
            <a:ext cx="2997200" cy="1263650"/>
          </a:xfrm>
          <a:prstGeom prst="rect">
            <a:avLst/>
          </a:prstGeom>
          <a:noFill/>
        </p:spPr>
        <p:txBody>
          <a:bodyPr wrap="square" lIns="0" rIns="0" tIns="0" bIns="0">
            <a:spAutoFit/>
          </a:bodyPr>
          <a:lstStyle/>
          <a:p>
            <a:pPr>
              <a:lnSpc>
                <a:spcPct val="112500"/>
              </a:lnSpc>
            </a:pPr>
            <a:r>
              <a:rPr sz="1750" b="0">
                <a:solidFill>
                  <a:srgbClr val="4A5A6A"/>
                </a:solidFill>
                <a:latin typeface="Calibri"/>
              </a:rPr>
              <a:t>Requirements, a mapping table, validated SQL draft, acceptance test queries, open questions.</a:t>
            </a:r>
          </a:p>
        </p:txBody>
      </p:sp>
      <p:sp>
        <p:nvSpPr>
          <p:cNvPr id="7" name="Rounded Rectangle 6"/>
          <p:cNvSpPr/>
          <p:nvPr/>
        </p:nvSpPr>
        <p:spPr>
          <a:xfrm>
            <a:off x="43942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4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Developers deliver</a:t>
            </a:r>
          </a:p>
        </p:txBody>
      </p:sp>
      <p:sp>
        <p:nvSpPr>
          <p:cNvPr id="9" name="TextBox 8"/>
          <p:cNvSpPr txBox="1"/>
          <p:nvPr/>
        </p:nvSpPr>
        <p:spPr>
          <a:xfrm>
            <a:off x="4597400" y="2782252"/>
            <a:ext cx="29972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Production code, tests, deployment, access setup, monitoring.</a:t>
            </a:r>
          </a:p>
        </p:txBody>
      </p:sp>
      <p:sp>
        <p:nvSpPr>
          <p:cNvPr id="10" name="Rounded Rectangle 9"/>
          <p:cNvSpPr/>
          <p:nvPr/>
        </p:nvSpPr>
        <p:spPr>
          <a:xfrm>
            <a:off x="79756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88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Together</a:t>
            </a:r>
          </a:p>
        </p:txBody>
      </p:sp>
      <p:sp>
        <p:nvSpPr>
          <p:cNvPr id="12" name="TextBox 11"/>
          <p:cNvSpPr txBox="1"/>
          <p:nvPr/>
        </p:nvSpPr>
        <p:spPr>
          <a:xfrm>
            <a:off x="8178800" y="2782252"/>
            <a:ext cx="29972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A shared review: CoCo draft, BA check of business logic, developer check of design.</a:t>
            </a:r>
          </a:p>
        </p:txBody>
      </p:sp>
      <p:sp>
        <p:nvSpPr>
          <p:cNvPr id="13" name="TextBox 12"/>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Lab 1: Explore (20 minutes)</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Open CoCo in Snowsight with your role.</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Run the four safe first prompts on a table you know well.</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Ask CoCo to describe the table and propose meanings for three columns.</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Mark which answers were right, wrong or unclear.</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Lab 2: Answer and verify (30 minutes)</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Pick a question you answered recently for a stakeholder.</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Write it with the G-D-R-O-C recipe.</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Compare CoCo's number with your known answer.</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If different, find out why: filters, dates or definitions?</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1160780"/>
          </a:xfrm>
          <a:prstGeom prst="rect">
            <a:avLst/>
          </a:prstGeom>
          <a:noFill/>
        </p:spPr>
        <p:txBody>
          <a:bodyPr wrap="square" lIns="0" rIns="0" tIns="0" bIns="0">
            <a:spAutoFit/>
          </a:bodyPr>
          <a:lstStyle/>
          <a:p>
            <a:pPr>
              <a:lnSpc>
                <a:spcPct val="90000"/>
              </a:lnSpc>
            </a:pPr>
            <a:r>
              <a:rPr sz="4000" b="1">
                <a:solidFill>
                  <a:srgbClr val="14263A"/>
                </a:solidFill>
                <a:latin typeface="Calibri"/>
              </a:rPr>
              <a:t>Lab 3: Draft a mapping or app (30 minutes)</a:t>
            </a:r>
          </a:p>
        </p:txBody>
      </p:sp>
      <p:sp>
        <p:nvSpPr>
          <p:cNvPr id="4" name="TextBox 3"/>
          <p:cNvSpPr txBox="1"/>
          <p:nvPr/>
        </p:nvSpPr>
        <p:spPr>
          <a:xfrm>
            <a:off x="812800" y="267604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67604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Choose a small target table you understand.</a:t>
            </a:r>
          </a:p>
        </p:txBody>
      </p:sp>
      <p:sp>
        <p:nvSpPr>
          <p:cNvPr id="6" name="TextBox 5"/>
          <p:cNvSpPr txBox="1"/>
          <p:nvPr/>
        </p:nvSpPr>
        <p:spPr>
          <a:xfrm>
            <a:off x="812800" y="318008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318008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Ask CoCo for a source-to-target mapping with unknowns marked.</a:t>
            </a:r>
          </a:p>
        </p:txBody>
      </p:sp>
      <p:sp>
        <p:nvSpPr>
          <p:cNvPr id="8" name="TextBox 7"/>
          <p:cNvSpPr txBox="1"/>
          <p:nvPr/>
        </p:nvSpPr>
        <p:spPr>
          <a:xfrm>
            <a:off x="812800" y="368411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68411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Review each row; correct the business rules.</a:t>
            </a:r>
          </a:p>
        </p:txBody>
      </p:sp>
      <p:sp>
        <p:nvSpPr>
          <p:cNvPr id="10" name="TextBox 9"/>
          <p:cNvSpPr txBox="1"/>
          <p:nvPr/>
        </p:nvSpPr>
        <p:spPr>
          <a:xfrm>
            <a:off x="812800" y="418814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418814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Optional: ask for a simple filter-and-chart app.</a:t>
            </a:r>
          </a:p>
        </p:txBody>
      </p:sp>
      <p:sp>
        <p:nvSpPr>
          <p:cNvPr id="12" name="TextBox 11"/>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30-60-90 day adoption plan</a:t>
            </a:r>
          </a:p>
        </p:txBody>
      </p:sp>
      <p:sp>
        <p:nvSpPr>
          <p:cNvPr id="4" name="Rounded Rectangle 3"/>
          <p:cNvSpPr/>
          <p:nvPr/>
        </p:nvSpPr>
        <p:spPr>
          <a:xfrm>
            <a:off x="8128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First 30 days: Learn</a:t>
            </a:r>
          </a:p>
        </p:txBody>
      </p:sp>
      <p:sp>
        <p:nvSpPr>
          <p:cNvPr id="6" name="TextBox 5"/>
          <p:cNvSpPr txBox="1"/>
          <p:nvPr/>
        </p:nvSpPr>
        <p:spPr>
          <a:xfrm>
            <a:off x="1016000" y="2782252"/>
            <a:ext cx="29972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Everyone completes the three labs and uses read-only prompts in Snowsight.</a:t>
            </a:r>
          </a:p>
        </p:txBody>
      </p:sp>
      <p:sp>
        <p:nvSpPr>
          <p:cNvPr id="7" name="Rounded Rectangle 6"/>
          <p:cNvSpPr/>
          <p:nvPr/>
        </p:nvSpPr>
        <p:spPr>
          <a:xfrm>
            <a:off x="43942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4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Days 31 to 60: Apply</a:t>
            </a:r>
          </a:p>
        </p:txBody>
      </p:sp>
      <p:sp>
        <p:nvSpPr>
          <p:cNvPr id="9" name="TextBox 8"/>
          <p:cNvSpPr txBox="1"/>
          <p:nvPr/>
        </p:nvSpPr>
        <p:spPr>
          <a:xfrm>
            <a:off x="4597400" y="2782252"/>
            <a:ext cx="2997200" cy="1263650"/>
          </a:xfrm>
          <a:prstGeom prst="rect">
            <a:avLst/>
          </a:prstGeom>
          <a:noFill/>
        </p:spPr>
        <p:txBody>
          <a:bodyPr wrap="square" lIns="0" rIns="0" tIns="0" bIns="0">
            <a:spAutoFit/>
          </a:bodyPr>
          <a:lstStyle/>
          <a:p>
            <a:pPr>
              <a:lnSpc>
                <a:spcPct val="112500"/>
              </a:lnSpc>
            </a:pPr>
            <a:r>
              <a:rPr sz="1750" b="0">
                <a:solidFill>
                  <a:srgbClr val="4A5A6A"/>
                </a:solidFill>
                <a:latin typeface="Calibri"/>
              </a:rPr>
              <a:t>Use CoCo on live tasks: mappings, reconciliations, field definitions. Share what works.</a:t>
            </a:r>
          </a:p>
        </p:txBody>
      </p:sp>
      <p:sp>
        <p:nvSpPr>
          <p:cNvPr id="10" name="Rounded Rectangle 9"/>
          <p:cNvSpPr/>
          <p:nvPr/>
        </p:nvSpPr>
        <p:spPr>
          <a:xfrm>
            <a:off x="7975600" y="2127408"/>
            <a:ext cx="3403600" cy="2083593"/>
          </a:xfrm>
          <a:prstGeom prst="roundRect">
            <a:avLst>
              <a:gd name="adj" fmla="val 6095"/>
            </a:avLst>
          </a:prstGeom>
          <a:solidFill>
            <a:srgbClr val="FDFCF9"/>
          </a:solidFill>
          <a:ln w="12700">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8800" y="2330608"/>
            <a:ext cx="2997200" cy="400843"/>
          </a:xfrm>
          <a:prstGeom prst="rect">
            <a:avLst/>
          </a:prstGeom>
          <a:noFill/>
        </p:spPr>
        <p:txBody>
          <a:bodyPr wrap="square" lIns="0" rIns="0" tIns="0" bIns="0">
            <a:spAutoFit/>
          </a:bodyPr>
          <a:lstStyle/>
          <a:p>
            <a:pPr>
              <a:lnSpc>
                <a:spcPct val="104167"/>
              </a:lnSpc>
            </a:pPr>
            <a:r>
              <a:rPr sz="2125" b="1">
                <a:solidFill>
                  <a:srgbClr val="1B6F9A"/>
                </a:solidFill>
                <a:latin typeface="Calibri"/>
              </a:rPr>
              <a:t>Days 61 to 90: Scale</a:t>
            </a:r>
          </a:p>
        </p:txBody>
      </p:sp>
      <p:sp>
        <p:nvSpPr>
          <p:cNvPr id="12" name="TextBox 11"/>
          <p:cNvSpPr txBox="1"/>
          <p:nvPr/>
        </p:nvSpPr>
        <p:spPr>
          <a:xfrm>
            <a:off x="8178800" y="2782252"/>
            <a:ext cx="2997200" cy="963612"/>
          </a:xfrm>
          <a:prstGeom prst="rect">
            <a:avLst/>
          </a:prstGeom>
          <a:noFill/>
        </p:spPr>
        <p:txBody>
          <a:bodyPr wrap="square" lIns="0" rIns="0" tIns="0" bIns="0">
            <a:spAutoFit/>
          </a:bodyPr>
          <a:lstStyle/>
          <a:p>
            <a:pPr>
              <a:lnSpc>
                <a:spcPct val="112500"/>
              </a:lnSpc>
            </a:pPr>
            <a:r>
              <a:rPr sz="1750" b="0">
                <a:solidFill>
                  <a:srgbClr val="4A5A6A"/>
                </a:solidFill>
                <a:latin typeface="Calibri"/>
              </a:rPr>
              <a:t>Create and review two team skills, agree standards, and report time saved.</a:t>
            </a:r>
          </a:p>
        </p:txBody>
      </p:sp>
      <p:sp>
        <p:nvSpPr>
          <p:cNvPr id="13" name="TextBox 12"/>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Team agreements (proposal)</a:t>
            </a:r>
          </a:p>
        </p:txBody>
      </p:sp>
      <p:sp>
        <p:nvSpPr>
          <p:cNvPr id="4" name="TextBox 3"/>
          <p:cNvSpPr txBox="1"/>
          <p:nvPr/>
        </p:nvSpPr>
        <p:spPr>
          <a:xfrm>
            <a:off x="812800" y="2127408"/>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5" name="TextBox 4"/>
          <p:cNvSpPr txBox="1"/>
          <p:nvPr/>
        </p:nvSpPr>
        <p:spPr>
          <a:xfrm>
            <a:off x="1117600" y="2127408"/>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Default approvals always; no Bypass.</a:t>
            </a:r>
          </a:p>
        </p:txBody>
      </p:sp>
      <p:sp>
        <p:nvSpPr>
          <p:cNvPr id="6" name="TextBox 5"/>
          <p:cNvSpPr txBox="1"/>
          <p:nvPr/>
        </p:nvSpPr>
        <p:spPr>
          <a:xfrm>
            <a:off x="812800" y="2631440"/>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7" name="TextBox 6"/>
          <p:cNvSpPr txBox="1"/>
          <p:nvPr/>
        </p:nvSpPr>
        <p:spPr>
          <a:xfrm>
            <a:off x="1117600" y="2631440"/>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Read-only unless a task needs otherwise and the owner agrees.</a:t>
            </a:r>
          </a:p>
        </p:txBody>
      </p:sp>
      <p:sp>
        <p:nvSpPr>
          <p:cNvPr id="8" name="TextBox 7"/>
          <p:cNvSpPr txBox="1"/>
          <p:nvPr/>
        </p:nvSpPr>
        <p:spPr>
          <a:xfrm>
            <a:off x="812800" y="3135471"/>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9" name="TextBox 8"/>
          <p:cNvSpPr txBox="1"/>
          <p:nvPr/>
        </p:nvSpPr>
        <p:spPr>
          <a:xfrm>
            <a:off x="1117600" y="3135471"/>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Every number gets a verification step before it is shared.</a:t>
            </a:r>
          </a:p>
        </p:txBody>
      </p:sp>
      <p:sp>
        <p:nvSpPr>
          <p:cNvPr id="10" name="TextBox 9"/>
          <p:cNvSpPr txBox="1"/>
          <p:nvPr/>
        </p:nvSpPr>
        <p:spPr>
          <a:xfrm>
            <a:off x="812800" y="3639502"/>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1" name="TextBox 10"/>
          <p:cNvSpPr txBox="1"/>
          <p:nvPr/>
        </p:nvSpPr>
        <p:spPr>
          <a:xfrm>
            <a:off x="1117600" y="3639502"/>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Skills are reviewed by a second person before team use.</a:t>
            </a:r>
          </a:p>
        </p:txBody>
      </p:sp>
      <p:sp>
        <p:nvSpPr>
          <p:cNvPr id="12" name="TextBox 11"/>
          <p:cNvSpPr txBox="1"/>
          <p:nvPr/>
        </p:nvSpPr>
        <p:spPr>
          <a:xfrm>
            <a:off x="812800" y="4143533"/>
            <a:ext cx="190500" cy="389731"/>
          </a:xfrm>
          <a:prstGeom prst="rect">
            <a:avLst/>
          </a:prstGeom>
          <a:noFill/>
        </p:spPr>
        <p:txBody>
          <a:bodyPr wrap="square" lIns="0" rIns="0" tIns="0" bIns="0">
            <a:spAutoFit/>
          </a:bodyPr>
          <a:lstStyle/>
          <a:p>
            <a:pPr>
              <a:lnSpc>
                <a:spcPct val="112500"/>
              </a:lnSpc>
            </a:pPr>
            <a:r>
              <a:rPr sz="2125" b="1">
                <a:solidFill>
                  <a:srgbClr val="B84E12"/>
                </a:solidFill>
                <a:latin typeface="Calibri"/>
              </a:rPr>
              <a:t>•</a:t>
            </a:r>
          </a:p>
        </p:txBody>
      </p:sp>
      <p:sp>
        <p:nvSpPr>
          <p:cNvPr id="13" name="TextBox 12"/>
          <p:cNvSpPr txBox="1"/>
          <p:nvPr/>
        </p:nvSpPr>
        <p:spPr>
          <a:xfrm>
            <a:off x="1117600" y="4143533"/>
            <a:ext cx="10261600" cy="427831"/>
          </a:xfrm>
          <a:prstGeom prst="rect">
            <a:avLst/>
          </a:prstGeom>
          <a:noFill/>
        </p:spPr>
        <p:txBody>
          <a:bodyPr wrap="square" lIns="0" rIns="0" tIns="0" bIns="0">
            <a:spAutoFit/>
          </a:bodyPr>
          <a:lstStyle/>
          <a:p>
            <a:pPr>
              <a:lnSpc>
                <a:spcPct val="112500"/>
              </a:lnSpc>
            </a:pPr>
            <a:r>
              <a:rPr sz="2125" b="0">
                <a:solidFill>
                  <a:srgbClr val="14263A"/>
                </a:solidFill>
                <a:latin typeface="Calibri"/>
              </a:rPr>
              <a:t>Regulated data only as permitted by Compliance.</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Seven things to remember</a:t>
            </a:r>
          </a:p>
        </p:txBody>
      </p:sp>
      <p:sp>
        <p:nvSpPr>
          <p:cNvPr id="4" name="TextBox 3"/>
          <p:cNvSpPr txBox="1"/>
          <p:nvPr/>
        </p:nvSpPr>
        <p:spPr>
          <a:xfrm>
            <a:off x="812800" y="2127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5" name="TextBox 4"/>
          <p:cNvSpPr txBox="1"/>
          <p:nvPr/>
        </p:nvSpPr>
        <p:spPr>
          <a:xfrm>
            <a:off x="1117600" y="2127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CoCo is an agent that acts under </a:t>
            </a:r>
            <a:r>
              <a:rPr sz="2000" b="1">
                <a:solidFill>
                  <a:srgbClr val="14263A"/>
                </a:solidFill>
                <a:latin typeface="Calibri"/>
              </a:rPr>
              <a:t>your</a:t>
            </a:r>
            <a:r>
              <a:rPr sz="2000" b="0">
                <a:solidFill>
                  <a:srgbClr val="14263A"/>
                </a:solidFill>
                <a:latin typeface="Calibri"/>
              </a:rPr>
              <a:t> permissions.</a:t>
            </a:r>
          </a:p>
        </p:txBody>
      </p:sp>
      <p:sp>
        <p:nvSpPr>
          <p:cNvPr id="6" name="TextBox 5"/>
          <p:cNvSpPr txBox="1"/>
          <p:nvPr/>
        </p:nvSpPr>
        <p:spPr>
          <a:xfrm>
            <a:off x="812800" y="26100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7" name="TextBox 6"/>
          <p:cNvSpPr txBox="1"/>
          <p:nvPr/>
        </p:nvSpPr>
        <p:spPr>
          <a:xfrm>
            <a:off x="1117600" y="26100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Start in Snowsight with read-only prompts.</a:t>
            </a:r>
          </a:p>
        </p:txBody>
      </p:sp>
      <p:sp>
        <p:nvSpPr>
          <p:cNvPr id="8" name="TextBox 7"/>
          <p:cNvSpPr txBox="1"/>
          <p:nvPr/>
        </p:nvSpPr>
        <p:spPr>
          <a:xfrm>
            <a:off x="812800" y="30926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9" name="TextBox 8"/>
          <p:cNvSpPr txBox="1"/>
          <p:nvPr/>
        </p:nvSpPr>
        <p:spPr>
          <a:xfrm>
            <a:off x="1117600" y="30926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Give context with Goal, Data, Rules, Output, Check.</a:t>
            </a:r>
          </a:p>
        </p:txBody>
      </p:sp>
      <p:sp>
        <p:nvSpPr>
          <p:cNvPr id="10" name="TextBox 9"/>
          <p:cNvSpPr txBox="1"/>
          <p:nvPr/>
        </p:nvSpPr>
        <p:spPr>
          <a:xfrm>
            <a:off x="812800" y="35752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1" name="TextBox 10"/>
          <p:cNvSpPr txBox="1"/>
          <p:nvPr/>
        </p:nvSpPr>
        <p:spPr>
          <a:xfrm>
            <a:off x="1117600" y="35752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Always read the SQL and the assumptions.</a:t>
            </a:r>
          </a:p>
        </p:txBody>
      </p:sp>
      <p:sp>
        <p:nvSpPr>
          <p:cNvPr id="12" name="TextBox 11"/>
          <p:cNvSpPr txBox="1"/>
          <p:nvPr/>
        </p:nvSpPr>
        <p:spPr>
          <a:xfrm>
            <a:off x="812800" y="40578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3" name="TextBox 12"/>
          <p:cNvSpPr txBox="1"/>
          <p:nvPr/>
        </p:nvSpPr>
        <p:spPr>
          <a:xfrm>
            <a:off x="1117600" y="40578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Keep default approvals on.</a:t>
            </a:r>
          </a:p>
        </p:txBody>
      </p:sp>
      <p:sp>
        <p:nvSpPr>
          <p:cNvPr id="14" name="TextBox 13"/>
          <p:cNvSpPr txBox="1"/>
          <p:nvPr/>
        </p:nvSpPr>
        <p:spPr>
          <a:xfrm>
            <a:off x="812800" y="4540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5" name="TextBox 14"/>
          <p:cNvSpPr txBox="1"/>
          <p:nvPr/>
        </p:nvSpPr>
        <p:spPr>
          <a:xfrm>
            <a:off x="1117600" y="4540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Share reviewed skills, not secrets.</a:t>
            </a:r>
          </a:p>
        </p:txBody>
      </p:sp>
      <p:sp>
        <p:nvSpPr>
          <p:cNvPr id="16" name="TextBox 15"/>
          <p:cNvSpPr txBox="1"/>
          <p:nvPr/>
        </p:nvSpPr>
        <p:spPr>
          <a:xfrm>
            <a:off x="812800" y="50230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7" name="TextBox 16"/>
          <p:cNvSpPr txBox="1"/>
          <p:nvPr/>
        </p:nvSpPr>
        <p:spPr>
          <a:xfrm>
            <a:off x="1117600" y="50230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You are the SME. CoCo drafts; you decide.</a:t>
            </a:r>
          </a:p>
        </p:txBody>
      </p:sp>
      <p:sp>
        <p:nvSpPr>
          <p:cNvPr id="18" name="TextBox 17"/>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Confirm with admins and Compliance</a:t>
            </a:r>
          </a:p>
        </p:txBody>
      </p:sp>
      <p:sp>
        <p:nvSpPr>
          <p:cNvPr id="4" name="TextBox 3"/>
          <p:cNvSpPr txBox="1"/>
          <p:nvPr/>
        </p:nvSpPr>
        <p:spPr>
          <a:xfrm>
            <a:off x="812800" y="2127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5" name="TextBox 4"/>
          <p:cNvSpPr txBox="1"/>
          <p:nvPr/>
        </p:nvSpPr>
        <p:spPr>
          <a:xfrm>
            <a:off x="1117600" y="2127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Which CoCo surfaces and features are enabled for us (Snowsight, Desktop, Streamlit)?</a:t>
            </a:r>
          </a:p>
        </p:txBody>
      </p:sp>
      <p:sp>
        <p:nvSpPr>
          <p:cNvPr id="6" name="TextBox 5"/>
          <p:cNvSpPr txBox="1"/>
          <p:nvPr/>
        </p:nvSpPr>
        <p:spPr>
          <a:xfrm>
            <a:off x="812800" y="26100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7" name="TextBox 6"/>
          <p:cNvSpPr txBox="1"/>
          <p:nvPr/>
        </p:nvSpPr>
        <p:spPr>
          <a:xfrm>
            <a:off x="1117600" y="26100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Our roles, daily credit limits and budgets.</a:t>
            </a:r>
          </a:p>
        </p:txBody>
      </p:sp>
      <p:sp>
        <p:nvSpPr>
          <p:cNvPr id="8" name="TextBox 7"/>
          <p:cNvSpPr txBox="1"/>
          <p:nvPr/>
        </p:nvSpPr>
        <p:spPr>
          <a:xfrm>
            <a:off x="812800" y="30926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9" name="TextBox 8"/>
          <p:cNvSpPr txBox="1"/>
          <p:nvPr/>
        </p:nvSpPr>
        <p:spPr>
          <a:xfrm>
            <a:off x="1117600" y="30926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Which Restricted Session Scope and managed settings apply.</a:t>
            </a:r>
          </a:p>
        </p:txBody>
      </p:sp>
      <p:sp>
        <p:nvSpPr>
          <p:cNvPr id="10" name="TextBox 9"/>
          <p:cNvSpPr txBox="1"/>
          <p:nvPr/>
        </p:nvSpPr>
        <p:spPr>
          <a:xfrm>
            <a:off x="812800" y="35752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1" name="TextBox 10"/>
          <p:cNvSpPr txBox="1"/>
          <p:nvPr/>
        </p:nvSpPr>
        <p:spPr>
          <a:xfrm>
            <a:off x="1117600" y="35752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Whether PHI or PII may be used with CoCo, including HIPAA, BAA and data residency.</a:t>
            </a:r>
          </a:p>
        </p:txBody>
      </p:sp>
      <p:sp>
        <p:nvSpPr>
          <p:cNvPr id="12" name="TextBox 11"/>
          <p:cNvSpPr txBox="1"/>
          <p:nvPr/>
        </p:nvSpPr>
        <p:spPr>
          <a:xfrm>
            <a:off x="812800" y="40578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3" name="TextBox 12"/>
          <p:cNvSpPr txBox="1"/>
          <p:nvPr/>
        </p:nvSpPr>
        <p:spPr>
          <a:xfrm>
            <a:off x="1117600" y="40578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Where to find usage reports and who owns the skill library.</a:t>
            </a:r>
          </a:p>
        </p:txBody>
      </p:sp>
      <p:sp>
        <p:nvSpPr>
          <p:cNvPr id="14" name="TextBox 13"/>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812800" y="812800"/>
            <a:ext cx="10566400" cy="321468"/>
          </a:xfrm>
          <a:prstGeom prst="rect">
            <a:avLst/>
          </a:prstGeom>
          <a:noFill/>
        </p:spPr>
        <p:txBody>
          <a:bodyPr wrap="square" lIns="0" rIns="0" tIns="0" bIns="0">
            <a:spAutoFit/>
          </a:bodyPr>
          <a:lstStyle/>
          <a:p>
            <a:pPr>
              <a:lnSpc>
                <a:spcPct val="104167"/>
              </a:lnSpc>
            </a:pPr>
            <a:r>
              <a:rPr sz="1625" b="1">
                <a:solidFill>
                  <a:srgbClr val="1B6F9A"/>
                </a:solidFill>
                <a:latin typeface="Calibri"/>
              </a:rPr>
              <a:t>PRACTICE</a:t>
            </a:r>
          </a:p>
        </p:txBody>
      </p:sp>
      <p:sp>
        <p:nvSpPr>
          <p:cNvPr id="3" name="TextBox 2"/>
          <p:cNvSpPr txBox="1"/>
          <p:nvPr/>
        </p:nvSpPr>
        <p:spPr>
          <a:xfrm>
            <a:off x="812800" y="1324768"/>
            <a:ext cx="10566400" cy="612140"/>
          </a:xfrm>
          <a:prstGeom prst="rect">
            <a:avLst/>
          </a:prstGeom>
          <a:noFill/>
        </p:spPr>
        <p:txBody>
          <a:bodyPr wrap="square" lIns="0" rIns="0" tIns="0" bIns="0">
            <a:spAutoFit/>
          </a:bodyPr>
          <a:lstStyle/>
          <a:p>
            <a:pPr>
              <a:lnSpc>
                <a:spcPct val="90000"/>
              </a:lnSpc>
            </a:pPr>
            <a:r>
              <a:rPr sz="4000" b="1">
                <a:solidFill>
                  <a:srgbClr val="14263A"/>
                </a:solidFill>
                <a:latin typeface="Calibri"/>
              </a:rPr>
              <a:t>Resources</a:t>
            </a:r>
          </a:p>
        </p:txBody>
      </p:sp>
      <p:sp>
        <p:nvSpPr>
          <p:cNvPr id="4" name="TextBox 3"/>
          <p:cNvSpPr txBox="1"/>
          <p:nvPr/>
        </p:nvSpPr>
        <p:spPr>
          <a:xfrm>
            <a:off x="812800" y="21274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5" name="TextBox 4"/>
          <p:cNvSpPr txBox="1"/>
          <p:nvPr/>
        </p:nvSpPr>
        <p:spPr>
          <a:xfrm>
            <a:off x="1117600" y="21274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Snowflake docs: docs.snowflake.com/en/user-guide/cortex-code/cortex-code</a:t>
            </a:r>
          </a:p>
        </p:txBody>
      </p:sp>
      <p:sp>
        <p:nvSpPr>
          <p:cNvPr id="6" name="TextBox 5"/>
          <p:cNvSpPr txBox="1"/>
          <p:nvPr/>
        </p:nvSpPr>
        <p:spPr>
          <a:xfrm>
            <a:off x="812800" y="2610008"/>
            <a:ext cx="190500" cy="7112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7" name="TextBox 6"/>
          <p:cNvSpPr txBox="1"/>
          <p:nvPr/>
        </p:nvSpPr>
        <p:spPr>
          <a:xfrm>
            <a:off x="1117600" y="2610008"/>
            <a:ext cx="10261600" cy="749300"/>
          </a:xfrm>
          <a:prstGeom prst="rect">
            <a:avLst/>
          </a:prstGeom>
          <a:noFill/>
        </p:spPr>
        <p:txBody>
          <a:bodyPr wrap="square" lIns="0" rIns="0" tIns="0" bIns="0">
            <a:spAutoFit/>
          </a:bodyPr>
          <a:lstStyle/>
          <a:p>
            <a:pPr>
              <a:lnSpc>
                <a:spcPct val="112500"/>
              </a:lnSpc>
            </a:pPr>
            <a:r>
              <a:rPr sz="2000" b="0">
                <a:solidFill>
                  <a:srgbClr val="14263A"/>
                </a:solidFill>
                <a:latin typeface="Calibri"/>
              </a:rPr>
              <a:t>Team materials: CoCo Complete Learning Guide (with Bibliography) and the 4-page Cheat Sheet.</a:t>
            </a:r>
          </a:p>
        </p:txBody>
      </p:sp>
      <p:sp>
        <p:nvSpPr>
          <p:cNvPr id="8" name="TextBox 7"/>
          <p:cNvSpPr txBox="1"/>
          <p:nvPr/>
        </p:nvSpPr>
        <p:spPr>
          <a:xfrm>
            <a:off x="812800" y="34355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9" name="TextBox 8"/>
          <p:cNvSpPr txBox="1"/>
          <p:nvPr/>
        </p:nvSpPr>
        <p:spPr>
          <a:xfrm>
            <a:off x="1117600" y="34355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Third-party analyses and security write-ups are listed in the guide's Bibliography.</a:t>
            </a:r>
          </a:p>
        </p:txBody>
      </p:sp>
      <p:sp>
        <p:nvSpPr>
          <p:cNvPr id="10" name="TextBox 9"/>
          <p:cNvSpPr txBox="1"/>
          <p:nvPr/>
        </p:nvSpPr>
        <p:spPr>
          <a:xfrm>
            <a:off x="812800" y="3918108"/>
            <a:ext cx="190500" cy="368300"/>
          </a:xfrm>
          <a:prstGeom prst="rect">
            <a:avLst/>
          </a:prstGeom>
          <a:noFill/>
        </p:spPr>
        <p:txBody>
          <a:bodyPr wrap="square" lIns="0" rIns="0" tIns="0" bIns="0">
            <a:spAutoFit/>
          </a:bodyPr>
          <a:lstStyle/>
          <a:p>
            <a:pPr>
              <a:lnSpc>
                <a:spcPct val="112500"/>
              </a:lnSpc>
            </a:pPr>
            <a:r>
              <a:rPr sz="2000" b="1">
                <a:solidFill>
                  <a:srgbClr val="B84E12"/>
                </a:solidFill>
                <a:latin typeface="Calibri"/>
              </a:rPr>
              <a:t>•</a:t>
            </a:r>
          </a:p>
        </p:txBody>
      </p:sp>
      <p:sp>
        <p:nvSpPr>
          <p:cNvPr id="11" name="TextBox 10"/>
          <p:cNvSpPr txBox="1"/>
          <p:nvPr/>
        </p:nvSpPr>
        <p:spPr>
          <a:xfrm>
            <a:off x="1117600" y="3918108"/>
            <a:ext cx="10261600" cy="406400"/>
          </a:xfrm>
          <a:prstGeom prst="rect">
            <a:avLst/>
          </a:prstGeom>
          <a:noFill/>
        </p:spPr>
        <p:txBody>
          <a:bodyPr wrap="square" lIns="0" rIns="0" tIns="0" bIns="0">
            <a:spAutoFit/>
          </a:bodyPr>
          <a:lstStyle/>
          <a:p>
            <a:pPr>
              <a:lnSpc>
                <a:spcPct val="112500"/>
              </a:lnSpc>
            </a:pPr>
            <a:r>
              <a:rPr sz="2000" b="0">
                <a:solidFill>
                  <a:srgbClr val="14263A"/>
                </a:solidFill>
                <a:latin typeface="Calibri"/>
              </a:rPr>
              <a:t>YouTube videos are listed in the guide but </a:t>
            </a:r>
            <a:r>
              <a:rPr sz="2000" b="1">
                <a:solidFill>
                  <a:srgbClr val="14263A"/>
                </a:solidFill>
                <a:latin typeface="Calibri"/>
              </a:rPr>
              <a:t>not reviewed</a:t>
            </a:r>
            <a:r>
              <a:rPr sz="2000" b="0">
                <a:solidFill>
                  <a:srgbClr val="14263A"/>
                </a:solidFill>
                <a:latin typeface="Calibri"/>
              </a:rPr>
              <a:t>; watch with caution.</a:t>
            </a:r>
          </a:p>
        </p:txBody>
      </p:sp>
      <p:sp>
        <p:nvSpPr>
          <p:cNvPr id="12" name="TextBox 11"/>
          <p:cNvSpPr txBox="1"/>
          <p:nvPr/>
        </p:nvSpPr>
        <p:spPr>
          <a:xfrm>
            <a:off x="812800" y="4515008"/>
            <a:ext cx="10566400" cy="321468"/>
          </a:xfrm>
          <a:prstGeom prst="rect">
            <a:avLst/>
          </a:prstGeom>
          <a:noFill/>
        </p:spPr>
        <p:txBody>
          <a:bodyPr wrap="square" lIns="0" rIns="0" tIns="0" bIns="0">
            <a:spAutoFit/>
          </a:bodyPr>
          <a:lstStyle/>
          <a:p>
            <a:pPr>
              <a:lnSpc>
                <a:spcPct val="104167"/>
              </a:lnSpc>
            </a:pPr>
            <a:r>
              <a:rPr sz="1625" b="0">
                <a:solidFill>
                  <a:srgbClr val="4A5A6A"/>
                </a:solidFill>
                <a:latin typeface="Calibri"/>
              </a:rPr>
              <a:t>Product facts are from public documentation as of early October 2026 and may change.</a:t>
            </a:r>
          </a:p>
        </p:txBody>
      </p:sp>
      <p:sp>
        <p:nvSpPr>
          <p:cNvPr id="13" name="TextBox 12"/>
          <p:cNvSpPr txBox="1"/>
          <p:nvPr/>
        </p:nvSpPr>
        <p:spPr>
          <a:xfrm>
            <a:off x="812800" y="6261100"/>
            <a:ext cx="5080000" cy="190500"/>
          </a:xfrm>
          <a:prstGeom prst="rect">
            <a:avLst/>
          </a:prstGeom>
          <a:noFill/>
        </p:spPr>
        <p:txBody>
          <a:bodyPr wrap="square" lIns="0" rIns="0" tIns="0" bIns="0">
            <a:spAutoFit/>
          </a:bodyPr>
          <a:lstStyle/>
          <a:p>
            <a:pPr>
              <a:lnSpc>
                <a:spcPct val="90000"/>
              </a:lnSpc>
            </a:pPr>
            <a:r>
              <a:rPr sz="1200" b="0">
                <a:solidFill>
                  <a:srgbClr val="5B6B7A"/>
                </a:solidFill>
                <a:latin typeface="Calibri"/>
              </a:rPr>
              <a:t>CoCo for Business Analysts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4263A"/>
        </a:solidFill>
        <a:effectLst/>
      </p:bgPr>
    </p:bg>
    <p:spTree>
      <p:nvGrpSpPr>
        <p:cNvPr id="1" name=""/>
        <p:cNvGrpSpPr/>
        <p:nvPr/>
      </p:nvGrpSpPr>
      <p:grpSpPr/>
      <p:sp>
        <p:nvSpPr>
          <p:cNvPr id="2" name="TextBox 1"/>
          <p:cNvSpPr txBox="1"/>
          <p:nvPr/>
        </p:nvSpPr>
        <p:spPr>
          <a:xfrm>
            <a:off x="812800" y="2296318"/>
            <a:ext cx="10566400" cy="1063625"/>
          </a:xfrm>
          <a:prstGeom prst="rect">
            <a:avLst/>
          </a:prstGeom>
          <a:noFill/>
        </p:spPr>
        <p:txBody>
          <a:bodyPr wrap="square" lIns="0" rIns="0" tIns="0" bIns="0">
            <a:spAutoFit/>
          </a:bodyPr>
          <a:lstStyle/>
          <a:p>
            <a:pPr>
              <a:lnSpc>
                <a:spcPct val="90000"/>
              </a:lnSpc>
            </a:pPr>
            <a:r>
              <a:rPr sz="7500" b="1">
                <a:solidFill>
                  <a:srgbClr val="F6F4EF"/>
                </a:solidFill>
                <a:latin typeface="Calibri"/>
              </a:rPr>
              <a:t>Questions?</a:t>
            </a:r>
          </a:p>
        </p:txBody>
      </p:sp>
      <p:sp>
        <p:nvSpPr>
          <p:cNvPr id="3" name="TextBox 2"/>
          <p:cNvSpPr txBox="1"/>
          <p:nvPr/>
        </p:nvSpPr>
        <p:spPr>
          <a:xfrm>
            <a:off x="812800" y="3550443"/>
            <a:ext cx="10566400" cy="517525"/>
          </a:xfrm>
          <a:prstGeom prst="rect">
            <a:avLst/>
          </a:prstGeom>
          <a:noFill/>
        </p:spPr>
        <p:txBody>
          <a:bodyPr wrap="square" lIns="0" rIns="0" tIns="0" bIns="0">
            <a:spAutoFit/>
          </a:bodyPr>
          <a:lstStyle/>
          <a:p>
            <a:pPr>
              <a:lnSpc>
                <a:spcPct val="108333"/>
              </a:lnSpc>
            </a:pPr>
            <a:r>
              <a:rPr sz="2750" b="0">
                <a:solidFill>
                  <a:srgbClr val="B9C7D3"/>
                </a:solidFill>
                <a:latin typeface="Calibri"/>
              </a:rPr>
              <a:t>Your expertise + CoCo = faster, better-checked answers.</a:t>
            </a:r>
          </a:p>
        </p:txBody>
      </p:sp>
      <p:sp>
        <p:nvSpPr>
          <p:cNvPr id="4" name="TextBox 3"/>
          <p:cNvSpPr txBox="1"/>
          <p:nvPr/>
        </p:nvSpPr>
        <p:spPr>
          <a:xfrm>
            <a:off x="812800" y="4258468"/>
            <a:ext cx="10566400" cy="341312"/>
          </a:xfrm>
          <a:prstGeom prst="rect">
            <a:avLst/>
          </a:prstGeom>
          <a:noFill/>
        </p:spPr>
        <p:txBody>
          <a:bodyPr wrap="square" lIns="0" rIns="0" tIns="0" bIns="0">
            <a:spAutoFit/>
          </a:bodyPr>
          <a:lstStyle/>
          <a:p>
            <a:pPr>
              <a:lnSpc>
                <a:spcPct val="104167"/>
              </a:lnSpc>
            </a:pPr>
            <a:r>
              <a:rPr sz="1750" b="1">
                <a:solidFill>
                  <a:srgbClr val="F2A06B"/>
                </a:solidFill>
                <a:latin typeface="Calibri"/>
              </a:rPr>
              <a:t>Let us start with Lab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CoCo for Business Analysts</dc:title>
  <dc:subject/>
  <dc:creator>Amit Rajpurkar</dc:creator>
  <cp:keywords/>
  <dc:description/>
  <cp:lastModifiedBy>Amit Rajpurkar</cp:lastModifiedBy>
  <cp:revision>1</cp:revision>
  <dcterms:created xsi:type="dcterms:W3CDTF">2013-01-27T09:14:16Z</dcterms:created>
  <dcterms:modified xsi:type="dcterms:W3CDTF">2013-01-27T09:15:58Z</dcterms:modified>
  <cp:category/>
</cp:coreProperties>
</file>