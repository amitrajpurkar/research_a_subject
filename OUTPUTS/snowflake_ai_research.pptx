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4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7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3520440"/>
            <a:ext cx="3291840" cy="3291840"/>
          </a:xfrm>
          <a:prstGeom prst="ellipse">
            <a:avLst/>
          </a:prstGeom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3931920"/>
            <a:ext cx="2468880" cy="2468880"/>
          </a:xfrm>
          <a:prstGeom prst="ellipse">
            <a:avLst/>
          </a:prstGeom>
          <a:ln w="13970">
            <a:solidFill>
              <a:srgbClr val="FFFFFF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38360" y="4343400"/>
            <a:ext cx="1645920" cy="1645920"/>
          </a:xfrm>
          <a:prstGeom prst="ellipse">
            <a:avLst/>
          </a:prstGeom>
          <a:ln w="13970">
            <a:solidFill>
              <a:srgbClr val="FFFFFF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26980" y="4732020"/>
            <a:ext cx="868680" cy="868680"/>
          </a:xfrm>
          <a:prstGeom prst="ellipse">
            <a:avLst/>
          </a:prstGeom>
          <a:ln w="13970">
            <a:solidFill>
              <a:srgbClr val="FFFFFF">
                <a:alpha val="2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50424" y="4855464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RESEARCH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Zero-Egress Blueprint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290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native AI architecture for enterprise healthcare — Snowflake Cortex &amp; CoWork versus multi-hop cloud AI pipelines.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2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TRUST GAP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Hasn’t Kept Pace With Adoption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3832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80260" y="2125980"/>
            <a:ext cx="868680" cy="868680"/>
          </a:xfrm>
          <a:prstGeom prst="ellipse">
            <a:avLst/>
          </a:prstGeom>
          <a:solidFill>
            <a:srgbClr val="FBEEE6"/>
          </a:solidFill>
          <a:ln/>
        </p:spPr>
      </p:sp>
      <p:pic>
        <p:nvPicPr>
          <p:cNvPr id="6" name="Image 0" descr="icons/shield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3188" y="2238908"/>
            <a:ext cx="642823" cy="64282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108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3840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report a confirmed or suspected AI-agent security incident in the past year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26280" y="1874520"/>
            <a:ext cx="33832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83580" y="2125980"/>
            <a:ext cx="868680" cy="868680"/>
          </a:xfrm>
          <a:prstGeom prst="ellipse">
            <a:avLst/>
          </a:prstGeom>
          <a:solidFill>
            <a:srgbClr val="E9EFF8"/>
          </a:solidFill>
          <a:ln/>
        </p:spPr>
      </p:sp>
      <p:pic>
        <p:nvPicPr>
          <p:cNvPr id="11" name="Image 1" descr="icons/users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508" y="2238908"/>
            <a:ext cx="642823" cy="64282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3108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80:1</a:t>
            </a:r>
            <a:endParaRPr lang="en-US" sz="38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3840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non-human agent identities to human identities across the enterprise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874520"/>
            <a:ext cx="33832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86900" y="2125980"/>
            <a:ext cx="868680" cy="868680"/>
          </a:xfrm>
          <a:prstGeom prst="ellipse">
            <a:avLst/>
          </a:prstGeom>
          <a:solidFill>
            <a:srgbClr val="EAF4EE"/>
          </a:solidFill>
          <a:ln/>
        </p:spPr>
      </p:sp>
      <p:pic>
        <p:nvPicPr>
          <p:cNvPr id="16" name="Image 2" descr="icons/check_second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9828" y="2238908"/>
            <a:ext cx="642823" cy="64282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108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14.4%</a:t>
            </a:r>
            <a:endParaRPr lang="en-US" sz="3800" dirty="0"/>
          </a:p>
        </p:txBody>
      </p:sp>
      <p:sp>
        <p:nvSpPr>
          <p:cNvPr id="18" name="Text 13"/>
          <p:cNvSpPr txBox="1"/>
          <p:nvPr/>
        </p:nvSpPr>
        <p:spPr>
          <a:xfrm>
            <a:off x="8549640" y="3840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deployed AI agents carry full security governance approval today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22960" y="5074920"/>
            <a:ext cx="10543032" cy="960120"/>
          </a:xfrm>
          <a:prstGeom prst="roundRect">
            <a:avLst>
              <a:gd name="adj" fmla="val 7619"/>
            </a:avLst>
          </a:prstGeom>
          <a:solidFill>
            <a:srgbClr val="E9EFF8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1188720" y="50749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Governance, not capability, is the bottleneck to enterprise-wide agentic AI in regulated healthcare.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AI ARCHITECTURE  •  ZERO-EGRESS HEALTHCARE RESEARCH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2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CHOICE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Paths to Agentic AI in Healthcare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80360" y="1828800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1F3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880360" y="18288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EXECUTION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21031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+ Agent Core SDK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269480" y="1828800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7B93B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69480" y="18288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EXECUTION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21031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9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 + CoWork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80360" y="2560320"/>
            <a:ext cx="4160520" cy="86868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08960" y="25603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multi-hop pipelines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69480" y="2560320"/>
            <a:ext cx="4160520" cy="868680"/>
          </a:xfrm>
          <a:prstGeom prst="roundRect">
            <a:avLst>
              <a:gd name="adj" fmla="val 7368"/>
            </a:avLst>
          </a:prstGeom>
          <a:solidFill>
            <a:srgbClr val="E9EF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0" y="25603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Unified, zero-egress vault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55701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Egress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880360" y="3557016"/>
            <a:ext cx="4160520" cy="86868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108960" y="3557016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external API calls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69480" y="3557016"/>
            <a:ext cx="4160520" cy="868680"/>
          </a:xfrm>
          <a:prstGeom prst="roundRect">
            <a:avLst>
              <a:gd name="adj" fmla="val 7368"/>
            </a:avLst>
          </a:prstGeom>
          <a:solidFill>
            <a:srgbClr val="E9EF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98080" y="3557016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zero — stays in-account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55371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880360" y="4553712"/>
            <a:ext cx="4160520" cy="86868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108960" y="455371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multiple network hops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269480" y="4553712"/>
            <a:ext cx="4160520" cy="868680"/>
          </a:xfrm>
          <a:prstGeom prst="roundRect">
            <a:avLst>
              <a:gd name="adj" fmla="val 7368"/>
            </a:avLst>
          </a:prstGeom>
          <a:solidFill>
            <a:srgbClr val="E9EF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0" y="455371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native in-place compute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55040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880360" y="5550408"/>
            <a:ext cx="4160520" cy="86868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108960" y="555040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Bolted-on compliance wrappers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269480" y="5550408"/>
            <a:ext cx="4160520" cy="868680"/>
          </a:xfrm>
          <a:prstGeom prst="roundRect">
            <a:avLst>
              <a:gd name="adj" fmla="val 7368"/>
            </a:avLst>
          </a:prstGeom>
          <a:solidFill>
            <a:srgbClr val="E9EFF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0" y="555040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RBAC, built into the runtime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AI ARCHITECTURE  •  ZERO-EGRESS HEALTHCARE RESEARCH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2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Pillars of Agentic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43032" cy="896112"/>
          </a:xfrm>
          <a:prstGeom prst="roundRect">
            <a:avLst>
              <a:gd name="adj" fmla="val 9184"/>
            </a:avLst>
          </a:prstGeom>
          <a:solidFill>
            <a:srgbClr val="7B93B8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2057400"/>
            <a:ext cx="530352" cy="530352"/>
          </a:xfrm>
          <a:prstGeom prst="ellipse">
            <a:avLst/>
          </a:prstGeom>
          <a:solidFill>
            <a:srgbClr val="E9EF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8992" y="20574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9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9659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Control Plane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965960"/>
            <a:ext cx="5788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orchestration layer where governed intent becomes safe, automated action.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898648"/>
            <a:ext cx="10543032" cy="896112"/>
          </a:xfrm>
          <a:prstGeom prst="roundRect">
            <a:avLst>
              <a:gd name="adj" fmla="val 9184"/>
            </a:avLst>
          </a:prstGeom>
          <a:solidFill>
            <a:srgbClr val="9DB1CE"/>
          </a:solidFill>
          <a:ln/>
        </p:spPr>
      </p:sp>
      <p:sp>
        <p:nvSpPr>
          <p:cNvPr id="10" name="Shape 8"/>
          <p:cNvSpPr/>
          <p:nvPr/>
        </p:nvSpPr>
        <p:spPr>
          <a:xfrm>
            <a:off x="1078992" y="3081528"/>
            <a:ext cx="530352" cy="530352"/>
          </a:xfrm>
          <a:prstGeom prst="ellipse">
            <a:avLst/>
          </a:prstGeom>
          <a:solidFill>
            <a:srgbClr val="E9EF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3081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DB1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99008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990088"/>
            <a:ext cx="5788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work happens — Salesforce, Jira, Slack, and the enterprise tools teams already use.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922776"/>
            <a:ext cx="10543032" cy="896112"/>
          </a:xfrm>
          <a:prstGeom prst="roundRect">
            <a:avLst>
              <a:gd name="adj" fmla="val 9184"/>
            </a:avLst>
          </a:prstGeom>
          <a:solidFill>
            <a:srgbClr val="8FBA9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8992" y="4105656"/>
            <a:ext cx="530352" cy="530352"/>
          </a:xfrm>
          <a:prstGeom prst="ellipse">
            <a:avLst/>
          </a:prstGeom>
          <a:solidFill>
            <a:srgbClr val="EAF4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78992" y="4105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B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01421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4014216"/>
            <a:ext cx="5788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Interchangeable reasoning engines — Claude, Mistral, Llama — swapped without re-architecting.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946904"/>
            <a:ext cx="10543032" cy="896112"/>
          </a:xfrm>
          <a:prstGeom prst="roundRect">
            <a:avLst>
              <a:gd name="adj" fmla="val 9184"/>
            </a:avLst>
          </a:prstGeom>
          <a:solidFill>
            <a:srgbClr val="5C7699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8992" y="5129784"/>
            <a:ext cx="530352" cy="530352"/>
          </a:xfrm>
          <a:prstGeom prst="ellipse">
            <a:avLst/>
          </a:prstGeom>
          <a:solidFill>
            <a:srgbClr val="DCE4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78992" y="5129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6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503834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Enterprise Data &amp; Context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5038344"/>
            <a:ext cx="5788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foundation: data, entitlements, and business context inside a single compliant perimeter.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AI ARCHITECTURE  •  ZERO-EGRESS HEALTHCARE RESEARCH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2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 MODERNISATION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Resilient Foundation for AI-Ready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40280" cy="1188720"/>
          </a:xfrm>
          <a:prstGeom prst="roundRect">
            <a:avLst>
              <a:gd name="adj" fmla="val 6923"/>
            </a:avLst>
          </a:prstGeom>
          <a:solidFill>
            <a:srgbClr val="E9EFF8"/>
          </a:solidFill>
          <a:ln/>
        </p:spPr>
      </p:sp>
      <p:sp>
        <p:nvSpPr>
          <p:cNvPr id="5" name="Shape 3"/>
          <p:cNvSpPr/>
          <p:nvPr/>
        </p:nvSpPr>
        <p:spPr>
          <a:xfrm>
            <a:off x="1705356" y="2112264"/>
            <a:ext cx="475488" cy="475488"/>
          </a:xfrm>
          <a:prstGeom prst="ellipse">
            <a:avLst/>
          </a:prstGeom>
          <a:solidFill>
            <a:srgbClr val="7B93B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0535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4261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50" dirty="0"/>
          </a:p>
        </p:txBody>
      </p:sp>
      <p:pic>
        <p:nvPicPr>
          <p:cNvPr id="8" name="Image 0" descr="icons/arrowRight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9816" y="2432304"/>
            <a:ext cx="310896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47288" y="1965960"/>
            <a:ext cx="2240280" cy="1188720"/>
          </a:xfrm>
          <a:prstGeom prst="roundRect">
            <a:avLst>
              <a:gd name="adj" fmla="val 6923"/>
            </a:avLst>
          </a:prstGeom>
          <a:solidFill>
            <a:srgbClr val="EAF4EE"/>
          </a:solidFill>
          <a:ln/>
        </p:spPr>
      </p:sp>
      <p:sp>
        <p:nvSpPr>
          <p:cNvPr id="10" name="Shape 7"/>
          <p:cNvSpPr/>
          <p:nvPr/>
        </p:nvSpPr>
        <p:spPr>
          <a:xfrm>
            <a:off x="4329684" y="2112264"/>
            <a:ext cx="475488" cy="475488"/>
          </a:xfrm>
          <a:prstGeom prst="ellipse">
            <a:avLst/>
          </a:prstGeom>
          <a:solidFill>
            <a:srgbClr val="8FBA9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329684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538728" y="264261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pic>
        <p:nvPicPr>
          <p:cNvPr id="13" name="Image 1" descr="icons/arrowRight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2432304"/>
            <a:ext cx="310896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071616" y="1965960"/>
            <a:ext cx="2240280" cy="1188720"/>
          </a:xfrm>
          <a:prstGeom prst="roundRect">
            <a:avLst>
              <a:gd name="adj" fmla="val 6923"/>
            </a:avLst>
          </a:prstGeom>
          <a:solidFill>
            <a:srgbClr val="E9EFF8"/>
          </a:solidFill>
          <a:ln/>
        </p:spPr>
      </p:sp>
      <p:sp>
        <p:nvSpPr>
          <p:cNvPr id="15" name="Shape 11"/>
          <p:cNvSpPr/>
          <p:nvPr/>
        </p:nvSpPr>
        <p:spPr>
          <a:xfrm>
            <a:off x="6954012" y="2112264"/>
            <a:ext cx="475488" cy="475488"/>
          </a:xfrm>
          <a:prstGeom prst="ellipse">
            <a:avLst/>
          </a:prstGeom>
          <a:solidFill>
            <a:srgbClr val="7B93B8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95401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163056" y="264261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pic>
        <p:nvPicPr>
          <p:cNvPr id="18" name="Image 2" descr="icons/arrowRight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2432304"/>
            <a:ext cx="310896" cy="25603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695944" y="1965960"/>
            <a:ext cx="2240280" cy="1188720"/>
          </a:xfrm>
          <a:prstGeom prst="roundRect">
            <a:avLst>
              <a:gd name="adj" fmla="val 6923"/>
            </a:avLst>
          </a:prstGeom>
          <a:solidFill>
            <a:srgbClr val="EAF4EE"/>
          </a:solidFill>
          <a:ln/>
        </p:spPr>
      </p:sp>
      <p:sp>
        <p:nvSpPr>
          <p:cNvPr id="20" name="Shape 15"/>
          <p:cNvSpPr/>
          <p:nvPr/>
        </p:nvSpPr>
        <p:spPr>
          <a:xfrm>
            <a:off x="9578340" y="2112264"/>
            <a:ext cx="475488" cy="475488"/>
          </a:xfrm>
          <a:prstGeom prst="ellipse">
            <a:avLst/>
          </a:prstGeom>
          <a:solidFill>
            <a:srgbClr val="8FBA9E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5783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787384" y="264261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Multi-cluster, shared-data architecture scales compute independently — eliminating the resource contention that stalls concurrent healthcare workloads.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22960" y="434340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1106424" y="4590288"/>
            <a:ext cx="566928" cy="566928"/>
          </a:xfrm>
          <a:prstGeom prst="ellipse">
            <a:avLst/>
          </a:prstGeom>
          <a:solidFill>
            <a:srgbClr val="E9EFF8"/>
          </a:solidFill>
          <a:ln/>
        </p:spPr>
      </p:sp>
      <p:pic>
        <p:nvPicPr>
          <p:cNvPr id="26" name="Image 3" descr="icons/refresh_pri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125" y="4663989"/>
            <a:ext cx="419527" cy="41952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783080" y="4572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Availability &amp; Failover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1097280" y="52395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Instantaneous, zone-safe failover protects clinical continuity.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526280" y="434340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809744" y="4590288"/>
            <a:ext cx="566928" cy="566928"/>
          </a:xfrm>
          <a:prstGeom prst="ellipse">
            <a:avLst/>
          </a:prstGeom>
          <a:solidFill>
            <a:srgbClr val="E9EFF8"/>
          </a:solidFill>
          <a:ln/>
        </p:spPr>
      </p:sp>
      <p:pic>
        <p:nvPicPr>
          <p:cNvPr id="31" name="Image 4" descr="icons/cloud_prima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3445" y="4663989"/>
            <a:ext cx="419527" cy="419527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486400" y="4572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Recovery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4800600" y="52395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Time-travel architecture restores instantly — no legacy backup lag.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29600" y="434340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513064" y="4590288"/>
            <a:ext cx="566928" cy="566928"/>
          </a:xfrm>
          <a:prstGeom prst="ellipse">
            <a:avLst/>
          </a:prstGeom>
          <a:solidFill>
            <a:srgbClr val="E9EFF8"/>
          </a:solidFill>
          <a:ln/>
        </p:spPr>
      </p:sp>
      <p:pic>
        <p:nvPicPr>
          <p:cNvPr id="36" name="Image 5" descr="icons/grid_prima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6765" y="4663989"/>
            <a:ext cx="419527" cy="419527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189720" y="4572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Multi-Cloud Support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8503920" y="52395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Cross-region, cross-cloud operations for zero-downtime compliance.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AI ARCHITECTURE  •  ZERO-EGRESS HEALTHCARE RESEARCH</a:t>
            </a:r>
            <a:endParaRPr lang="en-US" sz="800" dirty="0"/>
          </a:p>
        </p:txBody>
      </p:sp>
      <p:sp>
        <p:nvSpPr>
          <p:cNvPr id="40" name="Text 32"/>
          <p:cNvSpPr txBox="1"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2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DATA ENGINEERING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Fragile ETL to Declarative Pipelines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074920" cy="2286000"/>
          </a:xfrm>
          <a:prstGeom prst="roundRect">
            <a:avLst>
              <a:gd name="adj" fmla="val 3600"/>
            </a:avLst>
          </a:prstGeom>
          <a:solidFill>
            <a:srgbClr val="F7F8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0299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875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 —  Spark / Traditional ETL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51460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infrastructure overhead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97180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Fragile, hand-written incremental logic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42900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multi-tool dependency tracking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074920" cy="2286000"/>
          </a:xfrm>
          <a:prstGeom prst="roundRect">
            <a:avLst>
              <a:gd name="adj" fmla="val 3600"/>
            </a:avLst>
          </a:prstGeom>
          <a:solidFill>
            <a:srgbClr val="E9EF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0299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 —  Dynamic Tables &amp; Declarative Workflows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51460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30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infrastructure to manage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97180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30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Python &amp; SQL execution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42900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30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dependency tracking, built 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43484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143000" y="46177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POINT — PFIZER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9103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legacy Apache Spark workloads to Snowpark with zero code changes.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5458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9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5.1x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7881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execution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5458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9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57881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TCO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5458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9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57881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443484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583680" y="46177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POINT — WIND CREEK HOSPITALITY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9103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clinical data processing latency, using Dynamic Tables: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54589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trike="sngStrike" dirty="0">
                <a:solidFill>
                  <a:srgbClr val="6875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 </a:t>
            </a:r>
            <a:pPr indent="0" marL="0">
              <a:buNone/>
            </a:pPr>
            <a:r>
              <a:rPr lang="en-US" sz="1800" dirty="0">
                <a:solidFill>
                  <a:srgbClr val="6875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2600" b="1" dirty="0">
                <a:solidFill>
                  <a:srgbClr val="7B9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min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AI ARCHITECTURE  •  ZERO-EGRESS HEALTHCARE RESEARCH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2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ZERO-EGRESS SECURITY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Is the Runtime, Not a Wrapper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078328" y="1783080"/>
            <a:ext cx="6035040" cy="2331720"/>
          </a:xfrm>
          <a:prstGeom prst="roundRect">
            <a:avLst>
              <a:gd name="adj" fmla="val 5490"/>
            </a:avLst>
          </a:prstGeom>
          <a:solidFill>
            <a:srgbClr val="E9EFF8"/>
          </a:solidFill>
          <a:ln w="12700">
            <a:solidFill>
              <a:srgbClr val="C7D4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078328" y="19476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CUSTOMER’S SECURE SNOWFLAKE ACCOUNT &amp; REGION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81248" y="2468880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2788" y="2601468"/>
            <a:ext cx="502920" cy="502920"/>
          </a:xfrm>
          <a:prstGeom prst="ellipse">
            <a:avLst/>
          </a:prstGeom>
          <a:solidFill>
            <a:srgbClr val="EAF4EE"/>
          </a:solidFill>
          <a:ln/>
        </p:spPr>
      </p:sp>
      <p:pic>
        <p:nvPicPr>
          <p:cNvPr id="8" name="Image 0" descr="icons/database_seco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8167" y="2666848"/>
            <a:ext cx="372161" cy="37216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581248" y="3218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24448" y="2468880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15988" y="2601468"/>
            <a:ext cx="502920" cy="502920"/>
          </a:xfrm>
          <a:prstGeom prst="ellipse">
            <a:avLst/>
          </a:prstGeom>
          <a:solidFill>
            <a:srgbClr val="FBEEE6"/>
          </a:solidFill>
          <a:ln/>
        </p:spPr>
      </p:sp>
      <p:pic>
        <p:nvPicPr>
          <p:cNvPr id="12" name="Image 1" descr="icons/cpu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367" y="2666848"/>
            <a:ext cx="372161" cy="3721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324448" y="3218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Processing</a:t>
            </a:r>
            <a:endParaRPr lang="en-US" sz="1200" dirty="0"/>
          </a:p>
        </p:txBody>
      </p:sp>
      <p:pic>
        <p:nvPicPr>
          <p:cNvPr id="14" name="Image 2" descr="icons/lock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544" y="290779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804008" y="42245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 happens entirely inside the customer’s governed environment — data is never extracted, moved, or used to train foundation models.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516636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133856" y="5500116"/>
            <a:ext cx="566928" cy="566928"/>
          </a:xfrm>
          <a:prstGeom prst="ellipse">
            <a:avLst/>
          </a:prstGeom>
          <a:solidFill>
            <a:srgbClr val="EAF4EE"/>
          </a:solidFill>
          <a:ln/>
        </p:spPr>
      </p:sp>
      <p:pic>
        <p:nvPicPr>
          <p:cNvPr id="18" name="Image 3" descr="icons/file_second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557" y="5573817"/>
            <a:ext cx="419527" cy="41952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874520" y="533095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 Redaction at Ingestion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874520" y="56692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 Masking and Cortex AI_REDACT automatically mask PHI/PII across structured and unstructured data.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263640" y="516636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74536" y="5500116"/>
            <a:ext cx="566928" cy="566928"/>
          </a:xfrm>
          <a:prstGeom prst="ellipse">
            <a:avLst/>
          </a:prstGeom>
          <a:solidFill>
            <a:srgbClr val="FBEEE6"/>
          </a:solidFill>
          <a:ln/>
        </p:spPr>
      </p:sp>
      <p:pic>
        <p:nvPicPr>
          <p:cNvPr id="23" name="Image 4" descr="icons/shield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237" y="5573817"/>
            <a:ext cx="419527" cy="41952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315200" y="533095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Governing Non-Human Identity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7315200" y="56692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prevention, zero-day override protection, and RBAC-enforced audit trails on every agent action.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AI ARCHITECTURE  •  ZERO-EGRESS HEALTHCARE RESEARCH</a:t>
            </a:r>
            <a:endParaRPr lang="en-US" sz="800" dirty="0"/>
          </a:p>
        </p:txBody>
      </p:sp>
      <p:sp>
        <p:nvSpPr>
          <p:cNvPr id="27" name="Text 20"/>
          <p:cNvSpPr txBox="1"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2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AI TOOLKIT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Cortex Suite: A Governed AI Ecosystem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9576" y="2299716"/>
            <a:ext cx="658368" cy="658368"/>
          </a:xfrm>
          <a:prstGeom prst="ellipse">
            <a:avLst/>
          </a:prstGeom>
          <a:solidFill>
            <a:srgbClr val="E9EFF8"/>
          </a:solidFill>
          <a:ln/>
        </p:spPr>
      </p:sp>
      <p:pic>
        <p:nvPicPr>
          <p:cNvPr id="6" name="Image 0" descr="icons/search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164" y="2385304"/>
            <a:ext cx="487192" cy="4871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208483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 Analyst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25146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High-accuracy, structured text-to-SQL translation over governed data.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0256" y="2299716"/>
            <a:ext cx="658368" cy="658368"/>
          </a:xfrm>
          <a:prstGeom prst="ellipse">
            <a:avLst/>
          </a:prstGeom>
          <a:solidFill>
            <a:srgbClr val="EAF4EE"/>
          </a:solidFill>
          <a:ln/>
        </p:spPr>
      </p:sp>
      <p:pic>
        <p:nvPicPr>
          <p:cNvPr id="11" name="Image 1" descr="icons/file_second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844" y="2385304"/>
            <a:ext cx="487192" cy="4871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208483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 Search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25146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hybrid search — vector and keyword — over unstructured content.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" y="3685032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179576" y="4155948"/>
            <a:ext cx="658368" cy="658368"/>
          </a:xfrm>
          <a:prstGeom prst="ellipse">
            <a:avLst/>
          </a:prstGeom>
          <a:solidFill>
            <a:srgbClr val="FBEEE6"/>
          </a:solidFill>
          <a:ln/>
        </p:spPr>
      </p:sp>
      <p:pic>
        <p:nvPicPr>
          <p:cNvPr id="16" name="Image 2" descr="icons/users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164" y="4241536"/>
            <a:ext cx="487192" cy="48719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57400" y="394106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 Agents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2057400" y="437083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orchestration mapping intent to executed operations.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685032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0256" y="4155948"/>
            <a:ext cx="658368" cy="658368"/>
          </a:xfrm>
          <a:prstGeom prst="ellipse">
            <a:avLst/>
          </a:prstGeom>
          <a:solidFill>
            <a:srgbClr val="F1F3F6"/>
          </a:solidFill>
          <a:ln/>
        </p:spPr>
      </p:sp>
      <p:pic>
        <p:nvPicPr>
          <p:cNvPr id="21" name="Image 3" descr="icons/cpu_pri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844" y="4241536"/>
            <a:ext cx="487192" cy="48719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0" y="394106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Functions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0" y="437083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SQL/Python functions for inference, tuned for scale.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22960" y="5349240"/>
            <a:ext cx="10543032" cy="1051560"/>
          </a:xfrm>
          <a:prstGeom prst="roundRect">
            <a:avLst>
              <a:gd name="adj" fmla="val 6957"/>
            </a:avLst>
          </a:prstGeom>
          <a:solidFill>
            <a:srgbClr val="E9EFF8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1188720" y="5349240"/>
            <a:ext cx="9811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9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 </a:t>
            </a:r>
            <a:pPr indent="0" marL="0">
              <a:buNone/>
            </a:pPr>
            <a:r>
              <a:rPr lang="en-US" sz="1300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on complex enterprise queries, via Cortex Sense’s native context layer  —  versus  </a:t>
            </a:r>
            <a:pPr indent="0" marL="0">
              <a:buNone/>
            </a:pPr>
            <a:r>
              <a:rPr lang="en-US" sz="2600" b="1" dirty="0">
                <a:solidFill>
                  <a:srgbClr val="E2A0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 </a:t>
            </a:r>
            <a:pPr indent="0" marL="0">
              <a:buNone/>
            </a:pPr>
            <a:r>
              <a:rPr lang="en-US" sz="1300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generic frontier coding agents.</a:t>
            </a:r>
            <a:endParaRPr lang="en-US" sz="26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AI ARCHITECTURE  •  ZERO-EGRESS HEALTHCARE RESEARCH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2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OPERATIONS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Chatbots to Proactive Orchestration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074920" cy="214884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011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875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CHATBOTS  —  Deflection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4505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single-turn interactions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amnesia between sessions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2186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from operational tools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60273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manual human prompting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074920" cy="2148840"/>
          </a:xfrm>
          <a:prstGeom prst="roundRect">
            <a:avLst>
              <a:gd name="adj" fmla="val 3830"/>
            </a:avLst>
          </a:prstGeom>
          <a:solidFill>
            <a:srgbClr val="E9EF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011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COWORK AGENTS  —  Resolution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4505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multi-agent orchestration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session memory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2186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Contextually integrated with enterprise tools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60273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automated, asynchronous execution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2519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97280" y="4480560"/>
            <a:ext cx="548640" cy="548640"/>
          </a:xfrm>
          <a:prstGeom prst="ellipse">
            <a:avLst/>
          </a:prstGeom>
          <a:solidFill>
            <a:srgbClr val="FBEEE6"/>
          </a:solidFill>
          <a:ln/>
        </p:spPr>
      </p:sp>
      <p:pic>
        <p:nvPicPr>
          <p:cNvPr id="18" name="Image 0" descr="icons/grid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4551883"/>
            <a:ext cx="405994" cy="40599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078992" y="512064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 Protocol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78992" y="5385816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standardized tool connections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26280" y="42519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00600" y="4480560"/>
            <a:ext cx="548640" cy="548640"/>
          </a:xfrm>
          <a:prstGeom prst="ellipse">
            <a:avLst/>
          </a:prstGeom>
          <a:solidFill>
            <a:srgbClr val="FBEEE6"/>
          </a:solidFill>
          <a:ln/>
        </p:spPr>
      </p:sp>
      <p:pic>
        <p:nvPicPr>
          <p:cNvPr id="23" name="Image 1" descr="icons/zap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923" y="4551883"/>
            <a:ext cx="405994" cy="40599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782312" y="512064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Agent API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4782312" y="5385816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background task execution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229600" y="42519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503920" y="4480560"/>
            <a:ext cx="548640" cy="548640"/>
          </a:xfrm>
          <a:prstGeom prst="ellipse">
            <a:avLst/>
          </a:prstGeom>
          <a:solidFill>
            <a:srgbClr val="FBEEE6"/>
          </a:solidFill>
          <a:ln/>
        </p:spPr>
      </p:sp>
      <p:pic>
        <p:nvPicPr>
          <p:cNvPr id="28" name="Image 2" descr="icons/chat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243" y="4551883"/>
            <a:ext cx="405994" cy="40599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485632" y="512064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Live Artifacts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8485632" y="5385816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collaborative agent outputs</a:t>
            </a:r>
            <a:endParaRPr lang="en-US" sz="950" dirty="0"/>
          </a:p>
        </p:txBody>
      </p:sp>
      <p:sp>
        <p:nvSpPr>
          <p:cNvPr id="31" name="Text 26"/>
          <p:cNvSpPr txBox="1"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AI ARCHITECTURE  •  ZERO-EGRESS HEALTHCARE RESEARCH</a:t>
            </a:r>
            <a:endParaRPr lang="en-US" sz="80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2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Applied: The Payer Contact Centre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794760" cy="1371600"/>
          </a:xfrm>
          <a:prstGeom prst="roundRect">
            <a:avLst>
              <a:gd name="adj" fmla="val 6000"/>
            </a:avLst>
          </a:prstGeom>
          <a:solidFill>
            <a:srgbClr val="E9EFF8"/>
          </a:solidFill>
          <a:ln/>
        </p:spPr>
      </p:sp>
      <p:pic>
        <p:nvPicPr>
          <p:cNvPr id="5" name="Image 0" descr="icons/database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252" y="2103120"/>
            <a:ext cx="402336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542032"/>
            <a:ext cx="117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Data</a:t>
            </a:r>
            <a:endParaRPr lang="en-US" sz="950" dirty="0"/>
          </a:p>
        </p:txBody>
      </p:sp>
      <p:pic>
        <p:nvPicPr>
          <p:cNvPr id="7" name="Image 1" descr="icons/file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172" y="2103120"/>
            <a:ext cx="402336" cy="3474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33600" y="2542032"/>
            <a:ext cx="117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50" dirty="0"/>
          </a:p>
        </p:txBody>
      </p:sp>
      <p:pic>
        <p:nvPicPr>
          <p:cNvPr id="9" name="Image 2" descr="icons/headset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092" y="2103120"/>
            <a:ext cx="402336" cy="3474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398520" y="2542032"/>
            <a:ext cx="117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pic>
        <p:nvPicPr>
          <p:cNvPr id="11" name="Image 3" descr="icons/arrowRight_pri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478024"/>
            <a:ext cx="292608" cy="25603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001768" y="192024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7B93B8"/>
          </a:solidFill>
          <a:ln/>
        </p:spPr>
      </p:sp>
      <p:pic>
        <p:nvPicPr>
          <p:cNvPr id="13" name="Image 4" descr="icons/lay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732" y="2176272"/>
            <a:ext cx="438912" cy="36576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074920" y="2670048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Snowflake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100" dirty="0"/>
          </a:p>
        </p:txBody>
      </p:sp>
      <p:pic>
        <p:nvPicPr>
          <p:cNvPr id="15" name="Image 5" descr="icons/arrowRight_prima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6328" y="2478024"/>
            <a:ext cx="292608" cy="256032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7534656" y="1920240"/>
            <a:ext cx="3794760" cy="1371600"/>
          </a:xfrm>
          <a:prstGeom prst="roundRect">
            <a:avLst>
              <a:gd name="adj" fmla="val 6000"/>
            </a:avLst>
          </a:prstGeom>
          <a:solidFill>
            <a:srgbClr val="EAF4EE"/>
          </a:solidFill>
          <a:ln/>
        </p:spPr>
      </p:sp>
      <p:pic>
        <p:nvPicPr>
          <p:cNvPr id="17" name="Image 6" descr="icons/target_secondar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4236" y="2103120"/>
            <a:ext cx="365760" cy="329184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7580376" y="2542032"/>
            <a:ext cx="117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Intent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</p:txBody>
      </p:sp>
      <p:pic>
        <p:nvPicPr>
          <p:cNvPr id="19" name="Image 7" descr="icons/activity_seconda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9156" y="2103120"/>
            <a:ext cx="365760" cy="329184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8845296" y="2542032"/>
            <a:ext cx="117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Routing</a:t>
            </a:r>
            <a:endParaRPr lang="en-US" sz="950" dirty="0"/>
          </a:p>
        </p:txBody>
      </p:sp>
      <p:pic>
        <p:nvPicPr>
          <p:cNvPr id="21" name="Image 8" descr="icons/check_seconda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4076" y="2103120"/>
            <a:ext cx="365760" cy="329184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10110216" y="2542032"/>
            <a:ext cx="117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950" dirty="0"/>
          </a:p>
        </p:txBody>
      </p:sp>
      <p:sp>
        <p:nvSpPr>
          <p:cNvPr id="23" name="Shape 12"/>
          <p:cNvSpPr/>
          <p:nvPr/>
        </p:nvSpPr>
        <p:spPr>
          <a:xfrm>
            <a:off x="822960" y="3657600"/>
            <a:ext cx="10543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7EA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C">
                <a:alpha val="28000"/>
              </a:srgbClr>
            </a:outerShdw>
          </a:effectLst>
        </p:spPr>
      </p:sp>
      <p:sp>
        <p:nvSpPr>
          <p:cNvPr id="24" name="Text 13"/>
          <p:cNvSpPr txBox="1"/>
          <p:nvPr/>
        </p:nvSpPr>
        <p:spPr>
          <a:xfrm>
            <a:off x="1188720" y="388620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2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UNSTRUCTURED AI PIPELINE</a:t>
            </a:r>
            <a:endParaRPr lang="en-US" sz="1100" dirty="0"/>
          </a:p>
        </p:txBody>
      </p:sp>
      <p:sp>
        <p:nvSpPr>
          <p:cNvPr id="25" name="Shape 14"/>
          <p:cNvSpPr/>
          <p:nvPr/>
        </p:nvSpPr>
        <p:spPr>
          <a:xfrm>
            <a:off x="1188720" y="4270248"/>
            <a:ext cx="329184" cy="329184"/>
          </a:xfrm>
          <a:prstGeom prst="ellipse">
            <a:avLst/>
          </a:prstGeom>
          <a:solidFill>
            <a:srgbClr val="E9EFF8"/>
          </a:solidFill>
          <a:ln/>
        </p:spPr>
      </p:sp>
      <p:sp>
        <p:nvSpPr>
          <p:cNvPr id="26" name="Text 15"/>
          <p:cNvSpPr txBox="1"/>
          <p:nvPr/>
        </p:nvSpPr>
        <p:spPr>
          <a:xfrm>
            <a:off x="1188720" y="4270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9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16"/>
          <p:cNvSpPr txBox="1"/>
          <p:nvPr/>
        </p:nvSpPr>
        <p:spPr>
          <a:xfrm>
            <a:off x="1627632" y="42519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medical records and PDFs securely enter the pipeline</a:t>
            </a:r>
            <a:endParaRPr lang="en-US" sz="1100" dirty="0"/>
          </a:p>
        </p:txBody>
      </p:sp>
      <p:sp>
        <p:nvSpPr>
          <p:cNvPr id="28" name="Shape 17"/>
          <p:cNvSpPr/>
          <p:nvPr/>
        </p:nvSpPr>
        <p:spPr>
          <a:xfrm>
            <a:off x="6080760" y="4270248"/>
            <a:ext cx="329184" cy="329184"/>
          </a:xfrm>
          <a:prstGeom prst="ellipse">
            <a:avLst/>
          </a:prstGeom>
          <a:solidFill>
            <a:srgbClr val="E9EFF8"/>
          </a:solidFill>
          <a:ln/>
        </p:spPr>
      </p:sp>
      <p:sp>
        <p:nvSpPr>
          <p:cNvPr id="29" name="Text 18"/>
          <p:cNvSpPr txBox="1"/>
          <p:nvPr/>
        </p:nvSpPr>
        <p:spPr>
          <a:xfrm>
            <a:off x="6080760" y="4270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9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19"/>
          <p:cNvSpPr txBox="1"/>
          <p:nvPr/>
        </p:nvSpPr>
        <p:spPr>
          <a:xfrm>
            <a:off x="6519672" y="42519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Snowpark parses and extracts document layout and OCR text</a:t>
            </a:r>
            <a:endParaRPr lang="en-US" sz="1100" dirty="0"/>
          </a:p>
        </p:txBody>
      </p:sp>
      <p:sp>
        <p:nvSpPr>
          <p:cNvPr id="31" name="Shape 20"/>
          <p:cNvSpPr/>
          <p:nvPr/>
        </p:nvSpPr>
        <p:spPr>
          <a:xfrm>
            <a:off x="1188720" y="5047488"/>
            <a:ext cx="329184" cy="329184"/>
          </a:xfrm>
          <a:prstGeom prst="ellipse">
            <a:avLst/>
          </a:prstGeom>
          <a:solidFill>
            <a:srgbClr val="E9EFF8"/>
          </a:solidFill>
          <a:ln/>
        </p:spPr>
      </p:sp>
      <p:sp>
        <p:nvSpPr>
          <p:cNvPr id="32" name="Text 21"/>
          <p:cNvSpPr txBox="1"/>
          <p:nvPr/>
        </p:nvSpPr>
        <p:spPr>
          <a:xfrm>
            <a:off x="1188720" y="5047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9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22"/>
          <p:cNvSpPr txBox="1"/>
          <p:nvPr/>
        </p:nvSpPr>
        <p:spPr>
          <a:xfrm>
            <a:off x="1627632" y="50292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chunked and embedded directly into a Cortex Search index</a:t>
            </a:r>
            <a:endParaRPr lang="en-US" sz="1100" dirty="0"/>
          </a:p>
        </p:txBody>
      </p:sp>
      <p:sp>
        <p:nvSpPr>
          <p:cNvPr id="34" name="Shape 23"/>
          <p:cNvSpPr/>
          <p:nvPr/>
        </p:nvSpPr>
        <p:spPr>
          <a:xfrm>
            <a:off x="6080760" y="5047488"/>
            <a:ext cx="329184" cy="329184"/>
          </a:xfrm>
          <a:prstGeom prst="ellipse">
            <a:avLst/>
          </a:prstGeom>
          <a:solidFill>
            <a:srgbClr val="E9EFF8"/>
          </a:solidFill>
          <a:ln/>
        </p:spPr>
      </p:sp>
      <p:sp>
        <p:nvSpPr>
          <p:cNvPr id="35" name="Text 24"/>
          <p:cNvSpPr txBox="1"/>
          <p:nvPr/>
        </p:nvSpPr>
        <p:spPr>
          <a:xfrm>
            <a:off x="6080760" y="5047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9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25"/>
          <p:cNvSpPr txBox="1"/>
          <p:nvPr/>
        </p:nvSpPr>
        <p:spPr>
          <a:xfrm>
            <a:off x="6519672" y="50292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unstructured pipelines run as declarative SQL, start to finish, inside the perimeter</a:t>
            </a:r>
            <a:endParaRPr lang="en-US" sz="1100" dirty="0"/>
          </a:p>
        </p:txBody>
      </p:sp>
      <p:sp>
        <p:nvSpPr>
          <p:cNvPr id="37" name="Text 26"/>
          <p:cNvSpPr txBox="1"/>
          <p:nvPr/>
        </p:nvSpPr>
        <p:spPr>
          <a:xfrm>
            <a:off x="822960" y="61722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point: Sanofi rebuilt complex contact-centre workflows natively on Snowflake, eliminating legacy SaaS lock-in.</a:t>
            </a:r>
            <a:endParaRPr lang="en-US" sz="1050" dirty="0"/>
          </a:p>
        </p:txBody>
      </p:sp>
      <p:sp>
        <p:nvSpPr>
          <p:cNvPr id="38" name="Text 27"/>
          <p:cNvSpPr txBox="1"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AI ARCHITECTURE  •  ZERO-EGRESS HEALTHCARE RESEARCH</a:t>
            </a:r>
            <a:endParaRPr lang="en-US" sz="800" dirty="0"/>
          </a:p>
        </p:txBody>
      </p:sp>
      <p:sp>
        <p:nvSpPr>
          <p:cNvPr id="39" name="Text 28"/>
          <p:cNvSpPr txBox="1"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2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SCORECARD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Architectural Verdict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337560" y="182880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7B93B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337560" y="1828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NATIVE BLUEPRINT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680960" y="182880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7E9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0" y="1828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MULTI-CLOUD STACK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7802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2478024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E9EFF8"/>
          </a:solidFill>
          <a:ln/>
        </p:spPr>
      </p:sp>
      <p:pic>
        <p:nvPicPr>
          <p:cNvPr id="10" name="Image 0" descr="icons/check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798064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867912" y="2478024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Zero-egress, intrinsic RBAC — data never leaves the account.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80960" y="2478024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955280" y="2478024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vulnerabilities; higher incident exposure.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43814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Freshness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337560" y="3438144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E9EFF8"/>
          </a:solidFill>
          <a:ln/>
        </p:spPr>
      </p:sp>
      <p:pic>
        <p:nvPicPr>
          <p:cNvPr id="16" name="Image 1" descr="icons/check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3758184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867912" y="3438144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Dynamic Tables — sub-minute latency.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680960" y="3438144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955280" y="3438144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ETL orchestration; stale data risk.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39826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&amp; Engineering Effort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3337560" y="4398264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E9EFF8"/>
          </a:solidFill>
          <a:ln/>
        </p:spPr>
      </p:sp>
      <p:pic>
        <p:nvPicPr>
          <p:cNvPr id="22" name="Image 2" descr="icons/check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4718304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867912" y="4398264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dbt, Snowpark, serverless AI integration.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680960" y="4398264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955280" y="4398264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engineering overhead for custom RAG and orchestration.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822960" y="5440680"/>
            <a:ext cx="10543032" cy="914400"/>
          </a:xfrm>
          <a:prstGeom prst="roundRect">
            <a:avLst>
              <a:gd name="adj" fmla="val 8000"/>
            </a:avLst>
          </a:prstGeom>
          <a:solidFill>
            <a:srgbClr val="FBEEE6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1188720" y="544068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3A4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verdict: a fragmented, multi-hop stack creates latency and security debt. The native Snowflake blueprint delivers a unified, zero-egress foundation out of the box.</a:t>
            </a:r>
            <a:endParaRPr lang="en-US" sz="135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AI ARCHITECTURE  •  ZERO-EGRESS HEALTHCARE RESEARCH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C7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5720"/>
            <a:ext cx="2377440" cy="2377440"/>
          </a:xfrm>
          <a:prstGeom prst="ellipse">
            <a:avLst/>
          </a:prstGeom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365760"/>
            <a:ext cx="1737360" cy="1737360"/>
          </a:xfrm>
          <a:prstGeom prst="ellipse">
            <a:avLst/>
          </a:prstGeom>
          <a:ln w="12700">
            <a:solidFill>
              <a:srgbClr val="FFFFFF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685800"/>
            <a:ext cx="1097280" cy="1097280"/>
          </a:xfrm>
          <a:prstGeom prst="ellipse">
            <a:avLst/>
          </a:prstGeom>
          <a:ln w="12700">
            <a:solidFill>
              <a:srgbClr val="FFFFFF">
                <a:alpha val="29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Living Architecture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anchoring every capability to the data itself, Snowflake transforms AI from a fragmented security risk into a native runtime — a self-contained, compliant organism where scale, speed, and HIPAA / GxP security are guaranteed by architecture, not policy.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9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from: The Secure Healthcare AI Blueprint  &amp;  The Zero-Egress Blueprint — Snowflake enterprise architecture research decks.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2026-09-01T16:46:30Z</dcterms:created>
  <dcterms:modified xsi:type="dcterms:W3CDTF">2026-09-01T16:46:30Z</dcterms:modified>
</cp:coreProperties>
</file>