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data integration patterns in scope, in the order of data_integration_patterns.md. Each pattern has a top-10 capability slide followed by a vendor comparison slide. The deck closes with where Snowflake fits and how current enterprise technologies are leveraged with Snowflake.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capabilities for ELT / ETL. Full 'what to look for' and 'why it matters' text is in data_integration_patterns.md; weighted scoring pillars are in Part 2 of the same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comparison for ELT / ETL from compare_elt_vendors.md. Scores are research-based estimates (Sept 2026), not PoC results. Items flagged low-confidence in the report should be validated with vendors and internal platform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capabilities for CDC Replication. Full 'what to look for' and 'why it matters' text is in data_integration_patterns.md; weighted scoring pillars are in Part 2 of the same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comparison for CDC Replication from compare_cdc_vendors.md. Scores are research-based estimates (Sept 2026), not PoC results. Items flagged low-confidence in the report should be validated with vendors and internal platform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capabilities for Data Virtualization. Full 'what to look for' and 'why it matters' text is in data_integration_patterns.md; weighted scoring pillars are in Part 2 of the same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comparison for Data Virtualization from compare_dv_vendors.md. Scores are research-based estimates (Sept 2026), not PoC results. Items flagged low-confidence in the report should be validated with vendors and internal platform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capabilities for Master Data Management. Full 'what to look for' and 'why it matters' text is in data_integration_patterns.md; weighted scoring pillars are in Part 2 of the same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comparison for Master Data Management from compare_mdm_vendors.md. Scores are research-based estimates (Sept 2026), not PoC results. Items flagged low-confidence in the report should be validated with vendors and internal platform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capabilities for Managed File Transfer. Full 'what to look for' and 'why it matters' text is in data_integration_patterns.md; weighted scoring pillars are in Part 2 of the same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comparison for Managed File Transfer from compare_mft_vendors.md. Scores are research-based estimates (Sept 2026), not PoC results. Items flagged low-confidence in the report should be validated with vendors and internal platform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10 capabilities for Pipeline Orchestration. Full 'what to look for' and 'why it matters' text is in data_integration_patterns.md; weighted scoring pillars are in Part 2 of the same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comparison for Pipeline Orchestration from compare_pipe_orch_vendors.md. Scores are research-based estimates (Sept 2026), not PoC results. Items flagged low-confidence in the report should be validated with vendors and internal platform owners.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licences have been purchased and it is the enterprise data platform with a Bronze/Silver/Gold medallion lakehouse. Snowflake covers ELT natively; CDC, DV, MFT and orchestration partially; MDM is a genuine gap. Complements should come from current technologies first, then targeted net-new vendors.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technologies from the vendor comparison matrices: Boomi, Ab Initio, PySpark (ELT), Cloudera CDP (CDC), Secure FTP (MFT). Dispositions are recommendations to validate with platform owners and licence renewal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D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· SEPTEMBER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Integration Patterns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capabilities and vendor evaluation for each pattern, and where Snowflake and current enterprise technologies fit in a medallion lakehouse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553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43200"/>
            <a:ext cx="548640" cy="548640"/>
          </a:xfrm>
          <a:prstGeom prst="ellipse">
            <a:avLst/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/ ETL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micro-batch ingestion and transformation into the lakehouse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553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743200"/>
            <a:ext cx="548640" cy="548640"/>
          </a:xfrm>
          <a:prstGeom prst="ellipse">
            <a:avLst/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Replication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change capture from operational databases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553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2743200"/>
            <a:ext cx="548640" cy="548640"/>
          </a:xfrm>
          <a:prstGeom prst="ellipse">
            <a:avLst/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582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Virtualization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logical data fabric, semantic layer and data services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553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800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 Management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records for patient (EMPI), provider, member and facility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572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553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800600"/>
            <a:ext cx="548640" cy="548640"/>
          </a:xfrm>
          <a:prstGeom prst="ellipse">
            <a:avLst/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800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File Transfer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bulk file exchange: X12 EDI, extracts, DICOM, partner feeds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572000"/>
            <a:ext cx="3566160" cy="1783080"/>
          </a:xfrm>
          <a:prstGeom prst="roundRect">
            <a:avLst>
              <a:gd name="adj" fmla="val 4103"/>
            </a:avLst>
          </a:prstGeom>
          <a:solidFill>
            <a:srgbClr val="1C3553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4800600"/>
            <a:ext cx="548640" cy="548640"/>
          </a:xfrm>
          <a:prstGeom prst="ellipse">
            <a:avLst/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5820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4800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Orchestration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8458200" y="5486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across ELT, CDC, MDM, MFT and Snowflake jobs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OF 6 ·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/ ETL — Top 10 Capabilities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5669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micro-batch ingestion and transformation into the lakehouse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&amp; Multi-Cloud Portability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Kubernetes/Docker engine, Terraform, storage–compute separation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workloads on-prem ↔ cloud without lock-in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Interoperability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HL7 v2/v3, FHIR and DICOM parsers and connectors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clinical data without custom parsing scripts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Pipelines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code generation, auto source-to-target mapping, legacy translation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build effort and rationalization tech debt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PHI Compliance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PHI/PII discovery, dynamic masking, tokenization, lineage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risk controlled at ingestion, with audit trail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Stream &amp; Batch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plane for streaming telemetry and nightly batch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separate streaming vs batch tool sprawl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6228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622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08876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FinOps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attribution, auto-scaling, predictive compute sizing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cloud integration spend in check per domain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228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62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Observability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baselines, anomaly detection, proactive DQ alerts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data for clinical and executive reporting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6228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08876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Isolation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Data-mesh / federated domains under shared guardrails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scale independently of central IT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228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6228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08876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Table Formats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Iceberg / Delta / Hudi plus Python, Spark, SQL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proprietary storage lock-in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31636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6228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96228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08876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/ Pro-Code &amp; CI/CD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designer plus Git, VS Code and CI/CD pipelines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analysts and engineers with SDLC discipline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data_integration_patterns.md — Part 1 (What to look for / Why it matters), condensed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OF 6 · VENDOR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ELT / ETL — Vendor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49640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49640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Snowflake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820F"/>
          </a:solidFill>
          <a:ln w="12700">
            <a:solidFill>
              <a:srgbClr val="D98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77272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Current enterprise tech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658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0–4 · each capability weighted 10%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89611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F1F3F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DDEFE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B9D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7DC49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3E9A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240280"/>
                <a:gridCol w="871423"/>
                <a:gridCol w="871423"/>
                <a:gridCol w="871423"/>
                <a:gridCol w="871423"/>
                <a:gridCol w="871423"/>
                <a:gridCol w="871423"/>
                <a:gridCol w="871423"/>
                <a:gridCol w="871423"/>
                <a:gridCol w="871423"/>
                <a:gridCol w="871423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 IDMC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 Factory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Fivetran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❄ Snowflake Openflow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B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Boomi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Ab Initio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PySpark 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Ref: PySpark on Databricks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6A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&amp; Multi-Cloud Portability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Interoperability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Pipelines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PHI 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Stream &amp; Batch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FinOps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Data Observability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Isolation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Table Formats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Low-Code / Pro-Code &amp; CI/CD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58968"/>
            <a:ext cx="11274552" cy="987552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504688"/>
            <a:ext cx="10908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platform: Informatica IDMC (80%), but costly and now Salesforce-owned. Best-fit pattern: Snowflake Openflow / Fivetran to land data, dbt to transform, PySpark retained for heavy lakehouse work. Boomi stays for app/HL7/X12 integration; Ab Initio is the prime retirement candidate.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compare_elt_vendors.md — Section 2 scoring matrix. Green total = highest-scoring candidate. Ref columns are reference only.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OF 6 ·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Replication — Top 10 Capabilities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5669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change capture from operational databases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Log-Based Reading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Redo/WAL/binlog/transaction-log capture, no triggers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load on EHR and claims databases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Integrity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Commit-order sequencing, exactly/at-least-once, drift handling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orphaned or out-of-order clinical records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Portability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engine deployable on-prem or any cloud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legacy on-prem DBs straight to cloud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Schema Evolution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and propagate source DDL changes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survive admin-system schema changes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PHI Masking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/ mask SSN, names, diagnoses before landing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lands unprotected in the lake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6228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622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08876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Target Fit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push to Kafka, Event Hubs, Kinesis, Iceberg, Delta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both analytics and real-time operations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228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62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Snapshot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multi-TB initial load alongside log capture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history with no maintenance window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6228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08876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Observability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throughput, DLQ dashboards and alerts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visibility when streams fall behind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228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6228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08876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&amp; FinOps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at peak hours, cost tracking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hospital-to-cloud network links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31636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6228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96228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08876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Audit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Pipeline-level permissions, immutable audit trail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internal audit and cyber requirements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data_integration_patterns.md — Part 1 (What to look for / Why it matters), condensed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OF 6 · VENDOR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Replication — Vendor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49640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49640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Snowflake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820F"/>
          </a:solidFill>
          <a:ln w="12700">
            <a:solidFill>
              <a:srgbClr val="D98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77272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Current enterprise tech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658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0–4 · each capability weighted 10%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89611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F1F3F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DDEFE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B9D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7DC49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3E9A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368552"/>
                <a:gridCol w="1368552"/>
                <a:gridCol w="1368552"/>
                <a:gridCol w="1368552"/>
                <a:gridCol w="1368552"/>
                <a:gridCol w="13685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Qlik Replicate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Debezium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GoldenGate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❄ Snowflake Openflow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B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Fivetran HVR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Cloudera CDP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Log-Based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 Integrity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Schema Evolution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In-Flight PHI Masking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&amp; Target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Zero-Downtime 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Observability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 &amp; FinOps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&amp;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58968"/>
            <a:ext cx="11274552" cy="987552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504688"/>
            <a:ext cx="10908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GoldenGate leads (85%) but is costly and Oracle-licence-risky. Two-lane standard: Fivetran HVR (or Qlik) for bulk DB → Snowflake; Debezium for Kafka event streaming, run inside Cloudera if retained. Openflow suits simple Snowflake-only sources; its Oracle connector needs XStream/GoldenGate licensing.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compare_cdc_vendors.md — Section 2 scoring matrix. Green total = highest-scoring candidate. Ref columns are reference only.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OF 6 ·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Virtualization — Top 10 Capabilities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5669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logical data fabric, semantic layer and data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Pushdown &amp; Optimizer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Cost-based optimizer pushes compute to source systems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egress and fast queries over big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Caching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automatic materialization of hot views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dashboards at high concurrency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&amp; Glossary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business definitions (Patient, Encounter, Claim)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version of the truth across domains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Portability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Helm/Kubernetes across on-prem and multi-cloud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 as workloads shift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Masking &amp; RBAC/ABAC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row/column security and dynamic masking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enforced at the virtual access point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6228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622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08876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Discovery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join suggestions, sensitive-data classification, tuning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effort to model a large estate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228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62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SQL Publishing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GraphQL, OData, JDBC/ODBC endpoints instantly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and partners consume without custom code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6228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08876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Joins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+ NoSQL + files (e.g., Oracle with FHIR JSON)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silos without copying data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228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6228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08876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FinOps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caps, timeouts, cost tags by domain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runaway ad-hoc query spend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31636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6228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96228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08876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Impact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Dashboard/API → view → source-table lineage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change management during rationalization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data_integration_patterns.md — Part 1 (What to look for / Why it matters), condensed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OF 6 · VENDOR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Virtualization — Vendor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49640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49640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Snowflake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820F"/>
          </a:solidFill>
          <a:ln w="12700">
            <a:solidFill>
              <a:srgbClr val="D98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77272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Current enterprise tech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658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0–4 · each capability weighted 10%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89611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F1F3F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DDEFE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B9D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7DC49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3E9A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642262"/>
                <a:gridCol w="1642262"/>
                <a:gridCol w="1642262"/>
                <a:gridCol w="1642262"/>
                <a:gridCol w="164226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Starburst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Dremio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Data Virtualization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TIBCO / Spotfire DV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Pushdown &amp; Optimizer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Caching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Layer &amp; Glossary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Masking &amp; RBAC/ABAC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Data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&amp; SQL Publishing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Joins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FinOps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Lineage &amp;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58968"/>
            <a:ext cx="11274552" cy="987552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504688"/>
            <a:ext cx="10908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Denodo is the clear leader (85%): strongest semantic layer, PHI policies and API publishing. Starburst (72.5%) for lake-scale federation. Dremio (now SAP) and TIBCO/Spotfire DV carry roadmap risk. With Snowflake as the platform, DV is needed mainly for non-Snowflake sources and API publishing — defer until a gap is proven.</a:t>
            </a:r>
            <a:pPr indent="0" marL="0">
              <a:buNone/>
            </a:pPr>
            <a:r>
              <a:rPr lang="en-US" sz="1150" b="1" i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Snowflake was not scored in this pattern — see the Snowflake fit slide for native alternatives.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compare_dv_vendors.md — Section 2 scoring matrix. Green total = highest-scoring candidate. Ref columns are reference only.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OF 6 ·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 Management — Top 10 Capabilities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5669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records for patient (EMPI), provider, member and facility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Entity Resolution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probabilistic fuzzy matching of patient and provider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records; clinical safety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Domain Templates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/ Provider / Payer 360, NPI, FHIR models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implementation than custom models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Portability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near source systems, any cloud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lock-in; hub lives near data it syncs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Hierarchies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 → hospital → dept → physician; employer → member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networks, contracts and affiliations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Stewardship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 matches, summarizes conflicts, suggests fixes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steward fatigue and cost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6228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622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08876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Sync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 + batch, write-back to EHRs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reaches ops and analytics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228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62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Privacy &amp; Consent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Attribute-level security, masking, consent tracking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and state privacy compliance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6228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08876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Enrichment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registry, USPS, DEA, license verification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identities before mastering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228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6228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08876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Explorer &amp; Lineage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relationship graph and provenance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source-to-master data flow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31636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6228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96228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08876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FinOps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of match engine, usage tracking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cost of heavy batch matching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data_integration_patterns.md — Part 1 (What to look for / Why it matters), condensed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4 OF 6 · VENDOR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 Management — Vendor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49640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49640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Snowflake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820F"/>
          </a:solidFill>
          <a:ln w="12700">
            <a:solidFill>
              <a:srgbClr val="D98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77272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Current enterprise tech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658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0–4 · each capability weighted 10%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89611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F1F3F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DDEFE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B9D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7DC49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3E9A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173045"/>
                <a:gridCol w="1173045"/>
                <a:gridCol w="1173045"/>
                <a:gridCol w="1173045"/>
                <a:gridCol w="1173045"/>
                <a:gridCol w="1173045"/>
                <a:gridCol w="117304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Profisee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Informatica DQ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Expectations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Ref: Informatica DQ + MDM 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96A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Entity 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 Domain Templates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 &amp; Hierarchies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Stewardship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Bi-Directional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Privacy &amp; Consent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Enrichment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Explorer &amp; Lineage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FinOps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58968"/>
            <a:ext cx="11274552" cy="987552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504688"/>
            <a:ext cx="10908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Reltio and Profisee are true MDM hubs. Reltio leads (87.5%; SaaS-only, now SAP-owned); Informatica MDM SaaS + DQ is a close alternative (85% reference). Profisee (72.5%) for Kubernetes/on-prem or Microsoft Fabric. GX, Soda and Monte Carlo are complementary DQ/observability tools, not hubs.</a:t>
            </a:r>
            <a:pPr indent="0" marL="0">
              <a:buNone/>
            </a:pPr>
            <a:r>
              <a:rPr lang="en-US" sz="1150" b="1" i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Snowflake was not scored — it hosts the Gold-layer golden record but is not an MDM hub.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compare_mdm_vendors.md — Section 2 scoring matrix. Green total = highest-scoring candidate. Ref columns are reference only.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OF 6 ·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File Transfer — Top 10 Capabilities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5669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bulk file exchange: X12 EDI, extracts, DICOM, partner feeds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/ Serverless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 serverless auto-scaling transfer nodes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hardware; portable across clouds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&amp; HIPAA Guardrails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AES-256, TLS 1.3, FIPS 140-2/3, PHI scrubbing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patient files from breach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Checkpoint-Restart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resume and automatic retries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over unstable clinic/partner links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Multi-Protocol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SFTP, FTPS, AS2 (EDI), HTTPS, MLLP (HL7)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 partner and clearinghouse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Hand-offs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File-landed triggers for ELT, Lambda, Functions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file drops into live ingestion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6228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622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08876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 &amp; Copilots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forecasting, auto-triage of failed transfers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silent delivery failures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228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62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Edge Isolation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edge proxy; no inbound holes to core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Hardens perimeter around PHI stores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6228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08876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&amp; Throttling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chunking, WAN acceleration, bandwidth windows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genomics/imaging without clinical impact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228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6228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08876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chain of custody with checksums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legal non-repudiation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31636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6228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96228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08876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FinOps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Transfer/egress cost attribution and alerts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 multi-cloud transfer bills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data_integration_patterns.md — Part 1 (What to look for / Why it matters), condensed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5 OF 6 · VENDOR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File Transfer — Vendor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49640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49640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Snowflake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820F"/>
          </a:solidFill>
          <a:ln w="12700">
            <a:solidFill>
              <a:srgbClr val="D98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77272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Current enterprise tech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658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0–4 · each capability weighted 10%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89611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F1F3F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DDEFE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B9D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7DC49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3E9A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368552"/>
                <a:gridCol w="1368552"/>
                <a:gridCol w="1368552"/>
                <a:gridCol w="1368552"/>
                <a:gridCol w="1368552"/>
                <a:gridCol w="13685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Sterling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GoAnywhere MFT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Kiteworks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❄ Snowflake Data Sharing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B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Transfer 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Secure FTP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0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/ Serverless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FIPS &amp; HIPAA Guardrails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Checkpoint-Restart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Multi-Protocol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Hand-offs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Monitoring &amp; Copilots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DMZ Edge 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Acceleration &amp; Throttling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Egress FinOps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982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58968"/>
            <a:ext cx="11274552" cy="987552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504688"/>
            <a:ext cx="10908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Secure FTP scores 25% — replace it. AWS Transfer Family + B2B Data Interchange is the pragmatic S3 → Snowflake path; IBM Sterling (77.5%) if Connect:Direct/AS2/X12 partners dominate. Use Snowflake Data Sharing to eliminate extract files for Snowflake-connected partners. GoAnywhere not recommended for PHI (exploited zero-days 2023, 2025).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compare_mft_vendors.md — Section 2 scoring matrix. Green total = highest-scoring candidate. Ref columns are reference only.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6 OF 6 · CAPABILITIES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Orchestration — Top 10 Capabilities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961120" y="566928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across ELT, CDC, MDM, MFT and Snowflake jobs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DAGs / Code-as-Config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 YAML DAGs generated from metadata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hundreds of similar feeds quickly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Portability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as Kubernetes pods, on-prem and multi-cloud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near on-prem EHR data or in cloud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Remediation &amp; SLAs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SLA breach alerts, GenAI log triage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2 a.m. pages for critical pipelines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RBAC &amp; Secrets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IAM/SSO, task-level access, Vault, log masking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or PHI leaking into logs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Triggers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object-drop and webhook sensors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FHIR batches the moment they land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31636" y="1325880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6228" y="1527048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9622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08876" y="1389888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&amp; Backfill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retries with backoff, historical re-runs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claims history without corruption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31636" y="2359152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6228" y="2560320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6228" y="2560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08876" y="2423160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Observability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OTel metrics, traces and lineage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across integration tools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3392424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96228" y="3593592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9622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08876" y="3456432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Isolation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Per-domain pipelines under central guardrails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Data-mesh agility without collisions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31636" y="4425696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228" y="4626864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96228" y="46268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008876" y="4489704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Operators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dbt, Snowflake, Databricks, Kafka, REST operators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wrapper scripts to maintain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31636" y="5458968"/>
            <a:ext cx="5500116" cy="91440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96228" y="5660136"/>
            <a:ext cx="475488" cy="475488"/>
          </a:xfrm>
          <a:prstGeom prst="ellipse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96228" y="5660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008876" y="5522976"/>
            <a:ext cx="45857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FinOps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for: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autoscaling, idle spin-down, cost tags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orchestration infrastructure spend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data_integration_patterns.md — Part 1 (What to look for / Why it matters), condensed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6 OF 6 · VENDOR 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Orchestration — Vendor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49640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1E9BD7"/>
          </a:solidFill>
          <a:ln w="12700">
            <a:solidFill>
              <a:srgbClr val="1E9B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49640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Snowflake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177272" y="310896"/>
            <a:ext cx="1508760" cy="274320"/>
          </a:xfrm>
          <a:prstGeom prst="roundRect">
            <a:avLst>
              <a:gd name="adj" fmla="val 16667"/>
            </a:avLst>
          </a:prstGeom>
          <a:solidFill>
            <a:srgbClr val="D9820F"/>
          </a:solidFill>
          <a:ln w="12700">
            <a:solidFill>
              <a:srgbClr val="D9820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77272" y="3108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Current enterprise tech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658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0–4 · each capability weighted 10%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89611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F1F3F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0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DDEFE3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B9DFC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pPr algn="r" indent="0" marL="0">
              <a:buNone/>
            </a:pPr>
            <a:r>
              <a:rPr lang="en-US" sz="950" b="1" dirty="0">
                <a:solidFill>
                  <a:srgbClr val="1F2A37"/>
                </a:solidFill>
                <a:highlight>
                  <a:srgbClr val="7DC495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highlight>
                  <a:srgbClr val="3E9A5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642262"/>
                <a:gridCol w="1642262"/>
                <a:gridCol w="1642262"/>
                <a:gridCol w="1642262"/>
                <a:gridCol w="164226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 (OSS/Astro)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❄ Snowflake Openflow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BD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 Factory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Step Functions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DAGs / Code-as-Config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 Portability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Remediation &amp; SLAs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RBAC &amp; Secrets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Triggers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 &amp; Backfill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Observability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 Operators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7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FinOps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F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49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E9B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1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5458968"/>
            <a:ext cx="11274552" cy="987552"/>
          </a:xfrm>
          <a:prstGeom prst="roundRect">
            <a:avLst>
              <a:gd name="adj" fmla="val 555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504688"/>
            <a:ext cx="109087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(87.5%; 82.5% open-source only) is the enterprise control plane — Astronomer, MWAA or Google Managed Airflow. Prefect (75%) for Python/ML teams. Step Functions and ADF/Fabric for cloud-local sub-flows. Openflow is ingestion, not orchestration — Airflow triggers it; Snowflake Tasks/dbt run in-warehouse steps.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compare_pipe_orch_vendors.md — Section 2 scoring matrix. Green total = highest-scoring candidate. Ref columns are reference only.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AS THE ENTERPRISE DATA PLATFORM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Snowflake Fits in Each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30168" cy="502920"/>
          </a:xfrm>
          <a:prstGeom prst="roundRect">
            <a:avLst>
              <a:gd name="adj" fmla="val 10909"/>
            </a:avLst>
          </a:prstGeom>
          <a:solidFill>
            <a:srgbClr val="B0703C"/>
          </a:solidFill>
          <a:ln w="12700">
            <a:solidFill>
              <a:srgbClr val="B07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landing: files, CDC, streams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79392" y="1234440"/>
            <a:ext cx="3630168" cy="502920"/>
          </a:xfrm>
          <a:prstGeom prst="roundRect">
            <a:avLst>
              <a:gd name="adj" fmla="val 10909"/>
            </a:avLst>
          </a:prstGeom>
          <a:solidFill>
            <a:srgbClr val="8C99A6"/>
          </a:solidFill>
          <a:ln w="12700">
            <a:solidFill>
              <a:srgbClr val="8C99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16552" y="1234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conformed, masked PHI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01584" y="1234440"/>
            <a:ext cx="3630168" cy="502920"/>
          </a:xfrm>
          <a:prstGeom prst="roundRect">
            <a:avLst>
              <a:gd name="adj" fmla="val 1090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38744" y="1234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data products, golden records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45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1234440"/>
                <a:gridCol w="4069080"/>
                <a:gridCol w="36393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Medallion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Snowflake-native 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→ complement (reuse first)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ELT / ETL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 → Silver → Gold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Openflow / Snowpipe / Snowpipe Streaming land Bronze; dbt Projects on Snowflake, Dynamic Tables and Snowpark build Silver &amp; Gold; Horizon masking/tags; Iceberg tables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HL7/FHIR parsing, SaaS long-tail connectors → Boomi + VARIANT parsing, Fivetran only if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CDC Replication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Openflow CDC connectors (Postgres, MySQL, SQL Server, Oracle via XStream) into Bronze journal tables; Streams &amp; Tasks / Dynamic Tables merge to Silver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in-flight PHI masking, Snowflake-only target, single-node Oracle/Postgres → Cloudera/Debezium for Kafka fan-out; HVR only for Epic-scale Oracle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Virtualization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/ Consumption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Zero-copy data sharing, Iceberg &amp; catalog-linked databases, external tables, semantic views, Horizon row/column policies reduce the need for a DV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Federation over non-Snowflake sources and REST/OData publishing → defer DV purchase until a proven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 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→ Gold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golden records in Gold; Data Metric Functions for DQ; Horizon classification of PHI; hub integrations (Reltio zero-copy, Profisee connector)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match/merge, survivorship, stewardship or EMPI → an MDM hub is a genuine net-new need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File Transfer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Bronze (in) / Gold (out)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Outbound: Secure Data Sharing &amp; listings replace extract files for Snowflake partners. Inbound: files land in cloud storage → Snowpipe to Bronze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SFTP/AS2/X12/MLLP, DMZ or partner management → MFT platform still required to retire Secure FTP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A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Snowflake Tasks &amp; task graphs, dbt Projects on Snowflake, Dynamic Tables handle in-warehouse medallion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cross-system DAGs (MFT → CDC → MDM → BI), backfill or external SLAs → Airflow as enterprise control plane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6519672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= how much of the pattern Snowflake covers natively. Based on the six compare_*_vendors.md reports and Snowflake documentation (Sept 2026).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BEFORE YOU BUY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Leveraging Current Technologies with Snowflake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72030" cy="3246120"/>
          </a:xfrm>
          <a:prstGeom prst="roundRect">
            <a:avLst>
              <a:gd name="adj" fmla="val 264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89888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Boomi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55648"/>
            <a:ext cx="1797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pattern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1797710" cy="292608"/>
          </a:xfrm>
          <a:prstGeom prst="roundRect">
            <a:avLst>
              <a:gd name="adj" fmla="val 1562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057400"/>
            <a:ext cx="17977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&amp; 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179771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App/API integration, events, native X12 EDI and HL7 profiles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Snowflake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Bronze via Boomi Snowflake connector / Data Integration; own HL7/X12 parsing before landing; do not extend into bulk warehouse ELT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57830" y="1280160"/>
            <a:ext cx="2072030" cy="3246120"/>
          </a:xfrm>
          <a:prstGeom prst="roundRect">
            <a:avLst>
              <a:gd name="adj" fmla="val 264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94990" y="1389888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Ab Initio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94990" y="1755648"/>
            <a:ext cx="1797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pattern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94990" y="2057400"/>
            <a:ext cx="1797710" cy="292608"/>
          </a:xfrm>
          <a:prstGeom prst="roundRect">
            <a:avLst>
              <a:gd name="adj" fmla="val 15625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94990" y="2057400"/>
            <a:ext cx="17977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(phased)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894990" y="2468880"/>
            <a:ext cx="179771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batch ETL with strong field-level lineage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Snowflake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its Metadata Hub lineage to inventory graphs; re-platform Silver/Gold logic to dbt / Snowpark on Snowflake; sunset as licences renew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58461" y="1280160"/>
            <a:ext cx="2072030" cy="3246120"/>
          </a:xfrm>
          <a:prstGeom prst="roundRect">
            <a:avLst>
              <a:gd name="adj" fmla="val 264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5621" y="1389888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PySpark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95621" y="1755648"/>
            <a:ext cx="1797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pattern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95621" y="2057400"/>
            <a:ext cx="1797710" cy="292608"/>
          </a:xfrm>
          <a:prstGeom prst="roundRect">
            <a:avLst>
              <a:gd name="adj" fmla="val 1562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95621" y="2057400"/>
            <a:ext cx="17977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195621" y="2468880"/>
            <a:ext cx="179771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Pro-code engine for heavy, streaming and lakehouse work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Snowflake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Iceberg tables Snowflake can read; move warehouse-bound transforms to Snowpark Python DataFrames to cut cluster cost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59091" y="1280160"/>
            <a:ext cx="2072030" cy="3246120"/>
          </a:xfrm>
          <a:prstGeom prst="roundRect">
            <a:avLst>
              <a:gd name="adj" fmla="val 264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6251" y="1389888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Cloudera CDP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496251" y="1755648"/>
            <a:ext cx="1797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pattern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6251" y="2057400"/>
            <a:ext cx="1797710" cy="292608"/>
          </a:xfrm>
          <a:prstGeom prst="roundRect">
            <a:avLst>
              <a:gd name="adj" fmla="val 15625"/>
            </a:avLst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6251" y="2057400"/>
            <a:ext cx="17977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96251" y="2468880"/>
            <a:ext cx="179771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NiFi, Debezium CDC, Flink with SDX governance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Snowflake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streaming/Kafka + Debezium lane into Snowflake (Kafka connector / Snowpipe Streaming); migrate Hive/HDFS lake workloads to Snowflake medallion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59722" y="1280160"/>
            <a:ext cx="2072030" cy="3246120"/>
          </a:xfrm>
          <a:prstGeom prst="roundRect">
            <a:avLst>
              <a:gd name="adj" fmla="val 2648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96882" y="1389888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Secure FTP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9796882" y="1755648"/>
            <a:ext cx="1797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 pattern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96882" y="2057400"/>
            <a:ext cx="1797710" cy="292608"/>
          </a:xfrm>
          <a:prstGeom prst="roundRect">
            <a:avLst>
              <a:gd name="adj" fmla="val 15625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96882" y="2057400"/>
            <a:ext cx="17977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796882" y="2468880"/>
            <a:ext cx="179771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SFTP servers + cron scripts for partner files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9B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Snowflake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Interim: land files to cloud storage → Snowpipe; replace with a managed MFT platform; shift extract feeds to Snowflake Data Sharing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E3F2E8"/>
          </a:solidFill>
          <a:ln w="12700">
            <a:solidFill>
              <a:srgbClr val="E3F2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846320"/>
            <a:ext cx="51343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genuine net-new needs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hub (PoC Reltio vs Informatica MDM SaaS; Profisee alternative)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MFT to retire Secure FTP (AWS Transfer Family or IBM Sterling)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orchestrator: Apache Airflow (open source or managed)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31636" y="4754880"/>
            <a:ext cx="5500116" cy="1600200"/>
          </a:xfrm>
          <a:prstGeom prst="roundRect">
            <a:avLst>
              <a:gd name="adj" fmla="val 3429"/>
            </a:avLst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4516" y="4846320"/>
            <a:ext cx="51343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/ defer — already covered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ELT suite — Snowflake Openflow + dbt + Boomi + PySpark cover 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CDC vendor — Openflow + Cloudera/Debezium first; HVR only for Epic-scale Oracle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Virtualization platform — defer until a non-Snowflake gap is proven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Integration Patterns — Vendor Evaluation</dc:title>
  <dc:subject>PptxGenJS Presentation</dc:subject>
  <dc:creator>PptxGenJS</dc:creator>
  <cp:lastModifiedBy>PptxGenJS</cp:lastModifiedBy>
  <cp:revision>1</cp:revision>
  <dcterms:created xsi:type="dcterms:W3CDTF">2026-09-25T16:35:53Z</dcterms:created>
  <dcterms:modified xsi:type="dcterms:W3CDTF">2026-09-25T16:35:53Z</dcterms:modified>
</cp:coreProperties>
</file>