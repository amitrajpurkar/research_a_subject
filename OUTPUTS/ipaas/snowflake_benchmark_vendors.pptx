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 (Section 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 (Section 2). Criteria from INPUTS/snowflake_ai/SPEC_pattern_vendor_evaluation.md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 (Section 3.1). Sources: Flexera Summit 2026 recap; Snowflake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 (Section 3.2)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 (Section 3.3)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 (Section 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 (Section 4.1). Also INPUTS/snowflake_ai/from_meetings/K2VIEW_minutes_20260922.md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 (Section 5). Full matrix with cost and review rows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 (Section 7). Scores are EA judgement; validate with POC.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 (Section 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 (Section 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 (Section 10)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OUTPUTS/ipaas/snowflake_benchmark_vendors.md (Section 11)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64240" cy="5760720"/>
          </a:xfrm>
          <a:prstGeom prst="roundRect">
            <a:avLst>
              <a:gd name="adj" fmla="val 952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E8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VENDOR EVALUATION  |  DATA FOR AI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463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as the Benchmark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3317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XtremeData, Spice.ai or K2View must-haves, or can Snowflake plus in-house engineering close the gaps?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3840480"/>
            <a:ext cx="1874520" cy="1645920"/>
          </a:xfrm>
          <a:prstGeom prst="roundRect">
            <a:avLst>
              <a:gd name="adj" fmla="val 3333"/>
            </a:avLst>
          </a:prstGeom>
          <a:solidFill>
            <a:srgbClr val="DCEAF7"/>
          </a:solidFill>
          <a:ln w="6350">
            <a:solidFill>
              <a:srgbClr val="DCEA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40233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853" y="4171493"/>
            <a:ext cx="252374" cy="2523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4983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platform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63240" y="3840480"/>
            <a:ext cx="1874520" cy="1645920"/>
          </a:xfrm>
          <a:prstGeom prst="roundRect">
            <a:avLst>
              <a:gd name="adj" fmla="val 3333"/>
            </a:avLst>
          </a:prstGeom>
          <a:solidFill>
            <a:srgbClr val="DFF1E7"/>
          </a:solidFill>
          <a:ln w="6350">
            <a:solidFill>
              <a:srgbClr val="DFF1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40233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253" y="4171493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4612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K2View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246120" y="4983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data products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120640" y="3840480"/>
            <a:ext cx="1874520" cy="1645920"/>
          </a:xfrm>
          <a:prstGeom prst="roundRect">
            <a:avLst>
              <a:gd name="adj" fmla="val 3333"/>
            </a:avLst>
          </a:prstGeom>
          <a:solidFill>
            <a:srgbClr val="FFF3C9"/>
          </a:solidFill>
          <a:ln w="6350">
            <a:solidFill>
              <a:srgbClr val="FFF3C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03520" y="40233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653" y="4171493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0352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XtremeData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303520" y="4983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reality grounding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178040" y="3840480"/>
            <a:ext cx="1874520" cy="1645920"/>
          </a:xfrm>
          <a:prstGeom prst="roundRect">
            <a:avLst>
              <a:gd name="adj" fmla="val 3333"/>
            </a:avLst>
          </a:prstGeom>
          <a:solidFill>
            <a:srgbClr val="FBE3D3"/>
          </a:solidFill>
          <a:ln w="6350">
            <a:solidFill>
              <a:srgbClr val="FBE3D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60920" y="40233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053" y="4171493"/>
            <a:ext cx="252374" cy="25237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6092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Spice.ai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360920" y="4983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Federation sidecar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9235440" y="3840480"/>
            <a:ext cx="1874520" cy="1645920"/>
          </a:xfrm>
          <a:prstGeom prst="roundRect">
            <a:avLst>
              <a:gd name="adj" fmla="val 3333"/>
            </a:avLst>
          </a:prstGeom>
          <a:solidFill>
            <a:srgbClr val="E7E3F4"/>
          </a:solidFill>
          <a:ln w="6350">
            <a:solidFill>
              <a:srgbClr val="E7E3F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418320" y="40233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453" y="4171493"/>
            <a:ext cx="252374" cy="25237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41832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9418320" y="49834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glue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1005840" y="5760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 |  September 28,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no add-on vendor is a must-have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+ Cortex + CoCo + CoWork already covers most of what the vendors pitched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DCEAF7"/>
          </a:solidFill>
          <a:ln w="6350">
            <a:solidFill>
              <a:srgbClr val="DCEA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3F8FC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platform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what we already pay for (CoCo, CoWork, Cortex, Openflow, Horizon) before adding vendors.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DFF1E7"/>
          </a:solidFill>
          <a:ln w="6350">
            <a:solidFill>
              <a:srgbClr val="DFF1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K2View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66160" y="2286000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4E9A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286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must-have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26080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a niche Snowflake does not target: millisecond Member 360 with write-back, plus enterprise TDM. Prove it with a POC.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FF3C9"/>
          </a:solidFill>
          <a:ln w="6350">
            <a:solidFill>
              <a:srgbClr val="FFF3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XtremeData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55080" y="2286000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2286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Nice-to-have (tactical)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926080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Full-fidelity profiling at the source. Useful for migrations; largely bridgeable with DMFs + OSS profilers.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915400" y="1554480"/>
            <a:ext cx="2606040" cy="4206240"/>
          </a:xfrm>
          <a:prstGeom prst="roundRect">
            <a:avLst>
              <a:gd name="adj" fmla="val 2105"/>
            </a:avLst>
          </a:prstGeom>
          <a:solidFill>
            <a:srgbClr val="F6DADA"/>
          </a:solidFill>
          <a:ln w="6350">
            <a:solidFill>
              <a:srgbClr val="F6DA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Spice.ai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44000" y="2286000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C066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0" y="2286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Nice-to-have (defer)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2926080"/>
            <a:ext cx="2148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overlap with Openflow, Postgres, MCP and Cortex Search. Revisit in the Data Virtualization decision.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548640" y="589788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7E3F4"/>
          </a:solidFill>
          <a:ln w="6350">
            <a:solidFill>
              <a:srgbClr val="E7E3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897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teams bridge the smaller gaps (profiling, federation, MCP glue). They should not rebuild CoWork, TDM or micro-database technology.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lens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criteria from the pattern-evaluation spec, plus one decisive criterion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846320"/>
          </a:xfrm>
          <a:prstGeom prst="roundRect">
            <a:avLst>
              <a:gd name="adj" fmla="val 1132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criteria (0–4)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411480" cy="411480"/>
          </a:xfrm>
          <a:prstGeom prst="ellipse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9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48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adaptability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724912"/>
            <a:ext cx="411480" cy="411480"/>
          </a:xfrm>
          <a:prstGeom prst="ellipse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9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7249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Portability (cloud / on-prem)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300984"/>
            <a:ext cx="411480" cy="411480"/>
          </a:xfrm>
          <a:prstGeom prst="ellipse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00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9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009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costs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877056"/>
            <a:ext cx="411480" cy="411480"/>
          </a:xfrm>
          <a:prstGeom prst="ellipse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9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7705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 and rationalization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453128"/>
            <a:ext cx="411480" cy="411480"/>
          </a:xfrm>
          <a:prstGeom prst="ellipse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9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453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completeness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5029200"/>
            <a:ext cx="411480" cy="411480"/>
          </a:xfrm>
          <a:prstGeom prst="ellipse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9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029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Value-realization potential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5605272"/>
            <a:ext cx="411480" cy="411480"/>
          </a:xfrm>
          <a:prstGeom prst="ellipse">
            <a:avLst/>
          </a:prstGeom>
          <a:solidFill>
            <a:srgbClr val="DFF1E7"/>
          </a:solidFill>
          <a:ln w="12700">
            <a:solidFill>
              <a:srgbClr val="DFF1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605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9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605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gap filled beyond Snowflake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1463040"/>
            <a:ext cx="5394960" cy="4846320"/>
          </a:xfrm>
          <a:prstGeom prst="roundRect">
            <a:avLst>
              <a:gd name="adj" fmla="val 1132"/>
            </a:avLst>
          </a:prstGeom>
          <a:solidFill>
            <a:srgbClr val="DFF1E7"/>
          </a:solidFill>
          <a:ln w="6350">
            <a:solidFill>
              <a:srgbClr val="DFF1E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"Must-have" only if ALL four hold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6520" y="21945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4653" y="2342693"/>
            <a:ext cx="252374" cy="252374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need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178040" y="2514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funded, business-critical use case depends on it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446520" y="3200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348533"/>
            <a:ext cx="252374" cy="252374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7178040" y="3200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cannot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717804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GA, not on roadmap within ~2 quarters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6446520" y="4206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53" y="4354373"/>
            <a:ext cx="252374" cy="252374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7178040" y="4206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cannot</a:t>
            </a:r>
            <a:endParaRPr lang="en-US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7178040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at acceptable cost, risk and time-to-value</a:t>
            </a:r>
            <a:endParaRPr lang="en-US" sz="1250" dirty="0"/>
          </a:p>
        </p:txBody>
      </p:sp>
      <p:sp>
        <p:nvSpPr>
          <p:cNvPr id="41" name="Shape 36"/>
          <p:cNvSpPr/>
          <p:nvPr/>
        </p:nvSpPr>
        <p:spPr>
          <a:xfrm>
            <a:off x="6446520" y="521208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3" y="5360213"/>
            <a:ext cx="252374" cy="252374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7178040" y="5212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Enterprise-ready</a:t>
            </a:r>
            <a:endParaRPr lang="en-US" sz="1400" dirty="0"/>
          </a:p>
        </p:txBody>
      </p:sp>
      <p:sp>
        <p:nvSpPr>
          <p:cNvPr id="44" name="Text 38"/>
          <p:cNvSpPr txBox="1"/>
          <p:nvPr/>
        </p:nvSpPr>
        <p:spPr>
          <a:xfrm>
            <a:off x="7178040" y="5532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HIPAA BAA, security review, viable vendor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as the unified data platform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platform covers today (status as of September 2026)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8CC4EA"/>
          </a:solidFill>
          <a:ln w="12700">
            <a:solidFill>
              <a:srgbClr val="8CC4E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308" y="1781708"/>
            <a:ext cx="231343" cy="231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and CDC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Openflow (GA), Snowpipe Streaming, Zero-Copy Integrations (GA), Datastream (preview)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rgbClr val="8CC4EA"/>
          </a:solidFill>
          <a:ln w="12700">
            <a:solidFill>
              <a:srgbClr val="8CC4E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348" y="178170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storage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 v3 (GA), medallion lakehouse Bronze → Silver → Gold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46304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rgbClr val="8CC4EA"/>
          </a:solidFill>
          <a:ln w="12700">
            <a:solidFill>
              <a:srgbClr val="8CC4E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388" y="178170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9680" y="1645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serving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tables, Snowflake Postgres, interactive warehouses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1089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8CC4EA"/>
          </a:solidFill>
          <a:ln w="12700">
            <a:solidFill>
              <a:srgbClr val="8CC4E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08" y="3427628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3291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(Horizon)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3886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Classification, masking, row access, lineage, AI Agent Identity (GA)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1089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0560" y="3291840"/>
            <a:ext cx="502920" cy="502920"/>
          </a:xfrm>
          <a:prstGeom prst="ellipse">
            <a:avLst/>
          </a:prstGeom>
          <a:solidFill>
            <a:srgbClr val="8CC4EA"/>
          </a:solidFill>
          <a:ln w="12700">
            <a:solidFill>
              <a:srgbClr val="8CC4E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6348" y="3427628"/>
            <a:ext cx="231343" cy="23134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20640" y="3291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3886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system DMFs, expectations, anomaly detection, Cortex Data Quality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1089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29600" y="3291840"/>
            <a:ext cx="502920" cy="502920"/>
          </a:xfrm>
          <a:prstGeom prst="ellipse">
            <a:avLst/>
          </a:prstGeom>
          <a:solidFill>
            <a:srgbClr val="8CC4EA"/>
          </a:solidFill>
          <a:ln w="12700">
            <a:solidFill>
              <a:srgbClr val="8CC4E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5388" y="3427628"/>
            <a:ext cx="231343" cy="23134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291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test data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3886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Masking, clean rooms, synthetic data GA (5 tables, 100 cols, 14M rows)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48640" y="475488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DCEAF7"/>
          </a:solidFill>
          <a:ln w="19050">
            <a:solidFill>
              <a:srgbClr val="3F8FC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31520" y="4937760"/>
            <a:ext cx="502920" cy="502920"/>
          </a:xfrm>
          <a:prstGeom prst="ellipse">
            <a:avLst/>
          </a:prstGeom>
          <a:solidFill>
            <a:srgbClr val="8CC4EA"/>
          </a:solidFill>
          <a:ln w="12700">
            <a:solidFill>
              <a:srgbClr val="8CC4EA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308" y="5073548"/>
            <a:ext cx="231343" cy="23134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371600" y="4937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AI</a:t>
            </a:r>
            <a:endParaRPr lang="en-US" sz="1450" dirty="0"/>
          </a:p>
        </p:txBody>
      </p:sp>
      <p:sp>
        <p:nvSpPr>
          <p:cNvPr id="38" name="Text 29"/>
          <p:cNvSpPr txBox="1"/>
          <p:nvPr/>
        </p:nvSpPr>
        <p:spPr>
          <a:xfrm>
            <a:off x="73152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SQL, Cortex Search, Analyst + semantic views, Agents, managed MCP (GA); Cortex Sense (preview)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4297680" y="475488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DCEAF7"/>
          </a:solidFill>
          <a:ln w="19050">
            <a:solidFill>
              <a:srgbClr val="3F8FC7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480560" y="4937760"/>
            <a:ext cx="502920" cy="502920"/>
          </a:xfrm>
          <a:prstGeom prst="ellipse">
            <a:avLst/>
          </a:prstGeom>
          <a:solidFill>
            <a:srgbClr val="8CC4EA"/>
          </a:solidFill>
          <a:ln w="12700">
            <a:solidFill>
              <a:srgbClr val="8CC4EA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6348" y="5073548"/>
            <a:ext cx="231343" cy="231343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120640" y="4937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1450" dirty="0"/>
          </a:p>
        </p:txBody>
      </p:sp>
      <p:sp>
        <p:nvSpPr>
          <p:cNvPr id="43" name="Text 33"/>
          <p:cNvSpPr txBox="1"/>
          <p:nvPr/>
        </p:nvSpPr>
        <p:spPr>
          <a:xfrm>
            <a:off x="448056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 (dev agent), CoWork (business agent), Managed Agents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8046720" y="475488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229600" y="4937760"/>
            <a:ext cx="502920" cy="502920"/>
          </a:xfrm>
          <a:prstGeom prst="ellipse">
            <a:avLst/>
          </a:prstGeom>
          <a:solidFill>
            <a:srgbClr val="8CC4EA"/>
          </a:solidFill>
          <a:ln w="12700">
            <a:solidFill>
              <a:srgbClr val="8CC4EA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5388" y="5073548"/>
            <a:ext cx="231343" cy="231343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869680" y="4937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and cost</a:t>
            </a:r>
            <a:endParaRPr lang="en-US" sz="1450" dirty="0"/>
          </a:p>
        </p:txBody>
      </p:sp>
      <p:sp>
        <p:nvSpPr>
          <p:cNvPr id="48" name="Text 37"/>
          <p:cNvSpPr txBox="1"/>
          <p:nvPr/>
        </p:nvSpPr>
        <p:spPr>
          <a:xfrm>
            <a:off x="822960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credits; Adaptive Compute (GA soon)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our Cortex and CoCo subscription already gives 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DCEAF7"/>
          </a:solidFill>
          <a:ln w="6350">
            <a:solidFill>
              <a:srgbClr val="DCEA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630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163586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engineers and analysts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Schema-, RBAC- and lineage-aware SQL, dbt, Airflow and ML pipelines. Runs in Snowsight, Desktop, VS Code, Excel and Claude Code. 7,100+ accounts at launch.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4343400"/>
            <a:ext cx="3108960" cy="822960"/>
          </a:xfrm>
          <a:prstGeom prst="roundRect">
            <a:avLst>
              <a:gd name="adj" fmla="val 6667"/>
            </a:avLst>
          </a:prstGeom>
          <a:solidFill>
            <a:srgbClr val="DFF1E7"/>
          </a:solidFill>
          <a:ln w="6350">
            <a:solidFill>
              <a:srgbClr val="DFF1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3434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the case for an in-house dev copilot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23444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DCEAF7"/>
          </a:solidFill>
          <a:ln w="6350">
            <a:solidFill>
              <a:srgbClr val="DCEA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4630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102" y="163586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352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+ MCP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30352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and AI agents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23774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Search (hybrid), Analyst (text-to-SQL), Agents, managed MCP server. Horizon policies inherited automatically.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26280" y="4343400"/>
            <a:ext cx="3108960" cy="822960"/>
          </a:xfrm>
          <a:prstGeom prst="roundRect">
            <a:avLst>
              <a:gd name="adj" fmla="val 6667"/>
            </a:avLst>
          </a:prstGeom>
          <a:solidFill>
            <a:srgbClr val="DFF1E7"/>
          </a:solidFill>
          <a:ln w="6350">
            <a:solidFill>
              <a:srgbClr val="DFF1E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663440" y="43434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most of Spice.ai's "governed data for agents" pitch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046720" y="123444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DCEAF7"/>
          </a:solidFill>
          <a:ln w="6350">
            <a:solidFill>
              <a:srgbClr val="DCEAF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75320" y="14630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142" y="1635862"/>
            <a:ext cx="294437" cy="29443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256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905256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users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275320" y="23774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Research, Skills, Artifacts, MCP connectors (Slack, Salesforce, Google Drive). Formerly Snowflake Intelligence.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275320" y="4343400"/>
            <a:ext cx="3108960" cy="822960"/>
          </a:xfrm>
          <a:prstGeom prst="roundRect">
            <a:avLst>
              <a:gd name="adj" fmla="val 6667"/>
            </a:avLst>
          </a:prstGeom>
          <a:solidFill>
            <a:srgbClr val="DFF1E7"/>
          </a:solidFill>
          <a:ln w="6350">
            <a:solidFill>
              <a:srgbClr val="DFF1E7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12480" y="43434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vendor here offers an equivalent; hardest to build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3C9"/>
          </a:solidFill>
          <a:ln w="6350">
            <a:solidFill>
              <a:srgbClr val="FFF3C9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77240" y="5577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caution: </a:t>
            </a:r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and CoCo are consumption (credit) based, and CoCo pricing is not fully public. Confirm entitlements, rates and budget guardrails with the Snowflake account team.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Snowflake is weaker: the gaps niche vendors target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530352" cy="530352"/>
          </a:xfrm>
          <a:prstGeom prst="ellipse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276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188720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Millisecond per-entity serving with write-back to systems of record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188720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Analytics-first; hybrid tables/Postgres help but no entity hub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92640" y="1408176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DFF1E7"/>
          </a:solidFill>
          <a:ln w="6350">
            <a:solidFill>
              <a:srgbClr val="DFF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0" y="14081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K2View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395728"/>
            <a:ext cx="530352" cy="530352"/>
          </a:xfrm>
          <a:prstGeom prst="ellipse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395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276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212848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and profiling before data lands (Oracle, DB2, Teradata, files)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212848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DMFs reach only Snowflake objects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92640" y="2432304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3C9"/>
          </a:solidFill>
          <a:ln w="6350">
            <a:solidFill>
              <a:srgbClr val="FFF3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24323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XtremeData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36976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419856"/>
            <a:ext cx="530352" cy="530352"/>
          </a:xfrm>
          <a:prstGeom prst="ellipse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4198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276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236976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federation without replication; edge, air-gapped, per-agent runtimes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236976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SaaS; data generally lands first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692640" y="345643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BE3D3"/>
          </a:solidFill>
          <a:ln w="6350">
            <a:solidFill>
              <a:srgbClr val="FBE3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92640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Spice.ai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61104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443984"/>
            <a:ext cx="530352" cy="530352"/>
          </a:xfrm>
          <a:prstGeom prst="ellipse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4439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1276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261104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TDM across source systems with referential integrity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4261104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capped; Snowflake data only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692640" y="448056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DFF1E7"/>
          </a:solidFill>
          <a:ln w="6350">
            <a:solidFill>
              <a:srgbClr val="DFF1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92640" y="4480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K2View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285232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5468112"/>
            <a:ext cx="530352" cy="530352"/>
          </a:xfrm>
          <a:prstGeom prst="ellipse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54681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6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</a:t>
            </a:r>
            <a:endParaRPr lang="en-US" sz="1276" dirty="0"/>
          </a:p>
        </p:txBody>
      </p:sp>
      <p:sp>
        <p:nvSpPr>
          <p:cNvPr id="34" name="Text 32"/>
          <p:cNvSpPr txBox="1"/>
          <p:nvPr/>
        </p:nvSpPr>
        <p:spPr>
          <a:xfrm>
            <a:off x="1463040" y="5285232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predictability and lock-in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5285232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spikes; proprietary stack (eased by Iceberg)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692640" y="5504688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BE3D3"/>
          </a:solidFill>
          <a:ln w="6350">
            <a:solidFill>
              <a:srgbClr val="FBE3D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92640" y="5504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Spice.ai, in-house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vendor specializes 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Snowflake-native alternative to try 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4846320"/>
          </a:xfrm>
          <a:prstGeom prst="roundRect">
            <a:avLst>
              <a:gd name="adj" fmla="val 1538"/>
            </a:avLst>
          </a:prstGeom>
          <a:solidFill>
            <a:srgbClr val="DFF1E7"/>
          </a:solidFill>
          <a:ln w="6350">
            <a:solidFill>
              <a:srgbClr val="DFF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717" y="1852117"/>
            <a:ext cx="273406" cy="2734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K2View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Entity-centric, real-time operational data products; TDM and synthetic data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COULD SHINE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023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Member 360 for care management and call centers (Jiva, Care Connect); masked test data for claims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IN SNOWFLAKE FIRST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257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tables / Snowflake Postgres; GENERATE_SYNTHETIC_DATA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297680" y="1463040"/>
            <a:ext cx="3566160" cy="4846320"/>
          </a:xfrm>
          <a:prstGeom prst="roundRect">
            <a:avLst>
              <a:gd name="adj" fmla="val 1538"/>
            </a:avLst>
          </a:prstGeom>
          <a:solidFill>
            <a:srgbClr val="FFF3C9"/>
          </a:solidFill>
          <a:ln w="6350">
            <a:solidFill>
              <a:srgbClr val="FFF3C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16916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757" y="1852117"/>
            <a:ext cx="273406" cy="27340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5780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XtremeData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452628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526280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full-fidelity profiling, drift detection, grounding metadata across sources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452628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COULD SHINE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4526280" y="4023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legacy claims and enrollment sources before migration; audit trail for regulated reporting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452628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IN SNOWFLAKE FIRST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4526280" y="5257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DMFs, Cortex Data Quality, semantic views after landing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046720" y="1463040"/>
            <a:ext cx="3566160" cy="4846320"/>
          </a:xfrm>
          <a:prstGeom prst="roundRect">
            <a:avLst>
              <a:gd name="adj" fmla="val 1538"/>
            </a:avLst>
          </a:prstGeom>
          <a:solidFill>
            <a:srgbClr val="FBE3D3"/>
          </a:solidFill>
          <a:ln w="6350">
            <a:solidFill>
              <a:srgbClr val="FBE3D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275320" y="16916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797" y="1852117"/>
            <a:ext cx="273406" cy="27340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006840" y="1691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Spice.ai</a:t>
            </a:r>
            <a:endParaRPr lang="en-US" sz="1900" dirty="0"/>
          </a:p>
        </p:txBody>
      </p:sp>
      <p:sp>
        <p:nvSpPr>
          <p:cNvPr id="28" name="Text 23"/>
          <p:cNvSpPr txBox="1"/>
          <p:nvPr/>
        </p:nvSpPr>
        <p:spPr>
          <a:xfrm>
            <a:off x="827532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8275320" y="2788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federation and acceleration runtime, one isolated instance per agent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827532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COULD SHINE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8275320" y="4023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reading many small operational DBs live; edge or air-gapped sites</a:t>
            </a:r>
            <a:endParaRPr lang="en-US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827532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IN SNOWFLAKE FIRST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8275320" y="5257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Openflow CDC + managed MCP + Cortex Agents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this comparison: K2View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Micro-database per business entity; explicitly "not an analytics platform"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7E3F4"/>
          </a:solidFill>
          <a:ln w="6350">
            <a:solidFill>
              <a:srgbClr val="E7E3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1–18 ms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query time per entity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7E3F4"/>
          </a:solidFill>
          <a:ln w="6350">
            <a:solidFill>
              <a:srgbClr val="E7E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54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/ 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Peer Insights (132 ratings)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7E3F4"/>
          </a:solidFill>
          <a:ln w="6350">
            <a:solidFill>
              <a:srgbClr val="E7E3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554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~$8K/mo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entry price (cloud)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7E3F4"/>
          </a:solidFill>
          <a:ln w="6350">
            <a:solidFill>
              <a:srgbClr val="E7E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98280" y="15544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TDM vs. operational revenue split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440680" cy="3291840"/>
          </a:xfrm>
          <a:prstGeom prst="roundRect">
            <a:avLst>
              <a:gd name="adj" fmla="val 1667"/>
            </a:avLst>
          </a:prstGeom>
          <a:solidFill>
            <a:srgbClr val="DFF1E7"/>
          </a:solidFill>
          <a:ln w="6350">
            <a:solidFill>
              <a:srgbClr val="DFF1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for us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61188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encrypted micro-DB per member; per-entity keys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from GoldenGate, Debezium, Kafka; write-back to source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via SQL, REST, MCP, RAG, HL7, FHIR, Kafka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Trillium batch matching; adds real-time resolution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"as of" reconstruction per member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440680" cy="3291840"/>
          </a:xfrm>
          <a:prstGeom prst="roundRect">
            <a:avLst>
              <a:gd name="adj" fmla="val 1667"/>
            </a:avLst>
          </a:prstGeom>
          <a:solidFill>
            <a:srgbClr val="F6DADA"/>
          </a:solidFill>
          <a:ln w="6350">
            <a:solidFill>
              <a:srgbClr val="F6DA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61188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Reviews: steep learning curve, long implementation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"Exhaustive" production maintenance (reviewer)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examples with health insurers still pending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copy of member data to govern beside Snowflake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HIPAA BAA (Enterprise edition lists HIPAA support)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matrix: benchmarked to Snowflake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exceeds Snowflake   = on par / overlapping   ▼ below   — not offered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1645920"/>
                <a:gridCol w="1645920"/>
                <a:gridCol w="1737360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Snowflake (baseline)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XtremeData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Spice.ai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K2View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In-house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 / lakehouse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light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not analytics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Ingestion / CDC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Openflow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native CDC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CDC sync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Debezium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federation (no landing)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for profiling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core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virtualization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Trino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 per-entity serving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local accel.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1–18 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Redis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Write-back to source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custom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quality / profiling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DMFs (in SF)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100% scan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OSS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/ PII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RBAC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= Cedar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per-entity keys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TDM / synthetic 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Capped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de-ident.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core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 agent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NL builder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Business-user agent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CoWork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heavy lift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 only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against EA criteria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0–4 scale, equal weights; vendor scores = incremental value added to our Snowflake estate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498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60704"/>
                <a:gridCol w="1060704"/>
                <a:gridCol w="1060704"/>
                <a:gridCol w="1060704"/>
                <a:gridCol w="106070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Snowflake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K2View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XtremeData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Spice.ai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In-house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adaptability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F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7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7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7B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Portability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F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F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F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F9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costs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7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F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Complexity / rationalization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F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7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 completeness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F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7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realization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F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7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Distinct gap beyond Snowflake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7B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criteria 1–6 (of 24)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incl. gap (of 28)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417320"/>
            <a:ext cx="3291840" cy="4114800"/>
          </a:xfrm>
          <a:prstGeom prst="roundRect">
            <a:avLst>
              <a:gd name="adj" fmla="val 1667"/>
            </a:avLst>
          </a:prstGeom>
          <a:solidFill>
            <a:srgbClr val="FFF3C9"/>
          </a:solidFill>
          <a:ln w="6350">
            <a:solidFill>
              <a:srgbClr val="FFF3C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scores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011680"/>
            <a:ext cx="2880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 leads except on portability and cost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K2View is the strongest add-on: it fills gaps Snowflake does not target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Spice.ai: cheap and portable, but duplicates Snowflake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XtremeData: low-cost and non-invasive, but narrow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the must-have test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K2View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XtremeData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Spice.ai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Committed business need?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(candidates only)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committed need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committed need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Snowflake cannot meet it?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for ms serving and TDM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pre-landing profiling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Mostly false: high overlap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In-house cannot bridge it?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Partly: micro-DB/TDM hard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False: OSS + DMFs bridge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False: OSS core is the path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Enterprise-ready (BAA, viability)?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Likely; confirm BAA + FHIR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Unproven, early stage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OSS mature; confirm BAA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Conditional must-have → POC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Nice-to-have (tactical)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Nice-to-have → defer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in-house development bridge the gaps?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Snowflake-native first, in-house glue second, buy only where neither works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3108960"/>
                <a:gridCol w="914400"/>
                <a:gridCol w="155448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Snowflake-native first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In-house bridge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F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 Real-time Member 360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tables / Postgres + Openflow CDC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FHIR façade + Redis + entity service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 Source profiling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DMFs, Cortex DQ after landing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 Expectations / Soda jobs at 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S–M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 Live federation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Openflow + managed MCP + Cortex Agents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Spice.ai OSS or Trino in sandbox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 Enterprise TDM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Synthetic data + masking (SF data only)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Per-source subsetting and masking scripts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Weak: buy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AD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 copilot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CoCo (subscribed)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MCP servers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CoCo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Business-user agent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Multi-agent orchestration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E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CoWork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with CIO core values for EA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rgbClr val="FBE3D3"/>
          </a:solidFill>
          <a:ln w="12700">
            <a:solidFill>
              <a:srgbClr val="FBE3D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168158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velocity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CoCo, CoWork, Cortex, DMFs and synthetic data before onboarding new vendors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297680" y="128016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26280" y="1508760"/>
            <a:ext cx="640080" cy="640080"/>
          </a:xfrm>
          <a:prstGeom prst="ellipse">
            <a:avLst/>
          </a:prstGeom>
          <a:solidFill>
            <a:srgbClr val="DFF1E7"/>
          </a:solidFill>
          <a:ln w="12700">
            <a:solidFill>
              <a:srgbClr val="DFF1E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102" y="168158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efficient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331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parallel data planes and point tools that duplicate Snowflake spend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46720" y="128016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75320" y="1508760"/>
            <a:ext cx="640080" cy="640080"/>
          </a:xfrm>
          <a:prstGeom prst="ellipse">
            <a:avLst/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142" y="168158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508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331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governed platform; each vendor adds its own policy engine to keep in sync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rgbClr val="E7E3F4"/>
          </a:solidFill>
          <a:ln w="12700">
            <a:solidFill>
              <a:srgbClr val="E7E3F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2" y="4196182"/>
            <a:ext cx="294437" cy="29443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023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463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K2View implementations are complex; budget for it or don't start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4297680" y="379476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26280" y="4023360"/>
            <a:ext cx="640080" cy="640080"/>
          </a:xfrm>
          <a:prstGeom prst="ellipse">
            <a:avLst/>
          </a:prstGeom>
          <a:solidFill>
            <a:srgbClr val="FFF3C9"/>
          </a:solidFill>
          <a:ln w="12700">
            <a:solidFill>
              <a:srgbClr val="FFF3C9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102" y="4196182"/>
            <a:ext cx="294437" cy="29443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4023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proof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48463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 v3 and MCP keep options open; add a vendor later without re-platforming</a:t>
            </a:r>
            <a:endParaRPr lang="en-US" sz="1450" dirty="0"/>
          </a:p>
        </p:txBody>
      </p:sp>
      <p:sp>
        <p:nvSpPr>
          <p:cNvPr id="28" name="Shape 21"/>
          <p:cNvSpPr/>
          <p:nvPr/>
        </p:nvSpPr>
        <p:spPr>
          <a:xfrm>
            <a:off x="8046720" y="3794760"/>
            <a:ext cx="3566160" cy="233172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75320" y="4023360"/>
            <a:ext cx="640080" cy="640080"/>
          </a:xfrm>
          <a:prstGeom prst="ellipse">
            <a:avLst/>
          </a:prstGeom>
          <a:solidFill>
            <a:srgbClr val="F6DADA"/>
          </a:solidFill>
          <a:ln w="12700">
            <a:solidFill>
              <a:srgbClr val="F6DAD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8142" y="4196182"/>
            <a:ext cx="294437" cy="29443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52560" y="4023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48463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 lives in our dev tools; CoWork gives business users governed access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DFF1E7"/>
          </a:solidFill>
          <a:ln w="6350">
            <a:solidFill>
              <a:srgbClr val="DFF1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344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234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0–30 days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3429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317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Cortex, CoCo, CoWork entitlements, rates and roadmap (Cortex Sense, Horizon Context)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K2View follow-up on TDM, synthetic data, masking; get FHIR payer examples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trigger use cases: Member 360 latency SLA; enterprise TDM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DCEAF7"/>
          </a:solidFill>
          <a:ln w="6350">
            <a:solidFill>
              <a:srgbClr val="DCEA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2344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234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30–90 days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148840"/>
            <a:ext cx="3566160" cy="3429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23317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K2View POC (6–8 wks, 1–5M members, 3 sources) vs. Snowflake-native baseline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XtremeData pilot only if a migration needs source profiling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Spice.ai: no contract; carry into Data Virtualization decision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46720" y="123444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E7E3F4"/>
          </a:solidFill>
          <a:ln w="6350">
            <a:solidFill>
              <a:srgbClr val="E7E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12344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0" y="12344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 days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2148840"/>
            <a:ext cx="3566160" cy="3429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6350">
            <a:solidFill>
              <a:srgbClr val="F8FA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3317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 on K2View from POC and business case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patterns: "Snowflake-first data for AI agents" and "Operational Member 360"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576072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FF3C9"/>
          </a:solidFill>
          <a:ln w="6350">
            <a:solidFill>
              <a:srgbClr val="FFF3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questions: </a:t>
            </a:r>
            <a:pPr indent="0" marL="0">
              <a:buNone/>
            </a:pPr>
            <a:r>
              <a:rPr lang="en-US" sz="1250" dirty="0">
                <a:solidFill>
                  <a:srgbClr val="2F3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Cortex/CoCo/CoWork contract scope and credit forecast · HIPAA BAAs from all three vendors · Member 360 SLA: seconds or milliseconds? · Is enterprise TDM funded?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 Benchmark: XtremeData, Spice.ai, K2View, In-House</dc:title>
  <dc:subject>PptxGenJS Presentation</dc:subject>
  <dc:creator>PptxGenJS</dc:creator>
  <cp:lastModifiedBy>PptxGenJS</cp:lastModifiedBy>
  <cp:revision>1</cp:revision>
  <dcterms:created xsi:type="dcterms:W3CDTF">2026-09-28T20:04:08Z</dcterms:created>
  <dcterms:modified xsi:type="dcterms:W3CDTF">2026-09-28T20:04:08Z</dcterms:modified>
</cp:coreProperties>
</file>