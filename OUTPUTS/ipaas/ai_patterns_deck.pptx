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and pattern overview. Sources: OUTPUTS/ipaas/ai_patterns_deck.json (deck sidecar),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Platforms: top 10 capabilities with what to look for and why they matter. Source: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Platforms: weighted vendor scores (0-4 per capability) and takeaway. Sources: OUTPUTS/ipaas/compare_agent_platform_vendors.md; capability weights from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Frameworks: top 10 capabilities with what to look for and why they matter. Source: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Frameworks: weighted vendor scores (0-4 per capability) and takeaway. Sources: OUTPUTS/ipaas/compare_agent_framework_vendors.md; capability weights from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Ecosystems: top 10 capabilities with what to look for and why they matter. Source: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Ecosystems: weighted vendor scores (0-4 per capability) and takeaway. Sources: OUTPUTS/ipaas/compare_mcp_vendors.md; capability weights from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Frameworks: top 10 capabilities with what to look for and why they matter. Source: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Frameworks: weighted vendor scores (0-4 per capability) and takeaway. Sources: OUTPUTS/ipaas/compare_rag_vendors.md; capability weights from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Search: top 10 capabilities with what to look for and why they matter. Source: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Search: weighted vendor scores (0-4 per capability) and takeaway. Sources: OUTPUTS/ipaas/compare_vector_search_vendors.md; capability weights from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Gateway, Observability: top 10 capabilities with what to look for and why they matter. Source: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Gateway, Observability: weighted vendor scores (0-4 per capability) and takeaway. Sources: OUTPUTS/ipaas/compare_ai_gateway_obs_vendors.md; capability weights from OUTPUTS/ipaas/ai_capabilities_scoring_templates.md.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fit synthesis per pattern. Sources: OUTPUTS/ipaas/compare_agent_platform_vendors.md; OUTPUTS/ipaas/compare_agent_framework_vendors.md; OUTPUTS/ipaas/compare_mcp_vendors.md; OUTPUTS/ipaas/compare_rag_vendors.md; OUTPUTS/ipaas/compare_vector_search_vendors.md; OUTPUTS/ipaas/compare_ai_gateway_obs_vendors.md; OUTPUTS/ipaas/ai_patterns_deck.json.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Consolidation guidance (no current technologies listed), engage and avoid lists. Sources: OUTPUTS/ipaas/compare_agent_platform_vendors.md; OUTPUTS/ipaas/compare_agent_framework_vendors.md; OUTPUTS/ipaas/compare_mcp_vendors.md; OUTPUTS/ipaas/compare_rag_vendors.md; OUTPUTS/ipaas/compare_vector_search_vendors.md; OUTPUTS/ipaas/compare_ai_gateway_obs_vendors.md; OUTPUTS/ipaas/ai_patterns_deck.json.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502920"/>
            <a:ext cx="11277295" cy="256032"/>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ENTERPRISE ARCHITECTURE · SEPTEMBER 2026</a:t>
            </a:r>
            <a:endParaRPr lang="en-US" sz="1100" dirty="0"/>
          </a:p>
        </p:txBody>
      </p:sp>
      <p:sp>
        <p:nvSpPr>
          <p:cNvPr id="3" name="Text 1"/>
          <p:cNvSpPr txBox="1"/>
          <p:nvPr/>
        </p:nvSpPr>
        <p:spPr>
          <a:xfrm>
            <a:off x="457200" y="822960"/>
            <a:ext cx="11277295" cy="731520"/>
          </a:xfrm>
          <a:prstGeom prst="rect">
            <a:avLst/>
          </a:prstGeom>
          <a:noFill/>
          <a:ln/>
        </p:spPr>
        <p:txBody>
          <a:bodyPr wrap="square" lIns="0" tIns="0" rIns="0" bIns="0" rtlCol="0" anchor="ctr"/>
          <a:lstStyle/>
          <a:p>
            <a:pPr indent="0" marL="0">
              <a:buNone/>
            </a:pPr>
            <a:r>
              <a:rPr lang="en-US" sz="3000" b="1" dirty="0">
                <a:solidFill>
                  <a:srgbClr val="2F3E4E"/>
                </a:solidFill>
                <a:latin typeface="Arial" pitchFamily="34" charset="0"/>
                <a:ea typeface="Arial" pitchFamily="34" charset="-122"/>
                <a:cs typeface="Arial" pitchFamily="34" charset="-120"/>
              </a:rPr>
              <a:t>AI Patterns</a:t>
            </a:r>
            <a:endParaRPr lang="en-US" sz="3000" dirty="0"/>
          </a:p>
        </p:txBody>
      </p:sp>
      <p:sp>
        <p:nvSpPr>
          <p:cNvPr id="4" name="Text 2"/>
          <p:cNvSpPr txBox="1"/>
          <p:nvPr/>
        </p:nvSpPr>
        <p:spPr>
          <a:xfrm>
            <a:off x="457200" y="1554480"/>
            <a:ext cx="11277295" cy="365760"/>
          </a:xfrm>
          <a:prstGeom prst="rect">
            <a:avLst/>
          </a:prstGeom>
          <a:noFill/>
          <a:ln/>
        </p:spPr>
        <p:txBody>
          <a:bodyPr wrap="square" lIns="0" tIns="0" rIns="0" bIns="0" rtlCol="0" anchor="ctr"/>
          <a:lstStyle/>
          <a:p>
            <a:pPr indent="0" marL="0">
              <a:buNone/>
            </a:pPr>
            <a:r>
              <a:rPr lang="en-US" sz="1400" dirty="0">
                <a:solidFill>
                  <a:srgbClr val="6B7785"/>
                </a:solidFill>
                <a:latin typeface="Arial" pitchFamily="34" charset="0"/>
                <a:ea typeface="Arial" pitchFamily="34" charset="-122"/>
                <a:cs typeface="Arial" pitchFamily="34" charset="-120"/>
              </a:rPr>
              <a:t>Top capabilities, vendor evaluation and Snowflake platform fit for six enterprise AI patterns</a:t>
            </a:r>
            <a:endParaRPr lang="en-US" sz="1400" dirty="0"/>
          </a:p>
        </p:txBody>
      </p:sp>
      <p:sp>
        <p:nvSpPr>
          <p:cNvPr id="5" name="Shape 3"/>
          <p:cNvSpPr/>
          <p:nvPr/>
        </p:nvSpPr>
        <p:spPr>
          <a:xfrm>
            <a:off x="457200" y="2331720"/>
            <a:ext cx="3576218" cy="1783080"/>
          </a:xfrm>
          <a:prstGeom prst="roundRect">
            <a:avLst>
              <a:gd name="adj" fmla="val 3077"/>
            </a:avLst>
          </a:prstGeom>
          <a:solidFill>
            <a:srgbClr val="E7E3F4"/>
          </a:solidFill>
          <a:ln w="9525">
            <a:solidFill>
              <a:srgbClr val="E7E3F4"/>
            </a:solidFill>
            <a:prstDash val="solid"/>
          </a:ln>
        </p:spPr>
      </p:sp>
      <p:sp>
        <p:nvSpPr>
          <p:cNvPr id="6" name="Shape 4"/>
          <p:cNvSpPr/>
          <p:nvPr/>
        </p:nvSpPr>
        <p:spPr>
          <a:xfrm>
            <a:off x="685800" y="2560320"/>
            <a:ext cx="457200" cy="457200"/>
          </a:xfrm>
          <a:prstGeom prst="ellipse">
            <a:avLst/>
          </a:prstGeom>
          <a:solidFill>
            <a:srgbClr val="C9C1E8"/>
          </a:solidFill>
          <a:ln w="12700">
            <a:solidFill>
              <a:srgbClr val="FFFFFF"/>
            </a:solidFill>
            <a:prstDash val="solid"/>
          </a:ln>
        </p:spPr>
      </p:sp>
      <p:sp>
        <p:nvSpPr>
          <p:cNvPr id="7" name="Text 5"/>
          <p:cNvSpPr txBox="1"/>
          <p:nvPr/>
        </p:nvSpPr>
        <p:spPr>
          <a:xfrm>
            <a:off x="685800" y="2560320"/>
            <a:ext cx="457200" cy="457200"/>
          </a:xfrm>
          <a:prstGeom prst="rect">
            <a:avLst/>
          </a:prstGeom>
          <a:noFill/>
          <a:ln/>
        </p:spPr>
        <p:txBody>
          <a:bodyPr wrap="square" lIns="0" tIns="0" rIns="0" bIns="0" rtlCol="0" anchor="ctr"/>
          <a:lstStyle/>
          <a:p>
            <a:pPr algn="ctr" indent="0" marL="0">
              <a:buNone/>
            </a:pPr>
            <a:r>
              <a:rPr lang="en-US" sz="1400" b="1" dirty="0">
                <a:solidFill>
                  <a:srgbClr val="2F3E4E"/>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280160" y="2560320"/>
            <a:ext cx="2570378" cy="457200"/>
          </a:xfrm>
          <a:prstGeom prst="rect">
            <a:avLst/>
          </a:prstGeom>
          <a:noFill/>
          <a:ln/>
        </p:spPr>
        <p:txBody>
          <a:bodyPr wrap="square" lIns="0" tIns="0" rIns="0" bIns="0" rtlCol="0" anchor="ctr"/>
          <a:lstStyle/>
          <a:p>
            <a:pPr indent="0" marL="0">
              <a:buNone/>
            </a:pPr>
            <a:r>
              <a:rPr lang="en-US" sz="1600" b="1" dirty="0">
                <a:solidFill>
                  <a:srgbClr val="2F3E4E"/>
                </a:solidFill>
                <a:latin typeface="Arial" pitchFamily="34" charset="0"/>
                <a:ea typeface="Arial" pitchFamily="34" charset="-122"/>
                <a:cs typeface="Arial" pitchFamily="34" charset="-120"/>
              </a:rPr>
              <a:t>Agent Platforms</a:t>
            </a:r>
            <a:endParaRPr lang="en-US" sz="1600" dirty="0"/>
          </a:p>
        </p:txBody>
      </p:sp>
      <p:sp>
        <p:nvSpPr>
          <p:cNvPr id="9" name="Text 7"/>
          <p:cNvSpPr txBox="1"/>
          <p:nvPr/>
        </p:nvSpPr>
        <p:spPr>
          <a:xfrm>
            <a:off x="685800" y="3200400"/>
            <a:ext cx="3119018" cy="731520"/>
          </a:xfrm>
          <a:prstGeom prst="rect">
            <a:avLst/>
          </a:prstGeom>
          <a:noFill/>
          <a:ln/>
        </p:spPr>
        <p:txBody>
          <a:bodyPr wrap="square" lIns="0" tIns="0" rIns="0" bIns="0" rtlCol="0" anchor="t"/>
          <a:lstStyle/>
          <a:p>
            <a:pPr indent="0" marL="0">
              <a:buNone/>
            </a:pPr>
            <a:r>
              <a:rPr lang="en-US" sz="1200" dirty="0">
                <a:solidFill>
                  <a:srgbClr val="2F3E4E"/>
                </a:solidFill>
                <a:latin typeface="Arial" pitchFamily="34" charset="0"/>
                <a:ea typeface="Arial" pitchFamily="34" charset="-122"/>
                <a:cs typeface="Arial" pitchFamily="34" charset="-120"/>
              </a:rPr>
              <a:t>Governed agent lifecycle, PHI guardrails, HITL for clinical and claims</a:t>
            </a:r>
            <a:endParaRPr lang="en-US" sz="1200" dirty="0"/>
          </a:p>
        </p:txBody>
      </p:sp>
      <p:sp>
        <p:nvSpPr>
          <p:cNvPr id="10" name="Shape 8"/>
          <p:cNvSpPr/>
          <p:nvPr/>
        </p:nvSpPr>
        <p:spPr>
          <a:xfrm>
            <a:off x="4307738" y="2331720"/>
            <a:ext cx="3576218" cy="1783080"/>
          </a:xfrm>
          <a:prstGeom prst="roundRect">
            <a:avLst>
              <a:gd name="adj" fmla="val 3077"/>
            </a:avLst>
          </a:prstGeom>
          <a:solidFill>
            <a:srgbClr val="DCEAF7"/>
          </a:solidFill>
          <a:ln w="9525">
            <a:solidFill>
              <a:srgbClr val="DCEAF7"/>
            </a:solidFill>
            <a:prstDash val="solid"/>
          </a:ln>
        </p:spPr>
      </p:sp>
      <p:sp>
        <p:nvSpPr>
          <p:cNvPr id="11" name="Shape 9"/>
          <p:cNvSpPr/>
          <p:nvPr/>
        </p:nvSpPr>
        <p:spPr>
          <a:xfrm>
            <a:off x="4536338" y="2560320"/>
            <a:ext cx="457200" cy="457200"/>
          </a:xfrm>
          <a:prstGeom prst="ellipse">
            <a:avLst/>
          </a:prstGeom>
          <a:solidFill>
            <a:srgbClr val="A9CBEF"/>
          </a:solidFill>
          <a:ln w="12700">
            <a:solidFill>
              <a:srgbClr val="FFFFFF"/>
            </a:solidFill>
            <a:prstDash val="solid"/>
          </a:ln>
        </p:spPr>
      </p:sp>
      <p:sp>
        <p:nvSpPr>
          <p:cNvPr id="12" name="Text 10"/>
          <p:cNvSpPr txBox="1"/>
          <p:nvPr/>
        </p:nvSpPr>
        <p:spPr>
          <a:xfrm>
            <a:off x="4536338" y="2560320"/>
            <a:ext cx="457200" cy="457200"/>
          </a:xfrm>
          <a:prstGeom prst="rect">
            <a:avLst/>
          </a:prstGeom>
          <a:noFill/>
          <a:ln/>
        </p:spPr>
        <p:txBody>
          <a:bodyPr wrap="square" lIns="0" tIns="0" rIns="0" bIns="0" rtlCol="0" anchor="ctr"/>
          <a:lstStyle/>
          <a:p>
            <a:pPr algn="ctr" indent="0" marL="0">
              <a:buNone/>
            </a:pPr>
            <a:r>
              <a:rPr lang="en-US" sz="1400" b="1" dirty="0">
                <a:solidFill>
                  <a:srgbClr val="2F3E4E"/>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5130698" y="2560320"/>
            <a:ext cx="2570378" cy="457200"/>
          </a:xfrm>
          <a:prstGeom prst="rect">
            <a:avLst/>
          </a:prstGeom>
          <a:noFill/>
          <a:ln/>
        </p:spPr>
        <p:txBody>
          <a:bodyPr wrap="square" lIns="0" tIns="0" rIns="0" bIns="0" rtlCol="0" anchor="ctr"/>
          <a:lstStyle/>
          <a:p>
            <a:pPr indent="0" marL="0">
              <a:buNone/>
            </a:pPr>
            <a:r>
              <a:rPr lang="en-US" sz="1600" b="1" dirty="0">
                <a:solidFill>
                  <a:srgbClr val="2F3E4E"/>
                </a:solidFill>
                <a:latin typeface="Arial" pitchFamily="34" charset="0"/>
                <a:ea typeface="Arial" pitchFamily="34" charset="-122"/>
                <a:cs typeface="Arial" pitchFamily="34" charset="-120"/>
              </a:rPr>
              <a:t>Agent Frameworks</a:t>
            </a:r>
            <a:endParaRPr lang="en-US" sz="1600" dirty="0"/>
          </a:p>
        </p:txBody>
      </p:sp>
      <p:sp>
        <p:nvSpPr>
          <p:cNvPr id="14" name="Text 12"/>
          <p:cNvSpPr txBox="1"/>
          <p:nvPr/>
        </p:nvSpPr>
        <p:spPr>
          <a:xfrm>
            <a:off x="4536338" y="3200400"/>
            <a:ext cx="3119018" cy="731520"/>
          </a:xfrm>
          <a:prstGeom prst="rect">
            <a:avLst/>
          </a:prstGeom>
          <a:noFill/>
          <a:ln/>
        </p:spPr>
        <p:txBody>
          <a:bodyPr wrap="square" lIns="0" tIns="0" rIns="0" bIns="0" rtlCol="0" anchor="t"/>
          <a:lstStyle/>
          <a:p>
            <a:pPr indent="0" marL="0">
              <a:buNone/>
            </a:pPr>
            <a:r>
              <a:rPr lang="en-US" sz="1200" dirty="0">
                <a:solidFill>
                  <a:srgbClr val="2F3E4E"/>
                </a:solidFill>
                <a:latin typeface="Arial" pitchFamily="34" charset="0"/>
                <a:ea typeface="Arial" pitchFamily="34" charset="-122"/>
                <a:cs typeface="Arial" pitchFamily="34" charset="-120"/>
              </a:rPr>
              <a:t>Durable, model-agnostic orchestration for multi-step prior-auth and care workflows</a:t>
            </a:r>
            <a:endParaRPr lang="en-US" sz="1200" dirty="0"/>
          </a:p>
        </p:txBody>
      </p:sp>
      <p:sp>
        <p:nvSpPr>
          <p:cNvPr id="15" name="Shape 13"/>
          <p:cNvSpPr/>
          <p:nvPr/>
        </p:nvSpPr>
        <p:spPr>
          <a:xfrm>
            <a:off x="8158277" y="2331720"/>
            <a:ext cx="3576218" cy="1783080"/>
          </a:xfrm>
          <a:prstGeom prst="roundRect">
            <a:avLst>
              <a:gd name="adj" fmla="val 3077"/>
            </a:avLst>
          </a:prstGeom>
          <a:solidFill>
            <a:srgbClr val="E7E3F4"/>
          </a:solidFill>
          <a:ln w="9525">
            <a:solidFill>
              <a:srgbClr val="E7E3F4"/>
            </a:solidFill>
            <a:prstDash val="solid"/>
          </a:ln>
        </p:spPr>
      </p:sp>
      <p:sp>
        <p:nvSpPr>
          <p:cNvPr id="16" name="Shape 14"/>
          <p:cNvSpPr/>
          <p:nvPr/>
        </p:nvSpPr>
        <p:spPr>
          <a:xfrm>
            <a:off x="8386877" y="2560320"/>
            <a:ext cx="457200" cy="457200"/>
          </a:xfrm>
          <a:prstGeom prst="ellipse">
            <a:avLst/>
          </a:prstGeom>
          <a:solidFill>
            <a:srgbClr val="A9D7BB"/>
          </a:solidFill>
          <a:ln w="12700">
            <a:solidFill>
              <a:srgbClr val="FFFFFF"/>
            </a:solidFill>
            <a:prstDash val="solid"/>
          </a:ln>
        </p:spPr>
      </p:sp>
      <p:sp>
        <p:nvSpPr>
          <p:cNvPr id="17" name="Text 15"/>
          <p:cNvSpPr txBox="1"/>
          <p:nvPr/>
        </p:nvSpPr>
        <p:spPr>
          <a:xfrm>
            <a:off x="8386877" y="2560320"/>
            <a:ext cx="457200" cy="457200"/>
          </a:xfrm>
          <a:prstGeom prst="rect">
            <a:avLst/>
          </a:prstGeom>
          <a:noFill/>
          <a:ln/>
        </p:spPr>
        <p:txBody>
          <a:bodyPr wrap="square" lIns="0" tIns="0" rIns="0" bIns="0" rtlCol="0" anchor="ctr"/>
          <a:lstStyle/>
          <a:p>
            <a:pPr algn="ctr" indent="0" marL="0">
              <a:buNone/>
            </a:pPr>
            <a:r>
              <a:rPr lang="en-US" sz="1400" b="1" dirty="0">
                <a:solidFill>
                  <a:srgbClr val="2F3E4E"/>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8981237" y="2560320"/>
            <a:ext cx="2570378" cy="457200"/>
          </a:xfrm>
          <a:prstGeom prst="rect">
            <a:avLst/>
          </a:prstGeom>
          <a:noFill/>
          <a:ln/>
        </p:spPr>
        <p:txBody>
          <a:bodyPr wrap="square" lIns="0" tIns="0" rIns="0" bIns="0" rtlCol="0" anchor="ctr"/>
          <a:lstStyle/>
          <a:p>
            <a:pPr indent="0" marL="0">
              <a:buNone/>
            </a:pPr>
            <a:r>
              <a:rPr lang="en-US" sz="1600" b="1" dirty="0">
                <a:solidFill>
                  <a:srgbClr val="2F3E4E"/>
                </a:solidFill>
                <a:latin typeface="Arial" pitchFamily="34" charset="0"/>
                <a:ea typeface="Arial" pitchFamily="34" charset="-122"/>
                <a:cs typeface="Arial" pitchFamily="34" charset="-120"/>
              </a:rPr>
              <a:t>MCP Ecosystems</a:t>
            </a:r>
            <a:endParaRPr lang="en-US" sz="1600" dirty="0"/>
          </a:p>
        </p:txBody>
      </p:sp>
      <p:sp>
        <p:nvSpPr>
          <p:cNvPr id="19" name="Text 17"/>
          <p:cNvSpPr txBox="1"/>
          <p:nvPr/>
        </p:nvSpPr>
        <p:spPr>
          <a:xfrm>
            <a:off x="8386877" y="3200400"/>
            <a:ext cx="3119018" cy="731520"/>
          </a:xfrm>
          <a:prstGeom prst="rect">
            <a:avLst/>
          </a:prstGeom>
          <a:noFill/>
          <a:ln/>
        </p:spPr>
        <p:txBody>
          <a:bodyPr wrap="square" lIns="0" tIns="0" rIns="0" bIns="0" rtlCol="0" anchor="t"/>
          <a:lstStyle/>
          <a:p>
            <a:pPr indent="0" marL="0">
              <a:buNone/>
            </a:pPr>
            <a:r>
              <a:rPr lang="en-US" sz="1200" dirty="0">
                <a:solidFill>
                  <a:srgbClr val="2F3E4E"/>
                </a:solidFill>
                <a:latin typeface="Arial" pitchFamily="34" charset="0"/>
                <a:ea typeface="Arial" pitchFamily="34" charset="-122"/>
                <a:cs typeface="Arial" pitchFamily="34" charset="-120"/>
              </a:rPr>
              <a:t>Governed tool access to EHR, FHIR, Snowflake with least privilege</a:t>
            </a:r>
            <a:endParaRPr lang="en-US" sz="1200" dirty="0"/>
          </a:p>
        </p:txBody>
      </p:sp>
      <p:sp>
        <p:nvSpPr>
          <p:cNvPr id="20" name="Shape 18"/>
          <p:cNvSpPr/>
          <p:nvPr/>
        </p:nvSpPr>
        <p:spPr>
          <a:xfrm>
            <a:off x="457200" y="4389120"/>
            <a:ext cx="3576218" cy="1783080"/>
          </a:xfrm>
          <a:prstGeom prst="roundRect">
            <a:avLst>
              <a:gd name="adj" fmla="val 3077"/>
            </a:avLst>
          </a:prstGeom>
          <a:solidFill>
            <a:srgbClr val="DCEAF7"/>
          </a:solidFill>
          <a:ln w="9525">
            <a:solidFill>
              <a:srgbClr val="DCEAF7"/>
            </a:solidFill>
            <a:prstDash val="solid"/>
          </a:ln>
        </p:spPr>
      </p:sp>
      <p:sp>
        <p:nvSpPr>
          <p:cNvPr id="21" name="Shape 19"/>
          <p:cNvSpPr/>
          <p:nvPr/>
        </p:nvSpPr>
        <p:spPr>
          <a:xfrm>
            <a:off x="685800" y="4617720"/>
            <a:ext cx="457200" cy="457200"/>
          </a:xfrm>
          <a:prstGeom prst="ellipse">
            <a:avLst/>
          </a:prstGeom>
          <a:solidFill>
            <a:srgbClr val="F5C4A3"/>
          </a:solidFill>
          <a:ln w="12700">
            <a:solidFill>
              <a:srgbClr val="FFFFFF"/>
            </a:solidFill>
            <a:prstDash val="solid"/>
          </a:ln>
        </p:spPr>
      </p:sp>
      <p:sp>
        <p:nvSpPr>
          <p:cNvPr id="22" name="Text 20"/>
          <p:cNvSpPr txBox="1"/>
          <p:nvPr/>
        </p:nvSpPr>
        <p:spPr>
          <a:xfrm>
            <a:off x="685800" y="4617720"/>
            <a:ext cx="457200" cy="457200"/>
          </a:xfrm>
          <a:prstGeom prst="rect">
            <a:avLst/>
          </a:prstGeom>
          <a:noFill/>
          <a:ln/>
        </p:spPr>
        <p:txBody>
          <a:bodyPr wrap="square" lIns="0" tIns="0" rIns="0" bIns="0" rtlCol="0" anchor="ctr"/>
          <a:lstStyle/>
          <a:p>
            <a:pPr algn="ctr" indent="0" marL="0">
              <a:buNone/>
            </a:pPr>
            <a:r>
              <a:rPr lang="en-US" sz="1400" b="1" dirty="0">
                <a:solidFill>
                  <a:srgbClr val="2F3E4E"/>
                </a:solidFill>
                <a:latin typeface="Arial" pitchFamily="34" charset="0"/>
                <a:ea typeface="Arial" pitchFamily="34" charset="-122"/>
                <a:cs typeface="Arial" pitchFamily="34" charset="-120"/>
              </a:rPr>
              <a:t>4</a:t>
            </a:r>
            <a:endParaRPr lang="en-US" sz="1400" dirty="0"/>
          </a:p>
        </p:txBody>
      </p:sp>
      <p:sp>
        <p:nvSpPr>
          <p:cNvPr id="23" name="Text 21"/>
          <p:cNvSpPr txBox="1"/>
          <p:nvPr/>
        </p:nvSpPr>
        <p:spPr>
          <a:xfrm>
            <a:off x="1280160" y="4617720"/>
            <a:ext cx="2570378" cy="457200"/>
          </a:xfrm>
          <a:prstGeom prst="rect">
            <a:avLst/>
          </a:prstGeom>
          <a:noFill/>
          <a:ln/>
        </p:spPr>
        <p:txBody>
          <a:bodyPr wrap="square" lIns="0" tIns="0" rIns="0" bIns="0" rtlCol="0" anchor="ctr"/>
          <a:lstStyle/>
          <a:p>
            <a:pPr indent="0" marL="0">
              <a:buNone/>
            </a:pPr>
            <a:r>
              <a:rPr lang="en-US" sz="1600" b="1" dirty="0">
                <a:solidFill>
                  <a:srgbClr val="2F3E4E"/>
                </a:solidFill>
                <a:latin typeface="Arial" pitchFamily="34" charset="0"/>
                <a:ea typeface="Arial" pitchFamily="34" charset="-122"/>
                <a:cs typeface="Arial" pitchFamily="34" charset="-120"/>
              </a:rPr>
              <a:t>RAG Frameworks</a:t>
            </a:r>
            <a:endParaRPr lang="en-US" sz="1600" dirty="0"/>
          </a:p>
        </p:txBody>
      </p:sp>
      <p:sp>
        <p:nvSpPr>
          <p:cNvPr id="24" name="Text 22"/>
          <p:cNvSpPr txBox="1"/>
          <p:nvPr/>
        </p:nvSpPr>
        <p:spPr>
          <a:xfrm>
            <a:off x="685800" y="5257800"/>
            <a:ext cx="3119018" cy="731520"/>
          </a:xfrm>
          <a:prstGeom prst="rect">
            <a:avLst/>
          </a:prstGeom>
          <a:noFill/>
          <a:ln/>
        </p:spPr>
        <p:txBody>
          <a:bodyPr wrap="square" lIns="0" tIns="0" rIns="0" bIns="0" rtlCol="0" anchor="t"/>
          <a:lstStyle/>
          <a:p>
            <a:pPr indent="0" marL="0">
              <a:buNone/>
            </a:pPr>
            <a:r>
              <a:rPr lang="en-US" sz="1200" dirty="0">
                <a:solidFill>
                  <a:srgbClr val="2F3E4E"/>
                </a:solidFill>
                <a:latin typeface="Arial" pitchFamily="34" charset="0"/>
                <a:ea typeface="Arial" pitchFamily="34" charset="-122"/>
                <a:cs typeface="Arial" pitchFamily="34" charset="-120"/>
              </a:rPr>
              <a:t>Permission-aware, cited answers over medical policies, benefits, clinical content</a:t>
            </a:r>
            <a:endParaRPr lang="en-US" sz="1200" dirty="0"/>
          </a:p>
        </p:txBody>
      </p:sp>
      <p:sp>
        <p:nvSpPr>
          <p:cNvPr id="25" name="Shape 23"/>
          <p:cNvSpPr/>
          <p:nvPr/>
        </p:nvSpPr>
        <p:spPr>
          <a:xfrm>
            <a:off x="4307738" y="4389120"/>
            <a:ext cx="3576218" cy="1783080"/>
          </a:xfrm>
          <a:prstGeom prst="roundRect">
            <a:avLst>
              <a:gd name="adj" fmla="val 3077"/>
            </a:avLst>
          </a:prstGeom>
          <a:solidFill>
            <a:srgbClr val="E7E3F4"/>
          </a:solidFill>
          <a:ln w="9525">
            <a:solidFill>
              <a:srgbClr val="E7E3F4"/>
            </a:solidFill>
            <a:prstDash val="solid"/>
          </a:ln>
        </p:spPr>
      </p:sp>
      <p:sp>
        <p:nvSpPr>
          <p:cNvPr id="26" name="Shape 24"/>
          <p:cNvSpPr/>
          <p:nvPr/>
        </p:nvSpPr>
        <p:spPr>
          <a:xfrm>
            <a:off x="4536338" y="4617720"/>
            <a:ext cx="457200" cy="457200"/>
          </a:xfrm>
          <a:prstGeom prst="ellipse">
            <a:avLst/>
          </a:prstGeom>
          <a:solidFill>
            <a:srgbClr val="F3DC8C"/>
          </a:solidFill>
          <a:ln w="12700">
            <a:solidFill>
              <a:srgbClr val="FFFFFF"/>
            </a:solidFill>
            <a:prstDash val="solid"/>
          </a:ln>
        </p:spPr>
      </p:sp>
      <p:sp>
        <p:nvSpPr>
          <p:cNvPr id="27" name="Text 25"/>
          <p:cNvSpPr txBox="1"/>
          <p:nvPr/>
        </p:nvSpPr>
        <p:spPr>
          <a:xfrm>
            <a:off x="4536338" y="4617720"/>
            <a:ext cx="457200" cy="457200"/>
          </a:xfrm>
          <a:prstGeom prst="rect">
            <a:avLst/>
          </a:prstGeom>
          <a:noFill/>
          <a:ln/>
        </p:spPr>
        <p:txBody>
          <a:bodyPr wrap="square" lIns="0" tIns="0" rIns="0" bIns="0" rtlCol="0" anchor="ctr"/>
          <a:lstStyle/>
          <a:p>
            <a:pPr algn="ctr" indent="0" marL="0">
              <a:buNone/>
            </a:pPr>
            <a:r>
              <a:rPr lang="en-US" sz="1400" b="1" dirty="0">
                <a:solidFill>
                  <a:srgbClr val="2F3E4E"/>
                </a:solidFill>
                <a:latin typeface="Arial" pitchFamily="34" charset="0"/>
                <a:ea typeface="Arial" pitchFamily="34" charset="-122"/>
                <a:cs typeface="Arial" pitchFamily="34" charset="-120"/>
              </a:rPr>
              <a:t>5</a:t>
            </a:r>
            <a:endParaRPr lang="en-US" sz="1400" dirty="0"/>
          </a:p>
        </p:txBody>
      </p:sp>
      <p:sp>
        <p:nvSpPr>
          <p:cNvPr id="28" name="Text 26"/>
          <p:cNvSpPr txBox="1"/>
          <p:nvPr/>
        </p:nvSpPr>
        <p:spPr>
          <a:xfrm>
            <a:off x="5130698" y="4617720"/>
            <a:ext cx="2570378" cy="457200"/>
          </a:xfrm>
          <a:prstGeom prst="rect">
            <a:avLst/>
          </a:prstGeom>
          <a:noFill/>
          <a:ln/>
        </p:spPr>
        <p:txBody>
          <a:bodyPr wrap="square" lIns="0" tIns="0" rIns="0" bIns="0" rtlCol="0" anchor="ctr"/>
          <a:lstStyle/>
          <a:p>
            <a:pPr indent="0" marL="0">
              <a:buNone/>
            </a:pPr>
            <a:r>
              <a:rPr lang="en-US" sz="1600" b="1" dirty="0">
                <a:solidFill>
                  <a:srgbClr val="2F3E4E"/>
                </a:solidFill>
                <a:latin typeface="Arial" pitchFamily="34" charset="0"/>
                <a:ea typeface="Arial" pitchFamily="34" charset="-122"/>
                <a:cs typeface="Arial" pitchFamily="34" charset="-120"/>
              </a:rPr>
              <a:t>Vector Search</a:t>
            </a:r>
            <a:endParaRPr lang="en-US" sz="1600" dirty="0"/>
          </a:p>
        </p:txBody>
      </p:sp>
      <p:sp>
        <p:nvSpPr>
          <p:cNvPr id="29" name="Text 27"/>
          <p:cNvSpPr txBox="1"/>
          <p:nvPr/>
        </p:nvSpPr>
        <p:spPr>
          <a:xfrm>
            <a:off x="4536338" y="5257800"/>
            <a:ext cx="3119018" cy="731520"/>
          </a:xfrm>
          <a:prstGeom prst="rect">
            <a:avLst/>
          </a:prstGeom>
          <a:noFill/>
          <a:ln/>
        </p:spPr>
        <p:txBody>
          <a:bodyPr wrap="square" lIns="0" tIns="0" rIns="0" bIns="0" rtlCol="0" anchor="t"/>
          <a:lstStyle/>
          <a:p>
            <a:pPr indent="0" marL="0">
              <a:buNone/>
            </a:pPr>
            <a:r>
              <a:rPr lang="en-US" sz="1200" dirty="0">
                <a:solidFill>
                  <a:srgbClr val="2F3E4E"/>
                </a:solidFill>
                <a:latin typeface="Arial" pitchFamily="34" charset="0"/>
                <a:ea typeface="Arial" pitchFamily="34" charset="-122"/>
                <a:cs typeface="Arial" pitchFamily="34" charset="-120"/>
              </a:rPr>
              <a:t>Secure embedding search for RAG, semantic search and agent memory</a:t>
            </a:r>
            <a:endParaRPr lang="en-US" sz="1200" dirty="0"/>
          </a:p>
        </p:txBody>
      </p:sp>
      <p:sp>
        <p:nvSpPr>
          <p:cNvPr id="30" name="Shape 28"/>
          <p:cNvSpPr/>
          <p:nvPr/>
        </p:nvSpPr>
        <p:spPr>
          <a:xfrm>
            <a:off x="8158277" y="4389120"/>
            <a:ext cx="3576218" cy="1783080"/>
          </a:xfrm>
          <a:prstGeom prst="roundRect">
            <a:avLst>
              <a:gd name="adj" fmla="val 3077"/>
            </a:avLst>
          </a:prstGeom>
          <a:solidFill>
            <a:srgbClr val="DCEAF7"/>
          </a:solidFill>
          <a:ln w="9525">
            <a:solidFill>
              <a:srgbClr val="DCEAF7"/>
            </a:solidFill>
            <a:prstDash val="solid"/>
          </a:ln>
        </p:spPr>
      </p:sp>
      <p:sp>
        <p:nvSpPr>
          <p:cNvPr id="31" name="Shape 29"/>
          <p:cNvSpPr/>
          <p:nvPr/>
        </p:nvSpPr>
        <p:spPr>
          <a:xfrm>
            <a:off x="8386877" y="4617720"/>
            <a:ext cx="457200" cy="457200"/>
          </a:xfrm>
          <a:prstGeom prst="ellipse">
            <a:avLst/>
          </a:prstGeom>
          <a:solidFill>
            <a:srgbClr val="EBB5B5"/>
          </a:solidFill>
          <a:ln w="12700">
            <a:solidFill>
              <a:srgbClr val="FFFFFF"/>
            </a:solidFill>
            <a:prstDash val="solid"/>
          </a:ln>
        </p:spPr>
      </p:sp>
      <p:sp>
        <p:nvSpPr>
          <p:cNvPr id="32" name="Text 30"/>
          <p:cNvSpPr txBox="1"/>
          <p:nvPr/>
        </p:nvSpPr>
        <p:spPr>
          <a:xfrm>
            <a:off x="8386877" y="4617720"/>
            <a:ext cx="457200" cy="457200"/>
          </a:xfrm>
          <a:prstGeom prst="rect">
            <a:avLst/>
          </a:prstGeom>
          <a:noFill/>
          <a:ln/>
        </p:spPr>
        <p:txBody>
          <a:bodyPr wrap="square" lIns="0" tIns="0" rIns="0" bIns="0" rtlCol="0" anchor="ctr"/>
          <a:lstStyle/>
          <a:p>
            <a:pPr algn="ctr" indent="0" marL="0">
              <a:buNone/>
            </a:pPr>
            <a:r>
              <a:rPr lang="en-US" sz="1400" b="1" dirty="0">
                <a:solidFill>
                  <a:srgbClr val="2F3E4E"/>
                </a:solidFill>
                <a:latin typeface="Arial" pitchFamily="34" charset="0"/>
                <a:ea typeface="Arial" pitchFamily="34" charset="-122"/>
                <a:cs typeface="Arial" pitchFamily="34" charset="-120"/>
              </a:rPr>
              <a:t>6</a:t>
            </a:r>
            <a:endParaRPr lang="en-US" sz="1400" dirty="0"/>
          </a:p>
        </p:txBody>
      </p:sp>
      <p:sp>
        <p:nvSpPr>
          <p:cNvPr id="33" name="Text 31"/>
          <p:cNvSpPr txBox="1"/>
          <p:nvPr/>
        </p:nvSpPr>
        <p:spPr>
          <a:xfrm>
            <a:off x="8981237" y="4617720"/>
            <a:ext cx="2570378" cy="457200"/>
          </a:xfrm>
          <a:prstGeom prst="rect">
            <a:avLst/>
          </a:prstGeom>
          <a:noFill/>
          <a:ln/>
        </p:spPr>
        <p:txBody>
          <a:bodyPr wrap="square" lIns="0" tIns="0" rIns="0" bIns="0" rtlCol="0" anchor="ctr"/>
          <a:lstStyle/>
          <a:p>
            <a:pPr indent="0" marL="0">
              <a:buNone/>
            </a:pPr>
            <a:r>
              <a:rPr lang="en-US" sz="1600" b="1" dirty="0">
                <a:solidFill>
                  <a:srgbClr val="2F3E4E"/>
                </a:solidFill>
                <a:latin typeface="Arial" pitchFamily="34" charset="0"/>
                <a:ea typeface="Arial" pitchFamily="34" charset="-122"/>
                <a:cs typeface="Arial" pitchFamily="34" charset="-120"/>
              </a:rPr>
              <a:t>Gateway, Observability</a:t>
            </a:r>
            <a:endParaRPr lang="en-US" sz="1600" dirty="0"/>
          </a:p>
        </p:txBody>
      </p:sp>
      <p:sp>
        <p:nvSpPr>
          <p:cNvPr id="34" name="Text 32"/>
          <p:cNvSpPr txBox="1"/>
          <p:nvPr/>
        </p:nvSpPr>
        <p:spPr>
          <a:xfrm>
            <a:off x="8386877" y="5257800"/>
            <a:ext cx="3119018" cy="731520"/>
          </a:xfrm>
          <a:prstGeom prst="rect">
            <a:avLst/>
          </a:prstGeom>
          <a:noFill/>
          <a:ln/>
        </p:spPr>
        <p:txBody>
          <a:bodyPr wrap="square" lIns="0" tIns="0" rIns="0" bIns="0" rtlCol="0" anchor="t"/>
          <a:lstStyle/>
          <a:p>
            <a:pPr indent="0" marL="0">
              <a:buNone/>
            </a:pPr>
            <a:r>
              <a:rPr lang="en-US" sz="1200" dirty="0">
                <a:solidFill>
                  <a:srgbClr val="2F3E4E"/>
                </a:solidFill>
                <a:latin typeface="Arial" pitchFamily="34" charset="0"/>
                <a:ea typeface="Arial" pitchFamily="34" charset="-122"/>
                <a:cs typeface="Arial" pitchFamily="34" charset="-120"/>
              </a:rPr>
              <a:t>AI control plane: model routing, cost control, tracing, HIPAA audit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1 OF 6 · CAPABILITIES</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Agent Platforms — Top 10 Capabilities</a:t>
            </a:r>
            <a:endParaRPr lang="en-US" sz="2800" dirty="0"/>
          </a:p>
        </p:txBody>
      </p:sp>
      <p:sp>
        <p:nvSpPr>
          <p:cNvPr id="4" name="Shape 2"/>
          <p:cNvSpPr/>
          <p:nvPr/>
        </p:nvSpPr>
        <p:spPr>
          <a:xfrm>
            <a:off x="457200" y="1234440"/>
            <a:ext cx="5501488" cy="896112"/>
          </a:xfrm>
          <a:prstGeom prst="roundRect">
            <a:avLst>
              <a:gd name="adj" fmla="val 6122"/>
            </a:avLst>
          </a:prstGeom>
          <a:solidFill>
            <a:srgbClr val="DCEAF7"/>
          </a:solidFill>
          <a:ln w="9525">
            <a:solidFill>
              <a:srgbClr val="DCEAF7"/>
            </a:solidFill>
            <a:prstDash val="solid"/>
          </a:ln>
        </p:spPr>
      </p:sp>
      <p:sp>
        <p:nvSpPr>
          <p:cNvPr id="5" name="Shape 3"/>
          <p:cNvSpPr/>
          <p:nvPr/>
        </p:nvSpPr>
        <p:spPr>
          <a:xfrm>
            <a:off x="594360" y="1371600"/>
            <a:ext cx="384048" cy="384048"/>
          </a:xfrm>
          <a:prstGeom prst="ellipse">
            <a:avLst/>
          </a:prstGeom>
          <a:solidFill>
            <a:srgbClr val="C9C1E8"/>
          </a:solidFill>
          <a:ln w="12700">
            <a:solidFill>
              <a:srgbClr val="FFFFFF"/>
            </a:solidFill>
            <a:prstDash val="solid"/>
          </a:ln>
        </p:spPr>
      </p:sp>
      <p:sp>
        <p:nvSpPr>
          <p:cNvPr id="6" name="Text 4"/>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115568"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Agent Lifecycle Management</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Versioning, dev/test/prod promotion, approval gates, rollback, central agent catalog</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Turns pilot sprawl into a governed portfolio</a:t>
            </a:r>
            <a:endParaRPr lang="en-US" sz="1250" dirty="0"/>
          </a:p>
        </p:txBody>
      </p:sp>
      <p:sp>
        <p:nvSpPr>
          <p:cNvPr id="8" name="Shape 6"/>
          <p:cNvSpPr/>
          <p:nvPr/>
        </p:nvSpPr>
        <p:spPr>
          <a:xfrm>
            <a:off x="457200" y="2221992"/>
            <a:ext cx="5501488" cy="896112"/>
          </a:xfrm>
          <a:prstGeom prst="roundRect">
            <a:avLst>
              <a:gd name="adj" fmla="val 6122"/>
            </a:avLst>
          </a:prstGeom>
          <a:solidFill>
            <a:srgbClr val="DCEAF7"/>
          </a:solidFill>
          <a:ln w="9525">
            <a:solidFill>
              <a:srgbClr val="DCEAF7"/>
            </a:solidFill>
            <a:prstDash val="solid"/>
          </a:ln>
        </p:spPr>
      </p:sp>
      <p:sp>
        <p:nvSpPr>
          <p:cNvPr id="9" name="Shape 7"/>
          <p:cNvSpPr/>
          <p:nvPr/>
        </p:nvSpPr>
        <p:spPr>
          <a:xfrm>
            <a:off x="594360" y="2359152"/>
            <a:ext cx="384048" cy="384048"/>
          </a:xfrm>
          <a:prstGeom prst="ellipse">
            <a:avLst/>
          </a:prstGeom>
          <a:solidFill>
            <a:srgbClr val="A9CBEF"/>
          </a:solidFill>
          <a:ln w="12700">
            <a:solidFill>
              <a:srgbClr val="FFFFFF"/>
            </a:solidFill>
            <a:prstDash val="solid"/>
          </a:ln>
        </p:spPr>
      </p:sp>
      <p:sp>
        <p:nvSpPr>
          <p:cNvPr id="10" name="Text 8"/>
          <p:cNvSpPr txBox="1"/>
          <p:nvPr/>
        </p:nvSpPr>
        <p:spPr>
          <a:xfrm>
            <a:off x="594360"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115568"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Model Choice &amp; Portability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Multi-provider models, per-agent selection, easy swaps, own-tenant/VPC deployment</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Avoids model lock-in; protects cost and leverage</a:t>
            </a:r>
            <a:endParaRPr lang="en-US" sz="1250" dirty="0"/>
          </a:p>
        </p:txBody>
      </p:sp>
      <p:sp>
        <p:nvSpPr>
          <p:cNvPr id="12" name="Shape 10"/>
          <p:cNvSpPr/>
          <p:nvPr/>
        </p:nvSpPr>
        <p:spPr>
          <a:xfrm>
            <a:off x="457200" y="3209544"/>
            <a:ext cx="5501488" cy="896112"/>
          </a:xfrm>
          <a:prstGeom prst="roundRect">
            <a:avLst>
              <a:gd name="adj" fmla="val 6122"/>
            </a:avLst>
          </a:prstGeom>
          <a:solidFill>
            <a:srgbClr val="DCEAF7"/>
          </a:solidFill>
          <a:ln w="9525">
            <a:solidFill>
              <a:srgbClr val="DCEAF7"/>
            </a:solidFill>
            <a:prstDash val="solid"/>
          </a:ln>
        </p:spPr>
      </p:sp>
      <p:sp>
        <p:nvSpPr>
          <p:cNvPr id="13" name="Shape 11"/>
          <p:cNvSpPr/>
          <p:nvPr/>
        </p:nvSpPr>
        <p:spPr>
          <a:xfrm>
            <a:off x="594360" y="3346704"/>
            <a:ext cx="384048" cy="384048"/>
          </a:xfrm>
          <a:prstGeom prst="ellipse">
            <a:avLst/>
          </a:prstGeom>
          <a:solidFill>
            <a:srgbClr val="A9D7BB"/>
          </a:solidFill>
          <a:ln w="12700">
            <a:solidFill>
              <a:srgbClr val="FFFFFF"/>
            </a:solidFill>
            <a:prstDash val="solid"/>
          </a:ln>
        </p:spPr>
      </p:sp>
      <p:sp>
        <p:nvSpPr>
          <p:cNvPr id="14" name="Text 12"/>
          <p:cNvSpPr txBox="1"/>
          <p:nvPr/>
        </p:nvSpPr>
        <p:spPr>
          <a:xfrm>
            <a:off x="594360"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1115568"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Enterprise &amp; Healthcare Connectors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Permission-aware connectors: Snowflake, SharePoint, CRM, ITSM, FHIR/EHR, claims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Governed data access cuts integration effort</a:t>
            </a:r>
            <a:endParaRPr lang="en-US" sz="1250" dirty="0"/>
          </a:p>
        </p:txBody>
      </p:sp>
      <p:sp>
        <p:nvSpPr>
          <p:cNvPr id="16" name="Shape 14"/>
          <p:cNvSpPr/>
          <p:nvPr/>
        </p:nvSpPr>
        <p:spPr>
          <a:xfrm>
            <a:off x="457200" y="4197096"/>
            <a:ext cx="5501488" cy="896112"/>
          </a:xfrm>
          <a:prstGeom prst="roundRect">
            <a:avLst>
              <a:gd name="adj" fmla="val 6122"/>
            </a:avLst>
          </a:prstGeom>
          <a:solidFill>
            <a:srgbClr val="DCEAF7"/>
          </a:solidFill>
          <a:ln w="9525">
            <a:solidFill>
              <a:srgbClr val="DCEAF7"/>
            </a:solidFill>
            <a:prstDash val="solid"/>
          </a:ln>
        </p:spPr>
      </p:sp>
      <p:sp>
        <p:nvSpPr>
          <p:cNvPr id="17" name="Shape 15"/>
          <p:cNvSpPr/>
          <p:nvPr/>
        </p:nvSpPr>
        <p:spPr>
          <a:xfrm>
            <a:off x="594360" y="4334256"/>
            <a:ext cx="384048" cy="384048"/>
          </a:xfrm>
          <a:prstGeom prst="ellipse">
            <a:avLst/>
          </a:prstGeom>
          <a:solidFill>
            <a:srgbClr val="F5C4A3"/>
          </a:solidFill>
          <a:ln w="12700">
            <a:solidFill>
              <a:srgbClr val="FFFFFF"/>
            </a:solidFill>
            <a:prstDash val="solid"/>
          </a:ln>
        </p:spPr>
      </p:sp>
      <p:sp>
        <p:nvSpPr>
          <p:cNvPr id="18" name="Text 16"/>
          <p:cNvSpPr txBox="1"/>
          <p:nvPr/>
        </p:nvSpPr>
        <p:spPr>
          <a:xfrm>
            <a:off x="594360"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1115568"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Open Interoperability (MCP/A2A)</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Consume/expose MCP tools, A2A agent collaboration, OpenAPI/REST actions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Reusable tools; agents collaborate across platforms</a:t>
            </a:r>
            <a:endParaRPr lang="en-US" sz="1250" dirty="0"/>
          </a:p>
        </p:txBody>
      </p:sp>
      <p:sp>
        <p:nvSpPr>
          <p:cNvPr id="20" name="Shape 18"/>
          <p:cNvSpPr/>
          <p:nvPr/>
        </p:nvSpPr>
        <p:spPr>
          <a:xfrm>
            <a:off x="457200" y="5184648"/>
            <a:ext cx="5501488" cy="896112"/>
          </a:xfrm>
          <a:prstGeom prst="roundRect">
            <a:avLst>
              <a:gd name="adj" fmla="val 6122"/>
            </a:avLst>
          </a:prstGeom>
          <a:solidFill>
            <a:srgbClr val="DCEAF7"/>
          </a:solidFill>
          <a:ln w="9525">
            <a:solidFill>
              <a:srgbClr val="DCEAF7"/>
            </a:solidFill>
            <a:prstDash val="solid"/>
          </a:ln>
        </p:spPr>
      </p:sp>
      <p:sp>
        <p:nvSpPr>
          <p:cNvPr id="21" name="Shape 19"/>
          <p:cNvSpPr/>
          <p:nvPr/>
        </p:nvSpPr>
        <p:spPr>
          <a:xfrm>
            <a:off x="594360" y="5321808"/>
            <a:ext cx="384048" cy="384048"/>
          </a:xfrm>
          <a:prstGeom prst="ellipse">
            <a:avLst/>
          </a:prstGeom>
          <a:solidFill>
            <a:srgbClr val="F3DC8C"/>
          </a:solidFill>
          <a:ln w="12700">
            <a:solidFill>
              <a:srgbClr val="FFFFFF"/>
            </a:solidFill>
            <a:prstDash val="solid"/>
          </a:ln>
        </p:spPr>
      </p:sp>
      <p:sp>
        <p:nvSpPr>
          <p:cNvPr id="22" name="Text 20"/>
          <p:cNvSpPr txBox="1"/>
          <p:nvPr/>
        </p:nvSpPr>
        <p:spPr>
          <a:xfrm>
            <a:off x="594360"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1115568"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Agent Identity &amp; Least Privilege</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IdP-registered agents, OAuth on-behalf-of, scoped tool permissions, vaulted secrets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Prevents PHI over-exposure; makes access auditable</a:t>
            </a:r>
            <a:endParaRPr lang="en-US" sz="1250" dirty="0"/>
          </a:p>
        </p:txBody>
      </p:sp>
      <p:sp>
        <p:nvSpPr>
          <p:cNvPr id="24" name="Shape 22"/>
          <p:cNvSpPr/>
          <p:nvPr/>
        </p:nvSpPr>
        <p:spPr>
          <a:xfrm>
            <a:off x="6233008" y="1234440"/>
            <a:ext cx="5501488" cy="896112"/>
          </a:xfrm>
          <a:prstGeom prst="roundRect">
            <a:avLst>
              <a:gd name="adj" fmla="val 6122"/>
            </a:avLst>
          </a:prstGeom>
          <a:solidFill>
            <a:srgbClr val="DCEAF7"/>
          </a:solidFill>
          <a:ln w="9525">
            <a:solidFill>
              <a:srgbClr val="DCEAF7"/>
            </a:solidFill>
            <a:prstDash val="solid"/>
          </a:ln>
        </p:spPr>
      </p:sp>
      <p:sp>
        <p:nvSpPr>
          <p:cNvPr id="25" name="Shape 23"/>
          <p:cNvSpPr/>
          <p:nvPr/>
        </p:nvSpPr>
        <p:spPr>
          <a:xfrm>
            <a:off x="6370168" y="1371600"/>
            <a:ext cx="384048" cy="384048"/>
          </a:xfrm>
          <a:prstGeom prst="ellipse">
            <a:avLst/>
          </a:prstGeom>
          <a:solidFill>
            <a:srgbClr val="EBB5B5"/>
          </a:solidFill>
          <a:ln w="12700">
            <a:solidFill>
              <a:srgbClr val="FFFFFF"/>
            </a:solidFill>
            <a:prstDash val="solid"/>
          </a:ln>
        </p:spPr>
      </p:sp>
      <p:sp>
        <p:nvSpPr>
          <p:cNvPr id="26" name="Text 24"/>
          <p:cNvSpPr txBox="1"/>
          <p:nvPr/>
        </p:nvSpPr>
        <p:spPr>
          <a:xfrm>
            <a:off x="6370168"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6</a:t>
            </a:r>
            <a:endParaRPr lang="en-US" sz="1100" dirty="0"/>
          </a:p>
        </p:txBody>
      </p:sp>
      <p:sp>
        <p:nvSpPr>
          <p:cNvPr id="27" name="Text 25"/>
          <p:cNvSpPr txBox="1"/>
          <p:nvPr/>
        </p:nvSpPr>
        <p:spPr>
          <a:xfrm>
            <a:off x="6891376"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Guardrails &amp; HIPAA/PHI Safety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PHI redaction, prompt-injection defense, grounding checks, signed BAA, residency</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Lets pilots pass privacy and compliance review</a:t>
            </a:r>
            <a:endParaRPr lang="en-US" sz="1250" dirty="0"/>
          </a:p>
        </p:txBody>
      </p:sp>
      <p:sp>
        <p:nvSpPr>
          <p:cNvPr id="28" name="Shape 26"/>
          <p:cNvSpPr/>
          <p:nvPr/>
        </p:nvSpPr>
        <p:spPr>
          <a:xfrm>
            <a:off x="6233008" y="2221992"/>
            <a:ext cx="5501488" cy="896112"/>
          </a:xfrm>
          <a:prstGeom prst="roundRect">
            <a:avLst>
              <a:gd name="adj" fmla="val 6122"/>
            </a:avLst>
          </a:prstGeom>
          <a:solidFill>
            <a:srgbClr val="DCEAF7"/>
          </a:solidFill>
          <a:ln w="9525">
            <a:solidFill>
              <a:srgbClr val="DCEAF7"/>
            </a:solidFill>
            <a:prstDash val="solid"/>
          </a:ln>
        </p:spPr>
      </p:sp>
      <p:sp>
        <p:nvSpPr>
          <p:cNvPr id="29" name="Shape 27"/>
          <p:cNvSpPr/>
          <p:nvPr/>
        </p:nvSpPr>
        <p:spPr>
          <a:xfrm>
            <a:off x="6370168" y="2359152"/>
            <a:ext cx="384048" cy="384048"/>
          </a:xfrm>
          <a:prstGeom prst="ellipse">
            <a:avLst/>
          </a:prstGeom>
          <a:solidFill>
            <a:srgbClr val="C9C1E8"/>
          </a:solidFill>
          <a:ln w="12700">
            <a:solidFill>
              <a:srgbClr val="FFFFFF"/>
            </a:solidFill>
            <a:prstDash val="solid"/>
          </a:ln>
        </p:spPr>
      </p:sp>
      <p:sp>
        <p:nvSpPr>
          <p:cNvPr id="30" name="Text 28"/>
          <p:cNvSpPr txBox="1"/>
          <p:nvPr/>
        </p:nvSpPr>
        <p:spPr>
          <a:xfrm>
            <a:off x="6370168"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7</a:t>
            </a:r>
            <a:endParaRPr lang="en-US" sz="1100" dirty="0"/>
          </a:p>
        </p:txBody>
      </p:sp>
      <p:sp>
        <p:nvSpPr>
          <p:cNvPr id="31" name="Text 29"/>
          <p:cNvSpPr txBox="1"/>
          <p:nvPr/>
        </p:nvSpPr>
        <p:spPr>
          <a:xfrm>
            <a:off x="6891376"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Human-in-the-Loop Controls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Approval steps, confidence thresholds, escalation, per-agent autonomy levels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Safe automation; humans own consequential decisions</a:t>
            </a:r>
            <a:endParaRPr lang="en-US" sz="1250" dirty="0"/>
          </a:p>
        </p:txBody>
      </p:sp>
      <p:sp>
        <p:nvSpPr>
          <p:cNvPr id="32" name="Shape 30"/>
          <p:cNvSpPr/>
          <p:nvPr/>
        </p:nvSpPr>
        <p:spPr>
          <a:xfrm>
            <a:off x="6233008" y="3209544"/>
            <a:ext cx="5501488" cy="896112"/>
          </a:xfrm>
          <a:prstGeom prst="roundRect">
            <a:avLst>
              <a:gd name="adj" fmla="val 6122"/>
            </a:avLst>
          </a:prstGeom>
          <a:solidFill>
            <a:srgbClr val="DCEAF7"/>
          </a:solidFill>
          <a:ln w="9525">
            <a:solidFill>
              <a:srgbClr val="DCEAF7"/>
            </a:solidFill>
            <a:prstDash val="solid"/>
          </a:ln>
        </p:spPr>
      </p:sp>
      <p:sp>
        <p:nvSpPr>
          <p:cNvPr id="33" name="Shape 31"/>
          <p:cNvSpPr/>
          <p:nvPr/>
        </p:nvSpPr>
        <p:spPr>
          <a:xfrm>
            <a:off x="6370168" y="3346704"/>
            <a:ext cx="384048" cy="384048"/>
          </a:xfrm>
          <a:prstGeom prst="ellipse">
            <a:avLst/>
          </a:prstGeom>
          <a:solidFill>
            <a:srgbClr val="A9CBEF"/>
          </a:solidFill>
          <a:ln w="12700">
            <a:solidFill>
              <a:srgbClr val="FFFFFF"/>
            </a:solidFill>
            <a:prstDash val="solid"/>
          </a:ln>
        </p:spPr>
      </p:sp>
      <p:sp>
        <p:nvSpPr>
          <p:cNvPr id="34" name="Text 32"/>
          <p:cNvSpPr txBox="1"/>
          <p:nvPr/>
        </p:nvSpPr>
        <p:spPr>
          <a:xfrm>
            <a:off x="6370168"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8</a:t>
            </a:r>
            <a:endParaRPr lang="en-US" sz="1100" dirty="0"/>
          </a:p>
        </p:txBody>
      </p:sp>
      <p:sp>
        <p:nvSpPr>
          <p:cNvPr id="35" name="Text 33"/>
          <p:cNvSpPr txBox="1"/>
          <p:nvPr/>
        </p:nvSpPr>
        <p:spPr>
          <a:xfrm>
            <a:off x="6891376"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Evaluation &amp; Quality Gates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Eval datasets, LLM-as-judge, regression tests, red-teaming, CI/CD gates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Evidence-based scaling; supports model-risk governance</a:t>
            </a:r>
            <a:endParaRPr lang="en-US" sz="1250" dirty="0"/>
          </a:p>
        </p:txBody>
      </p:sp>
      <p:sp>
        <p:nvSpPr>
          <p:cNvPr id="36" name="Shape 34"/>
          <p:cNvSpPr/>
          <p:nvPr/>
        </p:nvSpPr>
        <p:spPr>
          <a:xfrm>
            <a:off x="6233008" y="4197096"/>
            <a:ext cx="5501488" cy="896112"/>
          </a:xfrm>
          <a:prstGeom prst="roundRect">
            <a:avLst>
              <a:gd name="adj" fmla="val 6122"/>
            </a:avLst>
          </a:prstGeom>
          <a:solidFill>
            <a:srgbClr val="DCEAF7"/>
          </a:solidFill>
          <a:ln w="9525">
            <a:solidFill>
              <a:srgbClr val="DCEAF7"/>
            </a:solidFill>
            <a:prstDash val="solid"/>
          </a:ln>
        </p:spPr>
      </p:sp>
      <p:sp>
        <p:nvSpPr>
          <p:cNvPr id="37" name="Shape 35"/>
          <p:cNvSpPr/>
          <p:nvPr/>
        </p:nvSpPr>
        <p:spPr>
          <a:xfrm>
            <a:off x="6370168" y="4334256"/>
            <a:ext cx="384048" cy="384048"/>
          </a:xfrm>
          <a:prstGeom prst="ellipse">
            <a:avLst/>
          </a:prstGeom>
          <a:solidFill>
            <a:srgbClr val="A9D7BB"/>
          </a:solidFill>
          <a:ln w="12700">
            <a:solidFill>
              <a:srgbClr val="FFFFFF"/>
            </a:solidFill>
            <a:prstDash val="solid"/>
          </a:ln>
        </p:spPr>
      </p:sp>
      <p:sp>
        <p:nvSpPr>
          <p:cNvPr id="38" name="Text 36"/>
          <p:cNvSpPr txBox="1"/>
          <p:nvPr/>
        </p:nvSpPr>
        <p:spPr>
          <a:xfrm>
            <a:off x="6370168"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9</a:t>
            </a:r>
            <a:endParaRPr lang="en-US" sz="1100" dirty="0"/>
          </a:p>
        </p:txBody>
      </p:sp>
      <p:sp>
        <p:nvSpPr>
          <p:cNvPr id="39" name="Text 37"/>
          <p:cNvSpPr txBox="1"/>
          <p:nvPr/>
        </p:nvSpPr>
        <p:spPr>
          <a:xfrm>
            <a:off x="6891376"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Observability &amp; Audit Trail</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Step-level traces, tokens/cost/latency, OpenTelemetry export, immutable action logs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Debug failures; prove actions for HIPAA audit</a:t>
            </a:r>
            <a:endParaRPr lang="en-US" sz="1250" dirty="0"/>
          </a:p>
        </p:txBody>
      </p:sp>
      <p:sp>
        <p:nvSpPr>
          <p:cNvPr id="40" name="Shape 38"/>
          <p:cNvSpPr/>
          <p:nvPr/>
        </p:nvSpPr>
        <p:spPr>
          <a:xfrm>
            <a:off x="6233008" y="5184648"/>
            <a:ext cx="5501488" cy="896112"/>
          </a:xfrm>
          <a:prstGeom prst="roundRect">
            <a:avLst>
              <a:gd name="adj" fmla="val 6122"/>
            </a:avLst>
          </a:prstGeom>
          <a:solidFill>
            <a:srgbClr val="DCEAF7"/>
          </a:solidFill>
          <a:ln w="9525">
            <a:solidFill>
              <a:srgbClr val="DCEAF7"/>
            </a:solidFill>
            <a:prstDash val="solid"/>
          </a:ln>
        </p:spPr>
      </p:sp>
      <p:sp>
        <p:nvSpPr>
          <p:cNvPr id="41" name="Shape 39"/>
          <p:cNvSpPr/>
          <p:nvPr/>
        </p:nvSpPr>
        <p:spPr>
          <a:xfrm>
            <a:off x="6370168" y="5321808"/>
            <a:ext cx="384048" cy="384048"/>
          </a:xfrm>
          <a:prstGeom prst="ellipse">
            <a:avLst/>
          </a:prstGeom>
          <a:solidFill>
            <a:srgbClr val="F5C4A3"/>
          </a:solidFill>
          <a:ln w="12700">
            <a:solidFill>
              <a:srgbClr val="FFFFFF"/>
            </a:solidFill>
            <a:prstDash val="solid"/>
          </a:ln>
        </p:spPr>
      </p:sp>
      <p:sp>
        <p:nvSpPr>
          <p:cNvPr id="42" name="Text 40"/>
          <p:cNvSpPr txBox="1"/>
          <p:nvPr/>
        </p:nvSpPr>
        <p:spPr>
          <a:xfrm>
            <a:off x="6370168"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10</a:t>
            </a:r>
            <a:endParaRPr lang="en-US" sz="1100" dirty="0"/>
          </a:p>
        </p:txBody>
      </p:sp>
      <p:sp>
        <p:nvSpPr>
          <p:cNvPr id="43" name="Text 41"/>
          <p:cNvSpPr txBox="1"/>
          <p:nvPr/>
        </p:nvSpPr>
        <p:spPr>
          <a:xfrm>
            <a:off x="6891376"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FinOps &amp; Domain Isolation</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Cost attribution by agent/domain, budgets, quotas, isolated domain workspaces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Keeps consumption costs sustainable; enables federated adoption</a:t>
            </a:r>
            <a:endParaRPr lang="en-US" sz="1250" dirty="0"/>
          </a:p>
        </p:txBody>
      </p:sp>
      <p:sp>
        <p:nvSpPr>
          <p:cNvPr id="44" name="Text 42"/>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OUTPUTS/ipaas/ai_capabilities_scoring_templates.md</a:t>
            </a:r>
            <a:endParaRPr lang="en-US" sz="900" dirty="0"/>
          </a:p>
        </p:txBody>
      </p:sp>
      <p:sp>
        <p:nvSpPr>
          <p:cNvPr id="45" name="Text 43"/>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1 OF 6 · VENDOR COMPARISON</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Agent Platforms — Vendor Comparison</a:t>
            </a:r>
            <a:endParaRPr lang="en-US" sz="2800" dirty="0"/>
          </a:p>
        </p:txBody>
      </p:sp>
      <p:sp>
        <p:nvSpPr>
          <p:cNvPr id="4" name="Text 2"/>
          <p:cNvSpPr txBox="1"/>
          <p:nvPr/>
        </p:nvSpPr>
        <p:spPr>
          <a:xfrm>
            <a:off x="10134295" y="347472"/>
            <a:ext cx="109728"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0</a:t>
            </a:r>
            <a:endParaRPr lang="en-US" sz="900" dirty="0"/>
          </a:p>
        </p:txBody>
      </p:sp>
      <p:sp>
        <p:nvSpPr>
          <p:cNvPr id="5" name="Shape 3"/>
          <p:cNvSpPr/>
          <p:nvPr/>
        </p:nvSpPr>
        <p:spPr>
          <a:xfrm>
            <a:off x="10271455" y="365760"/>
            <a:ext cx="182880" cy="182880"/>
          </a:xfrm>
          <a:prstGeom prst="roundRect">
            <a:avLst>
              <a:gd name="adj" fmla="val 15000"/>
            </a:avLst>
          </a:prstGeom>
          <a:solidFill>
            <a:srgbClr val="F4F5F7"/>
          </a:solidFill>
          <a:ln w="6350">
            <a:solidFill>
              <a:srgbClr val="D9DEE5"/>
            </a:solidFill>
            <a:prstDash val="solid"/>
          </a:ln>
        </p:spPr>
      </p:sp>
      <p:sp>
        <p:nvSpPr>
          <p:cNvPr id="6" name="Shape 4"/>
          <p:cNvSpPr/>
          <p:nvPr/>
        </p:nvSpPr>
        <p:spPr>
          <a:xfrm>
            <a:off x="10490911" y="365760"/>
            <a:ext cx="182880" cy="182880"/>
          </a:xfrm>
          <a:prstGeom prst="roundRect">
            <a:avLst>
              <a:gd name="adj" fmla="val 15000"/>
            </a:avLst>
          </a:prstGeom>
          <a:solidFill>
            <a:srgbClr val="E6F2EA"/>
          </a:solidFill>
          <a:ln w="6350">
            <a:solidFill>
              <a:srgbClr val="D9DEE5"/>
            </a:solidFill>
            <a:prstDash val="solid"/>
          </a:ln>
        </p:spPr>
      </p:sp>
      <p:sp>
        <p:nvSpPr>
          <p:cNvPr id="7" name="Shape 5"/>
          <p:cNvSpPr/>
          <p:nvPr/>
        </p:nvSpPr>
        <p:spPr>
          <a:xfrm>
            <a:off x="10710367" y="365760"/>
            <a:ext cx="182880" cy="182880"/>
          </a:xfrm>
          <a:prstGeom prst="roundRect">
            <a:avLst>
              <a:gd name="adj" fmla="val 15000"/>
            </a:avLst>
          </a:prstGeom>
          <a:solidFill>
            <a:srgbClr val="CFE8D8"/>
          </a:solidFill>
          <a:ln w="6350">
            <a:solidFill>
              <a:srgbClr val="D9DEE5"/>
            </a:solidFill>
            <a:prstDash val="solid"/>
          </a:ln>
        </p:spPr>
      </p:sp>
      <p:sp>
        <p:nvSpPr>
          <p:cNvPr id="8" name="Shape 6"/>
          <p:cNvSpPr/>
          <p:nvPr/>
        </p:nvSpPr>
        <p:spPr>
          <a:xfrm>
            <a:off x="10929823" y="365760"/>
            <a:ext cx="182880" cy="182880"/>
          </a:xfrm>
          <a:prstGeom prst="roundRect">
            <a:avLst>
              <a:gd name="adj" fmla="val 15000"/>
            </a:avLst>
          </a:prstGeom>
          <a:solidFill>
            <a:srgbClr val="A9D7BB"/>
          </a:solidFill>
          <a:ln w="6350">
            <a:solidFill>
              <a:srgbClr val="D9DEE5"/>
            </a:solidFill>
            <a:prstDash val="solid"/>
          </a:ln>
        </p:spPr>
      </p:sp>
      <p:sp>
        <p:nvSpPr>
          <p:cNvPr id="9" name="Shape 7"/>
          <p:cNvSpPr/>
          <p:nvPr/>
        </p:nvSpPr>
        <p:spPr>
          <a:xfrm>
            <a:off x="11149279" y="365760"/>
            <a:ext cx="182880" cy="182880"/>
          </a:xfrm>
          <a:prstGeom prst="roundRect">
            <a:avLst>
              <a:gd name="adj" fmla="val 15000"/>
            </a:avLst>
          </a:prstGeom>
          <a:solidFill>
            <a:srgbClr val="7DBF98"/>
          </a:solidFill>
          <a:ln w="6350">
            <a:solidFill>
              <a:srgbClr val="D9DEE5"/>
            </a:solidFill>
            <a:prstDash val="solid"/>
          </a:ln>
        </p:spPr>
      </p:sp>
      <p:sp>
        <p:nvSpPr>
          <p:cNvPr id="10" name="Text 8"/>
          <p:cNvSpPr txBox="1"/>
          <p:nvPr/>
        </p:nvSpPr>
        <p:spPr>
          <a:xfrm>
            <a:off x="11387023" y="347472"/>
            <a:ext cx="137160"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4</a:t>
            </a:r>
            <a:endParaRPr lang="en-US" sz="900" dirty="0"/>
          </a:p>
        </p:txBody>
      </p:sp>
      <p:sp>
        <p:nvSpPr>
          <p:cNvPr id="11" name="Shape 9"/>
          <p:cNvSpPr/>
          <p:nvPr/>
        </p:nvSpPr>
        <p:spPr>
          <a:xfrm>
            <a:off x="8579815" y="338328"/>
            <a:ext cx="1417320" cy="237744"/>
          </a:xfrm>
          <a:prstGeom prst="roundRect">
            <a:avLst>
              <a:gd name="adj" fmla="val 23077"/>
            </a:avLst>
          </a:prstGeom>
          <a:solidFill>
            <a:srgbClr val="8CC4EA"/>
          </a:solidFill>
          <a:ln w="19050">
            <a:solidFill>
              <a:srgbClr val="3F8FC7"/>
            </a:solidFill>
            <a:prstDash val="solid"/>
          </a:ln>
        </p:spPr>
      </p:sp>
      <p:sp>
        <p:nvSpPr>
          <p:cNvPr id="12" name="Text 10"/>
          <p:cNvSpPr txBox="1"/>
          <p:nvPr/>
        </p:nvSpPr>
        <p:spPr>
          <a:xfrm>
            <a:off x="8579815" y="338328"/>
            <a:ext cx="1417320" cy="237744"/>
          </a:xfrm>
          <a:prstGeom prst="rect">
            <a:avLst/>
          </a:prstGeom>
          <a:noFill/>
          <a:ln/>
        </p:spPr>
        <p:txBody>
          <a:bodyPr wrap="square" lIns="0" tIns="0" rIns="0" bIns="0" rtlCol="0" anchor="ctr"/>
          <a:lstStyle/>
          <a:p>
            <a:pPr algn="ctr" indent="0" marL="0">
              <a:buNone/>
            </a:pPr>
            <a:r>
              <a:rPr lang="en-US" sz="900" dirty="0">
                <a:solidFill>
                  <a:srgbClr val="2F3E4E"/>
                </a:solidFill>
                <a:latin typeface="Arial" pitchFamily="34" charset="0"/>
                <a:ea typeface="Arial" pitchFamily="34" charset="-122"/>
                <a:cs typeface="Arial" pitchFamily="34" charset="-120"/>
              </a:rPr>
              <a:t>❄ Snowflake platform</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7295" cy="914400"/>
        </p:xfrm>
        <a:graphic>
          <a:graphicData uri="http://schemas.openxmlformats.org/drawingml/2006/table">
            <a:tbl>
              <a:tblPr/>
              <a:tblGrid>
                <a:gridCol w="365760"/>
                <a:gridCol w="2240280"/>
                <a:gridCol w="1734251"/>
                <a:gridCol w="1734251"/>
                <a:gridCol w="1734251"/>
                <a:gridCol w="1734251"/>
                <a:gridCol w="1734251"/>
              </a:tblGrid>
              <a:tr h="530352">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Capability</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Copilot Studio</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Microsoft Foundry Agent Service</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AWS Bedrock AgentCore</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Google Gemini Ent. Agent Platform</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i="1" dirty="0">
                          <a:solidFill>
                            <a:srgbClr val="2F3E4E"/>
                          </a:solidFill>
                          <a:latin typeface="Arial" pitchFamily="34" charset="0"/>
                          <a:ea typeface="Arial" pitchFamily="34" charset="-122"/>
                          <a:cs typeface="Arial" pitchFamily="34" charset="-120"/>
                        </a:rPr>
                        <a:t>❄ Ref: Snowflake Cortex Agents</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8CC4EA"/>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Agent Lifecycle Management</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Model Choice &amp; Portability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Enterprise &amp; Healthcare Connectors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Open Interoperability (MCP/A2A)</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Agent Identity &amp; Least Privilege</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Guardrails &amp; HIPAA/PHI Safety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7</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Human-in-the-Loop Controls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8</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Evaluation &amp; Quality Gates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9</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Observability &amp; Audit Trail</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10</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FinOps &amp; Domain Isolation</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29184">
                <a:tc>
                  <a:txBody>
                    <a:bodyPr/>
                    <a:lstStyle/>
                    <a:p>
                      <a:pPr indent="0" marL="0">
                        <a:buNone/>
                      </a:pPr>
                      <a:endParaRPr lang="en-US" sz="12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Weighted total</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2F3E4E"/>
                          </a:solidFill>
                          <a:latin typeface="Arial" pitchFamily="34" charset="0"/>
                          <a:ea typeface="Arial" pitchFamily="34" charset="-122"/>
                          <a:cs typeface="Arial" pitchFamily="34" charset="-120"/>
                        </a:rPr>
                        <a:t>82.5%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DFF1E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77.5%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80.0%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60.0%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r>
            </a:tbl>
          </a:graphicData>
        </a:graphic>
      </p:graphicFrame>
      <p:sp>
        <p:nvSpPr>
          <p:cNvPr id="14" name="Shape 11"/>
          <p:cNvSpPr/>
          <p:nvPr/>
        </p:nvSpPr>
        <p:spPr>
          <a:xfrm>
            <a:off x="10000244" y="1234440"/>
            <a:ext cx="1734251" cy="3877056"/>
          </a:xfrm>
          <a:prstGeom prst="rect">
            <a:avLst/>
          </a:prstGeom>
          <a:ln w="28575">
            <a:solidFill>
              <a:srgbClr val="3F8FC7"/>
            </a:solidFill>
            <a:prstDash val="solid"/>
          </a:ln>
        </p:spPr>
      </p:sp>
      <p:sp>
        <p:nvSpPr>
          <p:cNvPr id="15" name="Shape 12"/>
          <p:cNvSpPr/>
          <p:nvPr/>
        </p:nvSpPr>
        <p:spPr>
          <a:xfrm>
            <a:off x="457200" y="5239512"/>
            <a:ext cx="11277295" cy="905256"/>
          </a:xfrm>
          <a:prstGeom prst="roundRect">
            <a:avLst>
              <a:gd name="adj" fmla="val 6061"/>
            </a:avLst>
          </a:prstGeom>
          <a:solidFill>
            <a:srgbClr val="FFF3C9"/>
          </a:solidFill>
          <a:ln w="9525">
            <a:solidFill>
              <a:srgbClr val="FFF3C9"/>
            </a:solidFill>
            <a:prstDash val="solid"/>
          </a:ln>
        </p:spPr>
      </p:sp>
      <p:sp>
        <p:nvSpPr>
          <p:cNvPr id="16" name="Text 13"/>
          <p:cNvSpPr txBox="1"/>
          <p:nvPr/>
        </p:nvSpPr>
        <p:spPr>
          <a:xfrm>
            <a:off x="640080" y="5312664"/>
            <a:ext cx="10911535" cy="758952"/>
          </a:xfrm>
          <a:prstGeom prst="rect">
            <a:avLst/>
          </a:prstGeom>
          <a:noFill/>
          <a:ln/>
        </p:spPr>
        <p:txBody>
          <a:bodyPr wrap="square" lIns="0" tIns="0" rIns="0" bIns="0" rtlCol="0" anchor="ctr"/>
          <a:lstStyle/>
          <a:p>
            <a:pPr indent="0" marL="0">
              <a:spcAft>
                <a:spcPts val="300"/>
              </a:spcAft>
              <a:buNone/>
            </a:pPr>
            <a:r>
              <a:rPr lang="en-US" sz="1050" b="1" dirty="0">
                <a:solidFill>
                  <a:srgbClr val="2F3E4E"/>
                </a:solidFill>
                <a:latin typeface="Arial" pitchFamily="34" charset="0"/>
                <a:ea typeface="Arial" pitchFamily="34" charset="-122"/>
                <a:cs typeface="Arial" pitchFamily="34" charset="-120"/>
              </a:rPr>
              <a:t>Takeaway  </a:t>
            </a:r>
            <a:pPr indent="0" marL="0">
              <a:spcAft>
                <a:spcPts val="300"/>
              </a:spcAft>
              <a:buNone/>
            </a:pPr>
            <a:r>
              <a:rPr lang="en-US" sz="1050" dirty="0">
                <a:solidFill>
                  <a:srgbClr val="2F3E4E"/>
                </a:solidFill>
                <a:latin typeface="Arial" pitchFamily="34" charset="0"/>
                <a:ea typeface="Arial" pitchFamily="34" charset="-122"/>
                <a:cs typeface="Arial" pitchFamily="34" charset="-120"/>
              </a:rPr>
              <a:t>Microsoft Foundry Agent Service (82.5%) is the best fit as the pro-code runtime, paired with Copilot Studio as the governed low-code front door under shared Entra Agent ID and Agent 365 governance. Google Gemini Enterprise Agent Platform (80.0%) and AWS Bedrock AgentCore (77.5%, portability and guardrail leader) are close alternatives and exception paths; the small gap means cloud alignment should decide. Key risks are unconfirmed BAA scope for Foundry Agent Service and partner models, Azure runtime lock-in, and roadmap churn across all vendors.</a:t>
            </a:r>
            <a:endParaRPr lang="en-US" sz="1050" dirty="0"/>
          </a:p>
        </p:txBody>
      </p:sp>
      <p:sp>
        <p:nvSpPr>
          <p:cNvPr id="17" name="Text 14"/>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OUTPUTS/ipaas/compare_agent_platform_vendors.md</a:t>
            </a:r>
            <a:endParaRPr lang="en-US" sz="900" dirty="0"/>
          </a:p>
        </p:txBody>
      </p:sp>
      <p:sp>
        <p:nvSpPr>
          <p:cNvPr id="18" name="Text 15"/>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2 OF 6 · CAPABILITIES</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Agent Frameworks — Top 10 Capabilities</a:t>
            </a:r>
            <a:endParaRPr lang="en-US" sz="2800" dirty="0"/>
          </a:p>
        </p:txBody>
      </p:sp>
      <p:sp>
        <p:nvSpPr>
          <p:cNvPr id="4" name="Shape 2"/>
          <p:cNvSpPr/>
          <p:nvPr/>
        </p:nvSpPr>
        <p:spPr>
          <a:xfrm>
            <a:off x="457200" y="1234440"/>
            <a:ext cx="5501488" cy="896112"/>
          </a:xfrm>
          <a:prstGeom prst="roundRect">
            <a:avLst>
              <a:gd name="adj" fmla="val 6122"/>
            </a:avLst>
          </a:prstGeom>
          <a:solidFill>
            <a:srgbClr val="DCEAF7"/>
          </a:solidFill>
          <a:ln w="9525">
            <a:solidFill>
              <a:srgbClr val="DCEAF7"/>
            </a:solidFill>
            <a:prstDash val="solid"/>
          </a:ln>
        </p:spPr>
      </p:sp>
      <p:sp>
        <p:nvSpPr>
          <p:cNvPr id="5" name="Shape 3"/>
          <p:cNvSpPr/>
          <p:nvPr/>
        </p:nvSpPr>
        <p:spPr>
          <a:xfrm>
            <a:off x="594360" y="1371600"/>
            <a:ext cx="384048" cy="384048"/>
          </a:xfrm>
          <a:prstGeom prst="ellipse">
            <a:avLst/>
          </a:prstGeom>
          <a:solidFill>
            <a:srgbClr val="C9C1E8"/>
          </a:solidFill>
          <a:ln w="12700">
            <a:solidFill>
              <a:srgbClr val="FFFFFF"/>
            </a:solidFill>
            <a:prstDash val="solid"/>
          </a:ln>
        </p:spPr>
      </p:sp>
      <p:sp>
        <p:nvSpPr>
          <p:cNvPr id="6" name="Text 4"/>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115568"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Stateful Orchestration &amp; Durability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Graphs/state machines, checkpoints, resume-after-failure, long runs, deterministic replay</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Multi-day healthcare workflows must survive restarts</a:t>
            </a:r>
            <a:endParaRPr lang="en-US" sz="1250" dirty="0"/>
          </a:p>
        </p:txBody>
      </p:sp>
      <p:sp>
        <p:nvSpPr>
          <p:cNvPr id="8" name="Shape 6"/>
          <p:cNvSpPr/>
          <p:nvPr/>
        </p:nvSpPr>
        <p:spPr>
          <a:xfrm>
            <a:off x="457200" y="2221992"/>
            <a:ext cx="5501488" cy="896112"/>
          </a:xfrm>
          <a:prstGeom prst="roundRect">
            <a:avLst>
              <a:gd name="adj" fmla="val 6122"/>
            </a:avLst>
          </a:prstGeom>
          <a:solidFill>
            <a:srgbClr val="DCEAF7"/>
          </a:solidFill>
          <a:ln w="9525">
            <a:solidFill>
              <a:srgbClr val="DCEAF7"/>
            </a:solidFill>
            <a:prstDash val="solid"/>
          </a:ln>
        </p:spPr>
      </p:sp>
      <p:sp>
        <p:nvSpPr>
          <p:cNvPr id="9" name="Shape 7"/>
          <p:cNvSpPr/>
          <p:nvPr/>
        </p:nvSpPr>
        <p:spPr>
          <a:xfrm>
            <a:off x="594360" y="2359152"/>
            <a:ext cx="384048" cy="384048"/>
          </a:xfrm>
          <a:prstGeom prst="ellipse">
            <a:avLst/>
          </a:prstGeom>
          <a:solidFill>
            <a:srgbClr val="A9CBEF"/>
          </a:solidFill>
          <a:ln w="12700">
            <a:solidFill>
              <a:srgbClr val="FFFFFF"/>
            </a:solidFill>
            <a:prstDash val="solid"/>
          </a:ln>
        </p:spPr>
      </p:sp>
      <p:sp>
        <p:nvSpPr>
          <p:cNvPr id="10" name="Text 8"/>
          <p:cNvSpPr txBox="1"/>
          <p:nvPr/>
        </p:nvSpPr>
        <p:spPr>
          <a:xfrm>
            <a:off x="594360"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115568"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Model-Agnostic Abstractions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Multi-provider models, structured outputs, streaming; config-only model swaps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Protects code investment as models and pricing change</a:t>
            </a:r>
            <a:endParaRPr lang="en-US" sz="1250" dirty="0"/>
          </a:p>
        </p:txBody>
      </p:sp>
      <p:sp>
        <p:nvSpPr>
          <p:cNvPr id="12" name="Shape 10"/>
          <p:cNvSpPr/>
          <p:nvPr/>
        </p:nvSpPr>
        <p:spPr>
          <a:xfrm>
            <a:off x="457200" y="3209544"/>
            <a:ext cx="5501488" cy="896112"/>
          </a:xfrm>
          <a:prstGeom prst="roundRect">
            <a:avLst>
              <a:gd name="adj" fmla="val 6122"/>
            </a:avLst>
          </a:prstGeom>
          <a:solidFill>
            <a:srgbClr val="DCEAF7"/>
          </a:solidFill>
          <a:ln w="9525">
            <a:solidFill>
              <a:srgbClr val="DCEAF7"/>
            </a:solidFill>
            <a:prstDash val="solid"/>
          </a:ln>
        </p:spPr>
      </p:sp>
      <p:sp>
        <p:nvSpPr>
          <p:cNvPr id="13" name="Shape 11"/>
          <p:cNvSpPr/>
          <p:nvPr/>
        </p:nvSpPr>
        <p:spPr>
          <a:xfrm>
            <a:off x="594360" y="3346704"/>
            <a:ext cx="384048" cy="384048"/>
          </a:xfrm>
          <a:prstGeom prst="ellipse">
            <a:avLst/>
          </a:prstGeom>
          <a:solidFill>
            <a:srgbClr val="A9D7BB"/>
          </a:solidFill>
          <a:ln w="12700">
            <a:solidFill>
              <a:srgbClr val="FFFFFF"/>
            </a:solidFill>
            <a:prstDash val="solid"/>
          </a:ln>
        </p:spPr>
      </p:sp>
      <p:sp>
        <p:nvSpPr>
          <p:cNvPr id="14" name="Text 12"/>
          <p:cNvSpPr txBox="1"/>
          <p:nvPr/>
        </p:nvSpPr>
        <p:spPr>
          <a:xfrm>
            <a:off x="594360"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1115568"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MCP / A2A Tool Protocols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Consume MCP servers, expose agents via MCP/A2A, typed tools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Plugs into enterprise tools without bespoke glue</a:t>
            </a:r>
            <a:endParaRPr lang="en-US" sz="1250" dirty="0"/>
          </a:p>
        </p:txBody>
      </p:sp>
      <p:sp>
        <p:nvSpPr>
          <p:cNvPr id="16" name="Shape 14"/>
          <p:cNvSpPr/>
          <p:nvPr/>
        </p:nvSpPr>
        <p:spPr>
          <a:xfrm>
            <a:off x="457200" y="4197096"/>
            <a:ext cx="5501488" cy="896112"/>
          </a:xfrm>
          <a:prstGeom prst="roundRect">
            <a:avLst>
              <a:gd name="adj" fmla="val 6122"/>
            </a:avLst>
          </a:prstGeom>
          <a:solidFill>
            <a:srgbClr val="DCEAF7"/>
          </a:solidFill>
          <a:ln w="9525">
            <a:solidFill>
              <a:srgbClr val="DCEAF7"/>
            </a:solidFill>
            <a:prstDash val="solid"/>
          </a:ln>
        </p:spPr>
      </p:sp>
      <p:sp>
        <p:nvSpPr>
          <p:cNvPr id="17" name="Shape 15"/>
          <p:cNvSpPr/>
          <p:nvPr/>
        </p:nvSpPr>
        <p:spPr>
          <a:xfrm>
            <a:off x="594360" y="4334256"/>
            <a:ext cx="384048" cy="384048"/>
          </a:xfrm>
          <a:prstGeom prst="ellipse">
            <a:avLst/>
          </a:prstGeom>
          <a:solidFill>
            <a:srgbClr val="F5C4A3"/>
          </a:solidFill>
          <a:ln w="12700">
            <a:solidFill>
              <a:srgbClr val="FFFFFF"/>
            </a:solidFill>
            <a:prstDash val="solid"/>
          </a:ln>
        </p:spPr>
      </p:sp>
      <p:sp>
        <p:nvSpPr>
          <p:cNvPr id="18" name="Text 16"/>
          <p:cNvSpPr txBox="1"/>
          <p:nvPr/>
        </p:nvSpPr>
        <p:spPr>
          <a:xfrm>
            <a:off x="594360"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1115568"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Multi-Agent Patterns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Supervisor/worker, hand-off, hierarchical, parallel fan-out composition</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Decomposes complex domains; reusable patterns cut defects</a:t>
            </a:r>
            <a:endParaRPr lang="en-US" sz="1250" dirty="0"/>
          </a:p>
        </p:txBody>
      </p:sp>
      <p:sp>
        <p:nvSpPr>
          <p:cNvPr id="20" name="Shape 18"/>
          <p:cNvSpPr/>
          <p:nvPr/>
        </p:nvSpPr>
        <p:spPr>
          <a:xfrm>
            <a:off x="457200" y="5184648"/>
            <a:ext cx="5501488" cy="896112"/>
          </a:xfrm>
          <a:prstGeom prst="roundRect">
            <a:avLst>
              <a:gd name="adj" fmla="val 6122"/>
            </a:avLst>
          </a:prstGeom>
          <a:solidFill>
            <a:srgbClr val="DCEAF7"/>
          </a:solidFill>
          <a:ln w="9525">
            <a:solidFill>
              <a:srgbClr val="DCEAF7"/>
            </a:solidFill>
            <a:prstDash val="solid"/>
          </a:ln>
        </p:spPr>
      </p:sp>
      <p:sp>
        <p:nvSpPr>
          <p:cNvPr id="21" name="Shape 19"/>
          <p:cNvSpPr/>
          <p:nvPr/>
        </p:nvSpPr>
        <p:spPr>
          <a:xfrm>
            <a:off x="594360" y="5321808"/>
            <a:ext cx="384048" cy="384048"/>
          </a:xfrm>
          <a:prstGeom prst="ellipse">
            <a:avLst/>
          </a:prstGeom>
          <a:solidFill>
            <a:srgbClr val="F3DC8C"/>
          </a:solidFill>
          <a:ln w="12700">
            <a:solidFill>
              <a:srgbClr val="FFFFFF"/>
            </a:solidFill>
            <a:prstDash val="solid"/>
          </a:ln>
        </p:spPr>
      </p:sp>
      <p:sp>
        <p:nvSpPr>
          <p:cNvPr id="22" name="Text 20"/>
          <p:cNvSpPr txBox="1"/>
          <p:nvPr/>
        </p:nvSpPr>
        <p:spPr>
          <a:xfrm>
            <a:off x="594360"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1115568"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Memory &amp; Context Management</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Short/long-term memory, pluggable stores, summarization, PHI-aware retention</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Improves quality and cost; keeps state HIPAA-compliant</a:t>
            </a:r>
            <a:endParaRPr lang="en-US" sz="1250" dirty="0"/>
          </a:p>
        </p:txBody>
      </p:sp>
      <p:sp>
        <p:nvSpPr>
          <p:cNvPr id="24" name="Shape 22"/>
          <p:cNvSpPr/>
          <p:nvPr/>
        </p:nvSpPr>
        <p:spPr>
          <a:xfrm>
            <a:off x="6233008" y="1234440"/>
            <a:ext cx="5501488" cy="896112"/>
          </a:xfrm>
          <a:prstGeom prst="roundRect">
            <a:avLst>
              <a:gd name="adj" fmla="val 6122"/>
            </a:avLst>
          </a:prstGeom>
          <a:solidFill>
            <a:srgbClr val="DCEAF7"/>
          </a:solidFill>
          <a:ln w="9525">
            <a:solidFill>
              <a:srgbClr val="DCEAF7"/>
            </a:solidFill>
            <a:prstDash val="solid"/>
          </a:ln>
        </p:spPr>
      </p:sp>
      <p:sp>
        <p:nvSpPr>
          <p:cNvPr id="25" name="Shape 23"/>
          <p:cNvSpPr/>
          <p:nvPr/>
        </p:nvSpPr>
        <p:spPr>
          <a:xfrm>
            <a:off x="6370168" y="1371600"/>
            <a:ext cx="384048" cy="384048"/>
          </a:xfrm>
          <a:prstGeom prst="ellipse">
            <a:avLst/>
          </a:prstGeom>
          <a:solidFill>
            <a:srgbClr val="EBB5B5"/>
          </a:solidFill>
          <a:ln w="12700">
            <a:solidFill>
              <a:srgbClr val="FFFFFF"/>
            </a:solidFill>
            <a:prstDash val="solid"/>
          </a:ln>
        </p:spPr>
      </p:sp>
      <p:sp>
        <p:nvSpPr>
          <p:cNvPr id="26" name="Text 24"/>
          <p:cNvSpPr txBox="1"/>
          <p:nvPr/>
        </p:nvSpPr>
        <p:spPr>
          <a:xfrm>
            <a:off x="6370168"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6</a:t>
            </a:r>
            <a:endParaRPr lang="en-US" sz="1100" dirty="0"/>
          </a:p>
        </p:txBody>
      </p:sp>
      <p:sp>
        <p:nvSpPr>
          <p:cNvPr id="27" name="Text 25"/>
          <p:cNvSpPr txBox="1"/>
          <p:nvPr/>
        </p:nvSpPr>
        <p:spPr>
          <a:xfrm>
            <a:off x="6891376"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Human-in-the-Loop Interrupts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Native interrupt/resume to pause for review, edits, continue</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Enables graduated autonomy on consequential healthcare actions</a:t>
            </a:r>
            <a:endParaRPr lang="en-US" sz="1250" dirty="0"/>
          </a:p>
        </p:txBody>
      </p:sp>
      <p:sp>
        <p:nvSpPr>
          <p:cNvPr id="28" name="Shape 26"/>
          <p:cNvSpPr/>
          <p:nvPr/>
        </p:nvSpPr>
        <p:spPr>
          <a:xfrm>
            <a:off x="6233008" y="2221992"/>
            <a:ext cx="5501488" cy="896112"/>
          </a:xfrm>
          <a:prstGeom prst="roundRect">
            <a:avLst>
              <a:gd name="adj" fmla="val 6122"/>
            </a:avLst>
          </a:prstGeom>
          <a:solidFill>
            <a:srgbClr val="DCEAF7"/>
          </a:solidFill>
          <a:ln w="9525">
            <a:solidFill>
              <a:srgbClr val="DCEAF7"/>
            </a:solidFill>
            <a:prstDash val="solid"/>
          </a:ln>
        </p:spPr>
      </p:sp>
      <p:sp>
        <p:nvSpPr>
          <p:cNvPr id="29" name="Shape 27"/>
          <p:cNvSpPr/>
          <p:nvPr/>
        </p:nvSpPr>
        <p:spPr>
          <a:xfrm>
            <a:off x="6370168" y="2359152"/>
            <a:ext cx="384048" cy="384048"/>
          </a:xfrm>
          <a:prstGeom prst="ellipse">
            <a:avLst/>
          </a:prstGeom>
          <a:solidFill>
            <a:srgbClr val="C9C1E8"/>
          </a:solidFill>
          <a:ln w="12700">
            <a:solidFill>
              <a:srgbClr val="FFFFFF"/>
            </a:solidFill>
            <a:prstDash val="solid"/>
          </a:ln>
        </p:spPr>
      </p:sp>
      <p:sp>
        <p:nvSpPr>
          <p:cNvPr id="30" name="Text 28"/>
          <p:cNvSpPr txBox="1"/>
          <p:nvPr/>
        </p:nvSpPr>
        <p:spPr>
          <a:xfrm>
            <a:off x="6370168"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7</a:t>
            </a:r>
            <a:endParaRPr lang="en-US" sz="1100" dirty="0"/>
          </a:p>
        </p:txBody>
      </p:sp>
      <p:sp>
        <p:nvSpPr>
          <p:cNvPr id="31" name="Text 29"/>
          <p:cNvSpPr txBox="1"/>
          <p:nvPr/>
        </p:nvSpPr>
        <p:spPr>
          <a:xfrm>
            <a:off x="6891376"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Testing &amp; Debuggability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Test harnesses, model/tool mocks, eval hooks, visual debugging, reproducibility</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Scales many agents safely; cuts rework after upgrades</a:t>
            </a:r>
            <a:endParaRPr lang="en-US" sz="1250" dirty="0"/>
          </a:p>
        </p:txBody>
      </p:sp>
      <p:sp>
        <p:nvSpPr>
          <p:cNvPr id="32" name="Shape 30"/>
          <p:cNvSpPr/>
          <p:nvPr/>
        </p:nvSpPr>
        <p:spPr>
          <a:xfrm>
            <a:off x="6233008" y="3209544"/>
            <a:ext cx="5501488" cy="896112"/>
          </a:xfrm>
          <a:prstGeom prst="roundRect">
            <a:avLst>
              <a:gd name="adj" fmla="val 6122"/>
            </a:avLst>
          </a:prstGeom>
          <a:solidFill>
            <a:srgbClr val="DCEAF7"/>
          </a:solidFill>
          <a:ln w="9525">
            <a:solidFill>
              <a:srgbClr val="DCEAF7"/>
            </a:solidFill>
            <a:prstDash val="solid"/>
          </a:ln>
        </p:spPr>
      </p:sp>
      <p:sp>
        <p:nvSpPr>
          <p:cNvPr id="33" name="Shape 31"/>
          <p:cNvSpPr/>
          <p:nvPr/>
        </p:nvSpPr>
        <p:spPr>
          <a:xfrm>
            <a:off x="6370168" y="3346704"/>
            <a:ext cx="384048" cy="384048"/>
          </a:xfrm>
          <a:prstGeom prst="ellipse">
            <a:avLst/>
          </a:prstGeom>
          <a:solidFill>
            <a:srgbClr val="A9CBEF"/>
          </a:solidFill>
          <a:ln w="12700">
            <a:solidFill>
              <a:srgbClr val="FFFFFF"/>
            </a:solidFill>
            <a:prstDash val="solid"/>
          </a:ln>
        </p:spPr>
      </p:sp>
      <p:sp>
        <p:nvSpPr>
          <p:cNvPr id="34" name="Text 32"/>
          <p:cNvSpPr txBox="1"/>
          <p:nvPr/>
        </p:nvSpPr>
        <p:spPr>
          <a:xfrm>
            <a:off x="6370168"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8</a:t>
            </a:r>
            <a:endParaRPr lang="en-US" sz="1100" dirty="0"/>
          </a:p>
        </p:txBody>
      </p:sp>
      <p:sp>
        <p:nvSpPr>
          <p:cNvPr id="35" name="Text 33"/>
          <p:cNvSpPr txBox="1"/>
          <p:nvPr/>
        </p:nvSpPr>
        <p:spPr>
          <a:xfrm>
            <a:off x="6891376"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OpenTelemetry-Native Tracing</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GenAI-convention OTel spans exportable to any backend</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Portable, unified observability; no per-team monitoring silo</a:t>
            </a:r>
            <a:endParaRPr lang="en-US" sz="1250" dirty="0"/>
          </a:p>
        </p:txBody>
      </p:sp>
      <p:sp>
        <p:nvSpPr>
          <p:cNvPr id="36" name="Shape 34"/>
          <p:cNvSpPr/>
          <p:nvPr/>
        </p:nvSpPr>
        <p:spPr>
          <a:xfrm>
            <a:off x="6233008" y="4197096"/>
            <a:ext cx="5501488" cy="896112"/>
          </a:xfrm>
          <a:prstGeom prst="roundRect">
            <a:avLst>
              <a:gd name="adj" fmla="val 6122"/>
            </a:avLst>
          </a:prstGeom>
          <a:solidFill>
            <a:srgbClr val="DCEAF7"/>
          </a:solidFill>
          <a:ln w="9525">
            <a:solidFill>
              <a:srgbClr val="DCEAF7"/>
            </a:solidFill>
            <a:prstDash val="solid"/>
          </a:ln>
        </p:spPr>
      </p:sp>
      <p:sp>
        <p:nvSpPr>
          <p:cNvPr id="37" name="Shape 35"/>
          <p:cNvSpPr/>
          <p:nvPr/>
        </p:nvSpPr>
        <p:spPr>
          <a:xfrm>
            <a:off x="6370168" y="4334256"/>
            <a:ext cx="384048" cy="384048"/>
          </a:xfrm>
          <a:prstGeom prst="ellipse">
            <a:avLst/>
          </a:prstGeom>
          <a:solidFill>
            <a:srgbClr val="A9D7BB"/>
          </a:solidFill>
          <a:ln w="12700">
            <a:solidFill>
              <a:srgbClr val="FFFFFF"/>
            </a:solidFill>
            <a:prstDash val="solid"/>
          </a:ln>
        </p:spPr>
      </p:sp>
      <p:sp>
        <p:nvSpPr>
          <p:cNvPr id="38" name="Text 36"/>
          <p:cNvSpPr txBox="1"/>
          <p:nvPr/>
        </p:nvSpPr>
        <p:spPr>
          <a:xfrm>
            <a:off x="6370168"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9</a:t>
            </a:r>
            <a:endParaRPr lang="en-US" sz="1100" dirty="0"/>
          </a:p>
        </p:txBody>
      </p:sp>
      <p:sp>
        <p:nvSpPr>
          <p:cNvPr id="39" name="Text 37"/>
          <p:cNvSpPr txBox="1"/>
          <p:nvPr/>
        </p:nvSpPr>
        <p:spPr>
          <a:xfrm>
            <a:off x="6891376"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Deployment Portability &amp; Security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Containers/K8s/serverless anywhere; sandboxed execution; vaulted secrets; supply-chain hygiene</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Runs near sensitive data; passes security review</a:t>
            </a:r>
            <a:endParaRPr lang="en-US" sz="1250" dirty="0"/>
          </a:p>
        </p:txBody>
      </p:sp>
      <p:sp>
        <p:nvSpPr>
          <p:cNvPr id="40" name="Shape 38"/>
          <p:cNvSpPr/>
          <p:nvPr/>
        </p:nvSpPr>
        <p:spPr>
          <a:xfrm>
            <a:off x="6233008" y="5184648"/>
            <a:ext cx="5501488" cy="896112"/>
          </a:xfrm>
          <a:prstGeom prst="roundRect">
            <a:avLst>
              <a:gd name="adj" fmla="val 6122"/>
            </a:avLst>
          </a:prstGeom>
          <a:solidFill>
            <a:srgbClr val="DCEAF7"/>
          </a:solidFill>
          <a:ln w="9525">
            <a:solidFill>
              <a:srgbClr val="DCEAF7"/>
            </a:solidFill>
            <a:prstDash val="solid"/>
          </a:ln>
        </p:spPr>
      </p:sp>
      <p:sp>
        <p:nvSpPr>
          <p:cNvPr id="41" name="Shape 39"/>
          <p:cNvSpPr/>
          <p:nvPr/>
        </p:nvSpPr>
        <p:spPr>
          <a:xfrm>
            <a:off x="6370168" y="5321808"/>
            <a:ext cx="384048" cy="384048"/>
          </a:xfrm>
          <a:prstGeom prst="ellipse">
            <a:avLst/>
          </a:prstGeom>
          <a:solidFill>
            <a:srgbClr val="F5C4A3"/>
          </a:solidFill>
          <a:ln w="12700">
            <a:solidFill>
              <a:srgbClr val="FFFFFF"/>
            </a:solidFill>
            <a:prstDash val="solid"/>
          </a:ln>
        </p:spPr>
      </p:sp>
      <p:sp>
        <p:nvSpPr>
          <p:cNvPr id="42" name="Text 40"/>
          <p:cNvSpPr txBox="1"/>
          <p:nvPr/>
        </p:nvSpPr>
        <p:spPr>
          <a:xfrm>
            <a:off x="6370168"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10</a:t>
            </a:r>
            <a:endParaRPr lang="en-US" sz="1100" dirty="0"/>
          </a:p>
        </p:txBody>
      </p:sp>
      <p:sp>
        <p:nvSpPr>
          <p:cNvPr id="43" name="Text 41"/>
          <p:cNvSpPr txBox="1"/>
          <p:nvPr/>
        </p:nvSpPr>
        <p:spPr>
          <a:xfrm>
            <a:off x="6891376"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Ecosystem Maturity &amp; LTS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Community, license, backing, release cadence, stable APIs, commercial support</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Avoids costly rewrites from churn or abandonment</a:t>
            </a:r>
            <a:endParaRPr lang="en-US" sz="1250" dirty="0"/>
          </a:p>
        </p:txBody>
      </p:sp>
      <p:sp>
        <p:nvSpPr>
          <p:cNvPr id="44" name="Text 42"/>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OUTPUTS/ipaas/ai_capabilities_scoring_templates.md</a:t>
            </a:r>
            <a:endParaRPr lang="en-US" sz="900" dirty="0"/>
          </a:p>
        </p:txBody>
      </p:sp>
      <p:sp>
        <p:nvSpPr>
          <p:cNvPr id="45" name="Text 43"/>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2 OF 6 · VENDOR COMPARISON</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Agent Frameworks — Vendor Comparison</a:t>
            </a:r>
            <a:endParaRPr lang="en-US" sz="2800" dirty="0"/>
          </a:p>
        </p:txBody>
      </p:sp>
      <p:sp>
        <p:nvSpPr>
          <p:cNvPr id="4" name="Text 2"/>
          <p:cNvSpPr txBox="1"/>
          <p:nvPr/>
        </p:nvSpPr>
        <p:spPr>
          <a:xfrm>
            <a:off x="10134295" y="347472"/>
            <a:ext cx="109728"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0</a:t>
            </a:r>
            <a:endParaRPr lang="en-US" sz="900" dirty="0"/>
          </a:p>
        </p:txBody>
      </p:sp>
      <p:sp>
        <p:nvSpPr>
          <p:cNvPr id="5" name="Shape 3"/>
          <p:cNvSpPr/>
          <p:nvPr/>
        </p:nvSpPr>
        <p:spPr>
          <a:xfrm>
            <a:off x="10271455" y="365760"/>
            <a:ext cx="182880" cy="182880"/>
          </a:xfrm>
          <a:prstGeom prst="roundRect">
            <a:avLst>
              <a:gd name="adj" fmla="val 15000"/>
            </a:avLst>
          </a:prstGeom>
          <a:solidFill>
            <a:srgbClr val="F4F5F7"/>
          </a:solidFill>
          <a:ln w="6350">
            <a:solidFill>
              <a:srgbClr val="D9DEE5"/>
            </a:solidFill>
            <a:prstDash val="solid"/>
          </a:ln>
        </p:spPr>
      </p:sp>
      <p:sp>
        <p:nvSpPr>
          <p:cNvPr id="6" name="Shape 4"/>
          <p:cNvSpPr/>
          <p:nvPr/>
        </p:nvSpPr>
        <p:spPr>
          <a:xfrm>
            <a:off x="10490911" y="365760"/>
            <a:ext cx="182880" cy="182880"/>
          </a:xfrm>
          <a:prstGeom prst="roundRect">
            <a:avLst>
              <a:gd name="adj" fmla="val 15000"/>
            </a:avLst>
          </a:prstGeom>
          <a:solidFill>
            <a:srgbClr val="E6F2EA"/>
          </a:solidFill>
          <a:ln w="6350">
            <a:solidFill>
              <a:srgbClr val="D9DEE5"/>
            </a:solidFill>
            <a:prstDash val="solid"/>
          </a:ln>
        </p:spPr>
      </p:sp>
      <p:sp>
        <p:nvSpPr>
          <p:cNvPr id="7" name="Shape 5"/>
          <p:cNvSpPr/>
          <p:nvPr/>
        </p:nvSpPr>
        <p:spPr>
          <a:xfrm>
            <a:off x="10710367" y="365760"/>
            <a:ext cx="182880" cy="182880"/>
          </a:xfrm>
          <a:prstGeom prst="roundRect">
            <a:avLst>
              <a:gd name="adj" fmla="val 15000"/>
            </a:avLst>
          </a:prstGeom>
          <a:solidFill>
            <a:srgbClr val="CFE8D8"/>
          </a:solidFill>
          <a:ln w="6350">
            <a:solidFill>
              <a:srgbClr val="D9DEE5"/>
            </a:solidFill>
            <a:prstDash val="solid"/>
          </a:ln>
        </p:spPr>
      </p:sp>
      <p:sp>
        <p:nvSpPr>
          <p:cNvPr id="8" name="Shape 6"/>
          <p:cNvSpPr/>
          <p:nvPr/>
        </p:nvSpPr>
        <p:spPr>
          <a:xfrm>
            <a:off x="10929823" y="365760"/>
            <a:ext cx="182880" cy="182880"/>
          </a:xfrm>
          <a:prstGeom prst="roundRect">
            <a:avLst>
              <a:gd name="adj" fmla="val 15000"/>
            </a:avLst>
          </a:prstGeom>
          <a:solidFill>
            <a:srgbClr val="A9D7BB"/>
          </a:solidFill>
          <a:ln w="6350">
            <a:solidFill>
              <a:srgbClr val="D9DEE5"/>
            </a:solidFill>
            <a:prstDash val="solid"/>
          </a:ln>
        </p:spPr>
      </p:sp>
      <p:sp>
        <p:nvSpPr>
          <p:cNvPr id="9" name="Shape 7"/>
          <p:cNvSpPr/>
          <p:nvPr/>
        </p:nvSpPr>
        <p:spPr>
          <a:xfrm>
            <a:off x="11149279" y="365760"/>
            <a:ext cx="182880" cy="182880"/>
          </a:xfrm>
          <a:prstGeom prst="roundRect">
            <a:avLst>
              <a:gd name="adj" fmla="val 15000"/>
            </a:avLst>
          </a:prstGeom>
          <a:solidFill>
            <a:srgbClr val="7DBF98"/>
          </a:solidFill>
          <a:ln w="6350">
            <a:solidFill>
              <a:srgbClr val="D9DEE5"/>
            </a:solidFill>
            <a:prstDash val="solid"/>
          </a:ln>
        </p:spPr>
      </p:sp>
      <p:sp>
        <p:nvSpPr>
          <p:cNvPr id="10" name="Text 8"/>
          <p:cNvSpPr txBox="1"/>
          <p:nvPr/>
        </p:nvSpPr>
        <p:spPr>
          <a:xfrm>
            <a:off x="11387023" y="347472"/>
            <a:ext cx="137160"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4</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7295" cy="914400"/>
        </p:xfrm>
        <a:graphic>
          <a:graphicData uri="http://schemas.openxmlformats.org/drawingml/2006/table">
            <a:tbl>
              <a:tblPr/>
              <a:tblGrid>
                <a:gridCol w="365760"/>
                <a:gridCol w="2240280"/>
                <a:gridCol w="1734251"/>
                <a:gridCol w="1734251"/>
                <a:gridCol w="1734251"/>
                <a:gridCol w="1734251"/>
                <a:gridCol w="1734251"/>
              </a:tblGrid>
              <a:tr h="530352">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Capability</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Microsoft AutoGen</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Semantic Kernel</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LangGraph</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CrewAI</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LlamaIndex Agents</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Stateful Orchestration &amp; Durability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Model-Agnostic Abstractions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MCP / A2A Tool Protocols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Multi-Agent Patterns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Memory &amp; Context Management</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Human-in-the-Loop Interrupts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7</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Testing &amp; Debuggability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8</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OpenTelemetry-Native Tracing</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9</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Deployment Portability &amp; Security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10</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Ecosystem Maturity &amp; LTS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29184">
                <a:tc>
                  <a:txBody>
                    <a:bodyPr/>
                    <a:lstStyle/>
                    <a:p>
                      <a:pPr indent="0" marL="0">
                        <a:buNone/>
                      </a:pPr>
                      <a:endParaRPr lang="en-US" sz="12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Weighted total</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55.0%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57.5%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2F3E4E"/>
                          </a:solidFill>
                          <a:latin typeface="Arial" pitchFamily="34" charset="0"/>
                          <a:ea typeface="Arial" pitchFamily="34" charset="-122"/>
                          <a:cs typeface="Arial" pitchFamily="34" charset="-120"/>
                        </a:rPr>
                        <a:t>85.0%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DFF1E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62.5%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r>
            </a:tbl>
          </a:graphicData>
        </a:graphic>
      </p:graphicFrame>
      <p:sp>
        <p:nvSpPr>
          <p:cNvPr id="12" name="Shape 9"/>
          <p:cNvSpPr/>
          <p:nvPr/>
        </p:nvSpPr>
        <p:spPr>
          <a:xfrm>
            <a:off x="457200" y="5239512"/>
            <a:ext cx="11277295" cy="905256"/>
          </a:xfrm>
          <a:prstGeom prst="roundRect">
            <a:avLst>
              <a:gd name="adj" fmla="val 6061"/>
            </a:avLst>
          </a:prstGeom>
          <a:solidFill>
            <a:srgbClr val="FFF3C9"/>
          </a:solidFill>
          <a:ln w="9525">
            <a:solidFill>
              <a:srgbClr val="FFF3C9"/>
            </a:solidFill>
            <a:prstDash val="solid"/>
          </a:ln>
        </p:spPr>
      </p:sp>
      <p:sp>
        <p:nvSpPr>
          <p:cNvPr id="13" name="Text 10"/>
          <p:cNvSpPr txBox="1"/>
          <p:nvPr/>
        </p:nvSpPr>
        <p:spPr>
          <a:xfrm>
            <a:off x="640080" y="5312664"/>
            <a:ext cx="10911535" cy="758952"/>
          </a:xfrm>
          <a:prstGeom prst="rect">
            <a:avLst/>
          </a:prstGeom>
          <a:noFill/>
          <a:ln/>
        </p:spPr>
        <p:txBody>
          <a:bodyPr wrap="square" lIns="0" tIns="0" rIns="0" bIns="0" rtlCol="0" anchor="ctr"/>
          <a:lstStyle/>
          <a:p>
            <a:pPr indent="0" marL="0">
              <a:spcAft>
                <a:spcPts val="300"/>
              </a:spcAft>
              <a:buNone/>
            </a:pPr>
            <a:r>
              <a:rPr lang="en-US" sz="900" b="1" dirty="0">
                <a:solidFill>
                  <a:srgbClr val="2F3E4E"/>
                </a:solidFill>
                <a:latin typeface="Arial" pitchFamily="34" charset="0"/>
                <a:ea typeface="Arial" pitchFamily="34" charset="-122"/>
                <a:cs typeface="Arial" pitchFamily="34" charset="-120"/>
              </a:rPr>
              <a:t>Takeaway  </a:t>
            </a:r>
            <a:pPr indent="0" marL="0">
              <a:spcAft>
                <a:spcPts val="300"/>
              </a:spcAft>
              <a:buNone/>
            </a:pPr>
            <a:r>
              <a:rPr lang="en-US" sz="900" dirty="0">
                <a:solidFill>
                  <a:srgbClr val="2F3E4E"/>
                </a:solidFill>
                <a:latin typeface="Arial" pitchFamily="34" charset="0"/>
                <a:ea typeface="Arial" pitchFamily="34" charset="-122"/>
                <a:cs typeface="Arial" pitchFamily="34" charset="-120"/>
              </a:rPr>
              <a:t>LangGraph is the best fit (85.0%), leading on durable checkpointed state, native interrupt/resume for human approval, debug/eval tooling and a stable 1.x API, and should be the primary standard. CrewAI (65.0%) is a sanctioned exception for low-risk role-based automation, LlamaIndex is used as a document/retrieval component, and Microsoft Agent Framework replaces Semantic Kernel and AutoGen (neither should be chosen for new work) as the .NET path. Key risk: LangGraph tracing is LangSmith-first, so the standard must mandate OTel export and secure BAA or self-hosted LangSmith.</a:t>
            </a:r>
            <a:endParaRPr lang="en-US" sz="900" dirty="0"/>
          </a:p>
          <a:p>
            <a:pPr indent="0" marL="0">
              <a:spcAft>
                <a:spcPts val="300"/>
              </a:spcAft>
              <a:buNone/>
            </a:pPr>
            <a:r>
              <a:rPr lang="en-US" sz="900" b="1" dirty="0">
                <a:solidFill>
                  <a:srgbClr val="2F3E4E"/>
                </a:solidFill>
                <a:latin typeface="Arial" pitchFamily="34" charset="0"/>
                <a:ea typeface="Arial" pitchFamily="34" charset="-122"/>
                <a:cs typeface="Arial" pitchFamily="34" charset="-120"/>
              </a:rPr>
              <a:t>❄ Snowflake: </a:t>
            </a:r>
            <a:pPr indent="0" marL="0">
              <a:spcAft>
                <a:spcPts val="300"/>
              </a:spcAft>
              <a:buNone/>
            </a:pPr>
            <a:r>
              <a:rPr lang="en-US" sz="900" dirty="0">
                <a:solidFill>
                  <a:srgbClr val="2F3E4E"/>
                </a:solidFill>
                <a:latin typeface="Arial" pitchFamily="34" charset="0"/>
                <a:ea typeface="Arial" pitchFamily="34" charset="-122"/>
                <a:cs typeface="Arial" pitchFamily="34" charset="-120"/>
              </a:rPr>
              <a:t>Snowflake is the governed data and context layer rather than an agent framework: agents should reach PHI via Cortex Agents, Cortex Search and Cortex Analyst (as MCP tools or through langchain-snowflake), with checkpoints, traces and eval results landing in Snowflake.</a:t>
            </a:r>
            <a:endParaRPr lang="en-US" sz="900" dirty="0"/>
          </a:p>
        </p:txBody>
      </p:sp>
      <p:sp>
        <p:nvSpPr>
          <p:cNvPr id="14" name="Text 11"/>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OUTPUTS/ipaas/compare_agent_framework_vendors.md</a:t>
            </a:r>
            <a:endParaRPr lang="en-US" sz="900" dirty="0"/>
          </a:p>
        </p:txBody>
      </p:sp>
      <p:sp>
        <p:nvSpPr>
          <p:cNvPr id="15" name="Text 12"/>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3 OF 6 · CAPABILITIES</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MCP Ecosystems — Top 10 Capabilities</a:t>
            </a:r>
            <a:endParaRPr lang="en-US" sz="2800" dirty="0"/>
          </a:p>
        </p:txBody>
      </p:sp>
      <p:sp>
        <p:nvSpPr>
          <p:cNvPr id="4" name="Shape 2"/>
          <p:cNvSpPr/>
          <p:nvPr/>
        </p:nvSpPr>
        <p:spPr>
          <a:xfrm>
            <a:off x="457200" y="1234440"/>
            <a:ext cx="5501488" cy="896112"/>
          </a:xfrm>
          <a:prstGeom prst="roundRect">
            <a:avLst>
              <a:gd name="adj" fmla="val 6122"/>
            </a:avLst>
          </a:prstGeom>
          <a:solidFill>
            <a:srgbClr val="DCEAF7"/>
          </a:solidFill>
          <a:ln w="9525">
            <a:solidFill>
              <a:srgbClr val="DCEAF7"/>
            </a:solidFill>
            <a:prstDash val="solid"/>
          </a:ln>
        </p:spPr>
      </p:sp>
      <p:sp>
        <p:nvSpPr>
          <p:cNvPr id="5" name="Shape 3"/>
          <p:cNvSpPr/>
          <p:nvPr/>
        </p:nvSpPr>
        <p:spPr>
          <a:xfrm>
            <a:off x="594360" y="1371600"/>
            <a:ext cx="384048" cy="384048"/>
          </a:xfrm>
          <a:prstGeom prst="ellipse">
            <a:avLst/>
          </a:prstGeom>
          <a:solidFill>
            <a:srgbClr val="C9C1E8"/>
          </a:solidFill>
          <a:ln w="12700">
            <a:solidFill>
              <a:srgbClr val="FFFFFF"/>
            </a:solidFill>
            <a:prstDash val="solid"/>
          </a:ln>
        </p:spPr>
      </p:sp>
      <p:sp>
        <p:nvSpPr>
          <p:cNvPr id="6" name="Text 4"/>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115568"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Spec Compliance &amp; Currency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Current MCP spec, streamable HTTP, OAuth 2.1 auth, fast spec updates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Stale implementations break interoperability and security</a:t>
            </a:r>
            <a:endParaRPr lang="en-US" sz="1250" dirty="0"/>
          </a:p>
        </p:txBody>
      </p:sp>
      <p:sp>
        <p:nvSpPr>
          <p:cNvPr id="8" name="Shape 6"/>
          <p:cNvSpPr/>
          <p:nvPr/>
        </p:nvSpPr>
        <p:spPr>
          <a:xfrm>
            <a:off x="457200" y="2221992"/>
            <a:ext cx="5501488" cy="896112"/>
          </a:xfrm>
          <a:prstGeom prst="roundRect">
            <a:avLst>
              <a:gd name="adj" fmla="val 6122"/>
            </a:avLst>
          </a:prstGeom>
          <a:solidFill>
            <a:srgbClr val="DCEAF7"/>
          </a:solidFill>
          <a:ln w="9525">
            <a:solidFill>
              <a:srgbClr val="DCEAF7"/>
            </a:solidFill>
            <a:prstDash val="solid"/>
          </a:ln>
        </p:spPr>
      </p:sp>
      <p:sp>
        <p:nvSpPr>
          <p:cNvPr id="9" name="Shape 7"/>
          <p:cNvSpPr/>
          <p:nvPr/>
        </p:nvSpPr>
        <p:spPr>
          <a:xfrm>
            <a:off x="594360" y="2359152"/>
            <a:ext cx="384048" cy="384048"/>
          </a:xfrm>
          <a:prstGeom prst="ellipse">
            <a:avLst/>
          </a:prstGeom>
          <a:solidFill>
            <a:srgbClr val="A9CBEF"/>
          </a:solidFill>
          <a:ln w="12700">
            <a:solidFill>
              <a:srgbClr val="FFFFFF"/>
            </a:solidFill>
            <a:prstDash val="solid"/>
          </a:ln>
        </p:spPr>
      </p:sp>
      <p:sp>
        <p:nvSpPr>
          <p:cNvPr id="10" name="Text 8"/>
          <p:cNvSpPr txBox="1"/>
          <p:nvPr/>
        </p:nvSpPr>
        <p:spPr>
          <a:xfrm>
            <a:off x="594360"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115568"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Enterprise Registry &amp; Discovery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Private curated registry: owner, version, data class, scopes, lifecycle</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Prevents shadow MCP; one inventory of PHI tools</a:t>
            </a:r>
            <a:endParaRPr lang="en-US" sz="1250" dirty="0"/>
          </a:p>
        </p:txBody>
      </p:sp>
      <p:sp>
        <p:nvSpPr>
          <p:cNvPr id="12" name="Shape 10"/>
          <p:cNvSpPr/>
          <p:nvPr/>
        </p:nvSpPr>
        <p:spPr>
          <a:xfrm>
            <a:off x="457200" y="3209544"/>
            <a:ext cx="5501488" cy="896112"/>
          </a:xfrm>
          <a:prstGeom prst="roundRect">
            <a:avLst>
              <a:gd name="adj" fmla="val 6122"/>
            </a:avLst>
          </a:prstGeom>
          <a:solidFill>
            <a:srgbClr val="DCEAF7"/>
          </a:solidFill>
          <a:ln w="9525">
            <a:solidFill>
              <a:srgbClr val="DCEAF7"/>
            </a:solidFill>
            <a:prstDash val="solid"/>
          </a:ln>
        </p:spPr>
      </p:sp>
      <p:sp>
        <p:nvSpPr>
          <p:cNvPr id="13" name="Shape 11"/>
          <p:cNvSpPr/>
          <p:nvPr/>
        </p:nvSpPr>
        <p:spPr>
          <a:xfrm>
            <a:off x="594360" y="3346704"/>
            <a:ext cx="384048" cy="384048"/>
          </a:xfrm>
          <a:prstGeom prst="ellipse">
            <a:avLst/>
          </a:prstGeom>
          <a:solidFill>
            <a:srgbClr val="A9D7BB"/>
          </a:solidFill>
          <a:ln w="12700">
            <a:solidFill>
              <a:srgbClr val="FFFFFF"/>
            </a:solidFill>
            <a:prstDash val="solid"/>
          </a:ln>
        </p:spPr>
      </p:sp>
      <p:sp>
        <p:nvSpPr>
          <p:cNvPr id="14" name="Text 12"/>
          <p:cNvSpPr txBox="1"/>
          <p:nvPr/>
        </p:nvSpPr>
        <p:spPr>
          <a:xfrm>
            <a:off x="594360"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1115568"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Delegated Auth &amp; Scopes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IdP OAuth, on-behalf-of tokens, per-tool scopes, no static keys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Agent access matches user entitlements for PHI, audit</a:t>
            </a:r>
            <a:endParaRPr lang="en-US" sz="1250" dirty="0"/>
          </a:p>
        </p:txBody>
      </p:sp>
      <p:sp>
        <p:nvSpPr>
          <p:cNvPr id="16" name="Shape 14"/>
          <p:cNvSpPr/>
          <p:nvPr/>
        </p:nvSpPr>
        <p:spPr>
          <a:xfrm>
            <a:off x="457200" y="4197096"/>
            <a:ext cx="5501488" cy="896112"/>
          </a:xfrm>
          <a:prstGeom prst="roundRect">
            <a:avLst>
              <a:gd name="adj" fmla="val 6122"/>
            </a:avLst>
          </a:prstGeom>
          <a:solidFill>
            <a:srgbClr val="DCEAF7"/>
          </a:solidFill>
          <a:ln w="9525">
            <a:solidFill>
              <a:srgbClr val="DCEAF7"/>
            </a:solidFill>
            <a:prstDash val="solid"/>
          </a:ln>
        </p:spPr>
      </p:sp>
      <p:sp>
        <p:nvSpPr>
          <p:cNvPr id="17" name="Shape 15"/>
          <p:cNvSpPr/>
          <p:nvPr/>
        </p:nvSpPr>
        <p:spPr>
          <a:xfrm>
            <a:off x="594360" y="4334256"/>
            <a:ext cx="384048" cy="384048"/>
          </a:xfrm>
          <a:prstGeom prst="ellipse">
            <a:avLst/>
          </a:prstGeom>
          <a:solidFill>
            <a:srgbClr val="F5C4A3"/>
          </a:solidFill>
          <a:ln w="12700">
            <a:solidFill>
              <a:srgbClr val="FFFFFF"/>
            </a:solidFill>
            <a:prstDash val="solid"/>
          </a:ln>
        </p:spPr>
      </p:sp>
      <p:sp>
        <p:nvSpPr>
          <p:cNvPr id="18" name="Text 16"/>
          <p:cNvSpPr txBox="1"/>
          <p:nvPr/>
        </p:nvSpPr>
        <p:spPr>
          <a:xfrm>
            <a:off x="594360"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1115568"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Central Gateway &amp; Policy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Gateway enforcing allow/deny lists, parameter validation, rate limits, DLP</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One control point for all agent-to-tool traffic</a:t>
            </a:r>
            <a:endParaRPr lang="en-US" sz="1250" dirty="0"/>
          </a:p>
        </p:txBody>
      </p:sp>
      <p:sp>
        <p:nvSpPr>
          <p:cNvPr id="20" name="Shape 18"/>
          <p:cNvSpPr/>
          <p:nvPr/>
        </p:nvSpPr>
        <p:spPr>
          <a:xfrm>
            <a:off x="457200" y="5184648"/>
            <a:ext cx="5501488" cy="896112"/>
          </a:xfrm>
          <a:prstGeom prst="roundRect">
            <a:avLst>
              <a:gd name="adj" fmla="val 6122"/>
            </a:avLst>
          </a:prstGeom>
          <a:solidFill>
            <a:srgbClr val="DCEAF7"/>
          </a:solidFill>
          <a:ln w="9525">
            <a:solidFill>
              <a:srgbClr val="DCEAF7"/>
            </a:solidFill>
            <a:prstDash val="solid"/>
          </a:ln>
        </p:spPr>
      </p:sp>
      <p:sp>
        <p:nvSpPr>
          <p:cNvPr id="21" name="Shape 19"/>
          <p:cNvSpPr/>
          <p:nvPr/>
        </p:nvSpPr>
        <p:spPr>
          <a:xfrm>
            <a:off x="594360" y="5321808"/>
            <a:ext cx="384048" cy="384048"/>
          </a:xfrm>
          <a:prstGeom prst="ellipse">
            <a:avLst/>
          </a:prstGeom>
          <a:solidFill>
            <a:srgbClr val="F3DC8C"/>
          </a:solidFill>
          <a:ln w="12700">
            <a:solidFill>
              <a:srgbClr val="FFFFFF"/>
            </a:solidFill>
            <a:prstDash val="solid"/>
          </a:ln>
        </p:spPr>
      </p:sp>
      <p:sp>
        <p:nvSpPr>
          <p:cNvPr id="22" name="Text 20"/>
          <p:cNvSpPr txBox="1"/>
          <p:nvPr/>
        </p:nvSpPr>
        <p:spPr>
          <a:xfrm>
            <a:off x="594360"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1115568"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MCP Threat Protection</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Defenses for tool poisoning, prompt injection, rug-pull, confused deputy</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One compromised tool can exfiltrate PHI</a:t>
            </a:r>
            <a:endParaRPr lang="en-US" sz="1250" dirty="0"/>
          </a:p>
        </p:txBody>
      </p:sp>
      <p:sp>
        <p:nvSpPr>
          <p:cNvPr id="24" name="Shape 22"/>
          <p:cNvSpPr/>
          <p:nvPr/>
        </p:nvSpPr>
        <p:spPr>
          <a:xfrm>
            <a:off x="6233008" y="1234440"/>
            <a:ext cx="5501488" cy="896112"/>
          </a:xfrm>
          <a:prstGeom prst="roundRect">
            <a:avLst>
              <a:gd name="adj" fmla="val 6122"/>
            </a:avLst>
          </a:prstGeom>
          <a:solidFill>
            <a:srgbClr val="DCEAF7"/>
          </a:solidFill>
          <a:ln w="9525">
            <a:solidFill>
              <a:srgbClr val="DCEAF7"/>
            </a:solidFill>
            <a:prstDash val="solid"/>
          </a:ln>
        </p:spPr>
      </p:sp>
      <p:sp>
        <p:nvSpPr>
          <p:cNvPr id="25" name="Shape 23"/>
          <p:cNvSpPr/>
          <p:nvPr/>
        </p:nvSpPr>
        <p:spPr>
          <a:xfrm>
            <a:off x="6370168" y="1371600"/>
            <a:ext cx="384048" cy="384048"/>
          </a:xfrm>
          <a:prstGeom prst="ellipse">
            <a:avLst/>
          </a:prstGeom>
          <a:solidFill>
            <a:srgbClr val="EBB5B5"/>
          </a:solidFill>
          <a:ln w="12700">
            <a:solidFill>
              <a:srgbClr val="FFFFFF"/>
            </a:solidFill>
            <a:prstDash val="solid"/>
          </a:ln>
        </p:spPr>
      </p:sp>
      <p:sp>
        <p:nvSpPr>
          <p:cNvPr id="26" name="Text 24"/>
          <p:cNvSpPr txBox="1"/>
          <p:nvPr/>
        </p:nvSpPr>
        <p:spPr>
          <a:xfrm>
            <a:off x="6370168"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6</a:t>
            </a:r>
            <a:endParaRPr lang="en-US" sz="1100" dirty="0"/>
          </a:p>
        </p:txBody>
      </p:sp>
      <p:sp>
        <p:nvSpPr>
          <p:cNvPr id="27" name="Text 25"/>
          <p:cNvSpPr txBox="1"/>
          <p:nvPr/>
        </p:nvSpPr>
        <p:spPr>
          <a:xfrm>
            <a:off x="6891376"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Healthcare &amp; Enterprise Servers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Supported servers for Snowflake, FHIR/EHR, claims, ServiceNow, M365, CRM</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Removes custom connector work; reveals build gaps</a:t>
            </a:r>
            <a:endParaRPr lang="en-US" sz="1250" dirty="0"/>
          </a:p>
        </p:txBody>
      </p:sp>
      <p:sp>
        <p:nvSpPr>
          <p:cNvPr id="28" name="Shape 26"/>
          <p:cNvSpPr/>
          <p:nvPr/>
        </p:nvSpPr>
        <p:spPr>
          <a:xfrm>
            <a:off x="6233008" y="2221992"/>
            <a:ext cx="5501488" cy="896112"/>
          </a:xfrm>
          <a:prstGeom prst="roundRect">
            <a:avLst>
              <a:gd name="adj" fmla="val 6122"/>
            </a:avLst>
          </a:prstGeom>
          <a:solidFill>
            <a:srgbClr val="DCEAF7"/>
          </a:solidFill>
          <a:ln w="9525">
            <a:solidFill>
              <a:srgbClr val="DCEAF7"/>
            </a:solidFill>
            <a:prstDash val="solid"/>
          </a:ln>
        </p:spPr>
      </p:sp>
      <p:sp>
        <p:nvSpPr>
          <p:cNvPr id="29" name="Shape 27"/>
          <p:cNvSpPr/>
          <p:nvPr/>
        </p:nvSpPr>
        <p:spPr>
          <a:xfrm>
            <a:off x="6370168" y="2359152"/>
            <a:ext cx="384048" cy="384048"/>
          </a:xfrm>
          <a:prstGeom prst="ellipse">
            <a:avLst/>
          </a:prstGeom>
          <a:solidFill>
            <a:srgbClr val="C9C1E8"/>
          </a:solidFill>
          <a:ln w="12700">
            <a:solidFill>
              <a:srgbClr val="FFFFFF"/>
            </a:solidFill>
            <a:prstDash val="solid"/>
          </a:ln>
        </p:spPr>
      </p:sp>
      <p:sp>
        <p:nvSpPr>
          <p:cNvPr id="30" name="Text 28"/>
          <p:cNvSpPr txBox="1"/>
          <p:nvPr/>
        </p:nvSpPr>
        <p:spPr>
          <a:xfrm>
            <a:off x="6370168"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7</a:t>
            </a:r>
            <a:endParaRPr lang="en-US" sz="1100" dirty="0"/>
          </a:p>
        </p:txBody>
      </p:sp>
      <p:sp>
        <p:nvSpPr>
          <p:cNvPr id="31" name="Text 29"/>
          <p:cNvSpPr txBox="1"/>
          <p:nvPr/>
        </p:nvSpPr>
        <p:spPr>
          <a:xfrm>
            <a:off x="6891376"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Hosting Flexibility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Kubernetes, serverless, managed or on-prem hosting; controlled local servers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Portability, data residency, tools near on-prem EHR</a:t>
            </a:r>
            <a:endParaRPr lang="en-US" sz="1250" dirty="0"/>
          </a:p>
        </p:txBody>
      </p:sp>
      <p:sp>
        <p:nvSpPr>
          <p:cNvPr id="32" name="Shape 30"/>
          <p:cNvSpPr/>
          <p:nvPr/>
        </p:nvSpPr>
        <p:spPr>
          <a:xfrm>
            <a:off x="6233008" y="3209544"/>
            <a:ext cx="5501488" cy="896112"/>
          </a:xfrm>
          <a:prstGeom prst="roundRect">
            <a:avLst>
              <a:gd name="adj" fmla="val 6122"/>
            </a:avLst>
          </a:prstGeom>
          <a:solidFill>
            <a:srgbClr val="DCEAF7"/>
          </a:solidFill>
          <a:ln w="9525">
            <a:solidFill>
              <a:srgbClr val="DCEAF7"/>
            </a:solidFill>
            <a:prstDash val="solid"/>
          </a:ln>
        </p:spPr>
      </p:sp>
      <p:sp>
        <p:nvSpPr>
          <p:cNvPr id="33" name="Shape 31"/>
          <p:cNvSpPr/>
          <p:nvPr/>
        </p:nvSpPr>
        <p:spPr>
          <a:xfrm>
            <a:off x="6370168" y="3346704"/>
            <a:ext cx="384048" cy="384048"/>
          </a:xfrm>
          <a:prstGeom prst="ellipse">
            <a:avLst/>
          </a:prstGeom>
          <a:solidFill>
            <a:srgbClr val="A9CBEF"/>
          </a:solidFill>
          <a:ln w="12700">
            <a:solidFill>
              <a:srgbClr val="FFFFFF"/>
            </a:solidFill>
            <a:prstDash val="solid"/>
          </a:ln>
        </p:spPr>
      </p:sp>
      <p:sp>
        <p:nvSpPr>
          <p:cNvPr id="34" name="Text 32"/>
          <p:cNvSpPr txBox="1"/>
          <p:nvPr/>
        </p:nvSpPr>
        <p:spPr>
          <a:xfrm>
            <a:off x="6370168"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8</a:t>
            </a:r>
            <a:endParaRPr lang="en-US" sz="1100" dirty="0"/>
          </a:p>
        </p:txBody>
      </p:sp>
      <p:sp>
        <p:nvSpPr>
          <p:cNvPr id="35" name="Text 33"/>
          <p:cNvSpPr txBox="1"/>
          <p:nvPr/>
        </p:nvSpPr>
        <p:spPr>
          <a:xfrm>
            <a:off x="6891376"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Tool-Call Observability &amp; Audit</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Per-call logs with PHI masking, OpenTelemetry export, tamper-evident retention</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Chain of custody for HIPAA audits, investigations</a:t>
            </a:r>
            <a:endParaRPr lang="en-US" sz="1250" dirty="0"/>
          </a:p>
        </p:txBody>
      </p:sp>
      <p:sp>
        <p:nvSpPr>
          <p:cNvPr id="36" name="Shape 34"/>
          <p:cNvSpPr/>
          <p:nvPr/>
        </p:nvSpPr>
        <p:spPr>
          <a:xfrm>
            <a:off x="6233008" y="4197096"/>
            <a:ext cx="5501488" cy="896112"/>
          </a:xfrm>
          <a:prstGeom prst="roundRect">
            <a:avLst>
              <a:gd name="adj" fmla="val 6122"/>
            </a:avLst>
          </a:prstGeom>
          <a:solidFill>
            <a:srgbClr val="DCEAF7"/>
          </a:solidFill>
          <a:ln w="9525">
            <a:solidFill>
              <a:srgbClr val="DCEAF7"/>
            </a:solidFill>
            <a:prstDash val="solid"/>
          </a:ln>
        </p:spPr>
      </p:sp>
      <p:sp>
        <p:nvSpPr>
          <p:cNvPr id="37" name="Shape 35"/>
          <p:cNvSpPr/>
          <p:nvPr/>
        </p:nvSpPr>
        <p:spPr>
          <a:xfrm>
            <a:off x="6370168" y="4334256"/>
            <a:ext cx="384048" cy="384048"/>
          </a:xfrm>
          <a:prstGeom prst="ellipse">
            <a:avLst/>
          </a:prstGeom>
          <a:solidFill>
            <a:srgbClr val="A9D7BB"/>
          </a:solidFill>
          <a:ln w="12700">
            <a:solidFill>
              <a:srgbClr val="FFFFFF"/>
            </a:solidFill>
            <a:prstDash val="solid"/>
          </a:ln>
        </p:spPr>
      </p:sp>
      <p:sp>
        <p:nvSpPr>
          <p:cNvPr id="38" name="Text 36"/>
          <p:cNvSpPr txBox="1"/>
          <p:nvPr/>
        </p:nvSpPr>
        <p:spPr>
          <a:xfrm>
            <a:off x="6370168"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9</a:t>
            </a:r>
            <a:endParaRPr lang="en-US" sz="1100" dirty="0"/>
          </a:p>
        </p:txBody>
      </p:sp>
      <p:sp>
        <p:nvSpPr>
          <p:cNvPr id="39" name="Text 37"/>
          <p:cNvSpPr txBox="1"/>
          <p:nvPr/>
        </p:nvSpPr>
        <p:spPr>
          <a:xfrm>
            <a:off x="6891376"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Server Dev Lifecycle</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SDKs, templates, contract tests, CI/CD, versioning, OpenAPI-to-MCP wrapping</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Turns existing APIs into governed tools repeatably</a:t>
            </a:r>
            <a:endParaRPr lang="en-US" sz="1250" dirty="0"/>
          </a:p>
        </p:txBody>
      </p:sp>
      <p:sp>
        <p:nvSpPr>
          <p:cNvPr id="40" name="Shape 38"/>
          <p:cNvSpPr/>
          <p:nvPr/>
        </p:nvSpPr>
        <p:spPr>
          <a:xfrm>
            <a:off x="6233008" y="5184648"/>
            <a:ext cx="5501488" cy="896112"/>
          </a:xfrm>
          <a:prstGeom prst="roundRect">
            <a:avLst>
              <a:gd name="adj" fmla="val 6122"/>
            </a:avLst>
          </a:prstGeom>
          <a:solidFill>
            <a:srgbClr val="DCEAF7"/>
          </a:solidFill>
          <a:ln w="9525">
            <a:solidFill>
              <a:srgbClr val="DCEAF7"/>
            </a:solidFill>
            <a:prstDash val="solid"/>
          </a:ln>
        </p:spPr>
      </p:sp>
      <p:sp>
        <p:nvSpPr>
          <p:cNvPr id="41" name="Shape 39"/>
          <p:cNvSpPr/>
          <p:nvPr/>
        </p:nvSpPr>
        <p:spPr>
          <a:xfrm>
            <a:off x="6370168" y="5321808"/>
            <a:ext cx="384048" cy="384048"/>
          </a:xfrm>
          <a:prstGeom prst="ellipse">
            <a:avLst/>
          </a:prstGeom>
          <a:solidFill>
            <a:srgbClr val="F5C4A3"/>
          </a:solidFill>
          <a:ln w="12700">
            <a:solidFill>
              <a:srgbClr val="FFFFFF"/>
            </a:solidFill>
            <a:prstDash val="solid"/>
          </a:ln>
        </p:spPr>
      </p:sp>
      <p:sp>
        <p:nvSpPr>
          <p:cNvPr id="42" name="Text 40"/>
          <p:cNvSpPr txBox="1"/>
          <p:nvPr/>
        </p:nvSpPr>
        <p:spPr>
          <a:xfrm>
            <a:off x="6370168"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10</a:t>
            </a:r>
            <a:endParaRPr lang="en-US" sz="1100" dirty="0"/>
          </a:p>
        </p:txBody>
      </p:sp>
      <p:sp>
        <p:nvSpPr>
          <p:cNvPr id="43" name="Text 41"/>
          <p:cNvSpPr txBox="1"/>
          <p:nvPr/>
        </p:nvSpPr>
        <p:spPr>
          <a:xfrm>
            <a:off x="6891376"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FinOps &amp; Usage Analytics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Per-tool/agent metering, quotas, downstream cost attribution, adoption dashboards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Controls hidden downstream costs; shows value by domain</a:t>
            </a:r>
            <a:endParaRPr lang="en-US" sz="1250" dirty="0"/>
          </a:p>
        </p:txBody>
      </p:sp>
      <p:sp>
        <p:nvSpPr>
          <p:cNvPr id="44" name="Text 42"/>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OUTPUTS/ipaas/ai_capabilities_scoring_templates.md</a:t>
            </a:r>
            <a:endParaRPr lang="en-US" sz="900" dirty="0"/>
          </a:p>
        </p:txBody>
      </p:sp>
      <p:sp>
        <p:nvSpPr>
          <p:cNvPr id="45" name="Text 43"/>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3 OF 6 · VENDOR COMPARISON</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MCP Ecosystems — Vendor Comparison</a:t>
            </a:r>
            <a:endParaRPr lang="en-US" sz="2800" dirty="0"/>
          </a:p>
        </p:txBody>
      </p:sp>
      <p:sp>
        <p:nvSpPr>
          <p:cNvPr id="4" name="Text 2"/>
          <p:cNvSpPr txBox="1"/>
          <p:nvPr/>
        </p:nvSpPr>
        <p:spPr>
          <a:xfrm>
            <a:off x="10134295" y="347472"/>
            <a:ext cx="109728"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0</a:t>
            </a:r>
            <a:endParaRPr lang="en-US" sz="900" dirty="0"/>
          </a:p>
        </p:txBody>
      </p:sp>
      <p:sp>
        <p:nvSpPr>
          <p:cNvPr id="5" name="Shape 3"/>
          <p:cNvSpPr/>
          <p:nvPr/>
        </p:nvSpPr>
        <p:spPr>
          <a:xfrm>
            <a:off x="10271455" y="365760"/>
            <a:ext cx="182880" cy="182880"/>
          </a:xfrm>
          <a:prstGeom prst="roundRect">
            <a:avLst>
              <a:gd name="adj" fmla="val 15000"/>
            </a:avLst>
          </a:prstGeom>
          <a:solidFill>
            <a:srgbClr val="F4F5F7"/>
          </a:solidFill>
          <a:ln w="6350">
            <a:solidFill>
              <a:srgbClr val="D9DEE5"/>
            </a:solidFill>
            <a:prstDash val="solid"/>
          </a:ln>
        </p:spPr>
      </p:sp>
      <p:sp>
        <p:nvSpPr>
          <p:cNvPr id="6" name="Shape 4"/>
          <p:cNvSpPr/>
          <p:nvPr/>
        </p:nvSpPr>
        <p:spPr>
          <a:xfrm>
            <a:off x="10490911" y="365760"/>
            <a:ext cx="182880" cy="182880"/>
          </a:xfrm>
          <a:prstGeom prst="roundRect">
            <a:avLst>
              <a:gd name="adj" fmla="val 15000"/>
            </a:avLst>
          </a:prstGeom>
          <a:solidFill>
            <a:srgbClr val="E6F2EA"/>
          </a:solidFill>
          <a:ln w="6350">
            <a:solidFill>
              <a:srgbClr val="D9DEE5"/>
            </a:solidFill>
            <a:prstDash val="solid"/>
          </a:ln>
        </p:spPr>
      </p:sp>
      <p:sp>
        <p:nvSpPr>
          <p:cNvPr id="7" name="Shape 5"/>
          <p:cNvSpPr/>
          <p:nvPr/>
        </p:nvSpPr>
        <p:spPr>
          <a:xfrm>
            <a:off x="10710367" y="365760"/>
            <a:ext cx="182880" cy="182880"/>
          </a:xfrm>
          <a:prstGeom prst="roundRect">
            <a:avLst>
              <a:gd name="adj" fmla="val 15000"/>
            </a:avLst>
          </a:prstGeom>
          <a:solidFill>
            <a:srgbClr val="CFE8D8"/>
          </a:solidFill>
          <a:ln w="6350">
            <a:solidFill>
              <a:srgbClr val="D9DEE5"/>
            </a:solidFill>
            <a:prstDash val="solid"/>
          </a:ln>
        </p:spPr>
      </p:sp>
      <p:sp>
        <p:nvSpPr>
          <p:cNvPr id="8" name="Shape 6"/>
          <p:cNvSpPr/>
          <p:nvPr/>
        </p:nvSpPr>
        <p:spPr>
          <a:xfrm>
            <a:off x="10929823" y="365760"/>
            <a:ext cx="182880" cy="182880"/>
          </a:xfrm>
          <a:prstGeom prst="roundRect">
            <a:avLst>
              <a:gd name="adj" fmla="val 15000"/>
            </a:avLst>
          </a:prstGeom>
          <a:solidFill>
            <a:srgbClr val="A9D7BB"/>
          </a:solidFill>
          <a:ln w="6350">
            <a:solidFill>
              <a:srgbClr val="D9DEE5"/>
            </a:solidFill>
            <a:prstDash val="solid"/>
          </a:ln>
        </p:spPr>
      </p:sp>
      <p:sp>
        <p:nvSpPr>
          <p:cNvPr id="9" name="Shape 7"/>
          <p:cNvSpPr/>
          <p:nvPr/>
        </p:nvSpPr>
        <p:spPr>
          <a:xfrm>
            <a:off x="11149279" y="365760"/>
            <a:ext cx="182880" cy="182880"/>
          </a:xfrm>
          <a:prstGeom prst="roundRect">
            <a:avLst>
              <a:gd name="adj" fmla="val 15000"/>
            </a:avLst>
          </a:prstGeom>
          <a:solidFill>
            <a:srgbClr val="7DBF98"/>
          </a:solidFill>
          <a:ln w="6350">
            <a:solidFill>
              <a:srgbClr val="D9DEE5"/>
            </a:solidFill>
            <a:prstDash val="solid"/>
          </a:ln>
        </p:spPr>
      </p:sp>
      <p:sp>
        <p:nvSpPr>
          <p:cNvPr id="10" name="Text 8"/>
          <p:cNvSpPr txBox="1"/>
          <p:nvPr/>
        </p:nvSpPr>
        <p:spPr>
          <a:xfrm>
            <a:off x="11387023" y="347472"/>
            <a:ext cx="137160"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4</a:t>
            </a:r>
            <a:endParaRPr lang="en-US" sz="900" dirty="0"/>
          </a:p>
        </p:txBody>
      </p:sp>
      <p:sp>
        <p:nvSpPr>
          <p:cNvPr id="11" name="Shape 9"/>
          <p:cNvSpPr/>
          <p:nvPr/>
        </p:nvSpPr>
        <p:spPr>
          <a:xfrm>
            <a:off x="8579815" y="338328"/>
            <a:ext cx="1417320" cy="237744"/>
          </a:xfrm>
          <a:prstGeom prst="roundRect">
            <a:avLst>
              <a:gd name="adj" fmla="val 23077"/>
            </a:avLst>
          </a:prstGeom>
          <a:solidFill>
            <a:srgbClr val="8CC4EA"/>
          </a:solidFill>
          <a:ln w="19050">
            <a:solidFill>
              <a:srgbClr val="3F8FC7"/>
            </a:solidFill>
            <a:prstDash val="solid"/>
          </a:ln>
        </p:spPr>
      </p:sp>
      <p:sp>
        <p:nvSpPr>
          <p:cNvPr id="12" name="Text 10"/>
          <p:cNvSpPr txBox="1"/>
          <p:nvPr/>
        </p:nvSpPr>
        <p:spPr>
          <a:xfrm>
            <a:off x="8579815" y="338328"/>
            <a:ext cx="1417320" cy="237744"/>
          </a:xfrm>
          <a:prstGeom prst="rect">
            <a:avLst/>
          </a:prstGeom>
          <a:noFill/>
          <a:ln/>
        </p:spPr>
        <p:txBody>
          <a:bodyPr wrap="square" lIns="0" tIns="0" rIns="0" bIns="0" rtlCol="0" anchor="ctr"/>
          <a:lstStyle/>
          <a:p>
            <a:pPr algn="ctr" indent="0" marL="0">
              <a:buNone/>
            </a:pPr>
            <a:r>
              <a:rPr lang="en-US" sz="900" dirty="0">
                <a:solidFill>
                  <a:srgbClr val="2F3E4E"/>
                </a:solidFill>
                <a:latin typeface="Arial" pitchFamily="34" charset="0"/>
                <a:ea typeface="Arial" pitchFamily="34" charset="-122"/>
                <a:cs typeface="Arial" pitchFamily="34" charset="-120"/>
              </a:rPr>
              <a:t>❄ Snowflake platform</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7295" cy="914400"/>
        </p:xfrm>
        <a:graphic>
          <a:graphicData uri="http://schemas.openxmlformats.org/drawingml/2006/table">
            <a:tbl>
              <a:tblPr/>
              <a:tblGrid>
                <a:gridCol w="365760"/>
                <a:gridCol w="2240280"/>
                <a:gridCol w="1734251"/>
                <a:gridCol w="1734251"/>
                <a:gridCol w="1734251"/>
                <a:gridCol w="1734251"/>
                <a:gridCol w="1734251"/>
              </a:tblGrid>
              <a:tr h="530352">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Capability</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Custom MCP Servers</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GitHub MCP Server</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Microsoft MCP</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AWS Bedrock AgentCore</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i="1" dirty="0">
                          <a:solidFill>
                            <a:srgbClr val="2F3E4E"/>
                          </a:solidFill>
                          <a:latin typeface="Arial" pitchFamily="34" charset="0"/>
                          <a:ea typeface="Arial" pitchFamily="34" charset="-122"/>
                          <a:cs typeface="Arial" pitchFamily="34" charset="-120"/>
                        </a:rPr>
                        <a:t>❄ Ref: Snowflake-managed MCP</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8CC4EA"/>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Spec Compliance &amp; Currency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Enterprise Registry &amp; Discovery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Delegated Auth &amp; Scopes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Central Gateway &amp; Policy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MCP Threat Protection</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Healthcare &amp; Enterprise Servers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7</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Hosting Flexibility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8</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Tool-Call Observability &amp; Audit</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9</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Server Dev Lifecycle</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10</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FinOps &amp; Usage Analytics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29184">
                <a:tc>
                  <a:txBody>
                    <a:bodyPr/>
                    <a:lstStyle/>
                    <a:p>
                      <a:pPr indent="0" marL="0">
                        <a:buNone/>
                      </a:pPr>
                      <a:endParaRPr lang="en-US" sz="12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Weighted total</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50.0%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72.5%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2F3E4E"/>
                          </a:solidFill>
                          <a:latin typeface="Arial" pitchFamily="34" charset="0"/>
                          <a:ea typeface="Arial" pitchFamily="34" charset="-122"/>
                          <a:cs typeface="Arial" pitchFamily="34" charset="-120"/>
                        </a:rPr>
                        <a:t>75.0%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DFF1E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57.5%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r>
            </a:tbl>
          </a:graphicData>
        </a:graphic>
      </p:graphicFrame>
      <p:sp>
        <p:nvSpPr>
          <p:cNvPr id="14" name="Shape 11"/>
          <p:cNvSpPr/>
          <p:nvPr/>
        </p:nvSpPr>
        <p:spPr>
          <a:xfrm>
            <a:off x="10000244" y="1234440"/>
            <a:ext cx="1734251" cy="3877056"/>
          </a:xfrm>
          <a:prstGeom prst="rect">
            <a:avLst/>
          </a:prstGeom>
          <a:ln w="28575">
            <a:solidFill>
              <a:srgbClr val="3F8FC7"/>
            </a:solidFill>
            <a:prstDash val="solid"/>
          </a:ln>
        </p:spPr>
      </p:sp>
      <p:sp>
        <p:nvSpPr>
          <p:cNvPr id="15" name="Shape 12"/>
          <p:cNvSpPr/>
          <p:nvPr/>
        </p:nvSpPr>
        <p:spPr>
          <a:xfrm>
            <a:off x="457200" y="5239512"/>
            <a:ext cx="11277295" cy="905256"/>
          </a:xfrm>
          <a:prstGeom prst="roundRect">
            <a:avLst>
              <a:gd name="adj" fmla="val 6061"/>
            </a:avLst>
          </a:prstGeom>
          <a:solidFill>
            <a:srgbClr val="FFF3C9"/>
          </a:solidFill>
          <a:ln w="9525">
            <a:solidFill>
              <a:srgbClr val="FFF3C9"/>
            </a:solidFill>
            <a:prstDash val="solid"/>
          </a:ln>
        </p:spPr>
      </p:sp>
      <p:sp>
        <p:nvSpPr>
          <p:cNvPr id="16" name="Text 13"/>
          <p:cNvSpPr txBox="1"/>
          <p:nvPr/>
        </p:nvSpPr>
        <p:spPr>
          <a:xfrm>
            <a:off x="640080" y="5312664"/>
            <a:ext cx="10911535" cy="758952"/>
          </a:xfrm>
          <a:prstGeom prst="rect">
            <a:avLst/>
          </a:prstGeom>
          <a:noFill/>
          <a:ln/>
        </p:spPr>
        <p:txBody>
          <a:bodyPr wrap="square" lIns="0" tIns="0" rIns="0" bIns="0" rtlCol="0" anchor="ctr"/>
          <a:lstStyle/>
          <a:p>
            <a:pPr indent="0" marL="0">
              <a:spcAft>
                <a:spcPts val="300"/>
              </a:spcAft>
              <a:buNone/>
            </a:pPr>
            <a:r>
              <a:rPr lang="en-US" sz="1050" b="1" dirty="0">
                <a:solidFill>
                  <a:srgbClr val="2F3E4E"/>
                </a:solidFill>
                <a:latin typeface="Arial" pitchFamily="34" charset="0"/>
                <a:ea typeface="Arial" pitchFamily="34" charset="-122"/>
                <a:cs typeface="Arial" pitchFamily="34" charset="-120"/>
              </a:rPr>
              <a:t>Takeaway  </a:t>
            </a:r>
            <a:pPr indent="0" marL="0">
              <a:spcAft>
                <a:spcPts val="300"/>
              </a:spcAft>
              <a:buNone/>
            </a:pPr>
            <a:r>
              <a:rPr lang="en-US" sz="1050" dirty="0">
                <a:solidFill>
                  <a:srgbClr val="2F3E4E"/>
                </a:solidFill>
                <a:latin typeface="Arial" pitchFamily="34" charset="0"/>
                <a:ea typeface="Arial" pitchFamily="34" charset="-122"/>
                <a:cs typeface="Arial" pitchFamily="34" charset="-120"/>
              </a:rPr>
              <a:t>Best fit is a cloud MCP gateway ecosystem, with AWS Bedrock AgentCore (75.0%) and Microsoft (72.5%) effectively tied; pick the one matching the primary hyperscaler and identity estate. Custom MCP Servers are the build standard for FHIR/claims domain servers and GitHub MCP Server is a sanctioned SDLC server, but both must sit behind the gateway and private registry. Key risks are shadow MCP, PHI leakage through tool responses (APIM cannot inspect streaming bodies) and MCP-specific threats like tool poisoning.</a:t>
            </a:r>
            <a:endParaRPr lang="en-US" sz="1050" dirty="0"/>
          </a:p>
        </p:txBody>
      </p:sp>
      <p:sp>
        <p:nvSpPr>
          <p:cNvPr id="17" name="Text 14"/>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OUTPUTS/ipaas/compare_mcp_vendors.md</a:t>
            </a:r>
            <a:endParaRPr lang="en-US" sz="900" dirty="0"/>
          </a:p>
        </p:txBody>
      </p:sp>
      <p:sp>
        <p:nvSpPr>
          <p:cNvPr id="18" name="Text 15"/>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4 OF 6 · CAPABILITIES</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RAG Frameworks — Top 10 Capabilities</a:t>
            </a:r>
            <a:endParaRPr lang="en-US" sz="2800" dirty="0"/>
          </a:p>
        </p:txBody>
      </p:sp>
      <p:sp>
        <p:nvSpPr>
          <p:cNvPr id="4" name="Shape 2"/>
          <p:cNvSpPr/>
          <p:nvPr/>
        </p:nvSpPr>
        <p:spPr>
          <a:xfrm>
            <a:off x="457200" y="1234440"/>
            <a:ext cx="5501488" cy="896112"/>
          </a:xfrm>
          <a:prstGeom prst="roundRect">
            <a:avLst>
              <a:gd name="adj" fmla="val 6122"/>
            </a:avLst>
          </a:prstGeom>
          <a:solidFill>
            <a:srgbClr val="DCEAF7"/>
          </a:solidFill>
          <a:ln w="9525">
            <a:solidFill>
              <a:srgbClr val="DCEAF7"/>
            </a:solidFill>
            <a:prstDash val="solid"/>
          </a:ln>
        </p:spPr>
      </p:sp>
      <p:sp>
        <p:nvSpPr>
          <p:cNvPr id="5" name="Shape 3"/>
          <p:cNvSpPr/>
          <p:nvPr/>
        </p:nvSpPr>
        <p:spPr>
          <a:xfrm>
            <a:off x="594360" y="1371600"/>
            <a:ext cx="384048" cy="384048"/>
          </a:xfrm>
          <a:prstGeom prst="ellipse">
            <a:avLst/>
          </a:prstGeom>
          <a:solidFill>
            <a:srgbClr val="C9C1E8"/>
          </a:solidFill>
          <a:ln w="12700">
            <a:solidFill>
              <a:srgbClr val="FFFFFF"/>
            </a:solidFill>
            <a:prstDash val="solid"/>
          </a:ln>
        </p:spPr>
      </p:sp>
      <p:sp>
        <p:nvSpPr>
          <p:cNvPr id="6" name="Text 4"/>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115568"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Document Ingestion &amp; Parsing</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Layout-aware parsing of PDFs, scans/OCR, tables, forms, C-CDA</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Parsing quality caps retrieval quality</a:t>
            </a:r>
            <a:endParaRPr lang="en-US" sz="1250" dirty="0"/>
          </a:p>
        </p:txBody>
      </p:sp>
      <p:sp>
        <p:nvSpPr>
          <p:cNvPr id="8" name="Shape 6"/>
          <p:cNvSpPr/>
          <p:nvPr/>
        </p:nvSpPr>
        <p:spPr>
          <a:xfrm>
            <a:off x="457200" y="2221992"/>
            <a:ext cx="5501488" cy="896112"/>
          </a:xfrm>
          <a:prstGeom prst="roundRect">
            <a:avLst>
              <a:gd name="adj" fmla="val 6122"/>
            </a:avLst>
          </a:prstGeom>
          <a:solidFill>
            <a:srgbClr val="DCEAF7"/>
          </a:solidFill>
          <a:ln w="9525">
            <a:solidFill>
              <a:srgbClr val="DCEAF7"/>
            </a:solidFill>
            <a:prstDash val="solid"/>
          </a:ln>
        </p:spPr>
      </p:sp>
      <p:sp>
        <p:nvSpPr>
          <p:cNvPr id="9" name="Shape 7"/>
          <p:cNvSpPr/>
          <p:nvPr/>
        </p:nvSpPr>
        <p:spPr>
          <a:xfrm>
            <a:off x="594360" y="2359152"/>
            <a:ext cx="384048" cy="384048"/>
          </a:xfrm>
          <a:prstGeom prst="ellipse">
            <a:avLst/>
          </a:prstGeom>
          <a:solidFill>
            <a:srgbClr val="A9CBEF"/>
          </a:solidFill>
          <a:ln w="12700">
            <a:solidFill>
              <a:srgbClr val="FFFFFF"/>
            </a:solidFill>
            <a:prstDash val="solid"/>
          </a:ln>
        </p:spPr>
      </p:sp>
      <p:sp>
        <p:nvSpPr>
          <p:cNvPr id="10" name="Text 8"/>
          <p:cNvSpPr txBox="1"/>
          <p:nvPr/>
        </p:nvSpPr>
        <p:spPr>
          <a:xfrm>
            <a:off x="594360"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115568"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Chunking &amp; Embedding Flexibility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Semantic/hierarchical chunking, metadata enrichment, pluggable embedding models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Tune per content type; avoid embedding lock-in</a:t>
            </a:r>
            <a:endParaRPr lang="en-US" sz="1250" dirty="0"/>
          </a:p>
        </p:txBody>
      </p:sp>
      <p:sp>
        <p:nvSpPr>
          <p:cNvPr id="12" name="Shape 10"/>
          <p:cNvSpPr/>
          <p:nvPr/>
        </p:nvSpPr>
        <p:spPr>
          <a:xfrm>
            <a:off x="457200" y="3209544"/>
            <a:ext cx="5501488" cy="896112"/>
          </a:xfrm>
          <a:prstGeom prst="roundRect">
            <a:avLst>
              <a:gd name="adj" fmla="val 6122"/>
            </a:avLst>
          </a:prstGeom>
          <a:solidFill>
            <a:srgbClr val="DCEAF7"/>
          </a:solidFill>
          <a:ln w="9525">
            <a:solidFill>
              <a:srgbClr val="DCEAF7"/>
            </a:solidFill>
            <a:prstDash val="solid"/>
          </a:ln>
        </p:spPr>
      </p:sp>
      <p:sp>
        <p:nvSpPr>
          <p:cNvPr id="13" name="Shape 11"/>
          <p:cNvSpPr/>
          <p:nvPr/>
        </p:nvSpPr>
        <p:spPr>
          <a:xfrm>
            <a:off x="594360" y="3346704"/>
            <a:ext cx="384048" cy="384048"/>
          </a:xfrm>
          <a:prstGeom prst="ellipse">
            <a:avLst/>
          </a:prstGeom>
          <a:solidFill>
            <a:srgbClr val="A9D7BB"/>
          </a:solidFill>
          <a:ln w="12700">
            <a:solidFill>
              <a:srgbClr val="FFFFFF"/>
            </a:solidFill>
            <a:prstDash val="solid"/>
          </a:ln>
        </p:spPr>
      </p:sp>
      <p:sp>
        <p:nvSpPr>
          <p:cNvPr id="14" name="Text 12"/>
          <p:cNvSpPr txBox="1"/>
          <p:nvPr/>
        </p:nvSpPr>
        <p:spPr>
          <a:xfrm>
            <a:off x="594360"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1115568"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Hybrid Retrieval &amp; Re-Ranking</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BM25 plus vector, metadata filters, re-rankers, query rewriting</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Exact codes and dates need keyword precision</a:t>
            </a:r>
            <a:endParaRPr lang="en-US" sz="1250" dirty="0"/>
          </a:p>
        </p:txBody>
      </p:sp>
      <p:sp>
        <p:nvSpPr>
          <p:cNvPr id="16" name="Shape 14"/>
          <p:cNvSpPr/>
          <p:nvPr/>
        </p:nvSpPr>
        <p:spPr>
          <a:xfrm>
            <a:off x="457200" y="4197096"/>
            <a:ext cx="5501488" cy="896112"/>
          </a:xfrm>
          <a:prstGeom prst="roundRect">
            <a:avLst>
              <a:gd name="adj" fmla="val 6122"/>
            </a:avLst>
          </a:prstGeom>
          <a:solidFill>
            <a:srgbClr val="DCEAF7"/>
          </a:solidFill>
          <a:ln w="9525">
            <a:solidFill>
              <a:srgbClr val="DCEAF7"/>
            </a:solidFill>
            <a:prstDash val="solid"/>
          </a:ln>
        </p:spPr>
      </p:sp>
      <p:sp>
        <p:nvSpPr>
          <p:cNvPr id="17" name="Shape 15"/>
          <p:cNvSpPr/>
          <p:nvPr/>
        </p:nvSpPr>
        <p:spPr>
          <a:xfrm>
            <a:off x="594360" y="4334256"/>
            <a:ext cx="384048" cy="384048"/>
          </a:xfrm>
          <a:prstGeom prst="ellipse">
            <a:avLst/>
          </a:prstGeom>
          <a:solidFill>
            <a:srgbClr val="F5C4A3"/>
          </a:solidFill>
          <a:ln w="12700">
            <a:solidFill>
              <a:srgbClr val="FFFFFF"/>
            </a:solidFill>
            <a:prstDash val="solid"/>
          </a:ln>
        </p:spPr>
      </p:sp>
      <p:sp>
        <p:nvSpPr>
          <p:cNvPr id="18" name="Text 16"/>
          <p:cNvSpPr txBox="1"/>
          <p:nvPr/>
        </p:nvSpPr>
        <p:spPr>
          <a:xfrm>
            <a:off x="594360"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1115568"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Permission-Aware Retrieval</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Source ACL trimming, identity propagation, PHI-aware filters, permission sync</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Never surface records users cannot see</a:t>
            </a:r>
            <a:endParaRPr lang="en-US" sz="1250" dirty="0"/>
          </a:p>
        </p:txBody>
      </p:sp>
      <p:sp>
        <p:nvSpPr>
          <p:cNvPr id="20" name="Shape 18"/>
          <p:cNvSpPr/>
          <p:nvPr/>
        </p:nvSpPr>
        <p:spPr>
          <a:xfrm>
            <a:off x="457200" y="5184648"/>
            <a:ext cx="5501488" cy="896112"/>
          </a:xfrm>
          <a:prstGeom prst="roundRect">
            <a:avLst>
              <a:gd name="adj" fmla="val 6122"/>
            </a:avLst>
          </a:prstGeom>
          <a:solidFill>
            <a:srgbClr val="DCEAF7"/>
          </a:solidFill>
          <a:ln w="9525">
            <a:solidFill>
              <a:srgbClr val="DCEAF7"/>
            </a:solidFill>
            <a:prstDash val="solid"/>
          </a:ln>
        </p:spPr>
      </p:sp>
      <p:sp>
        <p:nvSpPr>
          <p:cNvPr id="21" name="Shape 19"/>
          <p:cNvSpPr/>
          <p:nvPr/>
        </p:nvSpPr>
        <p:spPr>
          <a:xfrm>
            <a:off x="594360" y="5321808"/>
            <a:ext cx="384048" cy="384048"/>
          </a:xfrm>
          <a:prstGeom prst="ellipse">
            <a:avLst/>
          </a:prstGeom>
          <a:solidFill>
            <a:srgbClr val="F3DC8C"/>
          </a:solidFill>
          <a:ln w="12700">
            <a:solidFill>
              <a:srgbClr val="FFFFFF"/>
            </a:solidFill>
            <a:prstDash val="solid"/>
          </a:ln>
        </p:spPr>
      </p:sp>
      <p:sp>
        <p:nvSpPr>
          <p:cNvPr id="22" name="Text 20"/>
          <p:cNvSpPr txBox="1"/>
          <p:nvPr/>
        </p:nvSpPr>
        <p:spPr>
          <a:xfrm>
            <a:off x="594360"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1115568"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Grounding &amp; Citations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Passage-level citations, faithfulness checks, confidence, safe refusal</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Verifiable answers build clinician trust</a:t>
            </a:r>
            <a:endParaRPr lang="en-US" sz="1250" dirty="0"/>
          </a:p>
        </p:txBody>
      </p:sp>
      <p:sp>
        <p:nvSpPr>
          <p:cNvPr id="24" name="Shape 22"/>
          <p:cNvSpPr/>
          <p:nvPr/>
        </p:nvSpPr>
        <p:spPr>
          <a:xfrm>
            <a:off x="6233008" y="1234440"/>
            <a:ext cx="5501488" cy="896112"/>
          </a:xfrm>
          <a:prstGeom prst="roundRect">
            <a:avLst>
              <a:gd name="adj" fmla="val 6122"/>
            </a:avLst>
          </a:prstGeom>
          <a:solidFill>
            <a:srgbClr val="DCEAF7"/>
          </a:solidFill>
          <a:ln w="9525">
            <a:solidFill>
              <a:srgbClr val="DCEAF7"/>
            </a:solidFill>
            <a:prstDash val="solid"/>
          </a:ln>
        </p:spPr>
      </p:sp>
      <p:sp>
        <p:nvSpPr>
          <p:cNvPr id="25" name="Shape 23"/>
          <p:cNvSpPr/>
          <p:nvPr/>
        </p:nvSpPr>
        <p:spPr>
          <a:xfrm>
            <a:off x="6370168" y="1371600"/>
            <a:ext cx="384048" cy="384048"/>
          </a:xfrm>
          <a:prstGeom prst="ellipse">
            <a:avLst/>
          </a:prstGeom>
          <a:solidFill>
            <a:srgbClr val="EBB5B5"/>
          </a:solidFill>
          <a:ln w="12700">
            <a:solidFill>
              <a:srgbClr val="FFFFFF"/>
            </a:solidFill>
            <a:prstDash val="solid"/>
          </a:ln>
        </p:spPr>
      </p:sp>
      <p:sp>
        <p:nvSpPr>
          <p:cNvPr id="26" name="Text 24"/>
          <p:cNvSpPr txBox="1"/>
          <p:nvPr/>
        </p:nvSpPr>
        <p:spPr>
          <a:xfrm>
            <a:off x="6370168"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6</a:t>
            </a:r>
            <a:endParaRPr lang="en-US" sz="1100" dirty="0"/>
          </a:p>
        </p:txBody>
      </p:sp>
      <p:sp>
        <p:nvSpPr>
          <p:cNvPr id="27" name="Text 25"/>
          <p:cNvSpPr txBox="1"/>
          <p:nvPr/>
        </p:nvSpPr>
        <p:spPr>
          <a:xfrm>
            <a:off x="6891376"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RAG Evaluation</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Context precision/recall, faithfulness metrics, golden sets, A/B tests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Measured quality justifies scale-up, catches regressions</a:t>
            </a:r>
            <a:endParaRPr lang="en-US" sz="1250" dirty="0"/>
          </a:p>
        </p:txBody>
      </p:sp>
      <p:sp>
        <p:nvSpPr>
          <p:cNvPr id="28" name="Shape 26"/>
          <p:cNvSpPr/>
          <p:nvPr/>
        </p:nvSpPr>
        <p:spPr>
          <a:xfrm>
            <a:off x="6233008" y="2221992"/>
            <a:ext cx="5501488" cy="896112"/>
          </a:xfrm>
          <a:prstGeom prst="roundRect">
            <a:avLst>
              <a:gd name="adj" fmla="val 6122"/>
            </a:avLst>
          </a:prstGeom>
          <a:solidFill>
            <a:srgbClr val="DCEAF7"/>
          </a:solidFill>
          <a:ln w="9525">
            <a:solidFill>
              <a:srgbClr val="DCEAF7"/>
            </a:solidFill>
            <a:prstDash val="solid"/>
          </a:ln>
        </p:spPr>
      </p:sp>
      <p:sp>
        <p:nvSpPr>
          <p:cNvPr id="29" name="Shape 27"/>
          <p:cNvSpPr/>
          <p:nvPr/>
        </p:nvSpPr>
        <p:spPr>
          <a:xfrm>
            <a:off x="6370168" y="2359152"/>
            <a:ext cx="384048" cy="384048"/>
          </a:xfrm>
          <a:prstGeom prst="ellipse">
            <a:avLst/>
          </a:prstGeom>
          <a:solidFill>
            <a:srgbClr val="C9C1E8"/>
          </a:solidFill>
          <a:ln w="12700">
            <a:solidFill>
              <a:srgbClr val="FFFFFF"/>
            </a:solidFill>
            <a:prstDash val="solid"/>
          </a:ln>
        </p:spPr>
      </p:sp>
      <p:sp>
        <p:nvSpPr>
          <p:cNvPr id="30" name="Text 28"/>
          <p:cNvSpPr txBox="1"/>
          <p:nvPr/>
        </p:nvSpPr>
        <p:spPr>
          <a:xfrm>
            <a:off x="6370168"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7</a:t>
            </a:r>
            <a:endParaRPr lang="en-US" sz="1100" dirty="0"/>
          </a:p>
        </p:txBody>
      </p:sp>
      <p:sp>
        <p:nvSpPr>
          <p:cNvPr id="31" name="Text 29"/>
          <p:cNvSpPr txBox="1"/>
          <p:nvPr/>
        </p:nvSpPr>
        <p:spPr>
          <a:xfrm>
            <a:off x="6891376"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Freshness &amp; Incremental Indexing</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Change-driven re-index, delete propagation, effective-dated versions, SLAs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Stale policy answers create compliance risk</a:t>
            </a:r>
            <a:endParaRPr lang="en-US" sz="1250" dirty="0"/>
          </a:p>
        </p:txBody>
      </p:sp>
      <p:sp>
        <p:nvSpPr>
          <p:cNvPr id="32" name="Shape 30"/>
          <p:cNvSpPr/>
          <p:nvPr/>
        </p:nvSpPr>
        <p:spPr>
          <a:xfrm>
            <a:off x="6233008" y="3209544"/>
            <a:ext cx="5501488" cy="896112"/>
          </a:xfrm>
          <a:prstGeom prst="roundRect">
            <a:avLst>
              <a:gd name="adj" fmla="val 6122"/>
            </a:avLst>
          </a:prstGeom>
          <a:solidFill>
            <a:srgbClr val="DCEAF7"/>
          </a:solidFill>
          <a:ln w="9525">
            <a:solidFill>
              <a:srgbClr val="DCEAF7"/>
            </a:solidFill>
            <a:prstDash val="solid"/>
          </a:ln>
        </p:spPr>
      </p:sp>
      <p:sp>
        <p:nvSpPr>
          <p:cNvPr id="33" name="Shape 31"/>
          <p:cNvSpPr/>
          <p:nvPr/>
        </p:nvSpPr>
        <p:spPr>
          <a:xfrm>
            <a:off x="6370168" y="3346704"/>
            <a:ext cx="384048" cy="384048"/>
          </a:xfrm>
          <a:prstGeom prst="ellipse">
            <a:avLst/>
          </a:prstGeom>
          <a:solidFill>
            <a:srgbClr val="A9CBEF"/>
          </a:solidFill>
          <a:ln w="12700">
            <a:solidFill>
              <a:srgbClr val="FFFFFF"/>
            </a:solidFill>
            <a:prstDash val="solid"/>
          </a:ln>
        </p:spPr>
      </p:sp>
      <p:sp>
        <p:nvSpPr>
          <p:cNvPr id="34" name="Text 32"/>
          <p:cNvSpPr txBox="1"/>
          <p:nvPr/>
        </p:nvSpPr>
        <p:spPr>
          <a:xfrm>
            <a:off x="6370168"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8</a:t>
            </a:r>
            <a:endParaRPr lang="en-US" sz="1100" dirty="0"/>
          </a:p>
        </p:txBody>
      </p:sp>
      <p:sp>
        <p:nvSpPr>
          <p:cNvPr id="35" name="Text 33"/>
          <p:cNvSpPr txBox="1"/>
          <p:nvPr/>
        </p:nvSpPr>
        <p:spPr>
          <a:xfrm>
            <a:off x="6891376"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Advanced / Agentic Retrieval</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Agentic multi-step, text-to-SQL, GraphRAG, multimodal retrieval</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Questions span documents and structured data</a:t>
            </a:r>
            <a:endParaRPr lang="en-US" sz="1250" dirty="0"/>
          </a:p>
        </p:txBody>
      </p:sp>
      <p:sp>
        <p:nvSpPr>
          <p:cNvPr id="36" name="Shape 34"/>
          <p:cNvSpPr/>
          <p:nvPr/>
        </p:nvSpPr>
        <p:spPr>
          <a:xfrm>
            <a:off x="6233008" y="4197096"/>
            <a:ext cx="5501488" cy="896112"/>
          </a:xfrm>
          <a:prstGeom prst="roundRect">
            <a:avLst>
              <a:gd name="adj" fmla="val 6122"/>
            </a:avLst>
          </a:prstGeom>
          <a:solidFill>
            <a:srgbClr val="DCEAF7"/>
          </a:solidFill>
          <a:ln w="9525">
            <a:solidFill>
              <a:srgbClr val="DCEAF7"/>
            </a:solidFill>
            <a:prstDash val="solid"/>
          </a:ln>
        </p:spPr>
      </p:sp>
      <p:sp>
        <p:nvSpPr>
          <p:cNvPr id="37" name="Shape 35"/>
          <p:cNvSpPr/>
          <p:nvPr/>
        </p:nvSpPr>
        <p:spPr>
          <a:xfrm>
            <a:off x="6370168" y="4334256"/>
            <a:ext cx="384048" cy="384048"/>
          </a:xfrm>
          <a:prstGeom prst="ellipse">
            <a:avLst/>
          </a:prstGeom>
          <a:solidFill>
            <a:srgbClr val="A9D7BB"/>
          </a:solidFill>
          <a:ln w="12700">
            <a:solidFill>
              <a:srgbClr val="FFFFFF"/>
            </a:solidFill>
            <a:prstDash val="solid"/>
          </a:ln>
        </p:spPr>
      </p:sp>
      <p:sp>
        <p:nvSpPr>
          <p:cNvPr id="38" name="Text 36"/>
          <p:cNvSpPr txBox="1"/>
          <p:nvPr/>
        </p:nvSpPr>
        <p:spPr>
          <a:xfrm>
            <a:off x="6370168"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9</a:t>
            </a:r>
            <a:endParaRPr lang="en-US" sz="1100" dirty="0"/>
          </a:p>
        </p:txBody>
      </p:sp>
      <p:sp>
        <p:nvSpPr>
          <p:cNvPr id="39" name="Text 37"/>
          <p:cNvSpPr txBox="1"/>
          <p:nvPr/>
        </p:nvSpPr>
        <p:spPr>
          <a:xfrm>
            <a:off x="6891376"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Portability &amp; Platform Proximity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Model/store agnostic; in-platform retrieval like Snowflake Cortex Search</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Keeps PHI governed and avoids lock-in</a:t>
            </a:r>
            <a:endParaRPr lang="en-US" sz="1250" dirty="0"/>
          </a:p>
        </p:txBody>
      </p:sp>
      <p:sp>
        <p:nvSpPr>
          <p:cNvPr id="40" name="Shape 38"/>
          <p:cNvSpPr/>
          <p:nvPr/>
        </p:nvSpPr>
        <p:spPr>
          <a:xfrm>
            <a:off x="6233008" y="5184648"/>
            <a:ext cx="5501488" cy="896112"/>
          </a:xfrm>
          <a:prstGeom prst="roundRect">
            <a:avLst>
              <a:gd name="adj" fmla="val 6122"/>
            </a:avLst>
          </a:prstGeom>
          <a:solidFill>
            <a:srgbClr val="DCEAF7"/>
          </a:solidFill>
          <a:ln w="9525">
            <a:solidFill>
              <a:srgbClr val="DCEAF7"/>
            </a:solidFill>
            <a:prstDash val="solid"/>
          </a:ln>
        </p:spPr>
      </p:sp>
      <p:sp>
        <p:nvSpPr>
          <p:cNvPr id="41" name="Shape 39"/>
          <p:cNvSpPr/>
          <p:nvPr/>
        </p:nvSpPr>
        <p:spPr>
          <a:xfrm>
            <a:off x="6370168" y="5321808"/>
            <a:ext cx="384048" cy="384048"/>
          </a:xfrm>
          <a:prstGeom prst="ellipse">
            <a:avLst/>
          </a:prstGeom>
          <a:solidFill>
            <a:srgbClr val="F5C4A3"/>
          </a:solidFill>
          <a:ln w="12700">
            <a:solidFill>
              <a:srgbClr val="FFFFFF"/>
            </a:solidFill>
            <a:prstDash val="solid"/>
          </a:ln>
        </p:spPr>
      </p:sp>
      <p:sp>
        <p:nvSpPr>
          <p:cNvPr id="42" name="Text 40"/>
          <p:cNvSpPr txBox="1"/>
          <p:nvPr/>
        </p:nvSpPr>
        <p:spPr>
          <a:xfrm>
            <a:off x="6370168"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10</a:t>
            </a:r>
            <a:endParaRPr lang="en-US" sz="1100" dirty="0"/>
          </a:p>
        </p:txBody>
      </p:sp>
      <p:sp>
        <p:nvSpPr>
          <p:cNvPr id="43" name="Text 41"/>
          <p:cNvSpPr txBox="1"/>
          <p:nvPr/>
        </p:nvSpPr>
        <p:spPr>
          <a:xfrm>
            <a:off x="6891376"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Cost &amp; Performance Efficiency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Embedding/index cost controls, caching, token efficiency, latency SLAs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Keeps enterprise-wide rollout economical</a:t>
            </a:r>
            <a:endParaRPr lang="en-US" sz="1250" dirty="0"/>
          </a:p>
        </p:txBody>
      </p:sp>
      <p:sp>
        <p:nvSpPr>
          <p:cNvPr id="44" name="Text 42"/>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OUTPUTS/ipaas/ai_capabilities_scoring_templates.md</a:t>
            </a:r>
            <a:endParaRPr lang="en-US" sz="900" dirty="0"/>
          </a:p>
        </p:txBody>
      </p:sp>
      <p:sp>
        <p:nvSpPr>
          <p:cNvPr id="45" name="Text 43"/>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4 OF 6 · VENDOR COMPARISON</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RAG Frameworks — Vendor Comparison</a:t>
            </a:r>
            <a:endParaRPr lang="en-US" sz="2800" dirty="0"/>
          </a:p>
        </p:txBody>
      </p:sp>
      <p:sp>
        <p:nvSpPr>
          <p:cNvPr id="4" name="Text 2"/>
          <p:cNvSpPr txBox="1"/>
          <p:nvPr/>
        </p:nvSpPr>
        <p:spPr>
          <a:xfrm>
            <a:off x="10134295" y="347472"/>
            <a:ext cx="109728"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0</a:t>
            </a:r>
            <a:endParaRPr lang="en-US" sz="900" dirty="0"/>
          </a:p>
        </p:txBody>
      </p:sp>
      <p:sp>
        <p:nvSpPr>
          <p:cNvPr id="5" name="Shape 3"/>
          <p:cNvSpPr/>
          <p:nvPr/>
        </p:nvSpPr>
        <p:spPr>
          <a:xfrm>
            <a:off x="10271455" y="365760"/>
            <a:ext cx="182880" cy="182880"/>
          </a:xfrm>
          <a:prstGeom prst="roundRect">
            <a:avLst>
              <a:gd name="adj" fmla="val 15000"/>
            </a:avLst>
          </a:prstGeom>
          <a:solidFill>
            <a:srgbClr val="F4F5F7"/>
          </a:solidFill>
          <a:ln w="6350">
            <a:solidFill>
              <a:srgbClr val="D9DEE5"/>
            </a:solidFill>
            <a:prstDash val="solid"/>
          </a:ln>
        </p:spPr>
      </p:sp>
      <p:sp>
        <p:nvSpPr>
          <p:cNvPr id="6" name="Shape 4"/>
          <p:cNvSpPr/>
          <p:nvPr/>
        </p:nvSpPr>
        <p:spPr>
          <a:xfrm>
            <a:off x="10490911" y="365760"/>
            <a:ext cx="182880" cy="182880"/>
          </a:xfrm>
          <a:prstGeom prst="roundRect">
            <a:avLst>
              <a:gd name="adj" fmla="val 15000"/>
            </a:avLst>
          </a:prstGeom>
          <a:solidFill>
            <a:srgbClr val="E6F2EA"/>
          </a:solidFill>
          <a:ln w="6350">
            <a:solidFill>
              <a:srgbClr val="D9DEE5"/>
            </a:solidFill>
            <a:prstDash val="solid"/>
          </a:ln>
        </p:spPr>
      </p:sp>
      <p:sp>
        <p:nvSpPr>
          <p:cNvPr id="7" name="Shape 5"/>
          <p:cNvSpPr/>
          <p:nvPr/>
        </p:nvSpPr>
        <p:spPr>
          <a:xfrm>
            <a:off x="10710367" y="365760"/>
            <a:ext cx="182880" cy="182880"/>
          </a:xfrm>
          <a:prstGeom prst="roundRect">
            <a:avLst>
              <a:gd name="adj" fmla="val 15000"/>
            </a:avLst>
          </a:prstGeom>
          <a:solidFill>
            <a:srgbClr val="CFE8D8"/>
          </a:solidFill>
          <a:ln w="6350">
            <a:solidFill>
              <a:srgbClr val="D9DEE5"/>
            </a:solidFill>
            <a:prstDash val="solid"/>
          </a:ln>
        </p:spPr>
      </p:sp>
      <p:sp>
        <p:nvSpPr>
          <p:cNvPr id="8" name="Shape 6"/>
          <p:cNvSpPr/>
          <p:nvPr/>
        </p:nvSpPr>
        <p:spPr>
          <a:xfrm>
            <a:off x="10929823" y="365760"/>
            <a:ext cx="182880" cy="182880"/>
          </a:xfrm>
          <a:prstGeom prst="roundRect">
            <a:avLst>
              <a:gd name="adj" fmla="val 15000"/>
            </a:avLst>
          </a:prstGeom>
          <a:solidFill>
            <a:srgbClr val="A9D7BB"/>
          </a:solidFill>
          <a:ln w="6350">
            <a:solidFill>
              <a:srgbClr val="D9DEE5"/>
            </a:solidFill>
            <a:prstDash val="solid"/>
          </a:ln>
        </p:spPr>
      </p:sp>
      <p:sp>
        <p:nvSpPr>
          <p:cNvPr id="9" name="Shape 7"/>
          <p:cNvSpPr/>
          <p:nvPr/>
        </p:nvSpPr>
        <p:spPr>
          <a:xfrm>
            <a:off x="11149279" y="365760"/>
            <a:ext cx="182880" cy="182880"/>
          </a:xfrm>
          <a:prstGeom prst="roundRect">
            <a:avLst>
              <a:gd name="adj" fmla="val 15000"/>
            </a:avLst>
          </a:prstGeom>
          <a:solidFill>
            <a:srgbClr val="7DBF98"/>
          </a:solidFill>
          <a:ln w="6350">
            <a:solidFill>
              <a:srgbClr val="D9DEE5"/>
            </a:solidFill>
            <a:prstDash val="solid"/>
          </a:ln>
        </p:spPr>
      </p:sp>
      <p:sp>
        <p:nvSpPr>
          <p:cNvPr id="10" name="Text 8"/>
          <p:cNvSpPr txBox="1"/>
          <p:nvPr/>
        </p:nvSpPr>
        <p:spPr>
          <a:xfrm>
            <a:off x="11387023" y="347472"/>
            <a:ext cx="137160"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4</a:t>
            </a:r>
            <a:endParaRPr lang="en-US" sz="900" dirty="0"/>
          </a:p>
        </p:txBody>
      </p:sp>
      <p:sp>
        <p:nvSpPr>
          <p:cNvPr id="11" name="Shape 9"/>
          <p:cNvSpPr/>
          <p:nvPr/>
        </p:nvSpPr>
        <p:spPr>
          <a:xfrm>
            <a:off x="8579815" y="338328"/>
            <a:ext cx="1417320" cy="237744"/>
          </a:xfrm>
          <a:prstGeom prst="roundRect">
            <a:avLst>
              <a:gd name="adj" fmla="val 23077"/>
            </a:avLst>
          </a:prstGeom>
          <a:solidFill>
            <a:srgbClr val="8CC4EA"/>
          </a:solidFill>
          <a:ln w="19050">
            <a:solidFill>
              <a:srgbClr val="3F8FC7"/>
            </a:solidFill>
            <a:prstDash val="solid"/>
          </a:ln>
        </p:spPr>
      </p:sp>
      <p:sp>
        <p:nvSpPr>
          <p:cNvPr id="12" name="Text 10"/>
          <p:cNvSpPr txBox="1"/>
          <p:nvPr/>
        </p:nvSpPr>
        <p:spPr>
          <a:xfrm>
            <a:off x="8579815" y="338328"/>
            <a:ext cx="1417320" cy="237744"/>
          </a:xfrm>
          <a:prstGeom prst="rect">
            <a:avLst/>
          </a:prstGeom>
          <a:noFill/>
          <a:ln/>
        </p:spPr>
        <p:txBody>
          <a:bodyPr wrap="square" lIns="0" tIns="0" rIns="0" bIns="0" rtlCol="0" anchor="ctr"/>
          <a:lstStyle/>
          <a:p>
            <a:pPr algn="ctr" indent="0" marL="0">
              <a:buNone/>
            </a:pPr>
            <a:r>
              <a:rPr lang="en-US" sz="900" dirty="0">
                <a:solidFill>
                  <a:srgbClr val="2F3E4E"/>
                </a:solidFill>
                <a:latin typeface="Arial" pitchFamily="34" charset="0"/>
                <a:ea typeface="Arial" pitchFamily="34" charset="-122"/>
                <a:cs typeface="Arial" pitchFamily="34" charset="-120"/>
              </a:rPr>
              <a:t>❄ Snowflake platform</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7295" cy="914400"/>
        </p:xfrm>
        <a:graphic>
          <a:graphicData uri="http://schemas.openxmlformats.org/drawingml/2006/table">
            <a:tbl>
              <a:tblPr/>
              <a:tblGrid>
                <a:gridCol w="365760"/>
                <a:gridCol w="2240280"/>
                <a:gridCol w="1445209"/>
                <a:gridCol w="1445209"/>
                <a:gridCol w="1445209"/>
                <a:gridCol w="1445209"/>
                <a:gridCol w="1445209"/>
                <a:gridCol w="1445209"/>
              </a:tblGrid>
              <a:tr h="530352">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Capability</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LangChain</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LlamaIndex</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Semantic Kernel</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Haystack</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Azure AI Search</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i="1" dirty="0">
                          <a:solidFill>
                            <a:srgbClr val="2F3E4E"/>
                          </a:solidFill>
                          <a:latin typeface="Arial" pitchFamily="34" charset="0"/>
                          <a:ea typeface="Arial" pitchFamily="34" charset="-122"/>
                          <a:cs typeface="Arial" pitchFamily="34" charset="-120"/>
                        </a:rPr>
                        <a:t>❄ Ref: Snowflake Cortex Search</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8CC4EA"/>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Document Ingestion &amp; Parsing</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Chunking &amp; Embedding Flexibility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Hybrid Retrieval &amp; Re-Ranking</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Permission-Aware Retrieval</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Grounding &amp; Citations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RAG Evaluation</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7</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Freshness &amp; Incremental Indexing</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8</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Advanced / Agentic Retrieval</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9</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Portability &amp; Platform Proximity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10</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Cost &amp; Performance Efficiency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29184">
                <a:tc>
                  <a:txBody>
                    <a:bodyPr/>
                    <a:lstStyle/>
                    <a:p>
                      <a:pPr indent="0" marL="0">
                        <a:buNone/>
                      </a:pPr>
                      <a:endParaRPr lang="en-US" sz="12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Weighted total</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2F3E4E"/>
                          </a:solidFill>
                          <a:latin typeface="Arial" pitchFamily="34" charset="0"/>
                          <a:ea typeface="Arial" pitchFamily="34" charset="-122"/>
                          <a:cs typeface="Arial" pitchFamily="34" charset="-120"/>
                        </a:rPr>
                        <a:t>70.0%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DFF1E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42.5%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r>
            </a:tbl>
          </a:graphicData>
        </a:graphic>
      </p:graphicFrame>
      <p:sp>
        <p:nvSpPr>
          <p:cNvPr id="14" name="Shape 11"/>
          <p:cNvSpPr/>
          <p:nvPr/>
        </p:nvSpPr>
        <p:spPr>
          <a:xfrm>
            <a:off x="10289286" y="1234440"/>
            <a:ext cx="1445209" cy="3877056"/>
          </a:xfrm>
          <a:prstGeom prst="rect">
            <a:avLst/>
          </a:prstGeom>
          <a:ln w="28575">
            <a:solidFill>
              <a:srgbClr val="3F8FC7"/>
            </a:solidFill>
            <a:prstDash val="solid"/>
          </a:ln>
        </p:spPr>
      </p:sp>
      <p:sp>
        <p:nvSpPr>
          <p:cNvPr id="15" name="Shape 12"/>
          <p:cNvSpPr/>
          <p:nvPr/>
        </p:nvSpPr>
        <p:spPr>
          <a:xfrm>
            <a:off x="457200" y="5239512"/>
            <a:ext cx="11277295" cy="905256"/>
          </a:xfrm>
          <a:prstGeom prst="roundRect">
            <a:avLst>
              <a:gd name="adj" fmla="val 6061"/>
            </a:avLst>
          </a:prstGeom>
          <a:solidFill>
            <a:srgbClr val="FFF3C9"/>
          </a:solidFill>
          <a:ln w="9525">
            <a:solidFill>
              <a:srgbClr val="FFF3C9"/>
            </a:solidFill>
            <a:prstDash val="solid"/>
          </a:ln>
        </p:spPr>
      </p:sp>
      <p:sp>
        <p:nvSpPr>
          <p:cNvPr id="16" name="Text 13"/>
          <p:cNvSpPr txBox="1"/>
          <p:nvPr/>
        </p:nvSpPr>
        <p:spPr>
          <a:xfrm>
            <a:off x="640080" y="5312664"/>
            <a:ext cx="10911535" cy="758952"/>
          </a:xfrm>
          <a:prstGeom prst="rect">
            <a:avLst/>
          </a:prstGeom>
          <a:noFill/>
          <a:ln/>
        </p:spPr>
        <p:txBody>
          <a:bodyPr wrap="square" lIns="0" tIns="0" rIns="0" bIns="0" rtlCol="0" anchor="ctr"/>
          <a:lstStyle/>
          <a:p>
            <a:pPr indent="0" marL="0">
              <a:spcAft>
                <a:spcPts val="300"/>
              </a:spcAft>
              <a:buNone/>
            </a:pPr>
            <a:r>
              <a:rPr lang="en-US" sz="1050" b="1" dirty="0">
                <a:solidFill>
                  <a:srgbClr val="2F3E4E"/>
                </a:solidFill>
                <a:latin typeface="Arial" pitchFamily="34" charset="0"/>
                <a:ea typeface="Arial" pitchFamily="34" charset="-122"/>
                <a:cs typeface="Arial" pitchFamily="34" charset="-120"/>
              </a:rPr>
              <a:t>Takeaway  </a:t>
            </a:r>
            <a:pPr indent="0" marL="0">
              <a:spcAft>
                <a:spcPts val="300"/>
              </a:spcAft>
              <a:buNone/>
            </a:pPr>
            <a:r>
              <a:rPr lang="en-US" sz="1050" dirty="0">
                <a:solidFill>
                  <a:srgbClr val="2F3E4E"/>
                </a:solidFill>
                <a:latin typeface="Arial" pitchFamily="34" charset="0"/>
                <a:ea typeface="Arial" pitchFamily="34" charset="-122"/>
                <a:cs typeface="Arial" pitchFamily="34" charset="-120"/>
              </a:rPr>
              <a:t>LlamaIndex (70.0%) is the best-fit RAG framework standard thanks to its best-in-class parsing of table-heavy and scanned healthcare documents, with Snowflake Cortex Search recommended as the default governed retrieval index for PHI content. Haystack (alternative framework for sovereign/on-prem use) and Azure AI Search (exception path for SharePoint-centric, permission-critical corpora) tie at 67.5%, while LangChain/LangGraph serves as the agent-orchestration layer and Semantic Kernel should not be a new standard. Key risk: permission-aware retrieval is weak across most frameworks, and Azure AI Search copies PHI out of Snowflake and relies on Preview ACL features.</a:t>
            </a:r>
            <a:endParaRPr lang="en-US" sz="1050" dirty="0"/>
          </a:p>
        </p:txBody>
      </p:sp>
      <p:sp>
        <p:nvSpPr>
          <p:cNvPr id="17" name="Text 14"/>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OUTPUTS/ipaas/compare_rag_vendors.md</a:t>
            </a:r>
            <a:endParaRPr lang="en-US" sz="900" dirty="0"/>
          </a:p>
        </p:txBody>
      </p:sp>
      <p:sp>
        <p:nvSpPr>
          <p:cNvPr id="18" name="Text 15"/>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5 OF 6 · CAPABILITIES</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Vector Search — Top 10 Capabilities</a:t>
            </a:r>
            <a:endParaRPr lang="en-US" sz="2800" dirty="0"/>
          </a:p>
        </p:txBody>
      </p:sp>
      <p:sp>
        <p:nvSpPr>
          <p:cNvPr id="4" name="Shape 2"/>
          <p:cNvSpPr/>
          <p:nvPr/>
        </p:nvSpPr>
        <p:spPr>
          <a:xfrm>
            <a:off x="457200" y="1234440"/>
            <a:ext cx="5501488" cy="896112"/>
          </a:xfrm>
          <a:prstGeom prst="roundRect">
            <a:avLst>
              <a:gd name="adj" fmla="val 6122"/>
            </a:avLst>
          </a:prstGeom>
          <a:solidFill>
            <a:srgbClr val="DCEAF7"/>
          </a:solidFill>
          <a:ln w="9525">
            <a:solidFill>
              <a:srgbClr val="DCEAF7"/>
            </a:solidFill>
            <a:prstDash val="solid"/>
          </a:ln>
        </p:spPr>
      </p:sp>
      <p:sp>
        <p:nvSpPr>
          <p:cNvPr id="5" name="Shape 3"/>
          <p:cNvSpPr/>
          <p:nvPr/>
        </p:nvSpPr>
        <p:spPr>
          <a:xfrm>
            <a:off x="594360" y="1371600"/>
            <a:ext cx="384048" cy="384048"/>
          </a:xfrm>
          <a:prstGeom prst="ellipse">
            <a:avLst/>
          </a:prstGeom>
          <a:solidFill>
            <a:srgbClr val="C9C1E8"/>
          </a:solidFill>
          <a:ln w="12700">
            <a:solidFill>
              <a:srgbClr val="FFFFFF"/>
            </a:solidFill>
            <a:prstDash val="solid"/>
          </a:ln>
        </p:spPr>
      </p:sp>
      <p:sp>
        <p:nvSpPr>
          <p:cNvPr id="6" name="Text 4"/>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115568"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Performance &amp; Scale</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Proven ANN recall/latency at 100M–1B+ vectors, high QPS, scaling</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Large indexes drive user experience and infrastructure cost</a:t>
            </a:r>
            <a:endParaRPr lang="en-US" sz="1250" dirty="0"/>
          </a:p>
        </p:txBody>
      </p:sp>
      <p:sp>
        <p:nvSpPr>
          <p:cNvPr id="8" name="Shape 6"/>
          <p:cNvSpPr/>
          <p:nvPr/>
        </p:nvSpPr>
        <p:spPr>
          <a:xfrm>
            <a:off x="457200" y="2221992"/>
            <a:ext cx="5501488" cy="896112"/>
          </a:xfrm>
          <a:prstGeom prst="roundRect">
            <a:avLst>
              <a:gd name="adj" fmla="val 6122"/>
            </a:avLst>
          </a:prstGeom>
          <a:solidFill>
            <a:srgbClr val="DCEAF7"/>
          </a:solidFill>
          <a:ln w="9525">
            <a:solidFill>
              <a:srgbClr val="DCEAF7"/>
            </a:solidFill>
            <a:prstDash val="solid"/>
          </a:ln>
        </p:spPr>
      </p:sp>
      <p:sp>
        <p:nvSpPr>
          <p:cNvPr id="9" name="Shape 7"/>
          <p:cNvSpPr/>
          <p:nvPr/>
        </p:nvSpPr>
        <p:spPr>
          <a:xfrm>
            <a:off x="594360" y="2359152"/>
            <a:ext cx="384048" cy="384048"/>
          </a:xfrm>
          <a:prstGeom prst="ellipse">
            <a:avLst/>
          </a:prstGeom>
          <a:solidFill>
            <a:srgbClr val="A9CBEF"/>
          </a:solidFill>
          <a:ln w="12700">
            <a:solidFill>
              <a:srgbClr val="FFFFFF"/>
            </a:solidFill>
            <a:prstDash val="solid"/>
          </a:ln>
        </p:spPr>
      </p:sp>
      <p:sp>
        <p:nvSpPr>
          <p:cNvPr id="10" name="Text 8"/>
          <p:cNvSpPr txBox="1"/>
          <p:nvPr/>
        </p:nvSpPr>
        <p:spPr>
          <a:xfrm>
            <a:off x="594360"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115568"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Hybrid Search &amp; Filtering</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Vector plus BM25/sparse fusion; metadata filtering without recall collapse</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Exact identifiers and filters make results accurate, compliant</a:t>
            </a:r>
            <a:endParaRPr lang="en-US" sz="1250" dirty="0"/>
          </a:p>
        </p:txBody>
      </p:sp>
      <p:sp>
        <p:nvSpPr>
          <p:cNvPr id="12" name="Shape 10"/>
          <p:cNvSpPr/>
          <p:nvPr/>
        </p:nvSpPr>
        <p:spPr>
          <a:xfrm>
            <a:off x="457200" y="3209544"/>
            <a:ext cx="5501488" cy="896112"/>
          </a:xfrm>
          <a:prstGeom prst="roundRect">
            <a:avLst>
              <a:gd name="adj" fmla="val 6122"/>
            </a:avLst>
          </a:prstGeom>
          <a:solidFill>
            <a:srgbClr val="DCEAF7"/>
          </a:solidFill>
          <a:ln w="9525">
            <a:solidFill>
              <a:srgbClr val="DCEAF7"/>
            </a:solidFill>
            <a:prstDash val="solid"/>
          </a:ln>
        </p:spPr>
      </p:sp>
      <p:sp>
        <p:nvSpPr>
          <p:cNvPr id="13" name="Shape 11"/>
          <p:cNvSpPr/>
          <p:nvPr/>
        </p:nvSpPr>
        <p:spPr>
          <a:xfrm>
            <a:off x="594360" y="3346704"/>
            <a:ext cx="384048" cy="384048"/>
          </a:xfrm>
          <a:prstGeom prst="ellipse">
            <a:avLst/>
          </a:prstGeom>
          <a:solidFill>
            <a:srgbClr val="A9D7BB"/>
          </a:solidFill>
          <a:ln w="12700">
            <a:solidFill>
              <a:srgbClr val="FFFFFF"/>
            </a:solidFill>
            <a:prstDash val="solid"/>
          </a:ln>
        </p:spPr>
      </p:sp>
      <p:sp>
        <p:nvSpPr>
          <p:cNvPr id="14" name="Text 12"/>
          <p:cNvSpPr txBox="1"/>
          <p:nvPr/>
        </p:nvSpPr>
        <p:spPr>
          <a:xfrm>
            <a:off x="594360"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1115568"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Security &amp; HIPAA Readiness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RBAC, doc-level security, CMK encryption, private networking, audit, BAA</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Embeddings and chunks can reveal PHI</a:t>
            </a:r>
            <a:endParaRPr lang="en-US" sz="1250" dirty="0"/>
          </a:p>
        </p:txBody>
      </p:sp>
      <p:sp>
        <p:nvSpPr>
          <p:cNvPr id="16" name="Shape 14"/>
          <p:cNvSpPr/>
          <p:nvPr/>
        </p:nvSpPr>
        <p:spPr>
          <a:xfrm>
            <a:off x="457200" y="4197096"/>
            <a:ext cx="5501488" cy="896112"/>
          </a:xfrm>
          <a:prstGeom prst="roundRect">
            <a:avLst>
              <a:gd name="adj" fmla="val 6122"/>
            </a:avLst>
          </a:prstGeom>
          <a:solidFill>
            <a:srgbClr val="DCEAF7"/>
          </a:solidFill>
          <a:ln w="9525">
            <a:solidFill>
              <a:srgbClr val="DCEAF7"/>
            </a:solidFill>
            <a:prstDash val="solid"/>
          </a:ln>
        </p:spPr>
      </p:sp>
      <p:sp>
        <p:nvSpPr>
          <p:cNvPr id="17" name="Shape 15"/>
          <p:cNvSpPr/>
          <p:nvPr/>
        </p:nvSpPr>
        <p:spPr>
          <a:xfrm>
            <a:off x="594360" y="4334256"/>
            <a:ext cx="384048" cy="384048"/>
          </a:xfrm>
          <a:prstGeom prst="ellipse">
            <a:avLst/>
          </a:prstGeom>
          <a:solidFill>
            <a:srgbClr val="F5C4A3"/>
          </a:solidFill>
          <a:ln w="12700">
            <a:solidFill>
              <a:srgbClr val="FFFFFF"/>
            </a:solidFill>
            <a:prstDash val="solid"/>
          </a:ln>
        </p:spPr>
      </p:sp>
      <p:sp>
        <p:nvSpPr>
          <p:cNvPr id="18" name="Text 16"/>
          <p:cNvSpPr txBox="1"/>
          <p:nvPr/>
        </p:nvSpPr>
        <p:spPr>
          <a:xfrm>
            <a:off x="594360"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1115568"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Deployment Portability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Managed SaaS, BYOC, self-hosted/on-prem, and in-platform vector options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Avoids lock-in; in-platform search removes separate systems</a:t>
            </a:r>
            <a:endParaRPr lang="en-US" sz="1250" dirty="0"/>
          </a:p>
        </p:txBody>
      </p:sp>
      <p:sp>
        <p:nvSpPr>
          <p:cNvPr id="20" name="Shape 18"/>
          <p:cNvSpPr/>
          <p:nvPr/>
        </p:nvSpPr>
        <p:spPr>
          <a:xfrm>
            <a:off x="457200" y="5184648"/>
            <a:ext cx="5501488" cy="896112"/>
          </a:xfrm>
          <a:prstGeom prst="roundRect">
            <a:avLst>
              <a:gd name="adj" fmla="val 6122"/>
            </a:avLst>
          </a:prstGeom>
          <a:solidFill>
            <a:srgbClr val="DCEAF7"/>
          </a:solidFill>
          <a:ln w="9525">
            <a:solidFill>
              <a:srgbClr val="DCEAF7"/>
            </a:solidFill>
            <a:prstDash val="solid"/>
          </a:ln>
        </p:spPr>
      </p:sp>
      <p:sp>
        <p:nvSpPr>
          <p:cNvPr id="21" name="Shape 19"/>
          <p:cNvSpPr/>
          <p:nvPr/>
        </p:nvSpPr>
        <p:spPr>
          <a:xfrm>
            <a:off x="594360" y="5321808"/>
            <a:ext cx="384048" cy="384048"/>
          </a:xfrm>
          <a:prstGeom prst="ellipse">
            <a:avLst/>
          </a:prstGeom>
          <a:solidFill>
            <a:srgbClr val="F3DC8C"/>
          </a:solidFill>
          <a:ln w="12700">
            <a:solidFill>
              <a:srgbClr val="FFFFFF"/>
            </a:solidFill>
            <a:prstDash val="solid"/>
          </a:ln>
        </p:spPr>
      </p:sp>
      <p:sp>
        <p:nvSpPr>
          <p:cNvPr id="22" name="Text 20"/>
          <p:cNvSpPr txBox="1"/>
          <p:nvPr/>
        </p:nvSpPr>
        <p:spPr>
          <a:xfrm>
            <a:off x="594360"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1115568"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Multi-Tenancy &amp; Isolation</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Per-tenant isolation, quotas, noisy-neighbor protection, per-tenant backup/restore</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Enables federated domain adoption on a shared service</a:t>
            </a:r>
            <a:endParaRPr lang="en-US" sz="1250" dirty="0"/>
          </a:p>
        </p:txBody>
      </p:sp>
      <p:sp>
        <p:nvSpPr>
          <p:cNvPr id="24" name="Shape 22"/>
          <p:cNvSpPr/>
          <p:nvPr/>
        </p:nvSpPr>
        <p:spPr>
          <a:xfrm>
            <a:off x="6233008" y="1234440"/>
            <a:ext cx="5501488" cy="896112"/>
          </a:xfrm>
          <a:prstGeom prst="roundRect">
            <a:avLst>
              <a:gd name="adj" fmla="val 6122"/>
            </a:avLst>
          </a:prstGeom>
          <a:solidFill>
            <a:srgbClr val="DCEAF7"/>
          </a:solidFill>
          <a:ln w="9525">
            <a:solidFill>
              <a:srgbClr val="DCEAF7"/>
            </a:solidFill>
            <a:prstDash val="solid"/>
          </a:ln>
        </p:spPr>
      </p:sp>
      <p:sp>
        <p:nvSpPr>
          <p:cNvPr id="25" name="Shape 23"/>
          <p:cNvSpPr/>
          <p:nvPr/>
        </p:nvSpPr>
        <p:spPr>
          <a:xfrm>
            <a:off x="6370168" y="1371600"/>
            <a:ext cx="384048" cy="384048"/>
          </a:xfrm>
          <a:prstGeom prst="ellipse">
            <a:avLst/>
          </a:prstGeom>
          <a:solidFill>
            <a:srgbClr val="EBB5B5"/>
          </a:solidFill>
          <a:ln w="12700">
            <a:solidFill>
              <a:srgbClr val="FFFFFF"/>
            </a:solidFill>
            <a:prstDash val="solid"/>
          </a:ln>
        </p:spPr>
      </p:sp>
      <p:sp>
        <p:nvSpPr>
          <p:cNvPr id="26" name="Text 24"/>
          <p:cNvSpPr txBox="1"/>
          <p:nvPr/>
        </p:nvSpPr>
        <p:spPr>
          <a:xfrm>
            <a:off x="6370168"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6</a:t>
            </a:r>
            <a:endParaRPr lang="en-US" sz="1100" dirty="0"/>
          </a:p>
        </p:txBody>
      </p:sp>
      <p:sp>
        <p:nvSpPr>
          <p:cNvPr id="27" name="Text 25"/>
          <p:cNvSpPr txBox="1"/>
          <p:nvPr/>
        </p:nvSpPr>
        <p:spPr>
          <a:xfrm>
            <a:off x="6891376"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Index Types &amp; Compression</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HNSW/IVF/DiskANN, quantization, tiered storage, sparse/multi-vector support</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Compression and tiering cut memory cost at scale</a:t>
            </a:r>
            <a:endParaRPr lang="en-US" sz="1250" dirty="0"/>
          </a:p>
        </p:txBody>
      </p:sp>
      <p:sp>
        <p:nvSpPr>
          <p:cNvPr id="28" name="Shape 26"/>
          <p:cNvSpPr/>
          <p:nvPr/>
        </p:nvSpPr>
        <p:spPr>
          <a:xfrm>
            <a:off x="6233008" y="2221992"/>
            <a:ext cx="5501488" cy="896112"/>
          </a:xfrm>
          <a:prstGeom prst="roundRect">
            <a:avLst>
              <a:gd name="adj" fmla="val 6122"/>
            </a:avLst>
          </a:prstGeom>
          <a:solidFill>
            <a:srgbClr val="DCEAF7"/>
          </a:solidFill>
          <a:ln w="9525">
            <a:solidFill>
              <a:srgbClr val="DCEAF7"/>
            </a:solidFill>
            <a:prstDash val="solid"/>
          </a:ln>
        </p:spPr>
      </p:sp>
      <p:sp>
        <p:nvSpPr>
          <p:cNvPr id="29" name="Shape 27"/>
          <p:cNvSpPr/>
          <p:nvPr/>
        </p:nvSpPr>
        <p:spPr>
          <a:xfrm>
            <a:off x="6370168" y="2359152"/>
            <a:ext cx="384048" cy="384048"/>
          </a:xfrm>
          <a:prstGeom prst="ellipse">
            <a:avLst/>
          </a:prstGeom>
          <a:solidFill>
            <a:srgbClr val="C9C1E8"/>
          </a:solidFill>
          <a:ln w="12700">
            <a:solidFill>
              <a:srgbClr val="FFFFFF"/>
            </a:solidFill>
            <a:prstDash val="solid"/>
          </a:ln>
        </p:spPr>
      </p:sp>
      <p:sp>
        <p:nvSpPr>
          <p:cNvPr id="30" name="Text 28"/>
          <p:cNvSpPr txBox="1"/>
          <p:nvPr/>
        </p:nvSpPr>
        <p:spPr>
          <a:xfrm>
            <a:off x="6370168"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7</a:t>
            </a:r>
            <a:endParaRPr lang="en-US" sz="1100" dirty="0"/>
          </a:p>
        </p:txBody>
      </p:sp>
      <p:sp>
        <p:nvSpPr>
          <p:cNvPr id="31" name="Text 29"/>
          <p:cNvSpPr txBox="1"/>
          <p:nvPr/>
        </p:nvSpPr>
        <p:spPr>
          <a:xfrm>
            <a:off x="6891376"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Real-Time Updates &amp; Deletes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Low-latency upserts/deletes, consistency, streaming/CDC ingest, re-embedding</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Freshness and right-to-delete need immediate, reliable deletes</a:t>
            </a:r>
            <a:endParaRPr lang="en-US" sz="1250" dirty="0"/>
          </a:p>
        </p:txBody>
      </p:sp>
      <p:sp>
        <p:nvSpPr>
          <p:cNvPr id="32" name="Shape 30"/>
          <p:cNvSpPr/>
          <p:nvPr/>
        </p:nvSpPr>
        <p:spPr>
          <a:xfrm>
            <a:off x="6233008" y="3209544"/>
            <a:ext cx="5501488" cy="896112"/>
          </a:xfrm>
          <a:prstGeom prst="roundRect">
            <a:avLst>
              <a:gd name="adj" fmla="val 6122"/>
            </a:avLst>
          </a:prstGeom>
          <a:solidFill>
            <a:srgbClr val="DCEAF7"/>
          </a:solidFill>
          <a:ln w="9525">
            <a:solidFill>
              <a:srgbClr val="DCEAF7"/>
            </a:solidFill>
            <a:prstDash val="solid"/>
          </a:ln>
        </p:spPr>
      </p:sp>
      <p:sp>
        <p:nvSpPr>
          <p:cNvPr id="33" name="Shape 31"/>
          <p:cNvSpPr/>
          <p:nvPr/>
        </p:nvSpPr>
        <p:spPr>
          <a:xfrm>
            <a:off x="6370168" y="3346704"/>
            <a:ext cx="384048" cy="384048"/>
          </a:xfrm>
          <a:prstGeom prst="ellipse">
            <a:avLst/>
          </a:prstGeom>
          <a:solidFill>
            <a:srgbClr val="A9CBEF"/>
          </a:solidFill>
          <a:ln w="12700">
            <a:solidFill>
              <a:srgbClr val="FFFFFF"/>
            </a:solidFill>
            <a:prstDash val="solid"/>
          </a:ln>
        </p:spPr>
      </p:sp>
      <p:sp>
        <p:nvSpPr>
          <p:cNvPr id="34" name="Text 32"/>
          <p:cNvSpPr txBox="1"/>
          <p:nvPr/>
        </p:nvSpPr>
        <p:spPr>
          <a:xfrm>
            <a:off x="6370168"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8</a:t>
            </a:r>
            <a:endParaRPr lang="en-US" sz="1100" dirty="0"/>
          </a:p>
        </p:txBody>
      </p:sp>
      <p:sp>
        <p:nvSpPr>
          <p:cNvPr id="35" name="Text 33"/>
          <p:cNvSpPr txBox="1"/>
          <p:nvPr/>
        </p:nvSpPr>
        <p:spPr>
          <a:xfrm>
            <a:off x="6891376"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Embedding &amp; Ecosystem Integration</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Built-in embeddings, SDKs, LangChain/LlamaIndex, MCP, Snowflake/Kafka integrations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Less glue code, faster delivery across domains</a:t>
            </a:r>
            <a:endParaRPr lang="en-US" sz="1250" dirty="0"/>
          </a:p>
        </p:txBody>
      </p:sp>
      <p:sp>
        <p:nvSpPr>
          <p:cNvPr id="36" name="Shape 34"/>
          <p:cNvSpPr/>
          <p:nvPr/>
        </p:nvSpPr>
        <p:spPr>
          <a:xfrm>
            <a:off x="6233008" y="4197096"/>
            <a:ext cx="5501488" cy="896112"/>
          </a:xfrm>
          <a:prstGeom prst="roundRect">
            <a:avLst>
              <a:gd name="adj" fmla="val 6122"/>
            </a:avLst>
          </a:prstGeom>
          <a:solidFill>
            <a:srgbClr val="DCEAF7"/>
          </a:solidFill>
          <a:ln w="9525">
            <a:solidFill>
              <a:srgbClr val="DCEAF7"/>
            </a:solidFill>
            <a:prstDash val="solid"/>
          </a:ln>
        </p:spPr>
      </p:sp>
      <p:sp>
        <p:nvSpPr>
          <p:cNvPr id="37" name="Shape 35"/>
          <p:cNvSpPr/>
          <p:nvPr/>
        </p:nvSpPr>
        <p:spPr>
          <a:xfrm>
            <a:off x="6370168" y="4334256"/>
            <a:ext cx="384048" cy="384048"/>
          </a:xfrm>
          <a:prstGeom prst="ellipse">
            <a:avLst/>
          </a:prstGeom>
          <a:solidFill>
            <a:srgbClr val="A9D7BB"/>
          </a:solidFill>
          <a:ln w="12700">
            <a:solidFill>
              <a:srgbClr val="FFFFFF"/>
            </a:solidFill>
            <a:prstDash val="solid"/>
          </a:ln>
        </p:spPr>
      </p:sp>
      <p:sp>
        <p:nvSpPr>
          <p:cNvPr id="38" name="Text 36"/>
          <p:cNvSpPr txBox="1"/>
          <p:nvPr/>
        </p:nvSpPr>
        <p:spPr>
          <a:xfrm>
            <a:off x="6370168"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9</a:t>
            </a:r>
            <a:endParaRPr lang="en-US" sz="1100" dirty="0"/>
          </a:p>
        </p:txBody>
      </p:sp>
      <p:sp>
        <p:nvSpPr>
          <p:cNvPr id="39" name="Text 37"/>
          <p:cNvSpPr txBox="1"/>
          <p:nvPr/>
        </p:nvSpPr>
        <p:spPr>
          <a:xfrm>
            <a:off x="6891376"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Reliability, HA/DR</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Replication, multi-AZ/region, backups/PITR, zero-downtime upgrades, SLAs, observability</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Vector search becomes tier-1 clinical infrastructure</a:t>
            </a:r>
            <a:endParaRPr lang="en-US" sz="1250" dirty="0"/>
          </a:p>
        </p:txBody>
      </p:sp>
      <p:sp>
        <p:nvSpPr>
          <p:cNvPr id="40" name="Shape 38"/>
          <p:cNvSpPr/>
          <p:nvPr/>
        </p:nvSpPr>
        <p:spPr>
          <a:xfrm>
            <a:off x="6233008" y="5184648"/>
            <a:ext cx="5501488" cy="896112"/>
          </a:xfrm>
          <a:prstGeom prst="roundRect">
            <a:avLst>
              <a:gd name="adj" fmla="val 6122"/>
            </a:avLst>
          </a:prstGeom>
          <a:solidFill>
            <a:srgbClr val="DCEAF7"/>
          </a:solidFill>
          <a:ln w="9525">
            <a:solidFill>
              <a:srgbClr val="DCEAF7"/>
            </a:solidFill>
            <a:prstDash val="solid"/>
          </a:ln>
        </p:spPr>
      </p:sp>
      <p:sp>
        <p:nvSpPr>
          <p:cNvPr id="41" name="Shape 39"/>
          <p:cNvSpPr/>
          <p:nvPr/>
        </p:nvSpPr>
        <p:spPr>
          <a:xfrm>
            <a:off x="6370168" y="5321808"/>
            <a:ext cx="384048" cy="384048"/>
          </a:xfrm>
          <a:prstGeom prst="ellipse">
            <a:avLst/>
          </a:prstGeom>
          <a:solidFill>
            <a:srgbClr val="F5C4A3"/>
          </a:solidFill>
          <a:ln w="12700">
            <a:solidFill>
              <a:srgbClr val="FFFFFF"/>
            </a:solidFill>
            <a:prstDash val="solid"/>
          </a:ln>
        </p:spPr>
      </p:sp>
      <p:sp>
        <p:nvSpPr>
          <p:cNvPr id="42" name="Text 40"/>
          <p:cNvSpPr txBox="1"/>
          <p:nvPr/>
        </p:nvSpPr>
        <p:spPr>
          <a:xfrm>
            <a:off x="6370168"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10</a:t>
            </a:r>
            <a:endParaRPr lang="en-US" sz="1100" dirty="0"/>
          </a:p>
        </p:txBody>
      </p:sp>
      <p:sp>
        <p:nvSpPr>
          <p:cNvPr id="43" name="Text 41"/>
          <p:cNvSpPr txBox="1"/>
          <p:nvPr/>
        </p:nvSpPr>
        <p:spPr>
          <a:xfrm>
            <a:off x="6891376"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FinOps &amp; Pricing</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Clear pricing, per-index/tenant cost attribution, scale-to-zero, forecasting</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Supports chargeback and avoids budget surprises</a:t>
            </a:r>
            <a:endParaRPr lang="en-US" sz="1250" dirty="0"/>
          </a:p>
        </p:txBody>
      </p:sp>
      <p:sp>
        <p:nvSpPr>
          <p:cNvPr id="44" name="Text 42"/>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OUTPUTS/ipaas/ai_capabilities_scoring_templates.md</a:t>
            </a:r>
            <a:endParaRPr lang="en-US" sz="900" dirty="0"/>
          </a:p>
        </p:txBody>
      </p:sp>
      <p:sp>
        <p:nvSpPr>
          <p:cNvPr id="45" name="Text 43"/>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5 OF 6 · VENDOR COMPARISON</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Vector Search — Vendor Comparison</a:t>
            </a:r>
            <a:endParaRPr lang="en-US" sz="2800" dirty="0"/>
          </a:p>
        </p:txBody>
      </p:sp>
      <p:sp>
        <p:nvSpPr>
          <p:cNvPr id="4" name="Text 2"/>
          <p:cNvSpPr txBox="1"/>
          <p:nvPr/>
        </p:nvSpPr>
        <p:spPr>
          <a:xfrm>
            <a:off x="10134295" y="347472"/>
            <a:ext cx="109728"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0</a:t>
            </a:r>
            <a:endParaRPr lang="en-US" sz="900" dirty="0"/>
          </a:p>
        </p:txBody>
      </p:sp>
      <p:sp>
        <p:nvSpPr>
          <p:cNvPr id="5" name="Shape 3"/>
          <p:cNvSpPr/>
          <p:nvPr/>
        </p:nvSpPr>
        <p:spPr>
          <a:xfrm>
            <a:off x="10271455" y="365760"/>
            <a:ext cx="182880" cy="182880"/>
          </a:xfrm>
          <a:prstGeom prst="roundRect">
            <a:avLst>
              <a:gd name="adj" fmla="val 15000"/>
            </a:avLst>
          </a:prstGeom>
          <a:solidFill>
            <a:srgbClr val="F4F5F7"/>
          </a:solidFill>
          <a:ln w="6350">
            <a:solidFill>
              <a:srgbClr val="D9DEE5"/>
            </a:solidFill>
            <a:prstDash val="solid"/>
          </a:ln>
        </p:spPr>
      </p:sp>
      <p:sp>
        <p:nvSpPr>
          <p:cNvPr id="6" name="Shape 4"/>
          <p:cNvSpPr/>
          <p:nvPr/>
        </p:nvSpPr>
        <p:spPr>
          <a:xfrm>
            <a:off x="10490911" y="365760"/>
            <a:ext cx="182880" cy="182880"/>
          </a:xfrm>
          <a:prstGeom prst="roundRect">
            <a:avLst>
              <a:gd name="adj" fmla="val 15000"/>
            </a:avLst>
          </a:prstGeom>
          <a:solidFill>
            <a:srgbClr val="E6F2EA"/>
          </a:solidFill>
          <a:ln w="6350">
            <a:solidFill>
              <a:srgbClr val="D9DEE5"/>
            </a:solidFill>
            <a:prstDash val="solid"/>
          </a:ln>
        </p:spPr>
      </p:sp>
      <p:sp>
        <p:nvSpPr>
          <p:cNvPr id="7" name="Shape 5"/>
          <p:cNvSpPr/>
          <p:nvPr/>
        </p:nvSpPr>
        <p:spPr>
          <a:xfrm>
            <a:off x="10710367" y="365760"/>
            <a:ext cx="182880" cy="182880"/>
          </a:xfrm>
          <a:prstGeom prst="roundRect">
            <a:avLst>
              <a:gd name="adj" fmla="val 15000"/>
            </a:avLst>
          </a:prstGeom>
          <a:solidFill>
            <a:srgbClr val="CFE8D8"/>
          </a:solidFill>
          <a:ln w="6350">
            <a:solidFill>
              <a:srgbClr val="D9DEE5"/>
            </a:solidFill>
            <a:prstDash val="solid"/>
          </a:ln>
        </p:spPr>
      </p:sp>
      <p:sp>
        <p:nvSpPr>
          <p:cNvPr id="8" name="Shape 6"/>
          <p:cNvSpPr/>
          <p:nvPr/>
        </p:nvSpPr>
        <p:spPr>
          <a:xfrm>
            <a:off x="10929823" y="365760"/>
            <a:ext cx="182880" cy="182880"/>
          </a:xfrm>
          <a:prstGeom prst="roundRect">
            <a:avLst>
              <a:gd name="adj" fmla="val 15000"/>
            </a:avLst>
          </a:prstGeom>
          <a:solidFill>
            <a:srgbClr val="A9D7BB"/>
          </a:solidFill>
          <a:ln w="6350">
            <a:solidFill>
              <a:srgbClr val="D9DEE5"/>
            </a:solidFill>
            <a:prstDash val="solid"/>
          </a:ln>
        </p:spPr>
      </p:sp>
      <p:sp>
        <p:nvSpPr>
          <p:cNvPr id="9" name="Shape 7"/>
          <p:cNvSpPr/>
          <p:nvPr/>
        </p:nvSpPr>
        <p:spPr>
          <a:xfrm>
            <a:off x="11149279" y="365760"/>
            <a:ext cx="182880" cy="182880"/>
          </a:xfrm>
          <a:prstGeom prst="roundRect">
            <a:avLst>
              <a:gd name="adj" fmla="val 15000"/>
            </a:avLst>
          </a:prstGeom>
          <a:solidFill>
            <a:srgbClr val="7DBF98"/>
          </a:solidFill>
          <a:ln w="6350">
            <a:solidFill>
              <a:srgbClr val="D9DEE5"/>
            </a:solidFill>
            <a:prstDash val="solid"/>
          </a:ln>
        </p:spPr>
      </p:sp>
      <p:sp>
        <p:nvSpPr>
          <p:cNvPr id="10" name="Text 8"/>
          <p:cNvSpPr txBox="1"/>
          <p:nvPr/>
        </p:nvSpPr>
        <p:spPr>
          <a:xfrm>
            <a:off x="11387023" y="347472"/>
            <a:ext cx="137160"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4</a:t>
            </a:r>
            <a:endParaRPr lang="en-US" sz="900" dirty="0"/>
          </a:p>
        </p:txBody>
      </p:sp>
      <p:sp>
        <p:nvSpPr>
          <p:cNvPr id="11" name="Shape 9"/>
          <p:cNvSpPr/>
          <p:nvPr/>
        </p:nvSpPr>
        <p:spPr>
          <a:xfrm>
            <a:off x="8579815" y="338328"/>
            <a:ext cx="1417320" cy="237744"/>
          </a:xfrm>
          <a:prstGeom prst="roundRect">
            <a:avLst>
              <a:gd name="adj" fmla="val 23077"/>
            </a:avLst>
          </a:prstGeom>
          <a:solidFill>
            <a:srgbClr val="8CC4EA"/>
          </a:solidFill>
          <a:ln w="19050">
            <a:solidFill>
              <a:srgbClr val="3F8FC7"/>
            </a:solidFill>
            <a:prstDash val="solid"/>
          </a:ln>
        </p:spPr>
      </p:sp>
      <p:sp>
        <p:nvSpPr>
          <p:cNvPr id="12" name="Text 10"/>
          <p:cNvSpPr txBox="1"/>
          <p:nvPr/>
        </p:nvSpPr>
        <p:spPr>
          <a:xfrm>
            <a:off x="8579815" y="338328"/>
            <a:ext cx="1417320" cy="237744"/>
          </a:xfrm>
          <a:prstGeom prst="rect">
            <a:avLst/>
          </a:prstGeom>
          <a:noFill/>
          <a:ln/>
        </p:spPr>
        <p:txBody>
          <a:bodyPr wrap="square" lIns="0" tIns="0" rIns="0" bIns="0" rtlCol="0" anchor="ctr"/>
          <a:lstStyle/>
          <a:p>
            <a:pPr algn="ctr" indent="0" marL="0">
              <a:buNone/>
            </a:pPr>
            <a:r>
              <a:rPr lang="en-US" sz="900" dirty="0">
                <a:solidFill>
                  <a:srgbClr val="2F3E4E"/>
                </a:solidFill>
                <a:latin typeface="Arial" pitchFamily="34" charset="0"/>
                <a:ea typeface="Arial" pitchFamily="34" charset="-122"/>
                <a:cs typeface="Arial" pitchFamily="34" charset="-120"/>
              </a:rPr>
              <a:t>❄ Snowflake platform</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7295" cy="914400"/>
        </p:xfrm>
        <a:graphic>
          <a:graphicData uri="http://schemas.openxmlformats.org/drawingml/2006/table">
            <a:tbl>
              <a:tblPr/>
              <a:tblGrid>
                <a:gridCol w="365760"/>
                <a:gridCol w="2240280"/>
                <a:gridCol w="1238751"/>
                <a:gridCol w="1238751"/>
                <a:gridCol w="1238751"/>
                <a:gridCol w="1238751"/>
                <a:gridCol w="1238751"/>
                <a:gridCol w="1238751"/>
                <a:gridCol w="1238751"/>
              </a:tblGrid>
              <a:tr h="530352">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Capability</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Azure AI Search</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Elasticsearch</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Amazon OpenSearch</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Pinecone</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Weaviate</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Qdrant</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i="1" dirty="0">
                          <a:solidFill>
                            <a:srgbClr val="2F3E4E"/>
                          </a:solidFill>
                          <a:latin typeface="Arial" pitchFamily="34" charset="0"/>
                          <a:ea typeface="Arial" pitchFamily="34" charset="-122"/>
                          <a:cs typeface="Arial" pitchFamily="34" charset="-120"/>
                        </a:rPr>
                        <a:t>❄ Ref: Snowflake Cortex Search / VECTOR</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8CC4EA"/>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Performance &amp; Scale</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Hybrid Search &amp; Filtering</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Security &amp; HIPAA Readiness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Deployment Portability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Multi-Tenancy &amp; Isolation</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Index Types &amp; Compression</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7</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Real-Time Updates &amp; Deletes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8</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Embedding &amp; Ecosystem Integration</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9</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Reliability, HA/DR</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10</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FinOps &amp; Pricing</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29184">
                <a:tc>
                  <a:txBody>
                    <a:bodyPr/>
                    <a:lstStyle/>
                    <a:p>
                      <a:pPr indent="0" marL="0">
                        <a:buNone/>
                      </a:pPr>
                      <a:endParaRPr lang="en-US" sz="12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Weighted total</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70.0%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85.0%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82.5%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75.0%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85.0%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2F3E4E"/>
                          </a:solidFill>
                          <a:latin typeface="Arial" pitchFamily="34" charset="0"/>
                          <a:ea typeface="Arial" pitchFamily="34" charset="-122"/>
                          <a:cs typeface="Arial" pitchFamily="34" charset="-120"/>
                        </a:rPr>
                        <a:t>87.5%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DFF1E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60.0%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r>
            </a:tbl>
          </a:graphicData>
        </a:graphic>
      </p:graphicFrame>
      <p:sp>
        <p:nvSpPr>
          <p:cNvPr id="14" name="Shape 11"/>
          <p:cNvSpPr/>
          <p:nvPr/>
        </p:nvSpPr>
        <p:spPr>
          <a:xfrm>
            <a:off x="10495744" y="1234440"/>
            <a:ext cx="1238751" cy="3877056"/>
          </a:xfrm>
          <a:prstGeom prst="rect">
            <a:avLst/>
          </a:prstGeom>
          <a:ln w="28575">
            <a:solidFill>
              <a:srgbClr val="3F8FC7"/>
            </a:solidFill>
            <a:prstDash val="solid"/>
          </a:ln>
        </p:spPr>
      </p:sp>
      <p:sp>
        <p:nvSpPr>
          <p:cNvPr id="15" name="Shape 12"/>
          <p:cNvSpPr/>
          <p:nvPr/>
        </p:nvSpPr>
        <p:spPr>
          <a:xfrm>
            <a:off x="457200" y="5239512"/>
            <a:ext cx="11277295" cy="905256"/>
          </a:xfrm>
          <a:prstGeom prst="roundRect">
            <a:avLst>
              <a:gd name="adj" fmla="val 6061"/>
            </a:avLst>
          </a:prstGeom>
          <a:solidFill>
            <a:srgbClr val="FFF3C9"/>
          </a:solidFill>
          <a:ln w="9525">
            <a:solidFill>
              <a:srgbClr val="FFF3C9"/>
            </a:solidFill>
            <a:prstDash val="solid"/>
          </a:ln>
        </p:spPr>
      </p:sp>
      <p:sp>
        <p:nvSpPr>
          <p:cNvPr id="16" name="Text 13"/>
          <p:cNvSpPr txBox="1"/>
          <p:nvPr/>
        </p:nvSpPr>
        <p:spPr>
          <a:xfrm>
            <a:off x="640080" y="5312664"/>
            <a:ext cx="10911535" cy="758952"/>
          </a:xfrm>
          <a:prstGeom prst="rect">
            <a:avLst/>
          </a:prstGeom>
          <a:noFill/>
          <a:ln/>
        </p:spPr>
        <p:txBody>
          <a:bodyPr wrap="square" lIns="0" tIns="0" rIns="0" bIns="0" rtlCol="0" anchor="ctr"/>
          <a:lstStyle/>
          <a:p>
            <a:pPr indent="0" marL="0">
              <a:spcAft>
                <a:spcPts val="300"/>
              </a:spcAft>
              <a:buNone/>
            </a:pPr>
            <a:r>
              <a:rPr lang="en-US" sz="950" b="1" dirty="0">
                <a:solidFill>
                  <a:srgbClr val="2F3E4E"/>
                </a:solidFill>
                <a:latin typeface="Arial" pitchFamily="34" charset="0"/>
                <a:ea typeface="Arial" pitchFamily="34" charset="-122"/>
                <a:cs typeface="Arial" pitchFamily="34" charset="-120"/>
              </a:rPr>
              <a:t>Takeaway  </a:t>
            </a:r>
            <a:pPr indent="0" marL="0">
              <a:spcAft>
                <a:spcPts val="300"/>
              </a:spcAft>
              <a:buNone/>
            </a:pPr>
            <a:r>
              <a:rPr lang="en-US" sz="950" dirty="0">
                <a:solidFill>
                  <a:srgbClr val="2F3E4E"/>
                </a:solidFill>
                <a:latin typeface="Arial" pitchFamily="34" charset="0"/>
                <a:ea typeface="Arial" pitchFamily="34" charset="-122"/>
                <a:cs typeface="Arial" pitchFamily="34" charset="-120"/>
              </a:rPr>
              <a:t>Qdrant (87.5%) is the best fit as the portable enterprise vector standard, with Elasticsearch (85.0%) as co-leader where hybrid lexical search and query-time document-level security matter most; the Tier 1 choice between them should be settled by PoC. Amazon OpenSearch and Azure AI Search remain sanctioned exceptions for AWS-native Bedrock and M365/SharePoint RAG, Weaviate fits heavily multi-tenant use but has limited HIPAA scope, and Pinecone carries the highest lock-in and corporate uncertainty. Snowflake Cortex Search should be the Tier 0 default for Snowflake-resident corpora; the key risks are PHI leakage without query-time trimming and lock-in, mitigated by keeping chunks and embeddings in Snowflake as the system of record.</a:t>
            </a:r>
            <a:endParaRPr lang="en-US" sz="950" dirty="0"/>
          </a:p>
        </p:txBody>
      </p:sp>
      <p:sp>
        <p:nvSpPr>
          <p:cNvPr id="17" name="Text 14"/>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OUTPUTS/ipaas/compare_vector_search_vendors.md</a:t>
            </a:r>
            <a:endParaRPr lang="en-US" sz="900" dirty="0"/>
          </a:p>
        </p:txBody>
      </p:sp>
      <p:sp>
        <p:nvSpPr>
          <p:cNvPr id="18" name="Text 15"/>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6 OF 6 · CAPABILITIES</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Gateway, Observability — Top 10 Capabilities</a:t>
            </a:r>
            <a:endParaRPr lang="en-US" sz="2800" dirty="0"/>
          </a:p>
        </p:txBody>
      </p:sp>
      <p:sp>
        <p:nvSpPr>
          <p:cNvPr id="4" name="Shape 2"/>
          <p:cNvSpPr/>
          <p:nvPr/>
        </p:nvSpPr>
        <p:spPr>
          <a:xfrm>
            <a:off x="457200" y="1234440"/>
            <a:ext cx="5501488" cy="896112"/>
          </a:xfrm>
          <a:prstGeom prst="roundRect">
            <a:avLst>
              <a:gd name="adj" fmla="val 6122"/>
            </a:avLst>
          </a:prstGeom>
          <a:solidFill>
            <a:srgbClr val="DCEAF7"/>
          </a:solidFill>
          <a:ln w="9525">
            <a:solidFill>
              <a:srgbClr val="DCEAF7"/>
            </a:solidFill>
            <a:prstDash val="solid"/>
          </a:ln>
        </p:spPr>
      </p:sp>
      <p:sp>
        <p:nvSpPr>
          <p:cNvPr id="5" name="Shape 3"/>
          <p:cNvSpPr/>
          <p:nvPr/>
        </p:nvSpPr>
        <p:spPr>
          <a:xfrm>
            <a:off x="594360" y="1371600"/>
            <a:ext cx="384048" cy="384048"/>
          </a:xfrm>
          <a:prstGeom prst="ellipse">
            <a:avLst/>
          </a:prstGeom>
          <a:solidFill>
            <a:srgbClr val="C9C1E8"/>
          </a:solidFill>
          <a:ln w="12700">
            <a:solidFill>
              <a:srgbClr val="FFFFFF"/>
            </a:solidFill>
            <a:prstDash val="solid"/>
          </a:ln>
        </p:spPr>
      </p:sp>
      <p:sp>
        <p:nvSpPr>
          <p:cNvPr id="6" name="Text 4"/>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115568"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Multi-Model Routing &amp; Failover</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One API, policy-based routing, fallback, load balancing, version pinning</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Decouples apps from providers; resilience and cost savings</a:t>
            </a:r>
            <a:endParaRPr lang="en-US" sz="1250" dirty="0"/>
          </a:p>
        </p:txBody>
      </p:sp>
      <p:sp>
        <p:nvSpPr>
          <p:cNvPr id="8" name="Shape 6"/>
          <p:cNvSpPr/>
          <p:nvPr/>
        </p:nvSpPr>
        <p:spPr>
          <a:xfrm>
            <a:off x="457200" y="2221992"/>
            <a:ext cx="5501488" cy="896112"/>
          </a:xfrm>
          <a:prstGeom prst="roundRect">
            <a:avLst>
              <a:gd name="adj" fmla="val 6122"/>
            </a:avLst>
          </a:prstGeom>
          <a:solidFill>
            <a:srgbClr val="DCEAF7"/>
          </a:solidFill>
          <a:ln w="9525">
            <a:solidFill>
              <a:srgbClr val="DCEAF7"/>
            </a:solidFill>
            <a:prstDash val="solid"/>
          </a:ln>
        </p:spPr>
      </p:sp>
      <p:sp>
        <p:nvSpPr>
          <p:cNvPr id="9" name="Shape 7"/>
          <p:cNvSpPr/>
          <p:nvPr/>
        </p:nvSpPr>
        <p:spPr>
          <a:xfrm>
            <a:off x="594360" y="2359152"/>
            <a:ext cx="384048" cy="384048"/>
          </a:xfrm>
          <a:prstGeom prst="ellipse">
            <a:avLst/>
          </a:prstGeom>
          <a:solidFill>
            <a:srgbClr val="A9CBEF"/>
          </a:solidFill>
          <a:ln w="12700">
            <a:solidFill>
              <a:srgbClr val="FFFFFF"/>
            </a:solidFill>
            <a:prstDash val="solid"/>
          </a:ln>
        </p:spPr>
      </p:sp>
      <p:sp>
        <p:nvSpPr>
          <p:cNvPr id="10" name="Text 8"/>
          <p:cNvSpPr txBox="1"/>
          <p:nvPr/>
        </p:nvSpPr>
        <p:spPr>
          <a:xfrm>
            <a:off x="594360"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115568"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PHI Guardrails &amp; Content Safety</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Inline PHI/PII redaction, prompt-injection detection, output moderation</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One enforceable HIPAA control point for AI traffic</a:t>
            </a:r>
            <a:endParaRPr lang="en-US" sz="1250" dirty="0"/>
          </a:p>
        </p:txBody>
      </p:sp>
      <p:sp>
        <p:nvSpPr>
          <p:cNvPr id="12" name="Shape 10"/>
          <p:cNvSpPr/>
          <p:nvPr/>
        </p:nvSpPr>
        <p:spPr>
          <a:xfrm>
            <a:off x="457200" y="3209544"/>
            <a:ext cx="5501488" cy="896112"/>
          </a:xfrm>
          <a:prstGeom prst="roundRect">
            <a:avLst>
              <a:gd name="adj" fmla="val 6122"/>
            </a:avLst>
          </a:prstGeom>
          <a:solidFill>
            <a:srgbClr val="DCEAF7"/>
          </a:solidFill>
          <a:ln w="9525">
            <a:solidFill>
              <a:srgbClr val="DCEAF7"/>
            </a:solidFill>
            <a:prstDash val="solid"/>
          </a:ln>
        </p:spPr>
      </p:sp>
      <p:sp>
        <p:nvSpPr>
          <p:cNvPr id="13" name="Shape 11"/>
          <p:cNvSpPr/>
          <p:nvPr/>
        </p:nvSpPr>
        <p:spPr>
          <a:xfrm>
            <a:off x="594360" y="3346704"/>
            <a:ext cx="384048" cy="384048"/>
          </a:xfrm>
          <a:prstGeom prst="ellipse">
            <a:avLst/>
          </a:prstGeom>
          <a:solidFill>
            <a:srgbClr val="A9D7BB"/>
          </a:solidFill>
          <a:ln w="12700">
            <a:solidFill>
              <a:srgbClr val="FFFFFF"/>
            </a:solidFill>
            <a:prstDash val="solid"/>
          </a:ln>
        </p:spPr>
      </p:sp>
      <p:sp>
        <p:nvSpPr>
          <p:cNvPr id="14" name="Text 12"/>
          <p:cNvSpPr txBox="1"/>
          <p:nvPr/>
        </p:nvSpPr>
        <p:spPr>
          <a:xfrm>
            <a:off x="594360"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1115568"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Identity, Access &amp; Quotas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SSO, virtual keys per team, model allowlists, rate/token limits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Stops unmanaged AI use; controls PHI-eligible models</a:t>
            </a:r>
            <a:endParaRPr lang="en-US" sz="1250" dirty="0"/>
          </a:p>
        </p:txBody>
      </p:sp>
      <p:sp>
        <p:nvSpPr>
          <p:cNvPr id="16" name="Shape 14"/>
          <p:cNvSpPr/>
          <p:nvPr/>
        </p:nvSpPr>
        <p:spPr>
          <a:xfrm>
            <a:off x="457200" y="4197096"/>
            <a:ext cx="5501488" cy="896112"/>
          </a:xfrm>
          <a:prstGeom prst="roundRect">
            <a:avLst>
              <a:gd name="adj" fmla="val 6122"/>
            </a:avLst>
          </a:prstGeom>
          <a:solidFill>
            <a:srgbClr val="DCEAF7"/>
          </a:solidFill>
          <a:ln w="9525">
            <a:solidFill>
              <a:srgbClr val="DCEAF7"/>
            </a:solidFill>
            <a:prstDash val="solid"/>
          </a:ln>
        </p:spPr>
      </p:sp>
      <p:sp>
        <p:nvSpPr>
          <p:cNvPr id="17" name="Shape 15"/>
          <p:cNvSpPr/>
          <p:nvPr/>
        </p:nvSpPr>
        <p:spPr>
          <a:xfrm>
            <a:off x="594360" y="4334256"/>
            <a:ext cx="384048" cy="384048"/>
          </a:xfrm>
          <a:prstGeom prst="ellipse">
            <a:avLst/>
          </a:prstGeom>
          <a:solidFill>
            <a:srgbClr val="F5C4A3"/>
          </a:solidFill>
          <a:ln w="12700">
            <a:solidFill>
              <a:srgbClr val="FFFFFF"/>
            </a:solidFill>
            <a:prstDash val="solid"/>
          </a:ln>
        </p:spPr>
      </p:sp>
      <p:sp>
        <p:nvSpPr>
          <p:cNvPr id="18" name="Text 16"/>
          <p:cNvSpPr txBox="1"/>
          <p:nvPr/>
        </p:nvSpPr>
        <p:spPr>
          <a:xfrm>
            <a:off x="594360"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1115568"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Cost Attribution &amp; Budgets</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Real-time token/cost by app/team/domain, budgets, alerts, chargeback</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Essential for FinOps and domain ROI</a:t>
            </a:r>
            <a:endParaRPr lang="en-US" sz="1250" dirty="0"/>
          </a:p>
        </p:txBody>
      </p:sp>
      <p:sp>
        <p:nvSpPr>
          <p:cNvPr id="20" name="Shape 18"/>
          <p:cNvSpPr/>
          <p:nvPr/>
        </p:nvSpPr>
        <p:spPr>
          <a:xfrm>
            <a:off x="457200" y="5184648"/>
            <a:ext cx="5501488" cy="896112"/>
          </a:xfrm>
          <a:prstGeom prst="roundRect">
            <a:avLst>
              <a:gd name="adj" fmla="val 6122"/>
            </a:avLst>
          </a:prstGeom>
          <a:solidFill>
            <a:srgbClr val="DCEAF7"/>
          </a:solidFill>
          <a:ln w="9525">
            <a:solidFill>
              <a:srgbClr val="DCEAF7"/>
            </a:solidFill>
            <a:prstDash val="solid"/>
          </a:ln>
        </p:spPr>
      </p:sp>
      <p:sp>
        <p:nvSpPr>
          <p:cNvPr id="21" name="Shape 19"/>
          <p:cNvSpPr/>
          <p:nvPr/>
        </p:nvSpPr>
        <p:spPr>
          <a:xfrm>
            <a:off x="594360" y="5321808"/>
            <a:ext cx="384048" cy="384048"/>
          </a:xfrm>
          <a:prstGeom prst="ellipse">
            <a:avLst/>
          </a:prstGeom>
          <a:solidFill>
            <a:srgbClr val="F3DC8C"/>
          </a:solidFill>
          <a:ln w="12700">
            <a:solidFill>
              <a:srgbClr val="FFFFFF"/>
            </a:solidFill>
            <a:prstDash val="solid"/>
          </a:ln>
        </p:spPr>
      </p:sp>
      <p:sp>
        <p:nvSpPr>
          <p:cNvPr id="22" name="Text 20"/>
          <p:cNvSpPr txBox="1"/>
          <p:nvPr/>
        </p:nvSpPr>
        <p:spPr>
          <a:xfrm>
            <a:off x="594360"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1115568"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Semantic &amp; Response Caching</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Exact and semantic caching, PHI-safe scoping, hit analytics</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Cuts latency and cost without cross-user PHI leakage</a:t>
            </a:r>
            <a:endParaRPr lang="en-US" sz="1250" dirty="0"/>
          </a:p>
        </p:txBody>
      </p:sp>
      <p:sp>
        <p:nvSpPr>
          <p:cNvPr id="24" name="Shape 22"/>
          <p:cNvSpPr/>
          <p:nvPr/>
        </p:nvSpPr>
        <p:spPr>
          <a:xfrm>
            <a:off x="6233008" y="1234440"/>
            <a:ext cx="5501488" cy="896112"/>
          </a:xfrm>
          <a:prstGeom prst="roundRect">
            <a:avLst>
              <a:gd name="adj" fmla="val 6122"/>
            </a:avLst>
          </a:prstGeom>
          <a:solidFill>
            <a:srgbClr val="DCEAF7"/>
          </a:solidFill>
          <a:ln w="9525">
            <a:solidFill>
              <a:srgbClr val="DCEAF7"/>
            </a:solidFill>
            <a:prstDash val="solid"/>
          </a:ln>
        </p:spPr>
      </p:sp>
      <p:sp>
        <p:nvSpPr>
          <p:cNvPr id="25" name="Shape 23"/>
          <p:cNvSpPr/>
          <p:nvPr/>
        </p:nvSpPr>
        <p:spPr>
          <a:xfrm>
            <a:off x="6370168" y="1371600"/>
            <a:ext cx="384048" cy="384048"/>
          </a:xfrm>
          <a:prstGeom prst="ellipse">
            <a:avLst/>
          </a:prstGeom>
          <a:solidFill>
            <a:srgbClr val="EBB5B5"/>
          </a:solidFill>
          <a:ln w="12700">
            <a:solidFill>
              <a:srgbClr val="FFFFFF"/>
            </a:solidFill>
            <a:prstDash val="solid"/>
          </a:ln>
        </p:spPr>
      </p:sp>
      <p:sp>
        <p:nvSpPr>
          <p:cNvPr id="26" name="Text 24"/>
          <p:cNvSpPr txBox="1"/>
          <p:nvPr/>
        </p:nvSpPr>
        <p:spPr>
          <a:xfrm>
            <a:off x="6370168"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6</a:t>
            </a:r>
            <a:endParaRPr lang="en-US" sz="1100" dirty="0"/>
          </a:p>
        </p:txBody>
      </p:sp>
      <p:sp>
        <p:nvSpPr>
          <p:cNvPr id="27" name="Text 25"/>
          <p:cNvSpPr txBox="1"/>
          <p:nvPr/>
        </p:nvSpPr>
        <p:spPr>
          <a:xfrm>
            <a:off x="6891376" y="1325880"/>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End-to-End OTel Tracing</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Traces across LLM, retrieval, tool/MCP, agent hops; OTel GenAI</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One view to debug agent and RAG flows</a:t>
            </a:r>
            <a:endParaRPr lang="en-US" sz="1250" dirty="0"/>
          </a:p>
        </p:txBody>
      </p:sp>
      <p:sp>
        <p:nvSpPr>
          <p:cNvPr id="28" name="Shape 26"/>
          <p:cNvSpPr/>
          <p:nvPr/>
        </p:nvSpPr>
        <p:spPr>
          <a:xfrm>
            <a:off x="6233008" y="2221992"/>
            <a:ext cx="5501488" cy="896112"/>
          </a:xfrm>
          <a:prstGeom prst="roundRect">
            <a:avLst>
              <a:gd name="adj" fmla="val 6122"/>
            </a:avLst>
          </a:prstGeom>
          <a:solidFill>
            <a:srgbClr val="DCEAF7"/>
          </a:solidFill>
          <a:ln w="9525">
            <a:solidFill>
              <a:srgbClr val="DCEAF7"/>
            </a:solidFill>
            <a:prstDash val="solid"/>
          </a:ln>
        </p:spPr>
      </p:sp>
      <p:sp>
        <p:nvSpPr>
          <p:cNvPr id="29" name="Shape 27"/>
          <p:cNvSpPr/>
          <p:nvPr/>
        </p:nvSpPr>
        <p:spPr>
          <a:xfrm>
            <a:off x="6370168" y="2359152"/>
            <a:ext cx="384048" cy="384048"/>
          </a:xfrm>
          <a:prstGeom prst="ellipse">
            <a:avLst/>
          </a:prstGeom>
          <a:solidFill>
            <a:srgbClr val="C9C1E8"/>
          </a:solidFill>
          <a:ln w="12700">
            <a:solidFill>
              <a:srgbClr val="FFFFFF"/>
            </a:solidFill>
            <a:prstDash val="solid"/>
          </a:ln>
        </p:spPr>
      </p:sp>
      <p:sp>
        <p:nvSpPr>
          <p:cNvPr id="30" name="Text 28"/>
          <p:cNvSpPr txBox="1"/>
          <p:nvPr/>
        </p:nvSpPr>
        <p:spPr>
          <a:xfrm>
            <a:off x="6370168" y="2359152"/>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7</a:t>
            </a:r>
            <a:endParaRPr lang="en-US" sz="1100" dirty="0"/>
          </a:p>
        </p:txBody>
      </p:sp>
      <p:sp>
        <p:nvSpPr>
          <p:cNvPr id="31" name="Text 29"/>
          <p:cNvSpPr txBox="1"/>
          <p:nvPr/>
        </p:nvSpPr>
        <p:spPr>
          <a:xfrm>
            <a:off x="6891376" y="2313432"/>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Evaluation &amp; Quality Monitoring</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Automated evaluators, human feedback, drift and regression detection</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Proves production quality holds; catches degradation early</a:t>
            </a:r>
            <a:endParaRPr lang="en-US" sz="1250" dirty="0"/>
          </a:p>
        </p:txBody>
      </p:sp>
      <p:sp>
        <p:nvSpPr>
          <p:cNvPr id="32" name="Shape 30"/>
          <p:cNvSpPr/>
          <p:nvPr/>
        </p:nvSpPr>
        <p:spPr>
          <a:xfrm>
            <a:off x="6233008" y="3209544"/>
            <a:ext cx="5501488" cy="896112"/>
          </a:xfrm>
          <a:prstGeom prst="roundRect">
            <a:avLst>
              <a:gd name="adj" fmla="val 6122"/>
            </a:avLst>
          </a:prstGeom>
          <a:solidFill>
            <a:srgbClr val="DCEAF7"/>
          </a:solidFill>
          <a:ln w="9525">
            <a:solidFill>
              <a:srgbClr val="DCEAF7"/>
            </a:solidFill>
            <a:prstDash val="solid"/>
          </a:ln>
        </p:spPr>
      </p:sp>
      <p:sp>
        <p:nvSpPr>
          <p:cNvPr id="33" name="Shape 31"/>
          <p:cNvSpPr/>
          <p:nvPr/>
        </p:nvSpPr>
        <p:spPr>
          <a:xfrm>
            <a:off x="6370168" y="3346704"/>
            <a:ext cx="384048" cy="384048"/>
          </a:xfrm>
          <a:prstGeom prst="ellipse">
            <a:avLst/>
          </a:prstGeom>
          <a:solidFill>
            <a:srgbClr val="A9CBEF"/>
          </a:solidFill>
          <a:ln w="12700">
            <a:solidFill>
              <a:srgbClr val="FFFFFF"/>
            </a:solidFill>
            <a:prstDash val="solid"/>
          </a:ln>
        </p:spPr>
      </p:sp>
      <p:sp>
        <p:nvSpPr>
          <p:cNvPr id="34" name="Text 32"/>
          <p:cNvSpPr txBox="1"/>
          <p:nvPr/>
        </p:nvSpPr>
        <p:spPr>
          <a:xfrm>
            <a:off x="6370168" y="3346704"/>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8</a:t>
            </a:r>
            <a:endParaRPr lang="en-US" sz="1100" dirty="0"/>
          </a:p>
        </p:txBody>
      </p:sp>
      <p:sp>
        <p:nvSpPr>
          <p:cNvPr id="35" name="Text 33"/>
          <p:cNvSpPr txBox="1"/>
          <p:nvPr/>
        </p:nvSpPr>
        <p:spPr>
          <a:xfrm>
            <a:off x="6891376" y="3300984"/>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Audit Logging &amp; Retention</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Immutable prompt/response logs, PHI masking, retention, SIEM/Snowflake export</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Supports HIPAA audit, incident response, AI regulation</a:t>
            </a:r>
            <a:endParaRPr lang="en-US" sz="1250" dirty="0"/>
          </a:p>
        </p:txBody>
      </p:sp>
      <p:sp>
        <p:nvSpPr>
          <p:cNvPr id="36" name="Shape 34"/>
          <p:cNvSpPr/>
          <p:nvPr/>
        </p:nvSpPr>
        <p:spPr>
          <a:xfrm>
            <a:off x="6233008" y="4197096"/>
            <a:ext cx="5501488" cy="896112"/>
          </a:xfrm>
          <a:prstGeom prst="roundRect">
            <a:avLst>
              <a:gd name="adj" fmla="val 6122"/>
            </a:avLst>
          </a:prstGeom>
          <a:solidFill>
            <a:srgbClr val="DCEAF7"/>
          </a:solidFill>
          <a:ln w="9525">
            <a:solidFill>
              <a:srgbClr val="DCEAF7"/>
            </a:solidFill>
            <a:prstDash val="solid"/>
          </a:ln>
        </p:spPr>
      </p:sp>
      <p:sp>
        <p:nvSpPr>
          <p:cNvPr id="37" name="Shape 35"/>
          <p:cNvSpPr/>
          <p:nvPr/>
        </p:nvSpPr>
        <p:spPr>
          <a:xfrm>
            <a:off x="6370168" y="4334256"/>
            <a:ext cx="384048" cy="384048"/>
          </a:xfrm>
          <a:prstGeom prst="ellipse">
            <a:avLst/>
          </a:prstGeom>
          <a:solidFill>
            <a:srgbClr val="A9D7BB"/>
          </a:solidFill>
          <a:ln w="12700">
            <a:solidFill>
              <a:srgbClr val="FFFFFF"/>
            </a:solidFill>
            <a:prstDash val="solid"/>
          </a:ln>
        </p:spPr>
      </p:sp>
      <p:sp>
        <p:nvSpPr>
          <p:cNvPr id="38" name="Text 36"/>
          <p:cNvSpPr txBox="1"/>
          <p:nvPr/>
        </p:nvSpPr>
        <p:spPr>
          <a:xfrm>
            <a:off x="6370168" y="4334256"/>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9</a:t>
            </a:r>
            <a:endParaRPr lang="en-US" sz="1100" dirty="0"/>
          </a:p>
        </p:txBody>
      </p:sp>
      <p:sp>
        <p:nvSpPr>
          <p:cNvPr id="39" name="Text 37"/>
          <p:cNvSpPr txBox="1"/>
          <p:nvPr/>
        </p:nvSpPr>
        <p:spPr>
          <a:xfrm>
            <a:off x="6891376" y="4288536"/>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Agent &amp; MCP Traffic Governance</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MCP/A2A policy, tool allowlists, anomaly detection, runaway-cost protection</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Governs chains of agent actions, not just calls</a:t>
            </a:r>
            <a:endParaRPr lang="en-US" sz="1250" dirty="0"/>
          </a:p>
        </p:txBody>
      </p:sp>
      <p:sp>
        <p:nvSpPr>
          <p:cNvPr id="40" name="Shape 38"/>
          <p:cNvSpPr/>
          <p:nvPr/>
        </p:nvSpPr>
        <p:spPr>
          <a:xfrm>
            <a:off x="6233008" y="5184648"/>
            <a:ext cx="5501488" cy="896112"/>
          </a:xfrm>
          <a:prstGeom prst="roundRect">
            <a:avLst>
              <a:gd name="adj" fmla="val 6122"/>
            </a:avLst>
          </a:prstGeom>
          <a:solidFill>
            <a:srgbClr val="DCEAF7"/>
          </a:solidFill>
          <a:ln w="9525">
            <a:solidFill>
              <a:srgbClr val="DCEAF7"/>
            </a:solidFill>
            <a:prstDash val="solid"/>
          </a:ln>
        </p:spPr>
      </p:sp>
      <p:sp>
        <p:nvSpPr>
          <p:cNvPr id="41" name="Shape 39"/>
          <p:cNvSpPr/>
          <p:nvPr/>
        </p:nvSpPr>
        <p:spPr>
          <a:xfrm>
            <a:off x="6370168" y="5321808"/>
            <a:ext cx="384048" cy="384048"/>
          </a:xfrm>
          <a:prstGeom prst="ellipse">
            <a:avLst/>
          </a:prstGeom>
          <a:solidFill>
            <a:srgbClr val="F5C4A3"/>
          </a:solidFill>
          <a:ln w="12700">
            <a:solidFill>
              <a:srgbClr val="FFFFFF"/>
            </a:solidFill>
            <a:prstDash val="solid"/>
          </a:ln>
        </p:spPr>
      </p:sp>
      <p:sp>
        <p:nvSpPr>
          <p:cNvPr id="42" name="Text 40"/>
          <p:cNvSpPr txBox="1"/>
          <p:nvPr/>
        </p:nvSpPr>
        <p:spPr>
          <a:xfrm>
            <a:off x="6370168" y="5321808"/>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10</a:t>
            </a:r>
            <a:endParaRPr lang="en-US" sz="1100" dirty="0"/>
          </a:p>
        </p:txBody>
      </p:sp>
      <p:sp>
        <p:nvSpPr>
          <p:cNvPr id="43" name="Text 41"/>
          <p:cNvSpPr txBox="1"/>
          <p:nvPr/>
        </p:nvSpPr>
        <p:spPr>
          <a:xfrm>
            <a:off x="6891376" y="5276088"/>
            <a:ext cx="4678528" cy="731520"/>
          </a:xfrm>
          <a:prstGeom prst="rect">
            <a:avLst/>
          </a:prstGeom>
          <a:noFill/>
          <a:ln/>
        </p:spPr>
        <p:txBody>
          <a:bodyPr wrap="square" lIns="0" tIns="0" rIns="0" bIns="0" rtlCol="0" anchor="ctr"/>
          <a:lstStyle/>
          <a:p>
            <a:pPr indent="0" marL="0">
              <a:spcAft>
                <a:spcPts val="100"/>
              </a:spcAft>
              <a:buNone/>
            </a:pPr>
            <a:r>
              <a:rPr lang="en-US" sz="1250" b="1" dirty="0">
                <a:solidFill>
                  <a:srgbClr val="2F3E4E"/>
                </a:solidFill>
                <a:latin typeface="Arial" pitchFamily="34" charset="0"/>
                <a:ea typeface="Arial" pitchFamily="34" charset="-122"/>
                <a:cs typeface="Arial" pitchFamily="34" charset="-120"/>
              </a:rPr>
              <a:t>Deployment Portability &amp; Overhead</a:t>
            </a:r>
            <a:endParaRPr lang="en-US" sz="1250" dirty="0"/>
          </a:p>
          <a:p>
            <a:pPr indent="0" marL="0">
              <a:spcAft>
                <a:spcPts val="100"/>
              </a:spcAft>
              <a:buNone/>
            </a:pPr>
            <a:r>
              <a:rPr lang="en-US" sz="1050" b="1" dirty="0">
                <a:solidFill>
                  <a:srgbClr val="2F3E4E"/>
                </a:solidFill>
                <a:latin typeface="Arial" pitchFamily="34" charset="0"/>
                <a:ea typeface="Arial" pitchFamily="34" charset="-122"/>
                <a:cs typeface="Arial" pitchFamily="34" charset="-120"/>
              </a:rPr>
              <a:t>Look for: </a:t>
            </a:r>
            <a:pPr indent="0" marL="0">
              <a:spcAft>
                <a:spcPts val="100"/>
              </a:spcAft>
              <a:buNone/>
            </a:pPr>
            <a:r>
              <a:rPr lang="en-US" sz="1050" dirty="0">
                <a:solidFill>
                  <a:srgbClr val="2F3E4E"/>
                </a:solidFill>
                <a:latin typeface="Arial" pitchFamily="34" charset="0"/>
                <a:ea typeface="Arial" pitchFamily="34" charset="-122"/>
                <a:cs typeface="Arial" pitchFamily="34" charset="-120"/>
              </a:rPr>
              <a:t>Self-host/BYOC, open-source core, HA, minimal added latency</a:t>
            </a:r>
            <a:endParaRPr lang="en-US" sz="1250" dirty="0"/>
          </a:p>
          <a:p>
            <a:pPr indent="0" marL="0">
              <a:spcAft>
                <a:spcPts val="100"/>
              </a:spcAft>
              <a:buNone/>
            </a:pPr>
            <a:r>
              <a:rPr lang="en-US" sz="1050" b="1" i="1" dirty="0">
                <a:solidFill>
                  <a:srgbClr val="6B7785"/>
                </a:solidFill>
                <a:latin typeface="Arial" pitchFamily="34" charset="0"/>
                <a:ea typeface="Arial" pitchFamily="34" charset="-122"/>
                <a:cs typeface="Arial" pitchFamily="34" charset="-120"/>
              </a:rPr>
              <a:t>Why: </a:t>
            </a:r>
            <a:pPr indent="0" marL="0">
              <a:spcAft>
                <a:spcPts val="100"/>
              </a:spcAft>
              <a:buNone/>
            </a:pPr>
            <a:r>
              <a:rPr lang="en-US" sz="1050" i="1" dirty="0">
                <a:solidFill>
                  <a:srgbClr val="6B7785"/>
                </a:solidFill>
                <a:latin typeface="Arial" pitchFamily="34" charset="0"/>
                <a:ea typeface="Arial" pitchFamily="34" charset="-122"/>
                <a:cs typeface="Arial" pitchFamily="34" charset="-120"/>
              </a:rPr>
              <a:t>In every request path; must keep PHI in-perimeter</a:t>
            </a:r>
            <a:endParaRPr lang="en-US" sz="1250" dirty="0"/>
          </a:p>
        </p:txBody>
      </p:sp>
      <p:sp>
        <p:nvSpPr>
          <p:cNvPr id="44" name="Text 42"/>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OUTPUTS/ipaas/ai_capabilities_scoring_templates.md</a:t>
            </a:r>
            <a:endParaRPr lang="en-US" sz="900" dirty="0"/>
          </a:p>
        </p:txBody>
      </p:sp>
      <p:sp>
        <p:nvSpPr>
          <p:cNvPr id="45" name="Text 43"/>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PATTERN 6 OF 6 · VENDOR COMPARISON</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Gateway, Observability — Vendor Comparison</a:t>
            </a:r>
            <a:endParaRPr lang="en-US" sz="2800" dirty="0"/>
          </a:p>
        </p:txBody>
      </p:sp>
      <p:sp>
        <p:nvSpPr>
          <p:cNvPr id="4" name="Text 2"/>
          <p:cNvSpPr txBox="1"/>
          <p:nvPr/>
        </p:nvSpPr>
        <p:spPr>
          <a:xfrm>
            <a:off x="10134295" y="347472"/>
            <a:ext cx="109728"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0</a:t>
            </a:r>
            <a:endParaRPr lang="en-US" sz="900" dirty="0"/>
          </a:p>
        </p:txBody>
      </p:sp>
      <p:sp>
        <p:nvSpPr>
          <p:cNvPr id="5" name="Shape 3"/>
          <p:cNvSpPr/>
          <p:nvPr/>
        </p:nvSpPr>
        <p:spPr>
          <a:xfrm>
            <a:off x="10271455" y="365760"/>
            <a:ext cx="182880" cy="182880"/>
          </a:xfrm>
          <a:prstGeom prst="roundRect">
            <a:avLst>
              <a:gd name="adj" fmla="val 15000"/>
            </a:avLst>
          </a:prstGeom>
          <a:solidFill>
            <a:srgbClr val="F4F5F7"/>
          </a:solidFill>
          <a:ln w="6350">
            <a:solidFill>
              <a:srgbClr val="D9DEE5"/>
            </a:solidFill>
            <a:prstDash val="solid"/>
          </a:ln>
        </p:spPr>
      </p:sp>
      <p:sp>
        <p:nvSpPr>
          <p:cNvPr id="6" name="Shape 4"/>
          <p:cNvSpPr/>
          <p:nvPr/>
        </p:nvSpPr>
        <p:spPr>
          <a:xfrm>
            <a:off x="10490911" y="365760"/>
            <a:ext cx="182880" cy="182880"/>
          </a:xfrm>
          <a:prstGeom prst="roundRect">
            <a:avLst>
              <a:gd name="adj" fmla="val 15000"/>
            </a:avLst>
          </a:prstGeom>
          <a:solidFill>
            <a:srgbClr val="E6F2EA"/>
          </a:solidFill>
          <a:ln w="6350">
            <a:solidFill>
              <a:srgbClr val="D9DEE5"/>
            </a:solidFill>
            <a:prstDash val="solid"/>
          </a:ln>
        </p:spPr>
      </p:sp>
      <p:sp>
        <p:nvSpPr>
          <p:cNvPr id="7" name="Shape 5"/>
          <p:cNvSpPr/>
          <p:nvPr/>
        </p:nvSpPr>
        <p:spPr>
          <a:xfrm>
            <a:off x="10710367" y="365760"/>
            <a:ext cx="182880" cy="182880"/>
          </a:xfrm>
          <a:prstGeom prst="roundRect">
            <a:avLst>
              <a:gd name="adj" fmla="val 15000"/>
            </a:avLst>
          </a:prstGeom>
          <a:solidFill>
            <a:srgbClr val="CFE8D8"/>
          </a:solidFill>
          <a:ln w="6350">
            <a:solidFill>
              <a:srgbClr val="D9DEE5"/>
            </a:solidFill>
            <a:prstDash val="solid"/>
          </a:ln>
        </p:spPr>
      </p:sp>
      <p:sp>
        <p:nvSpPr>
          <p:cNvPr id="8" name="Shape 6"/>
          <p:cNvSpPr/>
          <p:nvPr/>
        </p:nvSpPr>
        <p:spPr>
          <a:xfrm>
            <a:off x="10929823" y="365760"/>
            <a:ext cx="182880" cy="182880"/>
          </a:xfrm>
          <a:prstGeom prst="roundRect">
            <a:avLst>
              <a:gd name="adj" fmla="val 15000"/>
            </a:avLst>
          </a:prstGeom>
          <a:solidFill>
            <a:srgbClr val="A9D7BB"/>
          </a:solidFill>
          <a:ln w="6350">
            <a:solidFill>
              <a:srgbClr val="D9DEE5"/>
            </a:solidFill>
            <a:prstDash val="solid"/>
          </a:ln>
        </p:spPr>
      </p:sp>
      <p:sp>
        <p:nvSpPr>
          <p:cNvPr id="9" name="Shape 7"/>
          <p:cNvSpPr/>
          <p:nvPr/>
        </p:nvSpPr>
        <p:spPr>
          <a:xfrm>
            <a:off x="11149279" y="365760"/>
            <a:ext cx="182880" cy="182880"/>
          </a:xfrm>
          <a:prstGeom prst="roundRect">
            <a:avLst>
              <a:gd name="adj" fmla="val 15000"/>
            </a:avLst>
          </a:prstGeom>
          <a:solidFill>
            <a:srgbClr val="7DBF98"/>
          </a:solidFill>
          <a:ln w="6350">
            <a:solidFill>
              <a:srgbClr val="D9DEE5"/>
            </a:solidFill>
            <a:prstDash val="solid"/>
          </a:ln>
        </p:spPr>
      </p:sp>
      <p:sp>
        <p:nvSpPr>
          <p:cNvPr id="10" name="Text 8"/>
          <p:cNvSpPr txBox="1"/>
          <p:nvPr/>
        </p:nvSpPr>
        <p:spPr>
          <a:xfrm>
            <a:off x="11387023" y="347472"/>
            <a:ext cx="137160" cy="219456"/>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4</a:t>
            </a:r>
            <a:endParaRPr lang="en-US" sz="900" dirty="0"/>
          </a:p>
        </p:txBody>
      </p:sp>
      <p:sp>
        <p:nvSpPr>
          <p:cNvPr id="11" name="Shape 9"/>
          <p:cNvSpPr/>
          <p:nvPr/>
        </p:nvSpPr>
        <p:spPr>
          <a:xfrm>
            <a:off x="8579815" y="338328"/>
            <a:ext cx="1417320" cy="237744"/>
          </a:xfrm>
          <a:prstGeom prst="roundRect">
            <a:avLst>
              <a:gd name="adj" fmla="val 23077"/>
            </a:avLst>
          </a:prstGeom>
          <a:solidFill>
            <a:srgbClr val="8CC4EA"/>
          </a:solidFill>
          <a:ln w="19050">
            <a:solidFill>
              <a:srgbClr val="3F8FC7"/>
            </a:solidFill>
            <a:prstDash val="solid"/>
          </a:ln>
        </p:spPr>
      </p:sp>
      <p:sp>
        <p:nvSpPr>
          <p:cNvPr id="12" name="Text 10"/>
          <p:cNvSpPr txBox="1"/>
          <p:nvPr/>
        </p:nvSpPr>
        <p:spPr>
          <a:xfrm>
            <a:off x="8579815" y="338328"/>
            <a:ext cx="1417320" cy="237744"/>
          </a:xfrm>
          <a:prstGeom prst="rect">
            <a:avLst/>
          </a:prstGeom>
          <a:noFill/>
          <a:ln/>
        </p:spPr>
        <p:txBody>
          <a:bodyPr wrap="square" lIns="0" tIns="0" rIns="0" bIns="0" rtlCol="0" anchor="ctr"/>
          <a:lstStyle/>
          <a:p>
            <a:pPr algn="ctr" indent="0" marL="0">
              <a:buNone/>
            </a:pPr>
            <a:r>
              <a:rPr lang="en-US" sz="900" dirty="0">
                <a:solidFill>
                  <a:srgbClr val="2F3E4E"/>
                </a:solidFill>
                <a:latin typeface="Arial" pitchFamily="34" charset="0"/>
                <a:ea typeface="Arial" pitchFamily="34" charset="-122"/>
                <a:cs typeface="Arial" pitchFamily="34" charset="-120"/>
              </a:rPr>
              <a:t>❄ Snowflake platform</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7295" cy="914400"/>
        </p:xfrm>
        <a:graphic>
          <a:graphicData uri="http://schemas.openxmlformats.org/drawingml/2006/table">
            <a:tbl>
              <a:tblPr/>
              <a:tblGrid>
                <a:gridCol w="365760"/>
                <a:gridCol w="2240280"/>
                <a:gridCol w="1238751"/>
                <a:gridCol w="1238751"/>
                <a:gridCol w="1238751"/>
                <a:gridCol w="1238751"/>
                <a:gridCol w="1238751"/>
                <a:gridCol w="1238751"/>
                <a:gridCol w="1238751"/>
              </a:tblGrid>
              <a:tr h="530352">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Capability</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Azure (APIM + Foundry)</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Amazon Bedrock</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Kong AI Gateway</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LangSmith</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Arize (AX + Phoenix)</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dirty="0">
                          <a:solidFill>
                            <a:srgbClr val="2F3E4E"/>
                          </a:solidFill>
                          <a:latin typeface="Arial" pitchFamily="34" charset="0"/>
                          <a:ea typeface="Arial" pitchFamily="34" charset="-122"/>
                          <a:cs typeface="Arial" pitchFamily="34" charset="-120"/>
                        </a:rPr>
                        <a:t>Fiddler AI</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algn="ctr" indent="0" marL="0">
                        <a:buNone/>
                      </a:pPr>
                      <a:r>
                        <a:rPr lang="en-US" sz="950" b="1" i="1" dirty="0">
                          <a:solidFill>
                            <a:srgbClr val="2F3E4E"/>
                          </a:solidFill>
                          <a:latin typeface="Arial" pitchFamily="34" charset="0"/>
                          <a:ea typeface="Arial" pitchFamily="34" charset="-122"/>
                          <a:cs typeface="Arial" pitchFamily="34" charset="-120"/>
                        </a:rPr>
                        <a:t>❄ Ref: Snowflake Cortex AI</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8CC4EA"/>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Multi-Model Routing &amp; Failover</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4F5F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4F5F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PHI Guardrails &amp; Content Safety</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Identity, Access &amp; Quotas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Cost Attribution &amp; Budgets</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Semantic &amp; Response Caching</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4F5F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4F5F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4F5F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4F5F7"/>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End-to-End OTel Tracing</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7</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Evaluation &amp; Quality Monitoring</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8</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Audit Logging &amp; Retention</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9</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Agent &amp; MCP Traffic Governance</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r>
              <a:tr h="301752">
                <a:tc>
                  <a:txBody>
                    <a:bodyPr/>
                    <a:lstStyle/>
                    <a:p>
                      <a:pPr algn="ctr" indent="0" marL="0">
                        <a:buNone/>
                      </a:pPr>
                      <a:r>
                        <a:rPr lang="en-US" sz="950" dirty="0">
                          <a:solidFill>
                            <a:srgbClr val="6B7785"/>
                          </a:solidFill>
                          <a:latin typeface="Arial" pitchFamily="34" charset="0"/>
                          <a:ea typeface="Arial" pitchFamily="34" charset="-122"/>
                          <a:cs typeface="Arial" pitchFamily="34" charset="-120"/>
                        </a:rPr>
                        <a:t>10</a:t>
                      </a:r>
                      <a:endParaRPr lang="en-US" sz="9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Deployment Portability &amp; Overhead</a:t>
                      </a:r>
                      <a:endParaRPr lang="en-US" sz="9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2EA"/>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7DBF98"/>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A9D7BB"/>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CFE8D8"/>
                    </a:solidFill>
                  </a:tcPr>
                </a:tc>
              </a:tr>
              <a:tr h="329184">
                <a:tc>
                  <a:txBody>
                    <a:bodyPr/>
                    <a:lstStyle/>
                    <a:p>
                      <a:pPr indent="0" marL="0">
                        <a:buNone/>
                      </a:pPr>
                      <a:endParaRPr lang="en-US" sz="12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Weighted total</a:t>
                      </a:r>
                      <a:endParaRPr lang="en-US" sz="100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75.0%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62.5%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2F3E4E"/>
                          </a:solidFill>
                          <a:latin typeface="Arial" pitchFamily="34" charset="0"/>
                          <a:ea typeface="Arial" pitchFamily="34" charset="-122"/>
                          <a:cs typeface="Arial" pitchFamily="34" charset="-120"/>
                        </a:rPr>
                        <a:t>77.5%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DFF1E7"/>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55.0%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47.5%</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50.0%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2F3E4E"/>
                          </a:solidFill>
                          <a:latin typeface="Arial" pitchFamily="34" charset="0"/>
                          <a:ea typeface="Arial" pitchFamily="34" charset="-122"/>
                          <a:cs typeface="Arial" pitchFamily="34" charset="-120"/>
                        </a:rPr>
                        <a:t>50.0%</a:t>
                      </a:r>
                      <a:endParaRPr lang="en-US" sz="1050" dirty="0">
                        <a:latin typeface="Arial" charset="0"/>
                        <a:ea typeface="Arial" charset="0"/>
                        <a:cs typeface="Arial" charset="0"/>
                      </a:endParaRPr>
                    </a:p>
                  </a:txBody>
                  <a:tcPr marL="45720" marR="45720" marT="18288" marB="18288"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FAFC"/>
                    </a:solidFill>
                  </a:tcPr>
                </a:tc>
              </a:tr>
            </a:tbl>
          </a:graphicData>
        </a:graphic>
      </p:graphicFrame>
      <p:sp>
        <p:nvSpPr>
          <p:cNvPr id="14" name="Shape 11"/>
          <p:cNvSpPr/>
          <p:nvPr/>
        </p:nvSpPr>
        <p:spPr>
          <a:xfrm>
            <a:off x="10495744" y="1234440"/>
            <a:ext cx="1238751" cy="3877056"/>
          </a:xfrm>
          <a:prstGeom prst="rect">
            <a:avLst/>
          </a:prstGeom>
          <a:ln w="28575">
            <a:solidFill>
              <a:srgbClr val="3F8FC7"/>
            </a:solidFill>
            <a:prstDash val="solid"/>
          </a:ln>
        </p:spPr>
      </p:sp>
      <p:sp>
        <p:nvSpPr>
          <p:cNvPr id="15" name="Shape 12"/>
          <p:cNvSpPr/>
          <p:nvPr/>
        </p:nvSpPr>
        <p:spPr>
          <a:xfrm>
            <a:off x="457200" y="5239512"/>
            <a:ext cx="11277295" cy="905256"/>
          </a:xfrm>
          <a:prstGeom prst="roundRect">
            <a:avLst>
              <a:gd name="adj" fmla="val 6061"/>
            </a:avLst>
          </a:prstGeom>
          <a:solidFill>
            <a:srgbClr val="FFF3C9"/>
          </a:solidFill>
          <a:ln w="9525">
            <a:solidFill>
              <a:srgbClr val="FFF3C9"/>
            </a:solidFill>
            <a:prstDash val="solid"/>
          </a:ln>
        </p:spPr>
      </p:sp>
      <p:sp>
        <p:nvSpPr>
          <p:cNvPr id="16" name="Text 13"/>
          <p:cNvSpPr txBox="1"/>
          <p:nvPr/>
        </p:nvSpPr>
        <p:spPr>
          <a:xfrm>
            <a:off x="640080" y="5312664"/>
            <a:ext cx="10911535" cy="758952"/>
          </a:xfrm>
          <a:prstGeom prst="rect">
            <a:avLst/>
          </a:prstGeom>
          <a:noFill/>
          <a:ln/>
        </p:spPr>
        <p:txBody>
          <a:bodyPr wrap="square" lIns="0" tIns="0" rIns="0" bIns="0" rtlCol="0" anchor="ctr"/>
          <a:lstStyle/>
          <a:p>
            <a:pPr indent="0" marL="0">
              <a:spcAft>
                <a:spcPts val="300"/>
              </a:spcAft>
              <a:buNone/>
            </a:pPr>
            <a:r>
              <a:rPr lang="en-US" sz="1050" b="1" dirty="0">
                <a:solidFill>
                  <a:srgbClr val="2F3E4E"/>
                </a:solidFill>
                <a:latin typeface="Arial" pitchFamily="34" charset="0"/>
                <a:ea typeface="Arial" pitchFamily="34" charset="-122"/>
                <a:cs typeface="Arial" pitchFamily="34" charset="-120"/>
              </a:rPr>
              <a:t>Takeaway  </a:t>
            </a:r>
            <a:pPr indent="0" marL="0">
              <a:spcAft>
                <a:spcPts val="300"/>
              </a:spcAft>
              <a:buNone/>
            </a:pPr>
            <a:r>
              <a:rPr lang="en-US" sz="1050" dirty="0">
                <a:solidFill>
                  <a:srgbClr val="2F3E4E"/>
                </a:solidFill>
                <a:latin typeface="Arial" pitchFamily="34" charset="0"/>
                <a:ea typeface="Arial" pitchFamily="34" charset="-122"/>
                <a:cs typeface="Arial" pitchFamily="34" charset="-120"/>
              </a:rPr>
              <a:t>Best fit is Kong AI Gateway (#1, 77.5%) as the neutral, self-hosted control point for all model, MCP and A2A traffic, paired with Arize AX + Phoenix for tracing and evaluation (combined 90%), with Snowflake as the audit and analytics sink. Azure APIM + Foundry (#2, 75%) is the strongest single-suite exception path for Azure workloads, Bedrock should be consumed through Kong, LangSmith is the alternative observability choice, and Fiddler is the named PHI-guardrail add-on. Key risk is PHI redaction efficacy and unverified BAA terms for Kong and Arize, which the PoC must confirm.</a:t>
            </a:r>
            <a:endParaRPr lang="en-US" sz="1050" dirty="0"/>
          </a:p>
        </p:txBody>
      </p:sp>
      <p:sp>
        <p:nvSpPr>
          <p:cNvPr id="17" name="Text 14"/>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OUTPUTS/ipaas/compare_ai_gateway_obs_vendors.md</a:t>
            </a:r>
            <a:endParaRPr lang="en-US" sz="900" dirty="0"/>
          </a:p>
        </p:txBody>
      </p:sp>
      <p:sp>
        <p:nvSpPr>
          <p:cNvPr id="18" name="Text 15"/>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SYNTHESIS · PLATFORM FIT</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Where Snowflake Fits</a:t>
            </a:r>
            <a:endParaRPr lang="en-US" sz="2800" dirty="0"/>
          </a:p>
        </p:txBody>
      </p:sp>
      <p:sp>
        <p:nvSpPr>
          <p:cNvPr id="4" name="Shape 2"/>
          <p:cNvSpPr/>
          <p:nvPr/>
        </p:nvSpPr>
        <p:spPr>
          <a:xfrm>
            <a:off x="457200" y="1188720"/>
            <a:ext cx="2377440" cy="292608"/>
          </a:xfrm>
          <a:prstGeom prst="roundRect">
            <a:avLst>
              <a:gd name="adj" fmla="val 18750"/>
            </a:avLst>
          </a:prstGeom>
          <a:solidFill>
            <a:srgbClr val="FBE3D3"/>
          </a:solidFill>
          <a:ln w="9525">
            <a:solidFill>
              <a:srgbClr val="FBE3D3"/>
            </a:solidFill>
            <a:prstDash val="solid"/>
          </a:ln>
        </p:spPr>
      </p:sp>
      <p:sp>
        <p:nvSpPr>
          <p:cNvPr id="5" name="Text 3"/>
          <p:cNvSpPr txBox="1"/>
          <p:nvPr/>
        </p:nvSpPr>
        <p:spPr>
          <a:xfrm>
            <a:off x="566928" y="1188720"/>
            <a:ext cx="2157984" cy="292608"/>
          </a:xfrm>
          <a:prstGeom prst="rect">
            <a:avLst/>
          </a:prstGeom>
          <a:noFill/>
          <a:ln/>
        </p:spPr>
        <p:txBody>
          <a:bodyPr wrap="square" lIns="0" tIns="0" rIns="0" bIns="0" rtlCol="0" anchor="ctr"/>
          <a:lstStyle/>
          <a:p>
            <a:pPr indent="0" marL="0">
              <a:buNone/>
            </a:pPr>
            <a:r>
              <a:rPr lang="en-US" sz="1050" b="1" dirty="0">
                <a:solidFill>
                  <a:srgbClr val="2F3E4E"/>
                </a:solidFill>
                <a:latin typeface="Arial" pitchFamily="34" charset="0"/>
                <a:ea typeface="Arial" pitchFamily="34" charset="-122"/>
                <a:cs typeface="Arial" pitchFamily="34" charset="-120"/>
              </a:rPr>
              <a:t>Bronze  </a:t>
            </a:r>
            <a:pPr indent="0" marL="0">
              <a:buNone/>
            </a:pPr>
            <a:r>
              <a:rPr lang="en-US" sz="1050" dirty="0">
                <a:solidFill>
                  <a:srgbClr val="2F3E4E"/>
                </a:solidFill>
                <a:latin typeface="Arial" pitchFamily="34" charset="0"/>
                <a:ea typeface="Arial" pitchFamily="34" charset="-122"/>
                <a:cs typeface="Arial" pitchFamily="34" charset="-120"/>
              </a:rPr>
              <a:t>raw landed data</a:t>
            </a:r>
            <a:endParaRPr lang="en-US" sz="1050" dirty="0"/>
          </a:p>
        </p:txBody>
      </p:sp>
      <p:sp>
        <p:nvSpPr>
          <p:cNvPr id="6" name="Shape 4"/>
          <p:cNvSpPr/>
          <p:nvPr/>
        </p:nvSpPr>
        <p:spPr>
          <a:xfrm>
            <a:off x="3017520" y="1188720"/>
            <a:ext cx="2377440" cy="292608"/>
          </a:xfrm>
          <a:prstGeom prst="roundRect">
            <a:avLst>
              <a:gd name="adj" fmla="val 18750"/>
            </a:avLst>
          </a:prstGeom>
          <a:solidFill>
            <a:srgbClr val="E7E3F4"/>
          </a:solidFill>
          <a:ln w="9525">
            <a:solidFill>
              <a:srgbClr val="E7E3F4"/>
            </a:solidFill>
            <a:prstDash val="solid"/>
          </a:ln>
        </p:spPr>
      </p:sp>
      <p:sp>
        <p:nvSpPr>
          <p:cNvPr id="7" name="Text 5"/>
          <p:cNvSpPr txBox="1"/>
          <p:nvPr/>
        </p:nvSpPr>
        <p:spPr>
          <a:xfrm>
            <a:off x="3127248" y="1188720"/>
            <a:ext cx="2157984" cy="292608"/>
          </a:xfrm>
          <a:prstGeom prst="rect">
            <a:avLst/>
          </a:prstGeom>
          <a:noFill/>
          <a:ln/>
        </p:spPr>
        <p:txBody>
          <a:bodyPr wrap="square" lIns="0" tIns="0" rIns="0" bIns="0" rtlCol="0" anchor="ctr"/>
          <a:lstStyle/>
          <a:p>
            <a:pPr indent="0" marL="0">
              <a:buNone/>
            </a:pPr>
            <a:r>
              <a:rPr lang="en-US" sz="1050" b="1" dirty="0">
                <a:solidFill>
                  <a:srgbClr val="2F3E4E"/>
                </a:solidFill>
                <a:latin typeface="Arial" pitchFamily="34" charset="0"/>
                <a:ea typeface="Arial" pitchFamily="34" charset="-122"/>
                <a:cs typeface="Arial" pitchFamily="34" charset="-120"/>
              </a:rPr>
              <a:t>Silver  </a:t>
            </a:r>
            <a:pPr indent="0" marL="0">
              <a:buNone/>
            </a:pPr>
            <a:r>
              <a:rPr lang="en-US" sz="1050" dirty="0">
                <a:solidFill>
                  <a:srgbClr val="2F3E4E"/>
                </a:solidFill>
                <a:latin typeface="Arial" pitchFamily="34" charset="0"/>
                <a:ea typeface="Arial" pitchFamily="34" charset="-122"/>
                <a:cs typeface="Arial" pitchFamily="34" charset="-120"/>
              </a:rPr>
              <a:t>parsed &amp; conformed</a:t>
            </a:r>
            <a:endParaRPr lang="en-US" sz="1050" dirty="0"/>
          </a:p>
        </p:txBody>
      </p:sp>
      <p:sp>
        <p:nvSpPr>
          <p:cNvPr id="8" name="Shape 6"/>
          <p:cNvSpPr/>
          <p:nvPr/>
        </p:nvSpPr>
        <p:spPr>
          <a:xfrm>
            <a:off x="5577840" y="1188720"/>
            <a:ext cx="2377440" cy="292608"/>
          </a:xfrm>
          <a:prstGeom prst="roundRect">
            <a:avLst>
              <a:gd name="adj" fmla="val 18750"/>
            </a:avLst>
          </a:prstGeom>
          <a:solidFill>
            <a:srgbClr val="FFF3C9"/>
          </a:solidFill>
          <a:ln w="9525">
            <a:solidFill>
              <a:srgbClr val="FFF3C9"/>
            </a:solidFill>
            <a:prstDash val="solid"/>
          </a:ln>
        </p:spPr>
      </p:sp>
      <p:sp>
        <p:nvSpPr>
          <p:cNvPr id="9" name="Text 7"/>
          <p:cNvSpPr txBox="1"/>
          <p:nvPr/>
        </p:nvSpPr>
        <p:spPr>
          <a:xfrm>
            <a:off x="5687568" y="1188720"/>
            <a:ext cx="2157984" cy="292608"/>
          </a:xfrm>
          <a:prstGeom prst="rect">
            <a:avLst/>
          </a:prstGeom>
          <a:noFill/>
          <a:ln/>
        </p:spPr>
        <p:txBody>
          <a:bodyPr wrap="square" lIns="0" tIns="0" rIns="0" bIns="0" rtlCol="0" anchor="ctr"/>
          <a:lstStyle/>
          <a:p>
            <a:pPr indent="0" marL="0">
              <a:buNone/>
            </a:pPr>
            <a:r>
              <a:rPr lang="en-US" sz="1050" b="1" dirty="0">
                <a:solidFill>
                  <a:srgbClr val="2F3E4E"/>
                </a:solidFill>
                <a:latin typeface="Arial" pitchFamily="34" charset="0"/>
                <a:ea typeface="Arial" pitchFamily="34" charset="-122"/>
                <a:cs typeface="Arial" pitchFamily="34" charset="-120"/>
              </a:rPr>
              <a:t>Gold  </a:t>
            </a:r>
            <a:pPr indent="0" marL="0">
              <a:buNone/>
            </a:pPr>
            <a:r>
              <a:rPr lang="en-US" sz="1050" dirty="0">
                <a:solidFill>
                  <a:srgbClr val="2F3E4E"/>
                </a:solidFill>
                <a:latin typeface="Arial" pitchFamily="34" charset="0"/>
                <a:ea typeface="Arial" pitchFamily="34" charset="-122"/>
                <a:cs typeface="Arial" pitchFamily="34" charset="-120"/>
              </a:rPr>
              <a:t>curated for consumption</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27632"/>
          <a:ext cx="11277295" cy="914400"/>
        </p:xfrm>
        <a:graphic>
          <a:graphicData uri="http://schemas.openxmlformats.org/drawingml/2006/table">
            <a:tbl>
              <a:tblPr/>
              <a:tblGrid>
                <a:gridCol w="1371600"/>
                <a:gridCol w="777240"/>
                <a:gridCol w="1188720"/>
                <a:gridCol w="4023360"/>
                <a:gridCol w="3913632"/>
              </a:tblGrid>
              <a:tr h="310896">
                <a:tc>
                  <a:txBody>
                    <a:bodyPr/>
                    <a:lstStyle/>
                    <a:p>
                      <a:pPr indent="0" marL="0">
                        <a:buNone/>
                      </a:pPr>
                      <a:r>
                        <a:rPr lang="en-US" sz="1000" b="1" dirty="0">
                          <a:solidFill>
                            <a:srgbClr val="2F3E4E"/>
                          </a:solidFill>
                          <a:latin typeface="Arial" pitchFamily="34" charset="0"/>
                          <a:ea typeface="Arial" pitchFamily="34" charset="-122"/>
                          <a:cs typeface="Arial" pitchFamily="34" charset="-120"/>
                        </a:rPr>
                        <a:t>Pattern</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Fit</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Layer</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Native Snowflake capability</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c>
                  <a:txBody>
                    <a:bodyPr/>
                    <a:lstStyle/>
                    <a:p>
                      <a:pPr indent="0" marL="0">
                        <a:buNone/>
                      </a:pPr>
                      <a:r>
                        <a:rPr lang="en-US" sz="1000" b="1" dirty="0">
                          <a:solidFill>
                            <a:srgbClr val="2F3E4E"/>
                          </a:solidFill>
                          <a:latin typeface="Arial" pitchFamily="34" charset="0"/>
                          <a:ea typeface="Arial" pitchFamily="34" charset="-122"/>
                          <a:cs typeface="Arial" pitchFamily="34" charset="-120"/>
                        </a:rPr>
                        <a:t>Gap → complement</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3F4"/>
                    </a:solidFill>
                  </a:tcPr>
                </a:tc>
              </a:tr>
              <a:tr h="694944">
                <a:tc>
                  <a:txBody>
                    <a:bodyPr/>
                    <a:lstStyle/>
                    <a:p>
                      <a:pPr indent="0" marL="0">
                        <a:buNone/>
                      </a:pPr>
                      <a:r>
                        <a:rPr lang="en-US" sz="1000" b="1" dirty="0">
                          <a:solidFill>
                            <a:srgbClr val="2F3E4E"/>
                          </a:solidFill>
                          <a:latin typeface="Arial" pitchFamily="34" charset="0"/>
                          <a:ea typeface="Arial" pitchFamily="34" charset="-122"/>
                          <a:cs typeface="Arial" pitchFamily="34" charset="-120"/>
                        </a:rPr>
                        <a:t>Agent Platforms</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Partial</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3C9"/>
                    </a:solidFill>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Gold / Consumption</a:t>
                      </a:r>
                      <a:endParaRPr lang="en-US" sz="9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Cortex Agents orchestrate Cortex Analyst (semantic views) and Cortex Search over governed Gold data. Snowflake Intelligence (GA) is the business UI. RBAC, masking and row policies are inherited, Agent Identity is GA, and evaluations and OTel traces are stored in AI_OBSERVABILITY_EVENTS.</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Covers data agents only: no HITL, no A2A, no PHI guardrails. Complement: one agent platform on the primary cloud (Foundry + Copilot Studio on the existing Entra/M365 estate), which calls Cortex Agents through MCP.</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94944">
                <a:tc>
                  <a:txBody>
                    <a:bodyPr/>
                    <a:lstStyle/>
                    <a:p>
                      <a:pPr indent="0" marL="0">
                        <a:buNone/>
                      </a:pPr>
                      <a:r>
                        <a:rPr lang="en-US" sz="1000" b="1" dirty="0">
                          <a:solidFill>
                            <a:srgbClr val="2F3E4E"/>
                          </a:solidFill>
                          <a:latin typeface="Arial" pitchFamily="34" charset="0"/>
                          <a:ea typeface="Arial" pitchFamily="34" charset="-122"/>
                          <a:cs typeface="Arial" pitchFamily="34" charset="-120"/>
                        </a:rPr>
                        <a:t>Agent Frameworks</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Gap</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6DADA"/>
                    </a:solidFill>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Consumption</a:t>
                      </a:r>
                      <a:endParaRPr lang="en-US" sz="9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Snowflake is not an orchestration framework. It supplies governed tools through langchain-snowflake (SnowflakeCortexAgent) and Cortex Search/Analyst as MCP tools. It can hold checkpoints, traces and TruLens evaluation results with enterprise retention policies.</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Standardize on open-source LangGraph (no vendor contract), with Microsoft Agent Framework for .NET. Use LangSmith only self-hosted or under a BAA. Otherwise send OTel to the chosen observability tool.</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94944">
                <a:tc>
                  <a:txBody>
                    <a:bodyPr/>
                    <a:lstStyle/>
                    <a:p>
                      <a:pPr indent="0" marL="0">
                        <a:buNone/>
                      </a:pPr>
                      <a:r>
                        <a:rPr lang="en-US" sz="1000" b="1" dirty="0">
                          <a:solidFill>
                            <a:srgbClr val="2F3E4E"/>
                          </a:solidFill>
                          <a:latin typeface="Arial" pitchFamily="34" charset="0"/>
                          <a:ea typeface="Arial" pitchFamily="34" charset="-122"/>
                          <a:cs typeface="Arial" pitchFamily="34" charset="-120"/>
                        </a:rPr>
                        <a:t>MCP Ecosystems</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Partial</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3C9"/>
                    </a:solidFill>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Gold / Consumption</a:t>
                      </a:r>
                      <a:endParaRPr lang="en-US" sz="9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The GA Snowflake-managed MCP server exposes Cortex Agents, Analyst, Search, SQL and UDF/procedure tools under RBAC, masking, row policies and Entra/Okta OAuth. Native Apps (GA) package and distribute governed MCP servers.</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No enterprise gateway or registry for non-Snowflake servers. Tools only, one spec revision behind. Complement: reuse the Pattern 6 gateway (Kong, or APIM + API Center / AgentCore Gateway) instead of adding an MCP-only vendor.</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94944">
                <a:tc>
                  <a:txBody>
                    <a:bodyPr/>
                    <a:lstStyle/>
                    <a:p>
                      <a:pPr indent="0" marL="0">
                        <a:buNone/>
                      </a:pPr>
                      <a:r>
                        <a:rPr lang="en-US" sz="1000" b="1" dirty="0">
                          <a:solidFill>
                            <a:srgbClr val="2F3E4E"/>
                          </a:solidFill>
                          <a:latin typeface="Arial" pitchFamily="34" charset="0"/>
                          <a:ea typeface="Arial" pitchFamily="34" charset="-122"/>
                          <a:cs typeface="Arial" pitchFamily="34" charset="-120"/>
                        </a:rPr>
                        <a:t>RAG Frameworks</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Strong</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DFF1E7"/>
                    </a:solidFill>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Silver → Gold</a:t>
                      </a:r>
                      <a:endParaRPr lang="en-US" sz="9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AI_PARSE_DOCUMENT (OCR/LAYOUT, 2,000 pages) and AI_EXTRACT parse into Silver. SPLIT_TEXT chunking and Cortex Search hybrid retrieval with incremental TARGET_LAG refresh run on Gold. Cortex Agents combine Search with Analyst. TruLens RAG-triad evaluation is built in.</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Owner's-rights permission trimming, a limited embedding catalog, and SharePoint/ECM content must be landed first. Complement: open-source LlamaIndex for complex parsing. Azure AI Search only for permission-critical SharePoint corpora.</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94944">
                <a:tc>
                  <a:txBody>
                    <a:bodyPr/>
                    <a:lstStyle/>
                    <a:p>
                      <a:pPr indent="0" marL="0">
                        <a:buNone/>
                      </a:pPr>
                      <a:r>
                        <a:rPr lang="en-US" sz="1000" b="1" dirty="0">
                          <a:solidFill>
                            <a:srgbClr val="2F3E4E"/>
                          </a:solidFill>
                          <a:latin typeface="Arial" pitchFamily="34" charset="0"/>
                          <a:ea typeface="Arial" pitchFamily="34" charset="-122"/>
                          <a:cs typeface="Arial" pitchFamily="34" charset="-120"/>
                        </a:rPr>
                        <a:t>Vector Search</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Partial</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3C9"/>
                    </a:solidFill>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Gold</a:t>
                      </a:r>
                      <a:endParaRPr lang="en-US" sz="9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Cortex Search does managed hybrid vector + keyword + rerank (up to 400M rows per service). The native VECTOR type supports similarity functions, with Arctic/Voyage embeddings via EMBED_TEXT. Chunks and embeddings stay in Snowflake as the system of record under the BAA.</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Default 20 QPS per service, no index or quantization control, minute-level lag, owner's rights. Complement: one portable Tier 1 engine (prefer Elasticsearch if already run; otherwise Qdrant), only where the PoC shows the ceilings are hit.</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94944">
                <a:tc>
                  <a:txBody>
                    <a:bodyPr/>
                    <a:lstStyle/>
                    <a:p>
                      <a:pPr indent="0" marL="0">
                        <a:buNone/>
                      </a:pPr>
                      <a:r>
                        <a:rPr lang="en-US" sz="1000" b="1" dirty="0">
                          <a:solidFill>
                            <a:srgbClr val="2F3E4E"/>
                          </a:solidFill>
                          <a:latin typeface="Arial" pitchFamily="34" charset="0"/>
                          <a:ea typeface="Arial" pitchFamily="34" charset="-122"/>
                          <a:cs typeface="Arial" pitchFamily="34" charset="-120"/>
                        </a:rPr>
                        <a:t>Gateway, Observability</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000" b="1" dirty="0">
                          <a:solidFill>
                            <a:srgbClr val="2F3E4E"/>
                          </a:solidFill>
                          <a:latin typeface="Arial" pitchFamily="34" charset="0"/>
                          <a:ea typeface="Arial" pitchFamily="34" charset="-122"/>
                          <a:cs typeface="Arial" pitchFamily="34" charset="-120"/>
                        </a:rPr>
                        <a:t>Partial</a:t>
                      </a:r>
                      <a:endParaRPr lang="en-US" sz="10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3C9"/>
                    </a:solidFill>
                  </a:tcPr>
                </a:tc>
                <a:tc>
                  <a:txBody>
                    <a:bodyPr/>
                    <a:lstStyle/>
                    <a:p>
                      <a:pPr indent="0" marL="0">
                        <a:buNone/>
                      </a:pPr>
                      <a:r>
                        <a:rPr lang="en-US" sz="900" dirty="0">
                          <a:solidFill>
                            <a:srgbClr val="2F3E4E"/>
                          </a:solidFill>
                          <a:latin typeface="Arial" pitchFamily="34" charset="0"/>
                          <a:ea typeface="Arial" pitchFamily="34" charset="-122"/>
                          <a:cs typeface="Arial" pitchFamily="34" charset="-120"/>
                        </a:rPr>
                        <a:t>All layers (audit sink) / Consumption</a:t>
                      </a:r>
                      <a:endParaRPr lang="en-US" sz="90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Cortex AI Observability (TruLens traces and evaluations), Cortex AI Guardrails, AI_REDACT, Cortex usage-history views and budgets. Horizon-governed tables serve as the long-term audit, retention and chargeback sink for all AI telemetry.</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850" dirty="0">
                          <a:solidFill>
                            <a:srgbClr val="2F3E4E"/>
                          </a:solidFill>
                          <a:latin typeface="Arial" pitchFamily="34" charset="0"/>
                          <a:ea typeface="Arial" pitchFamily="34" charset="-122"/>
                          <a:cs typeface="Arial" pitchFamily="34" charset="-120"/>
                        </a:rPr>
                        <a:t>No cross-platform model/MCP/A2A gateway, semantic cache or clinical PHI guardrails. Complement: Kong AI Gateway plus Arize (Phoenix OSS first), both streaming telemetry into Snowflake.</a:t>
                      </a:r>
                      <a:endParaRPr lang="en-US" sz="850" dirty="0">
                        <a:latin typeface="Arial" charset="0"/>
                        <a:ea typeface="Arial" charset="0"/>
                        <a:cs typeface="Arial" charset="0"/>
                      </a:endParaRPr>
                    </a:p>
                  </a:txBody>
                  <a:tcPr marL="64008" marR="64008"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11" name="Text 8"/>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all six compare_*_vendors.md reports</a:t>
            </a:r>
            <a:endParaRPr lang="en-US" sz="900" dirty="0"/>
          </a:p>
        </p:txBody>
      </p:sp>
      <p:sp>
        <p:nvSpPr>
          <p:cNvPr id="12" name="Text 9"/>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11277295" cy="228600"/>
          </a:xfrm>
          <a:prstGeom prst="rect">
            <a:avLst/>
          </a:prstGeom>
          <a:noFill/>
          <a:ln/>
        </p:spPr>
        <p:txBody>
          <a:bodyPr wrap="square" lIns="0" tIns="0" rIns="0" bIns="0" rtlCol="0" anchor="t"/>
          <a:lstStyle/>
          <a:p>
            <a:pPr indent="0" marL="0">
              <a:buNone/>
            </a:pPr>
            <a:r>
              <a:rPr lang="en-US" sz="1100" b="1" spc="100" kern="0" dirty="0">
                <a:solidFill>
                  <a:srgbClr val="6B7785"/>
                </a:solidFill>
                <a:latin typeface="Arial" pitchFamily="34" charset="0"/>
                <a:ea typeface="Arial" pitchFamily="34" charset="-122"/>
                <a:cs typeface="Arial" pitchFamily="34" charset="-120"/>
              </a:rPr>
              <a:t>SYNTHESIS · RECOMMENDATIONS</a:t>
            </a:r>
            <a:endParaRPr lang="en-US" sz="1100" dirty="0"/>
          </a:p>
        </p:txBody>
      </p:sp>
      <p:sp>
        <p:nvSpPr>
          <p:cNvPr id="3" name="Text 1"/>
          <p:cNvSpPr txBox="1"/>
          <p:nvPr/>
        </p:nvSpPr>
        <p:spPr>
          <a:xfrm>
            <a:off x="457200" y="566928"/>
            <a:ext cx="11277295" cy="502920"/>
          </a:xfrm>
          <a:prstGeom prst="rect">
            <a:avLst/>
          </a:prstGeom>
          <a:noFill/>
          <a:ln/>
        </p:spPr>
        <p:txBody>
          <a:bodyPr wrap="square" lIns="0" tIns="0" rIns="0" bIns="0" rtlCol="0" anchor="ctr"/>
          <a:lstStyle/>
          <a:p>
            <a:pPr indent="0" marL="0">
              <a:buNone/>
            </a:pPr>
            <a:r>
              <a:rPr lang="en-US" sz="2800" b="1" dirty="0">
                <a:solidFill>
                  <a:srgbClr val="2F3E4E"/>
                </a:solidFill>
                <a:latin typeface="Arial" pitchFamily="34" charset="0"/>
                <a:ea typeface="Arial" pitchFamily="34" charset="-122"/>
                <a:cs typeface="Arial" pitchFamily="34" charset="-120"/>
              </a:rPr>
              <a:t>Consolidation Guidance</a:t>
            </a:r>
            <a:endParaRPr lang="en-US" sz="2800" dirty="0"/>
          </a:p>
        </p:txBody>
      </p:sp>
      <p:sp>
        <p:nvSpPr>
          <p:cNvPr id="4" name="Shape 2"/>
          <p:cNvSpPr/>
          <p:nvPr/>
        </p:nvSpPr>
        <p:spPr>
          <a:xfrm>
            <a:off x="457200" y="1234440"/>
            <a:ext cx="2109155" cy="2057400"/>
          </a:xfrm>
          <a:prstGeom prst="roundRect">
            <a:avLst>
              <a:gd name="adj" fmla="val 2667"/>
            </a:avLst>
          </a:prstGeom>
          <a:solidFill>
            <a:srgbClr val="DCEAF7"/>
          </a:solidFill>
          <a:ln w="9525">
            <a:solidFill>
              <a:srgbClr val="DCEAF7"/>
            </a:solidFill>
            <a:prstDash val="solid"/>
          </a:ln>
        </p:spPr>
      </p:sp>
      <p:sp>
        <p:nvSpPr>
          <p:cNvPr id="5" name="Shape 3"/>
          <p:cNvSpPr/>
          <p:nvPr/>
        </p:nvSpPr>
        <p:spPr>
          <a:xfrm>
            <a:off x="594360" y="1371600"/>
            <a:ext cx="384048" cy="384048"/>
          </a:xfrm>
          <a:prstGeom prst="ellipse">
            <a:avLst/>
          </a:prstGeom>
          <a:solidFill>
            <a:srgbClr val="C9C1E8"/>
          </a:solidFill>
          <a:ln w="12700">
            <a:solidFill>
              <a:srgbClr val="FFFFFF"/>
            </a:solidFill>
            <a:prstDash val="solid"/>
          </a:ln>
        </p:spPr>
      </p:sp>
      <p:sp>
        <p:nvSpPr>
          <p:cNvPr id="6" name="Text 4"/>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594360" y="1837944"/>
            <a:ext cx="1834835" cy="1362456"/>
          </a:xfrm>
          <a:prstGeom prst="rect">
            <a:avLst/>
          </a:prstGeom>
          <a:noFill/>
          <a:ln/>
        </p:spPr>
        <p:txBody>
          <a:bodyPr wrap="square" lIns="0" tIns="0" rIns="0" bIns="0" rtlCol="0" anchor="t"/>
          <a:lstStyle/>
          <a:p>
            <a:pPr indent="0" marL="0">
              <a:buNone/>
            </a:pPr>
            <a:r>
              <a:rPr lang="en-US" sz="950" dirty="0">
                <a:solidFill>
                  <a:srgbClr val="2F3E4E"/>
                </a:solidFill>
                <a:latin typeface="Arial" pitchFamily="34" charset="0"/>
                <a:ea typeface="Arial" pitchFamily="34" charset="-122"/>
                <a:cs typeface="Arial" pitchFamily="34" charset="-120"/>
              </a:rPr>
              <a:t>Snowflake covers RAG natively (Strong): AI_PARSE_DOCUMENT/AI_EXTRACT feed Silver, Cortex Search indexes Gold, and Cortex Agents combine documents with claims data via Analyst. Make it the default governed retrieval path for PHI.</a:t>
            </a:r>
            <a:endParaRPr lang="en-US" sz="950" dirty="0"/>
          </a:p>
        </p:txBody>
      </p:sp>
      <p:sp>
        <p:nvSpPr>
          <p:cNvPr id="8" name="Shape 6"/>
          <p:cNvSpPr/>
          <p:nvPr/>
        </p:nvSpPr>
        <p:spPr>
          <a:xfrm>
            <a:off x="2749235" y="1234440"/>
            <a:ext cx="2109155" cy="2057400"/>
          </a:xfrm>
          <a:prstGeom prst="roundRect">
            <a:avLst>
              <a:gd name="adj" fmla="val 2667"/>
            </a:avLst>
          </a:prstGeom>
          <a:solidFill>
            <a:srgbClr val="E7E3F4"/>
          </a:solidFill>
          <a:ln w="9525">
            <a:solidFill>
              <a:srgbClr val="E7E3F4"/>
            </a:solidFill>
            <a:prstDash val="solid"/>
          </a:ln>
        </p:spPr>
      </p:sp>
      <p:sp>
        <p:nvSpPr>
          <p:cNvPr id="9" name="Shape 7"/>
          <p:cNvSpPr/>
          <p:nvPr/>
        </p:nvSpPr>
        <p:spPr>
          <a:xfrm>
            <a:off x="2886395" y="1371600"/>
            <a:ext cx="384048" cy="384048"/>
          </a:xfrm>
          <a:prstGeom prst="ellipse">
            <a:avLst/>
          </a:prstGeom>
          <a:solidFill>
            <a:srgbClr val="A9CBEF"/>
          </a:solidFill>
          <a:ln w="12700">
            <a:solidFill>
              <a:srgbClr val="FFFFFF"/>
            </a:solidFill>
            <a:prstDash val="solid"/>
          </a:ln>
        </p:spPr>
      </p:sp>
      <p:sp>
        <p:nvSpPr>
          <p:cNvPr id="10" name="Text 8"/>
          <p:cNvSpPr txBox="1"/>
          <p:nvPr/>
        </p:nvSpPr>
        <p:spPr>
          <a:xfrm>
            <a:off x="2886395"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2886395" y="1837944"/>
            <a:ext cx="1834835" cy="1362456"/>
          </a:xfrm>
          <a:prstGeom prst="rect">
            <a:avLst/>
          </a:prstGeom>
          <a:noFill/>
          <a:ln/>
        </p:spPr>
        <p:txBody>
          <a:bodyPr wrap="square" lIns="0" tIns="0" rIns="0" bIns="0" rtlCol="0" anchor="t"/>
          <a:lstStyle/>
          <a:p>
            <a:pPr indent="0" marL="0">
              <a:buNone/>
            </a:pPr>
            <a:r>
              <a:rPr lang="en-US" sz="950" dirty="0">
                <a:solidFill>
                  <a:srgbClr val="2F3E4E"/>
                </a:solidFill>
                <a:latin typeface="Arial" pitchFamily="34" charset="0"/>
                <a:ea typeface="Arial" pitchFamily="34" charset="-122"/>
                <a:cs typeface="Arial" pitchFamily="34" charset="-120"/>
              </a:rPr>
              <a:t>Make Snowflake the Tier 0 vector store and the system of record for chunks and embeddings. Any Tier 1 engine is a rebuildable derived index, which limits lock-in and vendor count.</a:t>
            </a:r>
            <a:endParaRPr lang="en-US" sz="950" dirty="0"/>
          </a:p>
        </p:txBody>
      </p:sp>
      <p:sp>
        <p:nvSpPr>
          <p:cNvPr id="12" name="Shape 10"/>
          <p:cNvSpPr/>
          <p:nvPr/>
        </p:nvSpPr>
        <p:spPr>
          <a:xfrm>
            <a:off x="5041270" y="1234440"/>
            <a:ext cx="2109155" cy="2057400"/>
          </a:xfrm>
          <a:prstGeom prst="roundRect">
            <a:avLst>
              <a:gd name="adj" fmla="val 2667"/>
            </a:avLst>
          </a:prstGeom>
          <a:solidFill>
            <a:srgbClr val="DCEAF7"/>
          </a:solidFill>
          <a:ln w="9525">
            <a:solidFill>
              <a:srgbClr val="DCEAF7"/>
            </a:solidFill>
            <a:prstDash val="solid"/>
          </a:ln>
        </p:spPr>
      </p:sp>
      <p:sp>
        <p:nvSpPr>
          <p:cNvPr id="13" name="Shape 11"/>
          <p:cNvSpPr/>
          <p:nvPr/>
        </p:nvSpPr>
        <p:spPr>
          <a:xfrm>
            <a:off x="5178430" y="1371600"/>
            <a:ext cx="384048" cy="384048"/>
          </a:xfrm>
          <a:prstGeom prst="ellipse">
            <a:avLst/>
          </a:prstGeom>
          <a:solidFill>
            <a:srgbClr val="A9D7BB"/>
          </a:solidFill>
          <a:ln w="12700">
            <a:solidFill>
              <a:srgbClr val="FFFFFF"/>
            </a:solidFill>
            <a:prstDash val="solid"/>
          </a:ln>
        </p:spPr>
      </p:sp>
      <p:sp>
        <p:nvSpPr>
          <p:cNvPr id="14" name="Text 12"/>
          <p:cNvSpPr txBox="1"/>
          <p:nvPr/>
        </p:nvSpPr>
        <p:spPr>
          <a:xfrm>
            <a:off x="5178430"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5178430" y="1837944"/>
            <a:ext cx="1834835" cy="1362456"/>
          </a:xfrm>
          <a:prstGeom prst="rect">
            <a:avLst/>
          </a:prstGeom>
          <a:noFill/>
          <a:ln/>
        </p:spPr>
        <p:txBody>
          <a:bodyPr wrap="square" lIns="0" tIns="0" rIns="0" bIns="0" rtlCol="0" anchor="t"/>
          <a:lstStyle/>
          <a:p>
            <a:pPr indent="0" marL="0">
              <a:buNone/>
            </a:pPr>
            <a:r>
              <a:rPr lang="en-US" sz="950" dirty="0">
                <a:solidFill>
                  <a:srgbClr val="2F3E4E"/>
                </a:solidFill>
                <a:latin typeface="Arial" pitchFamily="34" charset="0"/>
                <a:ea typeface="Arial" pitchFamily="34" charset="-122"/>
                <a:cs typeface="Arial" pitchFamily="34" charset="-120"/>
              </a:rPr>
              <a:t>Expose all governed data to agents only through Snowflake-managed MCP servers and Cortex Agents, so every agent platform and framework inherits RBAC, masking and row policies instead of querying data directly.</a:t>
            </a:r>
            <a:endParaRPr lang="en-US" sz="950" dirty="0"/>
          </a:p>
        </p:txBody>
      </p:sp>
      <p:sp>
        <p:nvSpPr>
          <p:cNvPr id="16" name="Shape 14"/>
          <p:cNvSpPr/>
          <p:nvPr/>
        </p:nvSpPr>
        <p:spPr>
          <a:xfrm>
            <a:off x="7333305" y="1234440"/>
            <a:ext cx="2109155" cy="2057400"/>
          </a:xfrm>
          <a:prstGeom prst="roundRect">
            <a:avLst>
              <a:gd name="adj" fmla="val 2667"/>
            </a:avLst>
          </a:prstGeom>
          <a:solidFill>
            <a:srgbClr val="E7E3F4"/>
          </a:solidFill>
          <a:ln w="9525">
            <a:solidFill>
              <a:srgbClr val="E7E3F4"/>
            </a:solidFill>
            <a:prstDash val="solid"/>
          </a:ln>
        </p:spPr>
      </p:sp>
      <p:sp>
        <p:nvSpPr>
          <p:cNvPr id="17" name="Shape 15"/>
          <p:cNvSpPr/>
          <p:nvPr/>
        </p:nvSpPr>
        <p:spPr>
          <a:xfrm>
            <a:off x="7470465" y="1371600"/>
            <a:ext cx="384048" cy="384048"/>
          </a:xfrm>
          <a:prstGeom prst="ellipse">
            <a:avLst/>
          </a:prstGeom>
          <a:solidFill>
            <a:srgbClr val="F5C4A3"/>
          </a:solidFill>
          <a:ln w="12700">
            <a:solidFill>
              <a:srgbClr val="FFFFFF"/>
            </a:solidFill>
            <a:prstDash val="solid"/>
          </a:ln>
        </p:spPr>
      </p:sp>
      <p:sp>
        <p:nvSpPr>
          <p:cNvPr id="18" name="Text 16"/>
          <p:cNvSpPr txBox="1"/>
          <p:nvPr/>
        </p:nvSpPr>
        <p:spPr>
          <a:xfrm>
            <a:off x="7470465"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7470465" y="1837944"/>
            <a:ext cx="1834835" cy="1362456"/>
          </a:xfrm>
          <a:prstGeom prst="rect">
            <a:avLst/>
          </a:prstGeom>
          <a:noFill/>
          <a:ln/>
        </p:spPr>
        <p:txBody>
          <a:bodyPr wrap="square" lIns="0" tIns="0" rIns="0" bIns="0" rtlCol="0" anchor="t"/>
          <a:lstStyle/>
          <a:p>
            <a:pPr indent="0" marL="0">
              <a:buNone/>
            </a:pPr>
            <a:r>
              <a:rPr lang="en-US" sz="950" dirty="0">
                <a:solidFill>
                  <a:srgbClr val="2F3E4E"/>
                </a:solidFill>
                <a:latin typeface="Arial" pitchFamily="34" charset="0"/>
                <a:ea typeface="Arial" pitchFamily="34" charset="-122"/>
                <a:cs typeface="Arial" pitchFamily="34" charset="-120"/>
              </a:rPr>
              <a:t>Buy one vendor per remaining gap: a single gateway that serves both model and MCP traffic, a single agent platform aligned to the primary cloud, and a single observability tool. LangGraph is open source and needs no contract.</a:t>
            </a:r>
            <a:endParaRPr lang="en-US" sz="950" dirty="0"/>
          </a:p>
        </p:txBody>
      </p:sp>
      <p:sp>
        <p:nvSpPr>
          <p:cNvPr id="20" name="Shape 18"/>
          <p:cNvSpPr/>
          <p:nvPr/>
        </p:nvSpPr>
        <p:spPr>
          <a:xfrm>
            <a:off x="9625340" y="1234440"/>
            <a:ext cx="2109155" cy="2057400"/>
          </a:xfrm>
          <a:prstGeom prst="roundRect">
            <a:avLst>
              <a:gd name="adj" fmla="val 2667"/>
            </a:avLst>
          </a:prstGeom>
          <a:solidFill>
            <a:srgbClr val="DCEAF7"/>
          </a:solidFill>
          <a:ln w="9525">
            <a:solidFill>
              <a:srgbClr val="DCEAF7"/>
            </a:solidFill>
            <a:prstDash val="solid"/>
          </a:ln>
        </p:spPr>
      </p:sp>
      <p:sp>
        <p:nvSpPr>
          <p:cNvPr id="21" name="Shape 19"/>
          <p:cNvSpPr/>
          <p:nvPr/>
        </p:nvSpPr>
        <p:spPr>
          <a:xfrm>
            <a:off x="9762500" y="1371600"/>
            <a:ext cx="384048" cy="384048"/>
          </a:xfrm>
          <a:prstGeom prst="ellipse">
            <a:avLst/>
          </a:prstGeom>
          <a:solidFill>
            <a:srgbClr val="F3DC8C"/>
          </a:solidFill>
          <a:ln w="12700">
            <a:solidFill>
              <a:srgbClr val="FFFFFF"/>
            </a:solidFill>
            <a:prstDash val="solid"/>
          </a:ln>
        </p:spPr>
      </p:sp>
      <p:sp>
        <p:nvSpPr>
          <p:cNvPr id="22" name="Text 20"/>
          <p:cNvSpPr txBox="1"/>
          <p:nvPr/>
        </p:nvSpPr>
        <p:spPr>
          <a:xfrm>
            <a:off x="9762500" y="1371600"/>
            <a:ext cx="384048" cy="384048"/>
          </a:xfrm>
          <a:prstGeom prst="rect">
            <a:avLst/>
          </a:prstGeom>
          <a:noFill/>
          <a:ln/>
        </p:spPr>
        <p:txBody>
          <a:bodyPr wrap="square" lIns="0" tIns="0" rIns="0" bIns="0" rtlCol="0" anchor="ctr"/>
          <a:lstStyle/>
          <a:p>
            <a:pPr algn="ctr" indent="0" marL="0">
              <a:buNone/>
            </a:pPr>
            <a:r>
              <a:rPr lang="en-US" sz="1100" b="1" dirty="0">
                <a:solidFill>
                  <a:srgbClr val="2F3E4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9762500" y="1837944"/>
            <a:ext cx="1834835" cy="1362456"/>
          </a:xfrm>
          <a:prstGeom prst="rect">
            <a:avLst/>
          </a:prstGeom>
          <a:noFill/>
          <a:ln/>
        </p:spPr>
        <p:txBody>
          <a:bodyPr wrap="square" lIns="0" tIns="0" rIns="0" bIns="0" rtlCol="0" anchor="t"/>
          <a:lstStyle/>
          <a:p>
            <a:pPr indent="0" marL="0">
              <a:buNone/>
            </a:pPr>
            <a:r>
              <a:rPr lang="en-US" sz="950" dirty="0">
                <a:solidFill>
                  <a:srgbClr val="2F3E4E"/>
                </a:solidFill>
                <a:latin typeface="Arial" pitchFamily="34" charset="0"/>
                <a:ea typeface="Arial" pitchFamily="34" charset="-122"/>
                <a:cs typeface="Arial" pitchFamily="34" charset="-120"/>
              </a:rPr>
              <a:t>Land all AI telemetry, costs and evaluation results in Snowflake (Snowpipe Streaming) so audit, retention and domain chargeback use existing Horizon governance and credit FinOps instead of a separate analytics tool.</a:t>
            </a:r>
            <a:endParaRPr lang="en-US" sz="950" dirty="0"/>
          </a:p>
        </p:txBody>
      </p:sp>
      <p:sp>
        <p:nvSpPr>
          <p:cNvPr id="24" name="Shape 22"/>
          <p:cNvSpPr/>
          <p:nvPr/>
        </p:nvSpPr>
        <p:spPr>
          <a:xfrm>
            <a:off x="457200" y="3493008"/>
            <a:ext cx="5501488" cy="2651760"/>
          </a:xfrm>
          <a:prstGeom prst="roundRect">
            <a:avLst>
              <a:gd name="adj" fmla="val 2069"/>
            </a:avLst>
          </a:prstGeom>
          <a:solidFill>
            <a:srgbClr val="DFF1E7"/>
          </a:solidFill>
          <a:ln w="9525">
            <a:solidFill>
              <a:srgbClr val="DFF1E7"/>
            </a:solidFill>
            <a:prstDash val="solid"/>
          </a:ln>
        </p:spPr>
      </p:sp>
      <p:sp>
        <p:nvSpPr>
          <p:cNvPr id="25" name="Text 23"/>
          <p:cNvSpPr txBox="1"/>
          <p:nvPr/>
        </p:nvSpPr>
        <p:spPr>
          <a:xfrm>
            <a:off x="640080" y="3602736"/>
            <a:ext cx="5135728" cy="274320"/>
          </a:xfrm>
          <a:prstGeom prst="rect">
            <a:avLst/>
          </a:prstGeom>
          <a:noFill/>
          <a:ln/>
        </p:spPr>
        <p:txBody>
          <a:bodyPr wrap="square" lIns="0" tIns="0" rIns="0" bIns="0" rtlCol="0" anchor="ctr"/>
          <a:lstStyle/>
          <a:p>
            <a:pPr indent="0" marL="0">
              <a:buNone/>
            </a:pPr>
            <a:r>
              <a:rPr lang="en-US" sz="1300" b="1" dirty="0">
                <a:solidFill>
                  <a:srgbClr val="2F3E4E"/>
                </a:solidFill>
                <a:latin typeface="Arial" pitchFamily="34" charset="0"/>
                <a:ea typeface="Arial" pitchFamily="34" charset="-122"/>
                <a:cs typeface="Arial" pitchFamily="34" charset="-120"/>
              </a:rPr>
              <a:t>Engage — genuine net-new needs</a:t>
            </a:r>
            <a:endParaRPr lang="en-US" sz="1300" dirty="0"/>
          </a:p>
        </p:txBody>
      </p:sp>
      <p:sp>
        <p:nvSpPr>
          <p:cNvPr id="26" name="Text 24"/>
          <p:cNvSpPr txBox="1"/>
          <p:nvPr/>
        </p:nvSpPr>
        <p:spPr>
          <a:xfrm>
            <a:off x="640080" y="3931920"/>
            <a:ext cx="5135728" cy="212140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F3E4E"/>
                </a:solidFill>
                <a:latin typeface="Arial" pitchFamily="34" charset="0"/>
                <a:ea typeface="Arial" pitchFamily="34" charset="-122"/>
                <a:cs typeface="Arial" pitchFamily="34" charset="-120"/>
              </a:rPr>
              <a:t>One AI gateway / control plane (Kong AI Gateway, or Azure APIM + API Center if Azure-first) that also acts as the MCP/A2A gateway and private registry: one vendor covers Patterns 3 and 6.</a:t>
            </a:r>
            <a:endParaRPr lang="en-US" sz="950" dirty="0"/>
          </a:p>
          <a:p>
            <a:pPr marL="342900" indent="-342900">
              <a:spcAft>
                <a:spcPts val="400"/>
              </a:spcAft>
              <a:buSzPct val="100000"/>
              <a:buChar char="•"/>
            </a:pPr>
            <a:r>
              <a:rPr lang="en-US" sz="950" dirty="0">
                <a:solidFill>
                  <a:srgbClr val="2F3E4E"/>
                </a:solidFill>
                <a:latin typeface="Arial" pitchFamily="34" charset="0"/>
                <a:ea typeface="Arial" pitchFamily="34" charset="-122"/>
                <a:cs typeface="Arial" pitchFamily="34" charset="-120"/>
              </a:rPr>
              <a:t>One general-purpose agent platform matched to the primary hyperscaler (Microsoft Foundry Agent Service + Copilot Studio on the existing Entra/M365 estate), used for HITL, A2A and non-data agents, with Cortex Agents as the governed data agent behind it via MCP.</a:t>
            </a:r>
            <a:endParaRPr lang="en-US" sz="950" dirty="0"/>
          </a:p>
          <a:p>
            <a:pPr marL="342900" indent="-342900">
              <a:spcAft>
                <a:spcPts val="400"/>
              </a:spcAft>
              <a:buSzPct val="100000"/>
              <a:buChar char="•"/>
            </a:pPr>
            <a:r>
              <a:rPr lang="en-US" sz="950" dirty="0">
                <a:solidFill>
                  <a:srgbClr val="2F3E4E"/>
                </a:solidFill>
                <a:latin typeface="Arial" pitchFamily="34" charset="0"/>
                <a:ea typeface="Arial" pitchFamily="34" charset="-122"/>
                <a:cs typeface="Arial" pitchFamily="34" charset="-120"/>
              </a:rPr>
              <a:t>One trace/evaluation vendor under a BAA: Arize AX with Phoenix OSS first, or self-hosted LangSmith if LangGraph dominates. Pick one, not both, and export all traces to Snowflake.</a:t>
            </a:r>
            <a:endParaRPr lang="en-US" sz="950" dirty="0"/>
          </a:p>
          <a:p>
            <a:pPr marL="342900" indent="-342900">
              <a:spcAft>
                <a:spcPts val="400"/>
              </a:spcAft>
              <a:buSzPct val="100000"/>
              <a:buChar char="•"/>
            </a:pPr>
            <a:r>
              <a:rPr lang="en-US" sz="950" dirty="0">
                <a:solidFill>
                  <a:srgbClr val="2F3E4E"/>
                </a:solidFill>
                <a:latin typeface="Arial" pitchFamily="34" charset="0"/>
                <a:ea typeface="Arial" pitchFamily="34" charset="-122"/>
                <a:cs typeface="Arial" pitchFamily="34" charset="-120"/>
              </a:rPr>
              <a:t>Conditional: one Tier 1 vector engine (Elasticsearch if already licensed for logs/SIEM, otherwise Qdrant), only if the PoC shows Cortex Search QPS, scale or document-level trimming limits are hit.</a:t>
            </a:r>
            <a:endParaRPr lang="en-US" sz="950" dirty="0"/>
          </a:p>
        </p:txBody>
      </p:sp>
      <p:sp>
        <p:nvSpPr>
          <p:cNvPr id="27" name="Shape 25"/>
          <p:cNvSpPr/>
          <p:nvPr/>
        </p:nvSpPr>
        <p:spPr>
          <a:xfrm>
            <a:off x="6233008" y="3493008"/>
            <a:ext cx="5501488" cy="2651760"/>
          </a:xfrm>
          <a:prstGeom prst="roundRect">
            <a:avLst>
              <a:gd name="adj" fmla="val 2069"/>
            </a:avLst>
          </a:prstGeom>
          <a:solidFill>
            <a:srgbClr val="F6DADA"/>
          </a:solidFill>
          <a:ln w="9525">
            <a:solidFill>
              <a:srgbClr val="F6DADA"/>
            </a:solidFill>
            <a:prstDash val="solid"/>
          </a:ln>
        </p:spPr>
      </p:sp>
      <p:sp>
        <p:nvSpPr>
          <p:cNvPr id="28" name="Text 26"/>
          <p:cNvSpPr txBox="1"/>
          <p:nvPr/>
        </p:nvSpPr>
        <p:spPr>
          <a:xfrm>
            <a:off x="6415888" y="3602736"/>
            <a:ext cx="5135728" cy="274320"/>
          </a:xfrm>
          <a:prstGeom prst="rect">
            <a:avLst/>
          </a:prstGeom>
          <a:noFill/>
          <a:ln/>
        </p:spPr>
        <p:txBody>
          <a:bodyPr wrap="square" lIns="0" tIns="0" rIns="0" bIns="0" rtlCol="0" anchor="ctr"/>
          <a:lstStyle/>
          <a:p>
            <a:pPr indent="0" marL="0">
              <a:buNone/>
            </a:pPr>
            <a:r>
              <a:rPr lang="en-US" sz="1300" b="1" dirty="0">
                <a:solidFill>
                  <a:srgbClr val="2F3E4E"/>
                </a:solidFill>
                <a:latin typeface="Arial" pitchFamily="34" charset="0"/>
                <a:ea typeface="Arial" pitchFamily="34" charset="-122"/>
                <a:cs typeface="Arial" pitchFamily="34" charset="-120"/>
              </a:rPr>
              <a:t>Avoid / defer — already covered</a:t>
            </a:r>
            <a:endParaRPr lang="en-US" sz="1300" dirty="0"/>
          </a:p>
        </p:txBody>
      </p:sp>
      <p:sp>
        <p:nvSpPr>
          <p:cNvPr id="29" name="Text 27"/>
          <p:cNvSpPr txBox="1"/>
          <p:nvPr/>
        </p:nvSpPr>
        <p:spPr>
          <a:xfrm>
            <a:off x="6415888" y="3931920"/>
            <a:ext cx="5135728" cy="212140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F3E4E"/>
                </a:solidFill>
                <a:latin typeface="Arial" pitchFamily="34" charset="0"/>
                <a:ea typeface="Arial" pitchFamily="34" charset="-122"/>
                <a:cs typeface="Arial" pitchFamily="34" charset="-120"/>
              </a:rPr>
              <a:t>Pinecone, Weaviate and per-pilot vector databases: Cortex Search and the native VECTOR type cover Tier 0 retrieval inside the lakehouse with no data copy and no new BAA.</a:t>
            </a:r>
            <a:endParaRPr lang="en-US" sz="950" dirty="0"/>
          </a:p>
          <a:p>
            <a:pPr marL="342900" indent="-342900">
              <a:spcAft>
                <a:spcPts val="400"/>
              </a:spcAft>
              <a:buSzPct val="100000"/>
              <a:buChar char="•"/>
            </a:pPr>
            <a:r>
              <a:rPr lang="en-US" sz="950" dirty="0">
                <a:solidFill>
                  <a:srgbClr val="2F3E4E"/>
                </a:solidFill>
                <a:latin typeface="Arial" pitchFamily="34" charset="0"/>
                <a:ea typeface="Arial" pitchFamily="34" charset="-122"/>
                <a:cs typeface="Arial" pitchFamily="34" charset="-120"/>
              </a:rPr>
              <a:t>Separate commercial RAG platforms, and Azure AI Search as a default index: Cortex Search + AI_PARSE_DOCUMENT/AI_EXTRACT cover governed RAG. LlamaIndex/Haystack are used as open-source libraries, not contracts.</a:t>
            </a:r>
            <a:endParaRPr lang="en-US" sz="950" dirty="0"/>
          </a:p>
          <a:p>
            <a:pPr marL="342900" indent="-342900">
              <a:spcAft>
                <a:spcPts val="400"/>
              </a:spcAft>
              <a:buSzPct val="100000"/>
              <a:buChar char="•"/>
            </a:pPr>
            <a:r>
              <a:rPr lang="en-US" sz="950" dirty="0">
                <a:solidFill>
                  <a:srgbClr val="2F3E4E"/>
                </a:solidFill>
                <a:latin typeface="Arial" pitchFamily="34" charset="0"/>
                <a:ea typeface="Arial" pitchFamily="34" charset="-122"/>
                <a:cs typeface="Arial" pitchFamily="34" charset="-120"/>
              </a:rPr>
              <a:t>Paid framework platforms (CrewAI Enterprise/Factory, LlamaAgents) and AutoGen/Semantic Kernel for new work: LangGraph OSS is the standard, with Microsoft Agent Framework only as the .NET path.</a:t>
            </a:r>
            <a:endParaRPr lang="en-US" sz="950" dirty="0"/>
          </a:p>
          <a:p>
            <a:pPr marL="342900" indent="-342900">
              <a:spcAft>
                <a:spcPts val="400"/>
              </a:spcAft>
              <a:buSzPct val="100000"/>
              <a:buChar char="•"/>
            </a:pPr>
            <a:r>
              <a:rPr lang="en-US" sz="950" dirty="0">
                <a:solidFill>
                  <a:srgbClr val="2F3E4E"/>
                </a:solidFill>
                <a:latin typeface="Arial" pitchFamily="34" charset="0"/>
                <a:ea typeface="Arial" pitchFamily="34" charset="-122"/>
                <a:cs typeface="Arial" pitchFamily="34" charset="-120"/>
              </a:rPr>
              <a:t>Stand-alone MCP gateway vendors, and Fiddler as a separate purchase: defer until the PoC shows the chosen gateway's PII sanitizer plus cloud guardrails (Bedrock Guardrails, AI_REDACT) fall short on PHI recall.</a:t>
            </a:r>
            <a:endParaRPr lang="en-US" sz="950" dirty="0"/>
          </a:p>
        </p:txBody>
      </p:sp>
      <p:sp>
        <p:nvSpPr>
          <p:cNvPr id="30" name="Text 28"/>
          <p:cNvSpPr txBox="1"/>
          <p:nvPr/>
        </p:nvSpPr>
        <p:spPr>
          <a:xfrm>
            <a:off x="457200" y="6236208"/>
            <a:ext cx="10362895" cy="201168"/>
          </a:xfrm>
          <a:prstGeom prst="rect">
            <a:avLst/>
          </a:prstGeom>
          <a:noFill/>
          <a:ln/>
        </p:spPr>
        <p:txBody>
          <a:bodyPr wrap="square" lIns="0" tIns="0" rIns="0" bIns="0" rtlCol="0" anchor="ctr"/>
          <a:lstStyle/>
          <a:p>
            <a:pPr indent="0" marL="0">
              <a:buNone/>
            </a:pPr>
            <a:r>
              <a:rPr lang="en-US" sz="900" dirty="0">
                <a:solidFill>
                  <a:srgbClr val="6B7785"/>
                </a:solidFill>
                <a:latin typeface="Arial" pitchFamily="34" charset="0"/>
                <a:ea typeface="Arial" pitchFamily="34" charset="-122"/>
                <a:cs typeface="Arial" pitchFamily="34" charset="-120"/>
              </a:rPr>
              <a:t>Source: all six compare_*_vendors.md reports</a:t>
            </a:r>
            <a:endParaRPr lang="en-US" sz="900" dirty="0"/>
          </a:p>
        </p:txBody>
      </p:sp>
      <p:sp>
        <p:nvSpPr>
          <p:cNvPr id="31" name="Text 29"/>
          <p:cNvSpPr txBox="1"/>
          <p:nvPr/>
        </p:nvSpPr>
        <p:spPr>
          <a:xfrm>
            <a:off x="10911535" y="6236208"/>
            <a:ext cx="822960" cy="201168"/>
          </a:xfrm>
          <a:prstGeom prst="rect">
            <a:avLst/>
          </a:prstGeom>
          <a:noFill/>
          <a:ln/>
        </p:spPr>
        <p:txBody>
          <a:bodyPr wrap="square" lIns="0" tIns="0" rIns="0" bIns="0" rtlCol="0" anchor="ctr"/>
          <a:lstStyle/>
          <a:p>
            <a:pPr algn="r" indent="0" marL="0">
              <a:buNone/>
            </a:pPr>
            <a:r>
              <a:rPr lang="en-US" sz="900" dirty="0">
                <a:solidFill>
                  <a:srgbClr val="6B7785"/>
                </a:solidFill>
                <a:latin typeface="Arial" pitchFamily="34" charset="0"/>
                <a:ea typeface="Arial" pitchFamily="34" charset="-122"/>
                <a:cs typeface="Arial"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Patterns</dc:title>
  <dc:subject>PptxGenJS Presentation</dc:subject>
  <dc:creator>Enterprise Architecture</dc:creator>
  <cp:lastModifiedBy>Enterprise Architecture</cp:lastModifiedBy>
  <cp:revision>1</cp:revision>
  <dcterms:created xsi:type="dcterms:W3CDTF">2026-09-27T21:44:49Z</dcterms:created>
  <dcterms:modified xsi:type="dcterms:W3CDTF">2026-09-27T21:44:49Z</dcterms:modified>
</cp:coreProperties>
</file>