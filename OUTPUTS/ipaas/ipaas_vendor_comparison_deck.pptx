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F3B4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F3B4C"/>
                </a:solidFill>
                <a:latin typeface="Calibri"/>
              </a:rPr>
              <a:t>Gartner Peer Insights rating (out of 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Peer Insights rating</c:v>
                </c:pt>
              </c:strCache>
            </c:strRef>
          </c:tx>
          <c:spPr>
            <a:solidFill>
              <a:srgbClr val="7F6FB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F3B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6F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4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67C1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704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Workato</c:v>
                  </c:pt>
                  <c:pt idx="1">
                    <c:v>MuleSoft</c:v>
                  </c:pt>
                  <c:pt idx="2">
                    <c:v>Boomi</c:v>
                  </c:pt>
                  <c:pt idx="3">
                    <c:v>Informatica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4.9</c:v>
                </c:pt>
                <c:pt idx="1">
                  <c:v>4.7</c:v>
                </c:pt>
                <c:pt idx="2">
                  <c:v>4.7</c:v>
                </c:pt>
                <c:pt idx="3">
                  <c:v>4.4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F3B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F3B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4"/>
        </c:scaling>
        <c:delete val="0"/>
        <c:axPos val="l"/>
        <c:majorGridlines>
          <c:spPr>
            <a:ln w="9525" cap="flat">
              <a:solidFill>
                <a:srgbClr val="E3E9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F3B4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F3B4C"/>
                </a:solidFill>
                <a:latin typeface="Calibri"/>
              </a:rPr>
              <a:t>Median annual contract value ($K, Vendr data)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annual contract ($K)</c:v>
                </c:pt>
              </c:strCache>
            </c:strRef>
          </c:tx>
          <c:spPr>
            <a:solidFill>
              <a:srgbClr val="7F6FB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F3B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6F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4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67C1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Workato</c:v>
                  </c:pt>
                  <c:pt idx="1">
                    <c:v>MuleSoft</c:v>
                  </c:pt>
                  <c:pt idx="2">
                    <c:v>Boomi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64.5</c:v>
                </c:pt>
                <c:pt idx="1">
                  <c:v>68.7</c:v>
                </c:pt>
                <c:pt idx="2">
                  <c:v>45.1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F3B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F3B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E3E9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deck to the detailed report (Word and Markdown). Research date 29 Sep 2026. Vendor claims and third-party estimates are labelled throughout; source numbers in brackets match the bibliography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platform has a different centre of gravity. Peer Insights scores: Workato 4.9 (598), MuleSoft 4.7 (150), Boomi 4.7 (264), Informatica IDMC 4.4 (325, whole suite). Leader placements are vendor-stated.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Analyst view: bulk and CDC ingestion into bronze is increasingly Snowflake-native (Openflow, with a Cortex Code skill). The iPaaS is for messaging, B2B, API management, orchestration and governed agent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2026 MQ was published 16 March 2026 with 18 vendors. Placements shown are vendor-stated. Informatica 2026 iPaaS placement could not be verified; 2025 Leader confirmed by its own release. Salesforce completed the Informatica acquisition in December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Combines Gartner market themes (application, data and AI integration; AI-assisted mapping; hybrid and air-gapped deployment; vertical templates; pricing transparency) with healthcare and Snowflake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Ratings are the analyst's qualitative assessment from cited evidence: Strong = documented depth; Good = solid with gaps or thinner evidence; Partial = present with material gaps; Limited = not evidenced in accessible sources. Detail and citations are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Snowflake's managed MCP server (GA) exposes Cortex Analyst, Search, Agents and SQL with OAuth and RBAC. Snowflake MCP connectors list only Atlassian, GitHub, Glean, Linear and Salesforce as pre-built external servers. No vendor was found integrating with Cortex Code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listed does not mean not supported. Workato HL7 versions and MLLP were not stated in accessible docs. One broker source says Boomi has no FedRAMP; Boomi's own trust page lists FedRAMP Moderate and is treated as authoritative. HITRUST was not evidenced for any of the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Workato pros and cons. Cons marked single-source come from broker or competitor articles (TechnologyMatch, Exalate) and should be verified in diligence.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MuleSoft pros and cons. Workato claims MuleSoft fell off the 2025 map; MuleSoft says it was a Leader for a tenth year in 2026. Treat as disputed.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Boomi pros and cons. Boomi is already in the estate for ELT/ETL. Competitor-sourced criticisms (Integrate.io, TechnologyMatch) are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Informatica pros and cons. Headless capability was Private Preview at the May 2026 announcement with a summer 2026 GA target; check current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Insights scores are 5-point averages; the axis starts at 4.0 to make small differences visible. Median contract values are Vendr marketplace data (Workato n=341, MuleSoft n=72, Boomi n=143). Informatica has no comparable median; one low-confidence source quotes $50K to $2.5M a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Relative to the other three vendors on the evidence gathered. "Ahead (vendor-stated)" reflects Workato's own Gartner and MCP claims plus peer-review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Analyst synthesis of the evidence in the report. The tie-breaker column is the question that usually decides the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prior-authorisation case study is partner-authored marketing (65% faster processing, 50% less manual work). Conditional fit depends on Workato's MCP client interoperating with Snowflake's managed MCP server, which was not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based on the primary problem. A scoped proof of concept should confirm before commitment.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changes how much iPaaS volume, and therefore consumption cost, is needed, so decide it first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 pages could not be read because the fetch was rate-limited; eight videos are listed in the sources as title/metadata only and no claim relies on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match the [n] citations on the slides and in the report. Video entries are title/metadata only. Full URLs and labels are in the report bibliography.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match the [n] citations on the slides and in the report. Video entries are title/metadata only. Full URLs and labels are in the report bibliography.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match the [n] citations on the slides and in the report. Video entries are title/metadata only. Full URLs and labels are in the report bibliography.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artner.com/en/documents/7591233" TargetMode="External"/><Relationship Id="rId2" Type="http://schemas.openxmlformats.org/officeDocument/2006/relationships/hyperlink" Target="https://www.gartner.com/reviews/market/integration-platform-as-a-service" TargetMode="External"/><Relationship Id="rId3" Type="http://schemas.openxmlformats.org/officeDocument/2006/relationships/hyperlink" Target="https://frends.com/insights/list-18-vendors-gartner-magic-quadrant-for-ipaas-2026?hs_amp=true" TargetMode="External"/><Relationship Id="rId4" Type="http://schemas.openxmlformats.org/officeDocument/2006/relationships/hyperlink" Target="https://www.workato.com/the-connector/gartner-magic-quadrant-2026/" TargetMode="External"/><Relationship Id="rId5" Type="http://schemas.openxmlformats.org/officeDocument/2006/relationships/hyperlink" Target="https://boomi.com/blog/gartner-magic-quadrant-ipaas-2026/" TargetMode="External"/><Relationship Id="rId6" Type="http://schemas.openxmlformats.org/officeDocument/2006/relationships/hyperlink" Target="https://blogs.mulesoft.com/news/mulesoft-recognized-in-gartner-magic-quadrant-for-ipaas/" TargetMode="External"/><Relationship Id="rId7" Type="http://schemas.openxmlformats.org/officeDocument/2006/relationships/hyperlink" Target="https://www.snaplogic.com/resources/analyst-reports/gartner-magic-quadrant-ipaas-2026" TargetMode="External"/><Relationship Id="rId8" Type="http://schemas.openxmlformats.org/officeDocument/2006/relationships/hyperlink" Target="https://www.informatica.com/about-us/news/news-releases/2025/05/20250522-informatica-named-a-leader-in-the-2025-gartner-magic-quadrant-for-ipaas.html" TargetMode="External"/><Relationship Id="rId9" Type="http://schemas.openxmlformats.org/officeDocument/2006/relationships/hyperlink" Target="https://www.workato.com/the-connector/mulesoft-gartner/" TargetMode="External"/><Relationship Id="rId10" Type="http://schemas.openxmlformats.org/officeDocument/2006/relationships/hyperlink" Target="https://www.getint.io/blog/magic-quadrant-integration-platform-service-summary" TargetMode="External"/><Relationship Id="rId11" Type="http://schemas.openxmlformats.org/officeDocument/2006/relationships/hyperlink" Target="https://vantagepoint.io/blog/sf/workato-gartner-ipaas-2026" TargetMode="External"/><Relationship Id="rId12" Type="http://schemas.openxmlformats.org/officeDocument/2006/relationships/hyperlink" Target="https://cloudwars.com/cloud-wars-minute/salesforce-completes-informatica-acquisition-boosting-its-agentic-ai-foundation/" TargetMode="External"/><Relationship Id="rId13" Type="http://schemas.openxmlformats.org/officeDocument/2006/relationships/hyperlink" Target="https://azure.microsoft.com/en-us/blog/microsoft-named-a-leader-in-2025-gartner-magic-quadrant-for-integration-platform-as-a-service/" TargetMode="External"/><Relationship Id="rId14" Type="http://schemas.openxmlformats.org/officeDocument/2006/relationships/hyperlink" Target="https://news.sap.com/2025/05/five-time-leader-gartner-magic-quadrant-ipaas-sap-integration-suite/" TargetMode="External"/><Relationship Id="rId15" Type="http://schemas.openxmlformats.org/officeDocument/2006/relationships/hyperlink" Target="https://docs.workato.com/mcp.html" TargetMode="External"/><Relationship Id="rId16" Type="http://schemas.openxmlformats.org/officeDocument/2006/relationships/hyperlink" Target="https://docs.workato.com/security/security-compliance.html" TargetMode="External"/><Relationship Id="rId17" Type="http://schemas.openxmlformats.org/officeDocument/2006/relationships/hyperlink" Target="https://www.workato.com/integrations/snowflake" TargetMode="External"/><Relationship Id="rId18" Type="http://schemas.openxmlformats.org/officeDocument/2006/relationships/hyperlink" Target="https://www.workato.com/integrations/open_ai_utility~snowflake" TargetMode="External"/><Relationship Id="rId19" Type="http://schemas.openxmlformats.org/officeDocument/2006/relationships/hyperlink" Target="https://docs.workato.com/connectors/hl7.html" TargetMode="External"/><Relationship Id="rId20" Type="http://schemas.openxmlformats.org/officeDocument/2006/relationships/hyperlink" Target="https://www.workato.com/integrations/fhir~hl7" TargetMode="External"/><Relationship Id="rId21" Type="http://schemas.openxmlformats.org/officeDocument/2006/relationships/hyperlink" Target="https://www.workato.com/platform" TargetMode="External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quandarycg.com/case-study/workato-ai-reduce-prior-authorization-processing-time-by-65-for-regional-healthcare-provider" TargetMode="External"/><Relationship Id="rId2" Type="http://schemas.openxmlformats.org/officeDocument/2006/relationships/hyperlink" Target="https://docs.mulesoft.com/snowflake-connector/latest/" TargetMode="External"/><Relationship Id="rId3" Type="http://schemas.openxmlformats.org/officeDocument/2006/relationships/hyperlink" Target="https://docs.mulesoft.com/healthcare/latest/" TargetMode="External"/><Relationship Id="rId4" Type="http://schemas.openxmlformats.org/officeDocument/2006/relationships/hyperlink" Target="https://www.mulesoft.com/platform/enterprise-integration" TargetMode="External"/><Relationship Id="rId5" Type="http://schemas.openxmlformats.org/officeDocument/2006/relationships/hyperlink" Target="https://www.paubox.com/blog/mulesoft-hipaa-compliance" TargetMode="External"/><Relationship Id="rId6" Type="http://schemas.openxmlformats.org/officeDocument/2006/relationships/hyperlink" Target="https://boomi.com/partners/snowflake/" TargetMode="External"/><Relationship Id="rId7" Type="http://schemas.openxmlformats.org/officeDocument/2006/relationships/hyperlink" Target="https://www.businesswire.com/news/home/20260609131798/en/Boomi-Adds-Snowflake-Cortex-Agents-Support-to-Agentstudio-to-Enable-Unified-AI-Agent-Governance" TargetMode="External"/><Relationship Id="rId8" Type="http://schemas.openxmlformats.org/officeDocument/2006/relationships/hyperlink" Target="https://boomi.com/compliance/" TargetMode="External"/><Relationship Id="rId9" Type="http://schemas.openxmlformats.org/officeDocument/2006/relationships/hyperlink" Target="https://boomi.com/platform-services-and-pricing/" TargetMode="External"/><Relationship Id="rId10" Type="http://schemas.openxmlformats.org/officeDocument/2006/relationships/hyperlink" Target="https://boomi.com/blog/guide-to-edi-for-healthcare/" TargetMode="External"/><Relationship Id="rId11" Type="http://schemas.openxmlformats.org/officeDocument/2006/relationships/hyperlink" Target="https://help.boomi.com/docs/Atomsphere/Integration/Connectors/int-Snowflake_Connector_f551004c-1429-4fe1-85c1-b345d37ab73c" TargetMode="External"/><Relationship Id="rId12" Type="http://schemas.openxmlformats.org/officeDocument/2006/relationships/hyperlink" Target="https://www.informatica.com/about-us/news/news-releases/2026/05/20260520-informatica-brings-headless-data-management-and-iceberg-governance-to-snowflake.html" TargetMode="External"/><Relationship Id="rId13" Type="http://schemas.openxmlformats.org/officeDocument/2006/relationships/hyperlink" Target="https://siliconangle.com/2026/05/20/informatica-expands-agentic-ai-strategy-headless-data-services-unified-agent-governance/" TargetMode="External"/><Relationship Id="rId14" Type="http://schemas.openxmlformats.org/officeDocument/2006/relationships/hyperlink" Target="https://www.techtarget.com/searchdatamanagement/news/366628006/Informatica-adds-MCP-support-spate-of-AI-fueled-features" TargetMode="External"/><Relationship Id="rId15" Type="http://schemas.openxmlformats.org/officeDocument/2006/relationships/hyperlink" Target="https://www.informatica.com/solutions/industry-solutions/healthcare.html" TargetMode="External"/><Relationship Id="rId16" Type="http://schemas.openxmlformats.org/officeDocument/2006/relationships/hyperlink" Target="https://www.informatica.com/content/dam/informatica-com/en/collateral/data-sheet/hl7-and-hippa-data-services-with-the-informatica-intelligent-data-management-cloud-idmc-for-healthcare-and-life-sciences_data-sheet_4572en.pdf" TargetMode="External"/><Relationship Id="rId17" Type="http://schemas.openxmlformats.org/officeDocument/2006/relationships/hyperlink" Target="https://docs.snowflake.com/en/user-guide/snowflake-cortex/cortex-agents-mcp-connectors" TargetMode="External"/><Relationship Id="rId18" Type="http://schemas.openxmlformats.org/officeDocument/2006/relationships/hyperlink" Target="https://docs.snowflake.com/en/user-guide/snowflake-cortex/cortex-agents-mcp" TargetMode="External"/><Relationship Id="rId19" Type="http://schemas.openxmlformats.org/officeDocument/2006/relationships/hyperlink" Target="https://www.snowflake.com/en/product/features/openflow/" TargetMode="External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nowflake.com/en/blog/openflow-revolutionizes-data-movement-ai/" TargetMode="External"/><Relationship Id="rId2" Type="http://schemas.openxmlformats.org/officeDocument/2006/relationships/hyperlink" Target="https://www.snowflake.com/en/blog/snowflake-openflow-cortex-code-integration/" TargetMode="External"/><Relationship Id="rId3" Type="http://schemas.openxmlformats.org/officeDocument/2006/relationships/hyperlink" Target="https://www.vendr.com/marketplace/workato" TargetMode="External"/><Relationship Id="rId4" Type="http://schemas.openxmlformats.org/officeDocument/2006/relationships/hyperlink" Target="https://www.vendr.com/marketplace/boomi" TargetMode="External"/><Relationship Id="rId5" Type="http://schemas.openxmlformats.org/officeDocument/2006/relationships/hyperlink" Target="https://www.vendr.com/marketplace/mulesoft" TargetMode="External"/><Relationship Id="rId6" Type="http://schemas.openxmlformats.org/officeDocument/2006/relationships/hyperlink" Target="https://vendorbenchmark.com/blog/ipaas-pricing-benchmark-enterprise-comparison" TargetMode="External"/><Relationship Id="rId7" Type="http://schemas.openxmlformats.org/officeDocument/2006/relationships/hyperlink" Target="https://softwarepricingguide.com/mulesoft-vs-boomi-vs-workato-pricing-2026-the-real-cost-of-ipaas-apis-and-automation/" TargetMode="External"/><Relationship Id="rId8" Type="http://schemas.openxmlformats.org/officeDocument/2006/relationships/hyperlink" Target="https://frends.com/insights/best-ipaas-platforms-2026-compared" TargetMode="External"/><Relationship Id="rId9" Type="http://schemas.openxmlformats.org/officeDocument/2006/relationships/hyperlink" Target="https://technologymatch.com/blog/boomi-vs-mulesoft-vs-workato-vs-celigo-ipaas-platform-comparison" TargetMode="External"/><Relationship Id="rId10" Type="http://schemas.openxmlformats.org/officeDocument/2006/relationships/hyperlink" Target="https://www.integrate.io/blog/boomi-review/" TargetMode="External"/><Relationship Id="rId11" Type="http://schemas.openxmlformats.org/officeDocument/2006/relationships/hyperlink" Target="https://exalate.com/blog/workato-alternatives/" TargetMode="External"/><Relationship Id="rId12" Type="http://schemas.openxmlformats.org/officeDocument/2006/relationships/hyperlink" Target="https://www.youtube.com/watch?v=kzUcOjL4utU" TargetMode="External"/><Relationship Id="rId13" Type="http://schemas.openxmlformats.org/officeDocument/2006/relationships/hyperlink" Target="https://www.youtube.com/watch?v=fGwpPX5lYJ8" TargetMode="External"/><Relationship Id="rId14" Type="http://schemas.openxmlformats.org/officeDocument/2006/relationships/hyperlink" Target="https://www.youtube.com/watch?v=Bkh4YyY6Dpo" TargetMode="External"/><Relationship Id="rId15" Type="http://schemas.openxmlformats.org/officeDocument/2006/relationships/hyperlink" Target="https://www.youtube.com/watch?v=2u1Hs9cBITI" TargetMode="External"/><Relationship Id="rId16" Type="http://schemas.openxmlformats.org/officeDocument/2006/relationships/hyperlink" Target="https://www.youtube.com/watch?v=m-akcHO_YF0" TargetMode="External"/><Relationship Id="rId17" Type="http://schemas.openxmlformats.org/officeDocument/2006/relationships/hyperlink" Target="https://www.youtube.com/watch?v=W6R-x7-wP6A" TargetMode="External"/><Relationship Id="rId18" Type="http://schemas.openxmlformats.org/officeDocument/2006/relationships/hyperlink" Target="https://www.youtube.com/watch?v=b4xqEz2WL7g" TargetMode="External"/><Relationship Id="rId19" Type="http://schemas.openxmlformats.org/officeDocument/2006/relationships/hyperlink" Target="https://www.youtube.com/watch?v=ElI6EvavR28" TargetMode="External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5120640" cy="5120640"/>
          </a:xfrm>
          <a:prstGeom prst="ellipse">
            <a:avLst/>
          </a:prstGeom>
          <a:solidFill>
            <a:srgbClr val="E8E4F3"/>
          </a:solidFill>
          <a:ln w="12700">
            <a:solidFill>
              <a:srgbClr val="E8E4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566160"/>
            <a:ext cx="3474720" cy="3474720"/>
          </a:xfrm>
          <a:prstGeom prst="ellipse">
            <a:avLst/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4754880"/>
            <a:ext cx="2011680" cy="2011680"/>
          </a:xfrm>
          <a:prstGeom prst="ellipse">
            <a:avLst/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iPaaS Platform Evaluation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E5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Workato vs MuleSoft vs Boomi vs Informatica IDMC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747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large healthcare enterprise with a mature Snowflake medallion lakehouse, using Cortex AI and Cortex Code (CoCo)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760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research brief  |  29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platforms, four different centres of gravity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[2] [4] [33] [24] [28]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8E4F3"/>
          </a:solidFill>
          <a:ln w="12700">
            <a:solidFill>
              <a:srgbClr val="E8E4F3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7F6FB5"/>
          </a:solidFill>
          <a:ln w="12700">
            <a:solidFill>
              <a:srgbClr val="7F6FB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508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Workato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240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Business-led orchestration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7889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Studio and Enterprise MCP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Insights 4.9 (598 reviews)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Thinner on HL7/FHIR, EDI and Snowflake depth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37560" y="12801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66160" y="1508760"/>
            <a:ext cx="548640" cy="548640"/>
          </a:xfrm>
          <a:prstGeom prst="ellipse">
            <a:avLst/>
          </a:prstGeom>
          <a:solidFill>
            <a:srgbClr val="5B84B8"/>
          </a:solidFill>
          <a:ln w="12700">
            <a:solidFill>
              <a:srgbClr val="5B84B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661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251960" y="1508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MuleSoft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3566160" y="2240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API-led connectivity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566160" y="27889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API management and governance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accelerator: HL7, FHIR, X12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skills curve, vCore pricing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26480" y="12801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55080" y="1508760"/>
            <a:ext cx="548640" cy="548640"/>
          </a:xfrm>
          <a:prstGeom prst="ellipse">
            <a:avLst/>
          </a:prstGeom>
          <a:solidFill>
            <a:srgbClr val="A67C1D"/>
          </a:solidFill>
          <a:ln w="12700">
            <a:solidFill>
              <a:srgbClr val="A67C1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550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1508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Boomi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2240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hybrid platform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355080" y="27889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EDI/B2B, MDM, FedRAMP Moderate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Snowflake Cortex Agents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Quote-only pricing, UI limits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915400" y="12801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144000" y="1508760"/>
            <a:ext cx="548640" cy="548640"/>
          </a:xfrm>
          <a:prstGeom prst="ellipse">
            <a:avLst/>
          </a:prstGeom>
          <a:solidFill>
            <a:srgbClr val="C8704A"/>
          </a:solidFill>
          <a:ln w="12700">
            <a:solidFill>
              <a:srgbClr val="C8704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9829800" y="1508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Informatica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9144000" y="2240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first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0" y="27889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quality, MDM, catalog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Snowflake and Cortex evidence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now part of Salesforce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48640" y="507492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822960" y="516636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4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Workato lands: </a:t>
            </a:r>
            <a:pPr indent="0" marL="0">
              <a:buNone/>
            </a:pPr>
            <a:r>
              <a:rPr lang="en-US" sz="15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orchestration and agent-action layer around Snowflake. It trails on healthcare B2B/EDI depth, packaged HL7/FHIR accelerators, API governance and documented Snowflake data-layer depth.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an iPaaS sits next to Snowflake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[40] [39] [42]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371600"/>
            <a:ext cx="201168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EHR, payer, ERP, HRIS, SaaS, databases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926080" y="1965960"/>
            <a:ext cx="1737360" cy="1280160"/>
          </a:xfrm>
          <a:prstGeom prst="roundRect">
            <a:avLst>
              <a:gd name="adj" fmla="val 7143"/>
            </a:avLst>
          </a:prstGeom>
          <a:solidFill>
            <a:srgbClr val="E8E4F3"/>
          </a:solidFill>
          <a:ln w="12700">
            <a:solidFill>
              <a:srgbClr val="E8E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26080" y="1965960"/>
            <a:ext cx="17373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Openflow or ELT tools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06040" y="2606040"/>
            <a:ext cx="320040" cy="0"/>
          </a:xfrm>
          <a:prstGeom prst="line">
            <a:avLst/>
          </a:prstGeom>
          <a:noFill/>
          <a:ln w="22225">
            <a:solidFill>
              <a:srgbClr val="8A97A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937760" y="1280160"/>
            <a:ext cx="475488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5875">
            <a:solidFill>
              <a:srgbClr val="C9D6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120640" y="1325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 medallion lakehouse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120640" y="178308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4D9C6"/>
          </a:solidFill>
          <a:ln w="12700">
            <a:solidFill>
              <a:srgbClr val="F4D9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20640" y="1783080"/>
            <a:ext cx="12801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83680" y="178308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0" y="1783080"/>
            <a:ext cx="12801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46720" y="178308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FBEBB8"/>
          </a:solidFill>
          <a:ln w="12700">
            <a:solidFill>
              <a:srgbClr val="FBEBB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46720" y="178308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120640" y="2926080"/>
            <a:ext cx="4389120" cy="822960"/>
          </a:xfrm>
          <a:prstGeom prst="roundRect">
            <a:avLst>
              <a:gd name="adj" fmla="val 11111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20640" y="2926080"/>
            <a:ext cx="43891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AI, Cortex Agents, Cortex Code (CoCo), managed MCP server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2606040"/>
            <a:ext cx="274320" cy="0"/>
          </a:xfrm>
          <a:prstGeom prst="line">
            <a:avLst/>
          </a:prstGeom>
          <a:noFill/>
          <a:ln w="22225">
            <a:solidFill>
              <a:srgbClr val="8A97AA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10012680" y="1371600"/>
            <a:ext cx="1645920" cy="2468880"/>
          </a:xfrm>
          <a:prstGeom prst="roundRect">
            <a:avLst>
              <a:gd name="adj" fmla="val 5556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012680" y="1371600"/>
            <a:ext cx="164592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systems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ITSM, CRM, EHR, finance, care management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692640" y="2606040"/>
            <a:ext cx="320040" cy="0"/>
          </a:xfrm>
          <a:prstGeom prst="line">
            <a:avLst/>
          </a:prstGeom>
          <a:noFill/>
          <a:ln w="22225">
            <a:solidFill>
              <a:srgbClr val="8A97AA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48640" y="43434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E8E4F3"/>
          </a:solidFill>
          <a:ln w="12700">
            <a:solidFill>
              <a:srgbClr val="E8E4F3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82296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iPaaS layer: what it should own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48920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v2, FHIR, C-CDA messaging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MLLP, routing, retries, EHR accelerators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520440" y="48920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and eligibility B2B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X12 837/835/270/271, NCPDP, partners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217920" y="48920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and partner APIs, policies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915400" y="48920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and agent tools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gold-layer or Cortex signals, governed MCP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1554480" y="3840480"/>
            <a:ext cx="0" cy="502920"/>
          </a:xfrm>
          <a:prstGeom prst="line">
            <a:avLst/>
          </a:prstGeom>
          <a:noFill/>
          <a:ln w="22225">
            <a:solidFill>
              <a:srgbClr val="8A97AA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 flipV="1">
            <a:off x="10835640" y="3840480"/>
            <a:ext cx="0" cy="502920"/>
          </a:xfrm>
          <a:prstGeom prst="line">
            <a:avLst/>
          </a:prstGeom>
          <a:noFill/>
          <a:ln w="22225">
            <a:solidFill>
              <a:srgbClr val="8A97A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Gartner iPaaS Magic Quadrant snapshot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[1] [4] [5] [6] [8] [12] [34]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0408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2468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Placement (vendor-stated)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Leader, 8th year; "Furthest in Vision" (3rd year)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Workato ONE, Agent Studio, MCP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Leader, 12th year; "highest Ability to Execute"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Agentstudio, Agent Control Plane, MCP connectors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 (MuleSoft)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Leader, 10th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Fabric, Anypoint as agentic backbone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 (Informatica)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 in 2026 MQ; placement unverified. Leader in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Headless IDMC, MCP endpoints, Agent and Context Catalog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863840" y="1280160"/>
            <a:ext cx="3776472" cy="3977640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09244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Informatica as the fourth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092440" y="18745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in the 2025 iPaaS quadrant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documented Snowflake and Cortex/MCP integration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HL7, FHIR and HIPAA X12 processing documented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to the MDM, quality and governance evaluations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092440" y="40233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Runners-up: Microsoft (Azure Integration Services), SAP Integration Suite, SnapLogic (Visionary).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5257800"/>
            <a:ext cx="7040880" cy="960120"/>
          </a:xfrm>
          <a:prstGeom prst="roundRect">
            <a:avLst>
              <a:gd name="adj" fmla="val 11429"/>
            </a:avLst>
          </a:prstGeom>
          <a:solidFill>
            <a:srgbClr val="E8E4F3"/>
          </a:solidFill>
          <a:ln w="12700">
            <a:solidFill>
              <a:srgbClr val="E8E4F3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77240" y="530352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four candidates now share a parent: Salesforce owns MuleSoft and Informatica. IDMC is also a wider suite than an iPaaS, so its ratings blend more product.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863840" y="5440680"/>
            <a:ext cx="3776472" cy="777240"/>
          </a:xfrm>
          <a:prstGeom prst="roundRect">
            <a:avLst>
              <a:gd name="adj" fmla="val 14118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8046720" y="546811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Dispute: Workato claims MuleSoft fell off the 2025 map; MuleSoft claims a 10th Leader year.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Thirteen essential iPaaS features used to score the platforms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[7] [10]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5F7391"/>
          </a:solidFill>
          <a:ln w="12700">
            <a:solidFill>
              <a:srgbClr val="5F739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371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breadth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37560" y="128016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E8E4F3"/>
          </a:solidFill>
          <a:ln w="12700">
            <a:solidFill>
              <a:srgbClr val="E8E4F3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1554480"/>
            <a:ext cx="502920" cy="502920"/>
          </a:xfrm>
          <a:prstGeom prst="ellipse">
            <a:avLst/>
          </a:prstGeom>
          <a:solidFill>
            <a:srgbClr val="5F7391"/>
          </a:solidFill>
          <a:ln w="12700">
            <a:solidFill>
              <a:srgbClr val="5F739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204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1371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patterns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128016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09360" y="1554480"/>
            <a:ext cx="502920" cy="502920"/>
          </a:xfrm>
          <a:prstGeom prst="ellipse">
            <a:avLst/>
          </a:prstGeom>
          <a:solidFill>
            <a:srgbClr val="5F7391"/>
          </a:solidFill>
          <a:ln w="12700">
            <a:solidFill>
              <a:srgbClr val="5F739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093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371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915400" y="128016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098280" y="1554480"/>
            <a:ext cx="502920" cy="502920"/>
          </a:xfrm>
          <a:prstGeom prst="ellipse">
            <a:avLst/>
          </a:prstGeom>
          <a:solidFill>
            <a:srgbClr val="5F7391"/>
          </a:solidFill>
          <a:ln w="12700">
            <a:solidFill>
              <a:srgbClr val="5F739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982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9738360" y="1371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experience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251460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31520" y="2788920"/>
            <a:ext cx="502920" cy="502920"/>
          </a:xfrm>
          <a:prstGeom prst="ellipse">
            <a:avLst/>
          </a:prstGeom>
          <a:solidFill>
            <a:srgbClr val="5F7391"/>
          </a:solidFill>
          <a:ln w="12700">
            <a:solidFill>
              <a:srgbClr val="5F739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1371600" y="26060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deployment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337560" y="251460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520440" y="2788920"/>
            <a:ext cx="502920" cy="502920"/>
          </a:xfrm>
          <a:prstGeom prst="ellipse">
            <a:avLst/>
          </a:prstGeom>
          <a:solidFill>
            <a:srgbClr val="5F7391"/>
          </a:solidFill>
          <a:ln w="12700">
            <a:solidFill>
              <a:srgbClr val="5F739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5204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4160520" y="26060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and data-platform fit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126480" y="251460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E8E4F3"/>
          </a:solidFill>
          <a:ln w="12700">
            <a:solidFill>
              <a:srgbClr val="E8E4F3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309360" y="2788920"/>
            <a:ext cx="502920" cy="502920"/>
          </a:xfrm>
          <a:prstGeom prst="ellipse">
            <a:avLst/>
          </a:prstGeom>
          <a:solidFill>
            <a:srgbClr val="5F7391"/>
          </a:solidFill>
          <a:ln w="12700">
            <a:solidFill>
              <a:srgbClr val="5F739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3093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6949440" y="26060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915400" y="251460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9098280" y="2788920"/>
            <a:ext cx="502920" cy="502920"/>
          </a:xfrm>
          <a:prstGeom prst="ellipse">
            <a:avLst/>
          </a:prstGeom>
          <a:solidFill>
            <a:srgbClr val="5F7391"/>
          </a:solidFill>
          <a:ln w="12700">
            <a:solidFill>
              <a:srgbClr val="5F739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0982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9738360" y="26060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and MCP capability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548640" y="37490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rgbClr val="5F7391"/>
          </a:solidFill>
          <a:ln w="12700">
            <a:solidFill>
              <a:srgbClr val="5F739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1371600" y="38404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lifecycle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3337560" y="37490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3520440" y="4023360"/>
            <a:ext cx="502920" cy="502920"/>
          </a:xfrm>
          <a:prstGeom prst="ellipse">
            <a:avLst/>
          </a:prstGeom>
          <a:solidFill>
            <a:srgbClr val="5F7391"/>
          </a:solidFill>
          <a:ln w="12700">
            <a:solidFill>
              <a:srgbClr val="5F7391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5204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4160520" y="38404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compliance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6126480" y="37490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309360" y="4023360"/>
            <a:ext cx="502920" cy="502920"/>
          </a:xfrm>
          <a:prstGeom prst="ellipse">
            <a:avLst/>
          </a:prstGeom>
          <a:solidFill>
            <a:srgbClr val="5F7391"/>
          </a:solidFill>
          <a:ln w="12700">
            <a:solidFill>
              <a:srgbClr val="5F739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3093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700" dirty="0"/>
          </a:p>
        </p:txBody>
      </p:sp>
      <p:sp>
        <p:nvSpPr>
          <p:cNvPr id="49" name="Text 46"/>
          <p:cNvSpPr txBox="1"/>
          <p:nvPr/>
        </p:nvSpPr>
        <p:spPr>
          <a:xfrm>
            <a:off x="6949440" y="38404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standards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8915400" y="37490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E8E4F3"/>
          </a:solidFill>
          <a:ln w="12700">
            <a:solidFill>
              <a:srgbClr val="E8E4F3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9098280" y="4023360"/>
            <a:ext cx="502920" cy="502920"/>
          </a:xfrm>
          <a:prstGeom prst="ellipse">
            <a:avLst/>
          </a:prstGeom>
          <a:solidFill>
            <a:srgbClr val="5F7391"/>
          </a:solidFill>
          <a:ln w="12700">
            <a:solidFill>
              <a:srgbClr val="5F7391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0982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700" dirty="0"/>
          </a:p>
        </p:txBody>
      </p:sp>
      <p:sp>
        <p:nvSpPr>
          <p:cNvPr id="53" name="Text 50"/>
          <p:cNvSpPr txBox="1"/>
          <p:nvPr/>
        </p:nvSpPr>
        <p:spPr>
          <a:xfrm>
            <a:off x="9738360" y="38404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 and TCO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548640" y="498348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731520" y="5257800"/>
            <a:ext cx="502920" cy="502920"/>
          </a:xfrm>
          <a:prstGeom prst="ellipse">
            <a:avLst/>
          </a:prstGeom>
          <a:solidFill>
            <a:srgbClr val="5F7391"/>
          </a:solidFill>
          <a:ln w="12700">
            <a:solidFill>
              <a:srgbClr val="5F7391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3152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700" dirty="0"/>
          </a:p>
        </p:txBody>
      </p:sp>
      <p:sp>
        <p:nvSpPr>
          <p:cNvPr id="57" name="Text 54"/>
          <p:cNvSpPr txBox="1"/>
          <p:nvPr/>
        </p:nvSpPr>
        <p:spPr>
          <a:xfrm>
            <a:off x="1371600" y="5074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and proof</a:t>
            </a:r>
            <a:endParaRPr lang="en-US" sz="1400" dirty="0"/>
          </a:p>
        </p:txBody>
      </p:sp>
      <p:sp>
        <p:nvSpPr>
          <p:cNvPr id="58" name="Text 55"/>
          <p:cNvSpPr txBox="1"/>
          <p:nvPr/>
        </p:nvSpPr>
        <p:spPr>
          <a:xfrm>
            <a:off x="8915400" y="49834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context adds: HL7 v2 (MLLP), FHIR, C-CDA, X12 837/835/270/271, NCPDP, HIPAA BAA, HITRUST where required, on-prem runtimes for legacy interfaces.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heatmap across the 13 features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[2] [25] [17] [27] [33] [24] [29]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1672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194560"/>
                <a:gridCol w="2194560"/>
                <a:gridCol w="2194560"/>
                <a:gridCol w="226771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MuleSoft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Connectivity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SaaS, ERP, DB, 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1,500+ connectors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1,500+ connectors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Data-platform depth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Integration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Workflow; EDI 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API-led, 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patterns + EDI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+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API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included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lifecycle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Editions + portal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assessed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Development experience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Business-friendly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Pro-code, DataWeave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Visual; complex 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Copilot; complex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Hybrid 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Fabric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Atoms, Molecules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+ 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Snowflake 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Bulk, merge; no CDC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Cortex evidenced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CDC + Cortex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Cortex, Iceberg, MCP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AI-assisted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recipes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CLAIRE Copilot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Agentic and MCP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Studio, MCP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Fabric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Agentstudio, Cortex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Headless MCP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Governance, lifecycle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Hub, catalog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Catalog, lineage, MDM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Security,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HIPAA BAA, SOC, ISO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BAA, scoped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FedRAMP, HIPAA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 list unverified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Healthcare standards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HL7, FHIR basics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HL7/FHIR/X12 kit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X12, HL7 EDI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HL7/FHIR/X12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Commercial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consumption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vCore, premium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median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IPU; weak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Ecosystem and proof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 (598 reviews)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 (150)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 (264)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 (325)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Snowflake, Cortex and CoCo: what the evidence supports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[17] [15] [23] [27] [28] [33] [38] [39]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7955280" cy="914400"/>
          </a:xfrm>
          <a:prstGeom prst="roundRect">
            <a:avLst>
              <a:gd name="adj" fmla="val 12000"/>
            </a:avLst>
          </a:prstGeom>
          <a:solidFill>
            <a:srgbClr val="E8E4F3"/>
          </a:solidFill>
          <a:ln w="12700">
            <a:solidFill>
              <a:srgbClr val="E8E4F3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481328"/>
            <a:ext cx="512064" cy="512064"/>
          </a:xfrm>
          <a:prstGeom prst="ellipse">
            <a:avLst/>
          </a:prstGeom>
          <a:solidFill>
            <a:srgbClr val="7F6FB5"/>
          </a:solidFill>
          <a:ln w="12700">
            <a:solidFill>
              <a:srgbClr val="7F6FB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325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Workato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788920" y="13258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as trigger and action target: new or updated rows, scheduled SQL, bulk load, merge, upsert. MCP servers front Workato skills. No CDC or Cortex-specific actions evidenced.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04288"/>
            <a:ext cx="7955280" cy="91440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505456"/>
            <a:ext cx="512064" cy="512064"/>
          </a:xfrm>
          <a:prstGeom prst="ellipse">
            <a:avLst/>
          </a:prstGeom>
          <a:solidFill>
            <a:srgbClr val="5B84B8"/>
          </a:solidFill>
          <a:ln w="12700">
            <a:solidFill>
              <a:srgbClr val="5B84B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2505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35000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MuleSoft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788920" y="235000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connector 1.4: key-pair auth, bulk and continuous load, insert, update, delete, merge. Agent Fabric governs agents generally. No Cortex integration evidenced.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328416"/>
            <a:ext cx="7955280" cy="9144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31520" y="3529584"/>
            <a:ext cx="512064" cy="512064"/>
          </a:xfrm>
          <a:prstGeom prst="ellipse">
            <a:avLst/>
          </a:prstGeom>
          <a:solidFill>
            <a:srgbClr val="A67C1D"/>
          </a:solidFill>
          <a:ln w="12700">
            <a:solidFill>
              <a:srgbClr val="A67C1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529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3374136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Boomi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788920" y="3374136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CDC to Snowflake; Platform Agents connect to Cortex; Agentstudio governs native Cortex Agents (June 2026, GA date not stated); 900+ joint customers.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352544"/>
            <a:ext cx="7955280" cy="914400"/>
          </a:xfrm>
          <a:prstGeom prst="roundRect">
            <a:avLst>
              <a:gd name="adj" fmla="val 12000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4553712"/>
            <a:ext cx="512064" cy="512064"/>
          </a:xfrm>
          <a:prstGeom prst="ellipse">
            <a:avLst/>
          </a:prstGeom>
          <a:solidFill>
            <a:srgbClr val="C8704A"/>
          </a:solidFill>
          <a:ln w="12700">
            <a:solidFill>
              <a:srgbClr val="C8704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4553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439826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Informatica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2788920" y="4398264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AI connector, early MCP integration with Cortex, Iceberg scanners (GA April 2026), row-level access policies pushed into Snowflake, headless IDMC from agent workflows (preview at announcement).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778240" y="1280160"/>
            <a:ext cx="2862072" cy="3986784"/>
          </a:xfrm>
          <a:prstGeom prst="roundRect">
            <a:avLst>
              <a:gd name="adj" fmla="val 38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900684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006840" y="1828800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documented fit for governed data into Cortex: Informatica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fit for Cortex Agents governance: Boomi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 is explicit on per-user MCP authentication and audit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each vendor's MCP client against Snowflake's managed MCP server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standards and compliance by vendor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[19] [20] [16] [24] [26] [31] [29] [37] [36]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760720"/>
                <a:gridCol w="37764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 and assets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HL7 connector (parse and send message, real-time trigger; needs On-Prem Agent). FHIR create, update, delete, search and triggers. No EHR accelerator found.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HIPAA (signs BAA), SOC 1/2/3, ISO 27001, 27701, 42001, PCI DSS L1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MuleSoft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Accelerator for Healthcare: HL7 v2 and FHIR R4 APIs, HL7 v2, X12 and CDA to FHIR, Epic and Cerner APIs, Health Cloud references.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BAA via Salesforce for named services; excludes customer-premises components. FedRAMP via Gov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X12, HL7, NCPDP EDI; 270/271 eligibility; claims and remittance; self-service trading-partner onboarding. Dedicated HL7/FHIR connectors not confirmed.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HIPAA/HITECH, SOC 1/2, ISO family, PCI, FedRAMP Moderate, FIPS 140-2, StateRAMP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Parse, generate, validate, transform HL7 2.x, FHIR, HIPAA X12; HL7-to-FHIR mapping; MLLP; AI parsing to relational. Named payer and provider customers.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HIPAA and ONC rules claimed; certification list not verified in this research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E8E4F3"/>
          </a:solidFill>
          <a:ln w="12700">
            <a:solidFill>
              <a:srgbClr val="E8E4F3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77240" y="5779008"/>
            <a:ext cx="10634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order for healthcare messaging: MuleSoft and Informatica (concrete assets), Boomi (EDI), Workato (connectors, thinner packaging).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Workato: unique capabilities, pros and cons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[15] [16] [17] [19] [2] [43] [49] [51]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4846320" cy="4937760"/>
          </a:xfrm>
          <a:prstGeom prst="roundRect">
            <a:avLst>
              <a:gd name="adj" fmla="val 2264"/>
            </a:avLst>
          </a:prstGeom>
          <a:solidFill>
            <a:srgbClr val="E8E4F3"/>
          </a:solidFill>
          <a:ln w="12700">
            <a:solidFill>
              <a:srgbClr val="E8E4F3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463040"/>
            <a:ext cx="594360" cy="594360"/>
          </a:xfrm>
          <a:prstGeom prst="ellipse">
            <a:avLst/>
          </a:prstGeom>
          <a:solidFill>
            <a:srgbClr val="7F6FB5"/>
          </a:solidFill>
          <a:ln w="12700">
            <a:solidFill>
              <a:srgbClr val="7F6FB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14630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Business-led orchestration, agentic roadmap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240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capabilities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697480"/>
            <a:ext cx="4297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 ONE: enterprise control plane of orchestration, context, skills and trust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MCP: hosted, local and developer-API servers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end-user credentials instead of static tokens, with rate limits and audit logs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Peer Insights score (4.9, 598 reviews)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0" y="1280160"/>
            <a:ext cx="5971032" cy="2331720"/>
          </a:xfrm>
          <a:prstGeom prst="roundRect">
            <a:avLst>
              <a:gd name="adj" fmla="val 4706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897880" y="1353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897880" y="1764792"/>
            <a:ext cx="5532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build; business teams can own recipes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BAA plus ISO 42001 (AI management)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row triggers and scheduled SQL suit gold-layer actions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entry cost than MuleSoft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0" y="3794760"/>
            <a:ext cx="5971032" cy="2423160"/>
          </a:xfrm>
          <a:prstGeom prst="roundRect">
            <a:avLst>
              <a:gd name="adj" fmla="val 4528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897880" y="3867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897880" y="4279392"/>
            <a:ext cx="5532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pricing is hard to forecast for high-fan-out flows; overage 2-3x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EDI limited (single broker source); no EHR accelerators found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needs On-Prem Agent; versions and MLLP not stated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CDC or Cortex actions evidenced; MCP not offered in CN regions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MuleSoft: unique capabilities, pros and cons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[25] [24] [6] [26] [49] [45] [23] [38]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4846320" cy="4937760"/>
          </a:xfrm>
          <a:prstGeom prst="roundRect">
            <a:avLst>
              <a:gd name="adj" fmla="val 2264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463040"/>
            <a:ext cx="594360" cy="594360"/>
          </a:xfrm>
          <a:prstGeom prst="ellipse">
            <a:avLst/>
          </a:prstGeom>
          <a:solidFill>
            <a:srgbClr val="5B84B8"/>
          </a:solidFill>
          <a:ln w="12700">
            <a:solidFill>
              <a:srgbClr val="5B84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14630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API-led connectivity and governance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240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capabilities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697480"/>
            <a:ext cx="4297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Manager, Omni Gateway, zero-trust policies in one control centre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for Healthcare: HL7, FHIR R4, X12 and CDA to FHIR, Epic and Cerner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Fabric: discover, orchestrate, govern and observe agents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CloudHub, Runtime Fabric on Kubernetes, on-prem, multi-cloud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0" y="1280160"/>
            <a:ext cx="5971032" cy="2331720"/>
          </a:xfrm>
          <a:prstGeom prst="roundRect">
            <a:avLst>
              <a:gd name="adj" fmla="val 4706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897880" y="1353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897880" y="1764792"/>
            <a:ext cx="5532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mature API lifecycle management of the four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published standards-based healthcare accelerator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Cloud option; Salesforce-provided HIPAA BAA for named services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integrator ecosystem, proven at scale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0" y="3794760"/>
            <a:ext cx="5971032" cy="2423160"/>
          </a:xfrm>
          <a:prstGeom prst="roundRect">
            <a:avLst>
              <a:gd name="adj" fmla="val 4528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897880" y="3867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897880" y="4279392"/>
            <a:ext cx="5532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curve; sustained DataWeave skills needed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vCore pricing; premium contracts; small apps penalised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 is service-specific; customer premises excluded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Cortex or Snowpipe evidenced; Salesforce gravity, now with Informatica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Boomi: unique capabilities, pros and cons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[30] [28] [31] [29] [27] [32] [44] [50]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4846320" cy="4937760"/>
          </a:xfrm>
          <a:prstGeom prst="roundRect">
            <a:avLst>
              <a:gd name="adj" fmla="val 2264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463040"/>
            <a:ext cx="594360" cy="594360"/>
          </a:xfrm>
          <a:prstGeom prst="ellipse">
            <a:avLst/>
          </a:prstGeom>
          <a:solidFill>
            <a:srgbClr val="A67C1D"/>
          </a:solidFill>
          <a:ln w="12700">
            <a:solidFill>
              <a:srgbClr val="A67C1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14630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 hybrid platform with EDI depth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240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capabilities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697480"/>
            <a:ext cx="4297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platform: integration, API, data integration and CDC, Data Hub, B2B/EDI, event streams, Agentstudio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Agentstudio governs Snowflake Cortex Agents (announced 9 June 2026)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X12, HL7, NCPDP; 270/271; trading-partner onboarding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FedRAMP Moderate, HIPAA/HITECH, ISO 42001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0" y="1280160"/>
            <a:ext cx="5971032" cy="2331720"/>
          </a:xfrm>
          <a:prstGeom prst="roundRect">
            <a:avLst>
              <a:gd name="adj" fmla="val 4706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897880" y="1353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897880" y="1764792"/>
            <a:ext cx="5532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median contract of the four (about $45K)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the estate for ELT/ETL: lower onboarding cost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and Molecules suit regulated on-prem execution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900+ joint Snowflake customers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0" y="3794760"/>
            <a:ext cx="5971032" cy="2423160"/>
          </a:xfrm>
          <a:prstGeom prst="roundRect">
            <a:avLst>
              <a:gd name="adj" fmla="val 4528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897880" y="3867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897880" y="4279392"/>
            <a:ext cx="5532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Quote-only pricing; 3-7% annual escalators; services 20-40% of year one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canvas strains on complex logic; limited versioning (competitor source)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connector: 1 MB request and 500 KB SnowSQL limits; no OAuth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HL7/FHIR connectors not confirmed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Informatica: unique capabilities, pros and cons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[33] [34] [37] [36] [35] [2] [46] [12]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4846320" cy="4937760"/>
          </a:xfrm>
          <a:prstGeom prst="roundRect">
            <a:avLst>
              <a:gd name="adj" fmla="val 2264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463040"/>
            <a:ext cx="594360" cy="594360"/>
          </a:xfrm>
          <a:prstGeom prst="ellipse">
            <a:avLst/>
          </a:prstGeom>
          <a:solidFill>
            <a:srgbClr val="C8704A"/>
          </a:solidFill>
          <a:ln w="12700">
            <a:solidFill>
              <a:srgbClr val="C870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14630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management platform with integration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240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capabilities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697480"/>
            <a:ext cx="4297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governance, quality, MDM and access management with integration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AI connector, MCP integration, Iceberg scanners, row-level policy propagation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2.x, FHIR, HIPAA X12 processing; HL7-to-FHIR mapping; MLLP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IDMC as MCP services; Agent and Context Catalog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0" y="1280160"/>
            <a:ext cx="5971032" cy="2331720"/>
          </a:xfrm>
          <a:prstGeom prst="roundRect">
            <a:avLst>
              <a:gd name="adj" fmla="val 4706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897880" y="1353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897880" y="1764792"/>
            <a:ext cx="5532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vendor could cover integration, quality, MDM and governance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concrete evidence of governing data into Snowflake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healthcare standards processing, AI parsing to relational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payer and provider references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0" y="3794760"/>
            <a:ext cx="5971032" cy="2423160"/>
          </a:xfrm>
          <a:prstGeom prst="roundRect">
            <a:avLst>
              <a:gd name="adj" fmla="val 4528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897880" y="3867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897880" y="4279392"/>
            <a:ext cx="5532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complexity and operating cost; specialist skills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Peer Insights score (4.4), though whole-suite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IPU consumption hard to forecast; MDM and quality add-ons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risk after Salesforce deal; 2026 iPaaS placement unverified; headless GA status to confirm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ratings and indicative cost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[2] [43] [45] [44] [46] [17] [30] [25]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4406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640080" y="1325880"/>
          <a:ext cx="5257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6199632" y="1280160"/>
            <a:ext cx="54406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graphicFrame>
        <p:nvGraphicFramePr>
          <p:cNvPr id="9" name="Chart 1" descr=""/>
          <p:cNvGraphicFramePr/>
          <p:nvPr/>
        </p:nvGraphicFramePr>
        <p:xfrm>
          <a:off x="6291072" y="1325880"/>
          <a:ext cx="5257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572000"/>
                <a:gridCol w="496519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Watch-outs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Tasks, recipes, workspaces, premium connectors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forecasting; overage 2-3x bundled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MuleSoft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vCores by environment, plus API 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apps penalised; services 20-40% of year 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Edition and Atom-based subscription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Quote-only; 3-7% annual escalators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IPU consumption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Forecasting; MDM and quality add-ons (low-confidence data)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Workato is placed on each feature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[2] [15] [16] [17] [19] [49]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2606040" cy="4892040"/>
          </a:xfrm>
          <a:prstGeom prst="roundRect">
            <a:avLst>
              <a:gd name="adj" fmla="val 4211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1417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Ahead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057400"/>
            <a:ext cx="2148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experience for business users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and MCP (vendor-stated), per-user auth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ratings (4.9 from 598)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37560" y="1280160"/>
            <a:ext cx="2606040" cy="4892040"/>
          </a:xfrm>
          <a:prstGeom prst="roundRect">
            <a:avLst>
              <a:gd name="adj" fmla="val 4211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566160" y="1417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par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2057400"/>
            <a:ext cx="2148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breadth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deployment (On-Prem Agent)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lifecycle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compliance (HIPAA BAA)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26480" y="1280160"/>
            <a:ext cx="2606040" cy="4892040"/>
          </a:xfrm>
          <a:prstGeom prst="roundRect">
            <a:avLst>
              <a:gd name="adj" fmla="val 4211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355080" y="1417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2057400"/>
            <a:ext cx="2148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 (MuleSoft leads)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B2B/EDI depth (Boomi, Informatica)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depth as documented (Informatica, Boomi)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standards packaging (MuleSoft, Informatica)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915400" y="1280160"/>
            <a:ext cx="2606040" cy="4892040"/>
          </a:xfrm>
          <a:prstGeom prst="roundRect">
            <a:avLst>
              <a:gd name="adj" fmla="val 4211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144000" y="1417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0" y="2057400"/>
            <a:ext cx="2148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model: competitive entry price, but task consumption is hardest to forecast for high-volume flows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Workato head-to-head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[2] [15] [49] [24] [31] [37] [29] [28] [33]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3291840"/>
                <a:gridCol w="31363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Workato wins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Workato trails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tie-breaker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MuleSoft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delivery, lower skills bar, business ownership, agentic momentum, peer ratings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management and governance, packaged healthcare accelerators, runtime control, FedRAMP path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API-first strategy and Epic/Cerner accelerators versus speed and business ownership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Boomi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Business-friendly build, per-user MCP authentication, peer ratings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EDI/B2B depth, MDM and data-integration modules, FedRAMP Moderate, Cortex Agents governance, incumbent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B2B/EDI and consolidation on an incumbent outweigh automation breadth?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 of use, time to value, business-led automation, peer ratings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governance, quality and MDM, documented Snowflake and Cortex depth, HL7/FHIR/X12 processing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core problem governed data for AI (Informatica) or operational orchestration (Workato)?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760720"/>
            <a:ext cx="11091672" cy="594360"/>
          </a:xfrm>
          <a:prstGeom prst="roundRect">
            <a:avLst>
              <a:gd name="adj" fmla="val 18462"/>
            </a:avLst>
          </a:prstGeom>
          <a:solidFill>
            <a:srgbClr val="E8E4F3"/>
          </a:solidFill>
          <a:ln w="12700">
            <a:solidFill>
              <a:srgbClr val="E8E4F3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77240" y="5779008"/>
            <a:ext cx="106344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 wins on speed and ownership, and trails wherever depth in healthcare standards, EDI, API governance or Snowflake data-layer integration is decisive.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Workato fits in this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[17] [15] [22] [39]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508760"/>
            <a:ext cx="548640" cy="548640"/>
          </a:xfrm>
          <a:prstGeom prst="ellipse">
            <a:avLst/>
          </a:prstGeom>
          <a:solidFill>
            <a:srgbClr val="5E9C57"/>
          </a:solidFill>
          <a:ln w="12700">
            <a:solidFill>
              <a:srgbClr val="5E9C5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463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fit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1828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layer after Snowflake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51460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Gold-layer changes and Cortex-derived signals trigger governed workflows in ITSM, CRM, HRIS, finance and care-management tools, owned by business teams. Prior-authorisation automation is the reference pattern.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34256" y="12801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08576" y="1508760"/>
            <a:ext cx="548640" cy="548640"/>
          </a:xfrm>
          <a:prstGeom prst="ellipse">
            <a:avLst/>
          </a:prstGeom>
          <a:solidFill>
            <a:srgbClr val="A67C1D"/>
          </a:solidFill>
          <a:ln w="12700">
            <a:solidFill>
              <a:srgbClr val="A67C1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08576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294376" y="1463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fit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294376" y="1828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 tool access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608576" y="251460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MCP with per-user authentication and audit, provided its MCP client and server interoperate with Snowflake's managed MCP server and the enterprise's regions are supported.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19872" y="12801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94192" y="1508760"/>
            <a:ext cx="548640" cy="548640"/>
          </a:xfrm>
          <a:prstGeom prst="ellipse">
            <a:avLst/>
          </a:prstGeom>
          <a:solidFill>
            <a:srgbClr val="C8704A"/>
          </a:solidFill>
          <a:ln w="12700">
            <a:solidFill>
              <a:srgbClr val="C8704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9419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079992" y="1463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fit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9079992" y="1828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workloads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394192" y="251460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HL7 v2/FHIR/X12 exchange, bulk or CDC ingestion into bronze, and MDM or data quality. Boomi, Informatica, MuleSoft or Snowflake-native tools have stronger evidence.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77240" y="5641848"/>
            <a:ext cx="10634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combination is credible: Informatica or Snowflake-native tools for the data layer, Workato or Boomi for operational orchestration, with overlap and licensing rationalised.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guide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E8E4F3"/>
          </a:solidFill>
          <a:ln w="12700">
            <a:solidFill>
              <a:srgbClr val="E8E4F3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536192"/>
            <a:ext cx="585216" cy="585216"/>
          </a:xfrm>
          <a:prstGeom prst="ellipse">
            <a:avLst/>
          </a:prstGeom>
          <a:solidFill>
            <a:srgbClr val="7F6FB5"/>
          </a:solidFill>
          <a:ln w="12700">
            <a:solidFill>
              <a:srgbClr val="7F6F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361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1371600"/>
            <a:ext cx="9628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Workato when </a:t>
            </a:r>
            <a:pPr indent="0" marL="0">
              <a:buNone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business-led automation and governed agent actions are the priority, and healthcare messaging and B2B stay with another tool.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770632"/>
            <a:ext cx="585216" cy="585216"/>
          </a:xfrm>
          <a:prstGeom prst="ellipse">
            <a:avLst/>
          </a:prstGeom>
          <a:solidFill>
            <a:srgbClr val="5B84B8"/>
          </a:solidFill>
          <a:ln w="12700">
            <a:solidFill>
              <a:srgbClr val="5B84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770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737360" y="2606040"/>
            <a:ext cx="9628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MuleSoft when </a:t>
            </a:r>
            <a:pPr indent="0" marL="0">
              <a:buNone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API-led strategy, Epic/Cerner integration and API governance are decisive and DataWeave skills can be funded.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74904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4005072"/>
            <a:ext cx="585216" cy="585216"/>
          </a:xfrm>
          <a:prstGeom prst="ellipse">
            <a:avLst/>
          </a:prstGeom>
          <a:solidFill>
            <a:srgbClr val="A67C1D"/>
          </a:solidFill>
          <a:ln w="12700">
            <a:solidFill>
              <a:srgbClr val="A67C1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005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3840480"/>
            <a:ext cx="9628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Boomi when </a:t>
            </a:r>
            <a:pPr indent="0" marL="0">
              <a:buNone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consolidating onto an incumbent, with EDI/B2B, on-prem runtimes, FedRAMP and predictable entry cost outweighing UI limits.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2960" y="5239512"/>
            <a:ext cx="585216" cy="585216"/>
          </a:xfrm>
          <a:prstGeom prst="ellipse">
            <a:avLst/>
          </a:prstGeom>
          <a:solidFill>
            <a:srgbClr val="C8704A"/>
          </a:solidFill>
          <a:ln w="12700">
            <a:solidFill>
              <a:srgbClr val="C870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52395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1737360" y="5074920"/>
            <a:ext cx="9628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Informatica when </a:t>
            </a:r>
            <a:pPr indent="0" marL="0">
              <a:buNone/>
            </a:pPr>
            <a:r>
              <a:rPr lang="en-US" sz="16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high-quality data for Cortex and MDM/quality consolidation are the core need, accepting complexity and Salesforce roadmap risk.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2057400" cy="4480560"/>
          </a:xfrm>
          <a:prstGeom prst="roundRect">
            <a:avLst>
              <a:gd name="adj" fmla="val 5333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rgbClr val="5F7391"/>
          </a:solidFill>
          <a:ln w="12700">
            <a:solidFill>
              <a:srgbClr val="5F739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317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the Snowflake boundary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246120"/>
            <a:ext cx="1691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Openflow and Cortex Code for ingestion first; it sets iPaaS volume and cost.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807208" y="1371600"/>
            <a:ext cx="2057400" cy="4480560"/>
          </a:xfrm>
          <a:prstGeom prst="roundRect">
            <a:avLst>
              <a:gd name="adj" fmla="val 5333"/>
            </a:avLst>
          </a:prstGeom>
          <a:solidFill>
            <a:srgbClr val="E8E4F3"/>
          </a:solidFill>
          <a:ln w="12700">
            <a:solidFill>
              <a:srgbClr val="E8E4F3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90088" y="1554480"/>
            <a:ext cx="594360" cy="594360"/>
          </a:xfrm>
          <a:prstGeom prst="ellipse">
            <a:avLst/>
          </a:prstGeom>
          <a:solidFill>
            <a:srgbClr val="5F7391"/>
          </a:solidFill>
          <a:ln w="12700">
            <a:solidFill>
              <a:srgbClr val="5F739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90088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2990088" y="23317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scoped proof of concept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990088" y="3246120"/>
            <a:ext cx="1691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ADT feed to bronze and FHIR write-back; gold-table change triggering a workflow; Cortex Agent or MCP call with per-user auth.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65776" y="1371600"/>
            <a:ext cx="2057400" cy="4480560"/>
          </a:xfrm>
          <a:prstGeom prst="roundRect">
            <a:avLst>
              <a:gd name="adj" fmla="val 5333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248656" y="1554480"/>
            <a:ext cx="594360" cy="594360"/>
          </a:xfrm>
          <a:prstGeom prst="ellipse">
            <a:avLst/>
          </a:prstGeom>
          <a:solidFill>
            <a:srgbClr val="5F7391"/>
          </a:solidFill>
          <a:ln w="12700">
            <a:solidFill>
              <a:srgbClr val="5F739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48656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248656" y="23317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written answers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248656" y="3246120"/>
            <a:ext cx="1691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MCP interoperability, HITRUST, BAA scope, Workato HL7 and EDI depth, Boomi and Informatica GA dates.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324344" y="1371600"/>
            <a:ext cx="2057400" cy="4480560"/>
          </a:xfrm>
          <a:prstGeom prst="roundRect">
            <a:avLst>
              <a:gd name="adj" fmla="val 5333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507224" y="1554480"/>
            <a:ext cx="594360" cy="594360"/>
          </a:xfrm>
          <a:prstGeom prst="ellipse">
            <a:avLst/>
          </a:prstGeom>
          <a:solidFill>
            <a:srgbClr val="5F7391"/>
          </a:solidFill>
          <a:ln w="12700">
            <a:solidFill>
              <a:srgbClr val="5F739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07224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507224" y="23317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three-year cost models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507224" y="3246120"/>
            <a:ext cx="1691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volume assumptions, overage terms and renewal caps from each vendor.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582912" y="1371600"/>
            <a:ext cx="2057400" cy="4480560"/>
          </a:xfrm>
          <a:prstGeom prst="roundRect">
            <a:avLst>
              <a:gd name="adj" fmla="val 5333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765792" y="1554480"/>
            <a:ext cx="594360" cy="594360"/>
          </a:xfrm>
          <a:prstGeom prst="ellipse">
            <a:avLst/>
          </a:prstGeom>
          <a:solidFill>
            <a:srgbClr val="5F7391"/>
          </a:solidFill>
          <a:ln w="12700">
            <a:solidFill>
              <a:srgbClr val="5F739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765792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9765792" y="23317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Gartner positions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9765792" y="3246120"/>
            <a:ext cx="1691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 and MuleSoft 2026 placement, through a Gartner licence or vendor copy.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 and confidence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[1] [8] [9] [6] [29] [49] [33]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Informatica 2026 iPaaS quadrant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confirmed. 2025 Leader confirmed by vendor release.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MuleSoft placement dispute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Workato says it dropped off the 2025 map; MuleSoft says Leader for a tenth year. Unresolved without the report.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Boomi FedRAMP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Boomi trust page lists FedRAMP Moderate; one broker source says none. Boomi page treated as authoritative.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Informatica headless 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Preview with summer 2026 GA target at announcement; current status not checked.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Workato HL7 and EDI details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HL7 versions, MLLP and EDI depth not stated in accessible documentation.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estimates only; no vendor quotes.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content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reviewed (fetch blocked). Titles only.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(1 of 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54406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5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Magic Quadrant and market position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www.gartner.com/en/documents/759123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Gartner: Magic Quadrant for Integration Platform as a Service (2026, published 16 Mar 2026) (Analyst (landing page only; full report is paywalled))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www.gartner.com/reviews/market/integration-platform-as-a-servi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 Gartner Peer Insights: Best Integration Platform as a Service Reviews 2026 (Analyst / peer reviews)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frends.com/insights/list-18-vendors-gartner-magic-quadrant-for-ipaas-2026?hs_amp=tru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 Frends: Discover the 18 vendors in Gartner's Magic Quadrant for iPaaS 2026 (Competing vendor blog)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https://www.workato.com/the-connector/gartner-magic-quadrant-2026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 Workato: Workato Named Gartner Magic Quadrant iPaaS Leader in 2026 (Vendor)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https://boomi.com/blog/gartner-magic-quadrant-ipaas-2026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 Boomi: Boomi Named a Leader | 2026 Gartner Magic Quadrant for iPaaS (Vendor)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https://blogs.mulesoft.com/news/mulesoft-recognized-in-gartner-magic-quadrant-for-ipaas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 MuleSoft: Salesforce (MuleSoft) Recognized for the 10th Year in the 2026 Gartner MQ for iPaaS (Vendor)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https://www.snaplogic.com/resources/analyst-reports/gartner-magic-quadrant-ipaas-2026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 SnapLogic: Gartner Positions SnapLogic as a Visionary in 2026 MQ for iPaaS (Vendor)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https://www.informatica.com/about-us/news/news-releases/2025/05/20250522-informatica-named-a-leader-in-the-2025-gartner-magic-quadrant-for-ipaas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 Informatica: Informatica Named a Leader in the 2025 Gartner MQ for iPaaS (22 May 2025) (Vendor)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https://www.workato.com/the-connector/mulesoft-gartner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 Workato: MuleSoft Lost Its Leader Status in Gartner's Magic Quadrant (Vendor (competitive claim, disputed))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https://www.getint.io/blog/magic-quadrant-integration-platform-service-summa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[10] Getint: Magic Quadrant for Integration Platform as a Service 2025 summary (Competing vendor blog)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https://vantagepoint.io/blog/sf/workato-gartner-ipaas-2026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[11] Vantagepoint: Workato Gartner iPaaS 2026: What CRM Teams Should Know (Consultancy blog)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1188720"/>
            <a:ext cx="54406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https://cloudwars.com/cloud-wars-minute/salesforce-completes-informatica-acquisition-boosting-its-agentic-ai-foundation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[12] Cloud Wars: Salesforce Completes Informatica Acquisition, Boosting Its Agentic AI Foundation (3 Dec 2025) (Trade press)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https://azure.microsoft.com/en-us/blog/microsoft-named-a-leader-in-2025-gartner-magic-quadrant-for-integration-platform-as-a-service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[13] Microsoft Azure Blog: Microsoft named a Leader in 2025 Gartner MQ for iPaaS (search-result level only) (Vendor)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https://news.sap.com/2025/05/five-time-leader-gartner-magic-quadrant-ipaas-sap-integration-suite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[14] SAP News: Five-Time Leader in Gartner iPaaS MQ, SAP Integration Suite (search-result level only) (Vendor)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3E5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invalidUrl="" action="" tgtFrame="" tooltip="https://docs.workato.com/mcp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[15] Workato Docs: MCP (Vendor documentation)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invalidUrl="" action="" tgtFrame="" tooltip="https://docs.workato.com/security/security-compliance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[16] Workato Docs: Security compliance (Vendor documentation)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invalidUrl="" action="" tgtFrame="" tooltip="https://www.workato.com/integrations/snowflak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[17] Workato: Snowflake integration and workflow automation (Vendor)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invalidUrl="" action="" tgtFrame="" tooltip="https://www.workato.com/integrations/open_ai_utility~snowflak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[18] Workato: AI by Workato and Snowflake integration (Vendor)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invalidUrl="" action="" tgtFrame="" tooltip="https://docs.workato.com/connectors/hl7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[19] Workato Docs: HL7 connector (Vendor documentation)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invalidUrl="" action="" tgtFrame="" tooltip="https://www.workato.com/integrations/fhir~hl7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[20] Workato: FHIR and HL7 integration (Vendor)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invalidUrl="" action="" tgtFrame="" tooltip="https://www.workato.com/platfor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[21] Workato: Platform Features and Benefits (Vendor)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(2 of 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54406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www.quandarycg.com/case-study/workato-ai-reduce-prior-authorization-processing-time-by-65-for-regional-healthcare-provid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[22] Quandary Consulting: AI Prior Authorization Automation with Workato (Partner marketing case study)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3E5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docs.mulesoft.com/snowflake-connector/latest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[23] MuleSoft Docs: Snowflake Connector 1.4 (Vendor documentation)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docs.mulesoft.com/healthcare/latest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[24] MuleSoft Docs: Accelerator for Healthcare (Vendor documentation)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https://www.mulesoft.com/platform/enterprise-integrati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[25] MuleSoft: Enterprise Integration | Anypoint Platform (Vendor)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https://www.paubox.com/blog/mulesoft-hipaa-complian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[26] Paubox: Can I use MuleSoft and be HIPAA compliant? (2026 update) (Third-party vendor blog (relays Salesforce BAA terms))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3E5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Boomi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https://boomi.com/partners/snowflake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[27] Boomi: Snowflake partner page (Vendor)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https://www.businesswire.com/news/home/20260609131798/en/Boomi-Adds-Snowflake-Cortex-Agents-Support-to-Agentstudio-to-Enable-Unified-AI-Agent-Governan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[28] Business Wire: Boomi Adds Snowflake Cortex Agents Support to Agentstudio (9 Jun 2026) (Vendor press release)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https://boomi.com/compliance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[29] Boomi: Security &amp; Privacy Compliance (Vendor)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https://boomi.com/platform-services-and-pricing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[30] Boomi: Enterprise Platform Pricing &amp; Editions (Vendor)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https://boomi.com/blog/guide-to-edi-for-healthcare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[31] Boomi: Guide to EDI in Healthcare (Vendor)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1188720"/>
            <a:ext cx="54406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https://help.boomi.com/docs/Atomsphere/Integration/Connectors/int-Snowflake_Connector_f551004c-1429-4fe1-85c1-b345d37ab73c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[32] Boomi Docs: Snowflake connector (Vendor documentation)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3E5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https://www.informatica.com/about-us/news/news-releases/2026/05/20260520-informatica-brings-headless-data-management-and-iceberg-governance-to-snowflake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[33] Informatica: Brings Headless Data Management and Iceberg Governance to Snowflake (20 May 2026) (Vendor press release)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https://siliconangle.com/2026/05/20/informatica-expands-agentic-ai-strategy-headless-data-services-unified-agent-governance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[34] SiliconANGLE: Informatica expands agentic AI strategy with headless data services and unified agent governance (20 May 2026) (Trade press)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https://www.techtarget.com/searchdatamanagement/news/366628006/Informatica-adds-MCP-support-spate-of-AI-fueled-feature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[35] TechTarget: Informatica adds MCP support, spate of AI-fueled features (31 Jul 2025) (Trade press)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invalidUrl="" action="" tgtFrame="" tooltip="https://www.informatica.com/solutions/industry-solutions/healthcare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[36] Informatica: Healthcare Data Management with IDMC (Vendor)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invalidUrl="" action="" tgtFrame="" tooltip="https://www.informatica.com/content/dam/informatica-com/en/collateral/data-sheet/hl7-and-hippa-data-services-with-the-informatica-intelligent-data-management-cloud-idmc-for-healthcare-and-life-sciences_data-sheet_4572en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[37] Informatica: HL7 and HIPAA Data Services with IDMC for Healthcare (data sheet) (Vendor data sheet)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3E5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invalidUrl="" action="" tgtFrame="" tooltip="https://docs.snowflake.com/en/user-guide/snowflake-cortex/cortex-agents-mcp-connector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[38] Snowflake Docs: MCP Connectors (Cortex Agents) (Snowflake documentation)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invalidUrl="" action="" tgtFrame="" tooltip="https://docs.snowflake.com/en/user-guide/snowflake-cortex/cortex-agents-mc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[39] Snowflake Docs: Snowflake-managed MCP server (Snowflake documentation)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invalidUrl="" action="" tgtFrame="" tooltip="https://www.snowflake.com/en/product/features/openflow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[40] Snowflake: Openflow product page (Snowflake)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(3 of 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54406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www.snowflake.com/en/blog/openflow-revolutionizes-data-movement-ai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[41] Snowflake Blog: Openflow Revolutionizes Data Movement for AI and Interoperability (Snowflake)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www.snowflake.com/en/blog/snowflake-openflow-cortex-code-integration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[42] Snowflake Blog: Snowflake Openflow and Cortex Code, AI-Driven Data Integration (Snowflake)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3E5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independent or competitor comparisons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www.vendr.com/marketplace/workat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[43] Vendr: Workato pricing 2026 (Procurement-data marketplace)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https://www.vendr.com/marketplace/boom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[44] Vendr: Boomi pricing 2026 (Procurement-data marketplace)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https://www.vendr.com/marketplace/mulesof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[45] Vendr: MuleSoft pricing 2026 (Procurement-data marketplace)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https://vendorbenchmark.com/blog/ipaas-pricing-benchmark-enterprise-comparis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[46] VendorBenchmark: iPaaS Pricing Benchmarks 2026 (Negotiation-services vendor (low confidence))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https://softwarepricingguide.com/mulesoft-vs-boomi-vs-workato-pricing-2026-the-real-cost-of-ipaas-apis-and-automation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[47] Software Pricing Guide: MuleSoft vs Boomi vs Workato Pricing 2026 (Blog (no quantified data; low confidence))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https://frends.com/insights/best-ipaas-platforms-2026-compare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[48] Frends: 11 best iPaaS platforms in 2026, compared (Competing vendor blog)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https://technologymatch.com/blog/boomi-vs-mulesoft-vs-workato-vs-celigo-ipaas-platform-comparis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[49] TechnologyMatch: Boomi vs MuleSoft vs Workato vs Celigo comparison (Broker blog)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https://www.integrate.io/blog/boomi-review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[50] Integrate.io: Boomi Review 2026, Pros and Cons (Competing vendor blog)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1188720"/>
            <a:ext cx="54406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https://exalate.com/blog/workato-alternatives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[51] Exalate: The Best Workato Alternatives in 2026 (Competing vendor blog)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3E5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videos (title/metadata only)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https://www.youtube.com/watch?v=kzUcOjL4utU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[52] YouTube: Workato Enterprise MCP: Orchestration for the Agentic Era (Video (title/metadata only))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https://www.youtube.com/watch?v=fGwpPX5lYJ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[53] YouTube: Workato ONE: The Control &amp; Execution Platform for Enterprise AI (Video (title/metadata only))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https://www.youtube.com/watch?v=Bkh4YyY6D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[54] YouTube: Boomi Agentstudio Demo (Video (title/metadata only))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invalidUrl="" action="" tgtFrame="" tooltip="https://www.youtube.com/watch?v=2u1Hs9cBIT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[55] YouTube: Boomi Control Tower and Agent Step Demo (Video (title/metadata only))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invalidUrl="" action="" tgtFrame="" tooltip="https://www.youtube.com/watch?v=m-akcHO_YF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[56] YouTube: MuleSoft Agent Fabric Insights, Demo &amp; Future Trends (Video (title/metadata only))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invalidUrl="" action="" tgtFrame="" tooltip="https://www.youtube.com/watch?v=W6R-x7-wP6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[57] YouTube: Introducing MuleSoft Agent Fabric (Video (title/metadata only))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invalidUrl="" action="" tgtFrame="" tooltip="https://www.youtube.com/watch?v=b4xqEz2WL7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[58] YouTube: Informatica Superpipe for Snowflake (Video (title/metadata only))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invalidUrl="" action="" tgtFrame="" tooltip="https://www.youtube.com/watch?v=ElI6EvavR2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[59] YouTube: How to Register Informatica IDMC with Snowflake using Free Trial (Video (title/metadata only))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iPaaS Platform Evaluation: Workato, MuleSoft, Boomi, Informatica</dc:title>
  <dc:subject>PptxGenJS Presentation</dc:subject>
  <dc:creator>Enterprise Architecture research</dc:creator>
  <cp:lastModifiedBy>Enterprise Architecture research</cp:lastModifiedBy>
  <cp:revision>1</cp:revision>
  <dcterms:created xsi:type="dcterms:W3CDTF">2026-09-30T01:01:14Z</dcterms:created>
  <dcterms:modified xsi:type="dcterms:W3CDTF">2026-09-30T01:01:14Z</dcterms:modified>
</cp:coreProperties>
</file>