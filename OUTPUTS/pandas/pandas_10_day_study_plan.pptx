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pandas.pydata.org/docs/user_guide/10min.html" TargetMode="External"/><Relationship Id="rId2" Type="http://schemas.openxmlformats.org/officeDocument/2006/relationships/hyperlink" Target="https://wesmckinney.com/book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snowflake.com/en/developer-guide/python-connector/python-connector-pandas" TargetMode="External"/><Relationship Id="rId2" Type="http://schemas.openxmlformats.org/officeDocument/2006/relationships/hyperlink" Target="https://pandas.pydata.org/docs/user_guide/io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pandas.pydata.org/docs/getting_started/comparison/comparison_with_sql.html" TargetMode="External"/><Relationship Id="rId2" Type="http://schemas.openxmlformats.org/officeDocument/2006/relationships/hyperlink" Target="https://youtu.be/2uvysYbKdj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dataschool.io/easier-data-analysis-with-panda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pandas.pydata.org/docs/user_guide/groupby.html" TargetMode="External"/><Relationship Id="rId2" Type="http://schemas.openxmlformats.org/officeDocument/2006/relationships/hyperlink" Target="https://www.freecodecamp.org/news/how-to-analyze-data-with-python-panda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pandas.pydata.org/docs/getting_started/comparison/comparison_with_sql.html" TargetMode="External"/><Relationship Id="rId2" Type="http://schemas.openxmlformats.org/officeDocument/2006/relationships/hyperlink" Target="https://github.com/KeithGalli/complete-pandas-tutoria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pandas.pydata.org/docs/user_guide/missing_data.html" TargetMode="External"/><Relationship Id="rId2" Type="http://schemas.openxmlformats.org/officeDocument/2006/relationships/hyperlink" Target="https://wesmckinney.com/book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pandas.pydata.org/docs/user_guide/reshaping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pandas.pydata.org/docs/user_guide/window.html" TargetMode="External"/><Relationship Id="rId2" Type="http://schemas.openxmlformats.org/officeDocument/2006/relationships/hyperlink" Target="https://www.youtube.com/playlist?list=PL-osiE80TeTsWmV9i9c58mdDCSskIFdD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reecodecamp.org/news/how-to-analyze-data-with-python-pandas/" TargetMode="External"/><Relationship Id="rId2" Type="http://schemas.openxmlformats.org/officeDocument/2006/relationships/hyperlink" Target="https://pandas.pydata.org/docs/user_guide/visualization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5120640"/>
            <a:ext cx="256032" cy="25603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669280"/>
            <a:ext cx="164592" cy="16459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846320"/>
            <a:ext cx="109728" cy="109728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6035040"/>
            <a:ext cx="91440" cy="9144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0" y="4480560"/>
            <a:ext cx="73152" cy="7315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6126480"/>
            <a:ext cx="128016" cy="128016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40080"/>
            <a:ext cx="109728" cy="109728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005840"/>
            <a:ext cx="73152" cy="7315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88720"/>
            <a:ext cx="64008" cy="64008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STUDY PLAN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33172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for SQL Professionals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947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Porting 25+ years of SQL fluency (Oracle, SQL Server, DB2, MySQL, PostgreSQL, MongoDB) to Python, Pandas, and Snowflake.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126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deck: "Pandas — Complete Study Guide &amp; Cheatsheet"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PLAN EXISTS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Pandas, Why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0820095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Python's core library for structured data manipulation, cleaning, and analysis — built on NumPy, and the on-ramp to matplotlib, seaborn, and scikit-learn.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has moved onto cloud platforms — Snowflake, Databricks, AWS/Azure/GCP — and modern analytics work now expects Python alongside SQL.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think in tables, keys, and set operations. That instinct transfers almost directly onto the DataFrame model.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this plan: reuse your SQL mental model as the fastest path to real Pandas fluency in 10 focused days.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HEAD START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SQL-to-Pandas Mental Model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11094415" cy="914400"/>
        </p:xfrm>
        <a:graphic>
          <a:graphicData uri="http://schemas.openxmlformats.org/drawingml/2006/table">
            <a:tbl>
              <a:tblPr/>
              <a:tblGrid>
                <a:gridCol w="4659654"/>
                <a:gridCol w="6434761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Concept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Equivalent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DataFrame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/ 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 (row label)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 mask, .query()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 / HAVING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.groupby().agg(), then filter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JOIN (inner/left/right/outer)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.merge(how=...)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/ UNION 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pd.concat()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.sort_values()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Window functions (OVER/PARTITION BY)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.groupby().transform(), .rolling(), .rank()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 / UNPIVOT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.pivot_table() / .melt()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WHEN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np.where() / np.select()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This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0820095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~1.5–2.5 hours per day: watch or read the linked resource first, then complete the hands-on exercise in your own Jupyter or VS Code notebook.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data from Day 2 onward if you can — nothing cements Pandas like running it against domain tables you already know.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personal "SQL → Pandas" translation notebook: for every SQL query you already know, write the Pandas equivalent beside it.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build on each other — don't skip Day 1–2. The index/dtype model is the one place Pandas genuinely differs from SQL.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10-Day Overview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11094415" cy="914400"/>
        </p:xfrm>
        <a:graphic>
          <a:graphicData uri="http://schemas.openxmlformats.org/drawingml/2006/table">
            <a:tbl>
              <a:tblPr/>
              <a:tblGrid>
                <a:gridCol w="1331330"/>
                <a:gridCol w="4881543"/>
                <a:gridCol w="4881543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Analogy Anchor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setup, Series &amp; DataFrame basics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&amp; column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I/O: CSV / Excel / JSON / SQL / Snowflake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* FROM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Selection, indexing, filtering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 &amp; derived 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BY, computed SELECT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 &amp; aggregation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 / HAVING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Merging, joining, concatenating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JOIN, UNION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data-quality scrubbing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Reshaping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 / UNPIVOT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Analysis: stats, correlation, windows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functions, aggregates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 + capstone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77724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&amp; Core Data Structures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3716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anchor:  </a:t>
            </a:r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&amp; column model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531860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377440"/>
            <a:ext cx="486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Python, Pandas, Jupyter/VS Code, and snowflake-connector-python[pandas]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Series (one typed column + index) and DataFrame (a table of Series)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data: .shape, .dtypes, .info(), .describe(), .head()/.tail()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24448" y="187452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237744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pandas.pydata.org/docs/user_guide/10min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Official: 10 Minutes to pandas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wesmckinney.com/book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Book: Python for Data Analysis, 3E, Ch. 5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24448" y="356616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F2B1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37033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4005072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DataFrame from a dict representing a table you know well (e.g. claims or members). Run .info() and .describe() and compare to what DESCRIBE TABLE would tell you.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77724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I/O — Getting Data In and Out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3716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anchor:  </a:t>
            </a:r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table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531860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377440"/>
            <a:ext cx="486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CSV, Excel, JSON with read_csv/read_excel/read_json and key options (dtype, parse_dates, chunksize)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data straight from Snowflake with pandas.read_sql or fetch_pandas_all()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DataFrame back to Snowflake with write_pandas()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24448" y="187452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237744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ocs.snowflake.com/en/developer-guide/python-connector/python-connector-panda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Snowflake: Using pandas DataFrames with the Python Connector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pandas.pydata.org/docs/user_guide/io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pandas I/O guide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24448" y="356616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F2B1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37033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4005072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Snowflake sandbox schema and pull one familiar table into a DataFrame with read_sql. No access handy? Export to CSV and load that instead. Confirm dtypes match expectations.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77724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Selection, Indexing &amp; Filtering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3716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anchor:  </a:t>
            </a:r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531860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377440"/>
            <a:ext cx="486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selection: df['col'] vs df[['a','b']]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selection: .loc (label-based) vs .iloc (position-based)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masks and .query() as WHERE-clause equivalents; combine with &amp; | ~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24448" y="187452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237744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pandas.pydata.org/docs/getting_started/comparison/comparison_with_sql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Official Comparison with SQL (bookmark this)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youtu.be/2uvysYbKdj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Keith Galli, Complete Pandas Tutorial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24448" y="356616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F2B1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37033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4005072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5 SQL WHERE clauses you've written recently (multi-condition, IN, BETWEEN, LIKE) and translate each into Pandas — once with .loc + masks, once with .query().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77724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&amp; Derived Columns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3716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anchor:  </a:t>
            </a:r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BY, computed SELECT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531860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377440"/>
            <a:ext cx="486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.sort_values(by=[...], ascending=[...]) and .sort_index()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columns via .assign(), vectorized arithmetic, and .apply() (a last resort, not a first choice)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equivalents: np.where() for binary, np.select() for multi-branch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24448" y="187452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237744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www.dataschool.io/easier-data-analysis-with-pandas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School (Kevin Markham) — Easier data analysis with pandas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24448" y="356616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F2B1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37033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4005072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a `SELECT *, CASE WHEN ... END AS flag ORDER BY col DESC` report — build the flag with np.where/np.select and sort with sort_values.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77724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 &amp; Aggregation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3716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anchor:  </a:t>
            </a:r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/ HAVING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531860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377440"/>
            <a:ext cx="486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split-apply-combine model behind .groupby()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.agg() with multiple functions per column; named aggregation with pd.NamedAgg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equivalent: filter the grouped result, or .groupby().filter()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24448" y="187452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237744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pandas.pydata.org/docs/user_guide/groupby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Official groupby guide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www.freecodecamp.org/news/how-to-analyze-data-with-python-pandas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freeCodeCamp, Data Analysis with Python (full course)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24448" y="356616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F2B1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37033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4005072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a `GROUP BY key1, key2 HAVING COUNT(*) &gt; n` report from a domain table, using groupby + agg + a post-filter.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77724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Merging, Joining &amp; Concatenating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3716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anchor:  </a:t>
            </a:r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JOIN, UNION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531860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377440"/>
            <a:ext cx="486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.merge(how='inner'|'left'|'right'|'outer', on=/left_on=/right_on=)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validate= and indicator=True to catch cardinality surprises before they corrupt a report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pd.concat() for UNION/UNION ALL-style row stacking; .join() for index-based joins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24448" y="187452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237744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pandas.pydata.org/docs/getting_started/comparison/comparison_with_sql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Official Comparison with SQL — Join section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github.com/KeithGalli/complete-pandas-tutoria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Keith Galli, complete-pandas-tutorial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24448" y="356616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F2B1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37033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4005072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2–3 interconnected domain tables you join in SQL routinely. Reproduce the join chain with .merge(), using indicator=True to confirm row counts match exactly.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77724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3716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anchor:  </a:t>
            </a:r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scrubbing / data-quality rules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531860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377440"/>
            <a:ext cx="486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data: .isna()/.notna(), .fillna() strategies, .dropna(), .interpolate()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.duplicated(), .drop_duplicates()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conversions: .astype(), to_datetime(), to_numeric(); category dtype; .str cleaning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24448" y="187452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237744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pandas.pydata.org/docs/user_guide/missing_data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Official: Working with missing data guide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wesmckinney.com/book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Book: Python for Data Analysis, 3E, Ch. 7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24448" y="356616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F2B1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37033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4005072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genuinely messy extract (blank values, inconsistent casing, duplicate rows) and produce a clean DataFrame, documenting each cleaning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77724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Reshaping Data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3716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anchor:  </a:t>
            </a:r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/ UNPIVOT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531860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377440"/>
            <a:ext cx="486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.pivot_table() — PIVOT with an aggregation function built in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.melt() — UNPIVOT, wide-to-long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.stack()/.unstack() for MultiIndex reshaping; pd.crosstab() for quick frequency tables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24448" y="187452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237744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pandas.pydata.org/docs/user_guide/reshaping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Official reshaping guide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24448" y="356616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F2B1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37033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4005072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a wide PIVOT-style report with pivot_table, then melt() it back to long form and confirm you recover your original rows.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77724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— Stats, Correlation &amp; Window Functions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3716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anchor:  </a:t>
            </a:r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(PARTITION BY ... ORDER BY ...)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531860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377440"/>
            <a:ext cx="486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stats: .describe(), .mean()/.std(), .value_counts()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.corr() for correlation matrices between numeric columns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Window-function equivalents: .rolling(), .expanding(), .shift(), .rank(), .cumsum()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24448" y="187452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237744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pandas.pydata.org/docs/user_guide/window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Official window operations guide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www.youtube.com/playlist?list=PL-osiE80TeTsWmV9i9c58mdDCSskIFdD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Corey Schafer, Pandas Tutorials playlist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24448" y="356616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F2B1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37033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4005072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a running-total or ranking report you've built with SUM(...) OVER (PARTITION BY ...) using groupby + rolling/cumsum/rank.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77724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+ Capstone Project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3716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anchor:  </a:t>
            </a:r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reporting layer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531860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377440"/>
            <a:ext cx="486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plotting straight from Pandas: df.plot(kind=...)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fundamentals for full control over figures and axes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for statistical charts: distributions, correlation heatmaps, category comparisons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24448" y="187452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20391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237744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www.freecodecamp.org/news/how-to-analyze-data-with-python-pandas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freeCodeCamp full Data Analysis course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pandas.pydata.org/docs/user_guide/visualization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Official visualization guide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24448" y="356616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F2B1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37033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4005072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dedicated capstone project on the next slide — this is the day it all comes together.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10, CONTINUED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Project (2–3 hrs)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318608" cy="4645152"/>
          </a:xfrm>
          <a:prstGeom prst="roundRect">
            <a:avLst>
              <a:gd name="adj" fmla="val 1575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47088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58568"/>
            <a:ext cx="4861408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2–3 related tables from Snowflake (or CSV) into DataFrames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each: missing data, dtypes, duplicates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them into one analysis-ready DataFrame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Group/aggregate to answer a real question from your domain (claims, care management, etc.)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derived column and one window-style calculation (e.g. month-over-month change)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result with at least two chart types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result back to Snowflake or export to Excel for sharing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4448" y="1664208"/>
            <a:ext cx="5318608" cy="4645152"/>
          </a:xfrm>
          <a:prstGeom prst="roundRect">
            <a:avLst>
              <a:gd name="adj" fmla="val 1575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53048" y="1847088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FOR TODAY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258568"/>
            <a:ext cx="4861408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freeCodeCamp — Data Analysis with Python (NumPy, Pandas, Matplotlib, Seaborn)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Pandas visualization guide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official: write_pandas() and pandas-on-Snowflake docs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 is the dress rehearsal for real work — treat the output as something you'd actually hand to a colleague.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HANDY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Summary — Quick Links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5410048" cy="501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official documentation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pandas.pydata.org/docs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SQL (official)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pandas.pydata.org/docs/getting_started/comparison/comparison_with_sql.html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pandas cheat sheet (PDF)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pandas.pydata.org/Pandas_Cheat_Sheet.pdf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book — Python for Data Analysis, 3E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wesmckinney.com/book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Keith Galli — Complete Pandas Tutorial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github.com/KeithGalli/complete-pandas-tutorial · youtu.be/2uvysYbKdjM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33008" y="1709928"/>
            <a:ext cx="5410048" cy="501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Corey Schafer — Pandas Tutorials playlist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youtube.com/playlist?list=PL-osiE80TeTsWmV9i9c58mdDCSskIFdDS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School — Easier data analysis with pandas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dataschool.io/easier-data-analysis-with-pandas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freeCodeCamp — Data Analysis with Python (full course)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freecodecamp.org/news/how-to-analyze-data-with-python-pandas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+ pandas (official)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docs.snowflake.com/en/developer-guide/python-connector/python-connector-pandas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on Snowflake — Snowpark pandas API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docs.snowflake.com/en/developer-guide/snowpark/python/pandas-on-snowflake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1887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Next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77440"/>
            <a:ext cx="9875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companion "Pandas — Complete Study Guide" deck as your reference during and after the 10 days.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Snowpark pandas API (Modin-based) to run pandas syntax that executes inside Snowflake at scale, once local pandas feels natural.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scikit-learn for modeling once your prep pipeline is solid — pandas stays your prep layer.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Day 6 (joins) and Day 9 (window functions) after two weeks of real use — that's where SQL habits most often cause pandas bugs.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09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Amit — research_a_subject project, September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Pandas for SQL Professionals — 10-Day Study Plan</dc:title>
  <dc:subject>PptxGenJS Presentation</dc:subject>
  <dc:creator>Amit</dc:creator>
  <cp:lastModifiedBy>Amit</cp:lastModifiedBy>
  <cp:revision>1</cp:revision>
  <dcterms:created xsi:type="dcterms:W3CDTF">2026-09-06T19:09:57Z</dcterms:created>
  <dcterms:modified xsi:type="dcterms:W3CDTF">2026-09-06T19:09:57Z</dcterms:modified>
</cp:coreProperties>
</file>