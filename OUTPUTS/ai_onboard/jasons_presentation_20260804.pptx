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mailto:jason@nowtonext.ai" TargetMode="External"/><Relationship Id="rId3" Type="http://schemas.openxmlformats.org/officeDocument/2006/relationships/hyperlink" Target="https://www.linkedin.com/in/jasonaverbook/" TargetMode="External"/><Relationship Id="rId4" Type="http://schemas.openxmlformats.org/officeDocument/2006/relationships/hyperlink" Target="https://www.linkedin.com/in/jasonaverbook/" TargetMode="External"/><Relationship Id="rId6" Type="http://schemas.openxmlformats.org/officeDocument/2006/relationships/hyperlink" Target="https://jasonaverbook.substack.com" TargetMode="External"/><Relationship Id="rId7" Type="http://schemas.openxmlformats.org/officeDocument/2006/relationships/hyperlink" Target="https://jasonaverbook.substack.com" TargetMode="External"/><Relationship Id="rId2" Type="http://schemas.openxmlformats.org/officeDocument/2006/relationships/image" Target="../media/image-2-1.png"/><Relationship Id="rId5" Type="http://schemas.openxmlformats.org/officeDocument/2006/relationships/image" Target="../media/image-2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be.com/shorts/PSPLAS41aLI?si=4mdiCKwbI6Zq1VL8" TargetMode="External"/><Relationship Id="rId2" Type="http://schemas.openxmlformats.org/officeDocument/2006/relationships/hyperlink" Target="https://youtube.com/shorts/PSPLAS41aLI?si=4mdiCKwbI6Zq1VL8" TargetMode="External"/><Relationship Id="rId3" Type="http://schemas.openxmlformats.org/officeDocument/2006/relationships/hyperlink" Target="https://youtube.com/shorts/PSPLAS41aLI?si=4mdiCKwbI6Zq1VL8" TargetMode="External"/><Relationship Id="rId4" Type="http://schemas.openxmlformats.org/officeDocument/2006/relationships/hyperlink" Target="https://youtube.com/shorts/PSPLAS41aLI?si=4mdiCKwbI6Zq1VL8" TargetMode="External"/><Relationship Id="rId5" Type="http://schemas.openxmlformats.org/officeDocument/2006/relationships/hyperlink" Target="https://youtube.com/shorts/PSPLAS41aLI?si=4mdiCKwbI6Zq1VL8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reel/DblkpJMSPtb/?utm_source=ig_web_copy_link&amp;igsh=NTc4MTIwNjQ2YQ==" TargetMode="External"/><Relationship Id="rId2" Type="http://schemas.openxmlformats.org/officeDocument/2006/relationships/hyperlink" Target="https://www.instagram.com/reel/DblkpJMSPtb/?utm_source=ig_web_copy_link&amp;igsh=NTc4MTIwNjQ2YQ==" TargetMode="External"/><Relationship Id="rId3" Type="http://schemas.openxmlformats.org/officeDocument/2006/relationships/hyperlink" Target="https://www.instagram.com/reel/DblkpJMSPtb/?utm_source=ig_web_copy_link&amp;igsh=NTc4MTIwNjQ2YQ==" TargetMode="External"/><Relationship Id="rId4" Type="http://schemas.openxmlformats.org/officeDocument/2006/relationships/hyperlink" Target="https://www.instagram.com/reel/DblkpJMSPtb/?utm_source=ig_web_copy_link&amp;igsh=NTc4MTIwNjQ2YQ==" TargetMode="External"/><Relationship Id="rId5" Type="http://schemas.openxmlformats.org/officeDocument/2006/relationships/hyperlink" Target="https://www.instagram.com/reel/DblkpJMSPtb/?utm_source=ig_web_copy_link&amp;igsh=NTc4MTIwNjQ2YQ==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E1E30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979714"/>
            <a:ext cx="4327855" cy="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1959429"/>
            <a:ext cx="4327855" cy="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2939143"/>
            <a:ext cx="4327855" cy="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3918857"/>
            <a:ext cx="4327855" cy="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4898571"/>
            <a:ext cx="4327855" cy="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5878286"/>
            <a:ext cx="4327855" cy="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85149" y="0"/>
            <a:ext cx="0" cy="685800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6458" y="0"/>
            <a:ext cx="0" cy="685800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27768" y="0"/>
            <a:ext cx="0" cy="685800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49077" y="0"/>
            <a:ext cx="0" cy="685800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0386" y="0"/>
            <a:ext cx="0" cy="6858000"/>
          </a:xfrm>
          <a:prstGeom prst="line">
            <a:avLst/>
          </a:prstGeom>
          <a:noFill/>
          <a:ln w="12700">
            <a:solidFill>
              <a:srgbClr val="3434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2377440"/>
            <a:ext cx="2011680" cy="201168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1460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RESET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685800" y="3703320"/>
            <a:ext cx="1463040" cy="54864"/>
          </a:xfrm>
          <a:prstGeom prst="rect">
            <a:avLst/>
          </a:prstGeom>
          <a:solidFill>
            <a:srgbClr val="5B4F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LEADERSHIP,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IMPACT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AVERBOOK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NOW TO NEXT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 </a:t>
            </a:r>
            <a:pPr indent="0" marL="0">
              <a:buNone/>
            </a:pPr>
            <a:r>
              <a:rPr lang="en-US" sz="1400" b="1" u="sng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jason@nowtonext.ai</a:t>
            </a:r>
            <a:endParaRPr lang="en-US" sz="1400" dirty="0"/>
          </a:p>
        </p:txBody>
      </p:sp>
      <p:pic>
        <p:nvPicPr>
          <p:cNvPr id="8" name="Image 0" descr="/tmp/deck_build/qr_linkedin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0360"/>
            <a:ext cx="1280160" cy="128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0" name="Text 7">
            <a:hlinkClick r:id="rId4" tooltip=""/>
          </p:cNvPr>
          <p:cNvSpPr/>
          <p:nvPr/>
        </p:nvSpPr>
        <p:spPr>
          <a:xfrm>
            <a:off x="64008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linkedin.com/in/jasonaverbook</a:t>
            </a:r>
            <a:endParaRPr lang="en-US" sz="1000" dirty="0"/>
          </a:p>
        </p:txBody>
      </p:sp>
      <p:pic>
        <p:nvPicPr>
          <p:cNvPr id="11" name="Image 1" descr="/tmp/deck_build/qr_substack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880360"/>
            <a:ext cx="1280160" cy="1280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</a:t>
            </a:r>
            <a:endParaRPr lang="en-US" sz="1100" dirty="0"/>
          </a:p>
        </p:txBody>
      </p:sp>
      <p:sp>
        <p:nvSpPr>
          <p:cNvPr id="13" name="Text 9">
            <a:hlinkClick r:id="rId7" tooltip=""/>
          </p:cNvPr>
          <p:cNvSpPr/>
          <p:nvPr/>
        </p:nvSpPr>
        <p:spPr>
          <a:xfrm>
            <a:off x="393192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jasonaverbook.substack.com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4892040"/>
            <a:ext cx="10881360" cy="1051560"/>
          </a:xfrm>
          <a:prstGeom prst="rect">
            <a:avLst/>
          </a:prstGeom>
          <a:solidFill>
            <a:srgbClr val="E7E6F5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48920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3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by Jason Averbook in our Townhall session about aligning ourselves with AI in todays time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48" y="566928"/>
            <a:ext cx="6095848" cy="6291072"/>
          </a:xfrm>
          <a:prstGeom prst="rect">
            <a:avLst/>
          </a:prstGeom>
          <a:solidFill>
            <a:srgbClr val="13131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" cy="2651760"/>
          </a:xfrm>
          <a:prstGeom prst="rect">
            <a:avLst/>
          </a:prstGeom>
          <a:solidFill>
            <a:srgbClr val="5B4FE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4572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43000" y="37033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NEXT?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98768" y="2194560"/>
            <a:ext cx="54864" cy="2377440"/>
          </a:xfrm>
          <a:prstGeom prst="rect">
            <a:avLst/>
          </a:prstGeom>
          <a:solidFill>
            <a:srgbClr val="5B4FE5"/>
          </a:solidFill>
          <a:ln/>
        </p:spPr>
      </p:sp>
      <p:sp>
        <p:nvSpPr>
          <p:cNvPr id="10" name="Text 8"/>
          <p:cNvSpPr/>
          <p:nvPr/>
        </p:nvSpPr>
        <p:spPr>
          <a:xfrm>
            <a:off x="6918808" y="21031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GOING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"BACK TO NORMAL."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18808" y="35204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9B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ENTERED THE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9B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NORMAL.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54864" cy="420624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8803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0" y="28346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331720" y="3977640"/>
            <a:ext cx="914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4297680"/>
            <a:ext cx="128016" cy="12801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Shape 9"/>
          <p:cNvSpPr/>
          <p:nvPr/>
        </p:nvSpPr>
        <p:spPr>
          <a:xfrm>
            <a:off x="3063240" y="4297680"/>
            <a:ext cx="128016" cy="12801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4892040"/>
            <a:ext cx="146304" cy="14630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806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 STORY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81160" y="397764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5" name="Shape 13"/>
          <p:cNvSpPr/>
          <p:nvPr/>
        </p:nvSpPr>
        <p:spPr>
          <a:xfrm>
            <a:off x="8915400" y="443484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443484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549640" y="489204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8" name="Shape 16"/>
          <p:cNvSpPr/>
          <p:nvPr/>
        </p:nvSpPr>
        <p:spPr>
          <a:xfrm>
            <a:off x="9281160" y="489204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12680" y="489204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5806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STORY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</a:t>
            </a:r>
            <a:pPr indent="0" marL="0">
              <a:lnSpc>
                <a:spcPct val="105000"/>
              </a:lnSpc>
              <a:buNone/>
            </a:pP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REACH 100 MILLION 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2871216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8346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years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3328416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2918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31720" y="3785616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</p:sp>
      <p:sp>
        <p:nvSpPr>
          <p:cNvPr id="15" name="Text 13"/>
          <p:cNvSpPr/>
          <p:nvPr/>
        </p:nvSpPr>
        <p:spPr>
          <a:xfrm>
            <a:off x="3639312" y="37490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years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4242816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</p:sp>
      <p:sp>
        <p:nvSpPr>
          <p:cNvPr id="18" name="Text 16"/>
          <p:cNvSpPr/>
          <p:nvPr/>
        </p:nvSpPr>
        <p:spPr>
          <a:xfrm>
            <a:off x="3127248" y="42062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months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31720" y="4700016"/>
            <a:ext cx="329184" cy="256032"/>
          </a:xfrm>
          <a:prstGeom prst="roundRect">
            <a:avLst>
              <a:gd name="adj" fmla="val 50000"/>
            </a:avLst>
          </a:prstGeom>
          <a:solidFill>
            <a:srgbClr val="5B4FE5"/>
          </a:solidFill>
          <a:ln/>
        </p:spPr>
      </p:sp>
      <p:sp>
        <p:nvSpPr>
          <p:cNvPr id="21" name="Text 19"/>
          <p:cNvSpPr/>
          <p:nvPr/>
        </p:nvSpPr>
        <p:spPr>
          <a:xfrm>
            <a:off x="2798064" y="46634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31720" y="5157216"/>
            <a:ext cx="274320" cy="256032"/>
          </a:xfrm>
          <a:prstGeom prst="roundRect">
            <a:avLst>
              <a:gd name="adj" fmla="val 50000"/>
            </a:avLst>
          </a:prstGeom>
          <a:solidFill>
            <a:srgbClr val="5B4FE5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51206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hours*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265176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EDEDED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RIGHT NOW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3800" y="3200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5438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ChatGPT users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43800" y="4343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$315B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54380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AI investment (2025)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64008" cy="2926080"/>
          </a:xfrm>
          <a:prstGeom prst="rect">
            <a:avLst/>
          </a:prstGeom>
          <a:solidFill>
            <a:srgbClr val="5B4FE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6002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DOING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GOING TO ZERO.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3000" y="30175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WAITING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GOING TO INFINITY.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143000" y="5074920"/>
            <a:ext cx="9875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5212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THE STRATEGY.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TO NEXT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REVOLUTION </a:t>
            </a:r>
            <a:pPr indent="0" marL="0">
              <a:buNone/>
            </a:pPr>
            <a:r>
              <a:rPr lang="en-US" sz="3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EVERYTHING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DEDE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REVOLUTION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Mechanized production,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factories, urbanization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DEDED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965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REVOLUTION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1870s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4505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29718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production, assembly lines,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D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965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REVOLUTION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1945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4505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systems, automation,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69680" y="182880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5B4FE5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1965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REVOLUTION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52560" y="21945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52560" y="24505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29718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automation, agents,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on demand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51960"/>
            <a:ext cx="3017520" cy="0"/>
          </a:xfrm>
          <a:prstGeom prst="line">
            <a:avLst/>
          </a:prstGeom>
          <a:noFill/>
          <a:ln w="25400">
            <a:solidFill>
              <a:srgbClr val="5B4F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34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difference? Previous revolutions took </a:t>
            </a:r>
            <a:pPr indent="0" marL="0">
              <a:buNone/>
            </a:pPr>
            <a:r>
              <a:rPr lang="en-US" sz="15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mature. This one moves at </a:t>
            </a:r>
            <a:pPr indent="0" marL="0">
              <a:buNone/>
            </a:pPr>
            <a:r>
              <a:rPr lang="en-US" sz="15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speed.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4008" cy="2468880"/>
          </a:xfrm>
          <a:prstGeom prst="rect">
            <a:avLst/>
          </a:prstGeom>
          <a:solidFill>
            <a:srgbClr val="5B4FE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373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TRYING TO SOLVE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PROBLEMS WITH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ORG CHARTS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3886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1990S THINKING.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EVERYWHERE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5B4F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EDEDE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students use AI tools: universities are rewriting curriculums in real time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3520440" cy="1874520"/>
          </a:xfrm>
          <a:prstGeom prst="roundRect">
            <a:avLst>
              <a:gd name="adj" fmla="val 2439"/>
            </a:avLst>
          </a:prstGeom>
          <a:solidFill>
            <a:srgbClr val="EDEDE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43400"/>
            <a:ext cx="3154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are being questioned: skills and adaptability matter more than credentials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5B4FE5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EDED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4231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job postings down 35%: the way people start careers is shifting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4206240"/>
            <a:ext cx="3520440" cy="1874520"/>
          </a:xfrm>
          <a:prstGeom prst="roundRect">
            <a:avLst>
              <a:gd name="adj" fmla="val 2439"/>
            </a:avLst>
          </a:prstGeom>
          <a:solidFill>
            <a:srgbClr val="ED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343400"/>
            <a:ext cx="3154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now oversee AI workflows alongside human teams: a completely new skill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600200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5B4FE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LIFE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228600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EDEDE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4231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agents managing health, finances, and schedules: life is being redesigned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0" y="4206240"/>
            <a:ext cx="3520440" cy="1874520"/>
          </a:xfrm>
          <a:prstGeom prst="roundRect">
            <a:avLst>
              <a:gd name="adj" fmla="val 2439"/>
            </a:avLst>
          </a:prstGeom>
          <a:solidFill>
            <a:srgbClr val="EDEDE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4343400"/>
            <a:ext cx="3154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are being set outside work: then carried into the office every day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72200" y="64922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HEPI Student AI Survey (2025); industry entry-level hiring data, 2025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05840" cy="0"/>
          </a:xfrm>
          <a:prstGeom prst="line">
            <a:avLst/>
          </a:prstGeom>
          <a:noFill/>
          <a:ln w="38100">
            <a:solidFill>
              <a:srgbClr val="5B4F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2026 OUTSIDE OF WORK.
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YEAR DOES IT FEEL LIKE INSIDE?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212080" cy="32004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0" y="2606040"/>
            <a:ext cx="5212080" cy="32004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606040"/>
            <a:ext cx="54864" cy="3200400"/>
          </a:xfrm>
          <a:prstGeom prst="rect">
            <a:avLst/>
          </a:prstGeom>
          <a:solidFill>
            <a:srgbClr val="5B4FE5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2606040"/>
            <a:ext cx="54864" cy="3200400"/>
          </a:xfrm>
          <a:prstGeom prst="rect">
            <a:avLst/>
          </a:prstGeom>
          <a:solidFill>
            <a:srgbClr val="5B4FE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OF 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 their travel, manages their health,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their kids, runs their side projects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already here.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OF 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3611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portals, same ticket queues, same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workflows they had five years ago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5120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 is still running.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WOUNDS OF CHANGE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TO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hundreds of transformations, five patterns recur. Not predictions. Observations. What happens when technology lands on unprepared psychological ground.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4937760" cy="1005840"/>
          </a:xfrm>
          <a:prstGeom prst="rect">
            <a:avLst/>
          </a:prstGeom>
          <a:solidFill>
            <a:srgbClr val="5B4FE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074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THEM, AND YOU CAN HEAL THEM.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THEM, AND THEY METASTASIZE.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0" y="1005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1005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REPLACEMENT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53035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7190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171907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MASTERY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126480" y="2359152"/>
            <a:ext cx="53035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43230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243230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FATIGUE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26480" y="3072384"/>
            <a:ext cx="53035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1455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0" y="314553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EROSION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126480" y="3785616"/>
            <a:ext cx="53035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8587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0" y="385876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DISRUPTION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126480" y="4498848"/>
            <a:ext cx="53035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BECOMING OBSOLETE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103120" cy="0"/>
          </a:xfrm>
          <a:prstGeom prst="line">
            <a:avLst/>
          </a:prstGeom>
          <a:noFill/>
          <a:ln w="25400">
            <a:solidFill>
              <a:srgbClr val="5B4F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</a:t>
            </a:r>
            <a:endParaRPr lang="en-US" sz="15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CHANGED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4944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344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949440" y="1892808"/>
            <a:ext cx="39319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23957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949440" y="2944368"/>
            <a:ext cx="39319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154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34472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949440" y="3995928"/>
            <a:ext cx="39319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4498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949440" y="5047488"/>
            <a:ext cx="39319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5257800"/>
            <a:ext cx="7863840" cy="914400"/>
          </a:xfrm>
          <a:prstGeom prst="rect">
            <a:avLst/>
          </a:prstGeom>
          <a:solidFill>
            <a:srgbClr val="5B4FE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2578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ISN'T A BUG IN THE SYSTEM.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RAW MATERIAL FOR OPPORTUNITY.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</a:t>
            </a:r>
            <a:endParaRPr lang="en-US" sz="2600" dirty="0"/>
          </a:p>
        </p:txBody>
      </p:sp>
      <p:sp>
        <p:nvSpPr>
          <p:cNvPr id="6" name="Shape 4">
            <a:hlinkClick r:id="rId1" tooltip=""/>
          </p:cNvPr>
          <p:cNvSpPr/>
          <p:nvPr/>
        </p:nvSpPr>
        <p:spPr>
          <a:xfrm>
            <a:off x="4023360" y="1463040"/>
            <a:ext cx="4114800" cy="4480560"/>
          </a:xfrm>
          <a:prstGeom prst="roundRect">
            <a:avLst>
              <a:gd name="adj" fmla="val 1333"/>
            </a:avLst>
          </a:prstGeom>
          <a:solidFill>
            <a:srgbClr val="13131F"/>
          </a:solidFill>
          <a:ln/>
        </p:spPr>
      </p:sp>
      <p:sp>
        <p:nvSpPr>
          <p:cNvPr id="7" name="Shape 5">
            <a:hlinkClick r:id="rId2" tooltip=""/>
          </p:cNvPr>
          <p:cNvSpPr/>
          <p:nvPr/>
        </p:nvSpPr>
        <p:spPr>
          <a:xfrm>
            <a:off x="5532120" y="2514600"/>
            <a:ext cx="1097280" cy="1097280"/>
          </a:xfrm>
          <a:prstGeom prst="ellipse">
            <a:avLst/>
          </a:prstGeom>
          <a:solidFill>
            <a:srgbClr val="3535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>
            <a:hlinkClick r:id="rId3" tooltip=""/>
          </p:cNvPr>
          <p:cNvSpPr/>
          <p:nvPr/>
        </p:nvSpPr>
        <p:spPr>
          <a:xfrm rot="5400000">
            <a:off x="5870448" y="2788920"/>
            <a:ext cx="457200" cy="5486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Text 7">
            <a:hlinkClick r:id="rId4" tooltip=""/>
          </p:cNvPr>
          <p:cNvSpPr/>
          <p:nvPr/>
        </p:nvSpPr>
        <p:spPr>
          <a:xfrm>
            <a:off x="420624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THE CLIP</a:t>
            </a:r>
            <a:endParaRPr lang="en-US" sz="1300" dirty="0"/>
          </a:p>
        </p:txBody>
      </p:sp>
      <p:sp>
        <p:nvSpPr>
          <p:cNvPr id="10" name="Text 8">
            <a:hlinkClick r:id="rId5" tooltip=""/>
          </p:cNvPr>
          <p:cNvSpPr/>
          <p:nvPr/>
        </p:nvSpPr>
        <p:spPr>
          <a:xfrm>
            <a:off x="4206240" y="41330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u="sng" dirty="0">
                <a:solidFill>
                  <a:srgbClr val="AFAFC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youtube.com/shorts/PSPLAS41aLI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0" y="4892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@slow_developer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51937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"But now getting to..."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2600" dirty="0"/>
          </a:p>
        </p:txBody>
      </p:sp>
      <p:sp>
        <p:nvSpPr>
          <p:cNvPr id="6" name="Shape 4">
            <a:hlinkClick r:id="rId1" tooltip=""/>
          </p:cNvPr>
          <p:cNvSpPr/>
          <p:nvPr/>
        </p:nvSpPr>
        <p:spPr>
          <a:xfrm>
            <a:off x="4023360" y="1463040"/>
            <a:ext cx="4114800" cy="4480560"/>
          </a:xfrm>
          <a:prstGeom prst="roundRect">
            <a:avLst>
              <a:gd name="adj" fmla="val 1333"/>
            </a:avLst>
          </a:prstGeom>
          <a:solidFill>
            <a:srgbClr val="EDEDED"/>
          </a:solidFill>
          <a:ln/>
        </p:spPr>
      </p:sp>
      <p:sp>
        <p:nvSpPr>
          <p:cNvPr id="7" name="Shape 5">
            <a:hlinkClick r:id="rId2" tooltip=""/>
          </p:cNvPr>
          <p:cNvSpPr/>
          <p:nvPr/>
        </p:nvSpPr>
        <p:spPr>
          <a:xfrm>
            <a:off x="5532120" y="2606040"/>
            <a:ext cx="1097280" cy="109728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8" name="Shape 6">
            <a:hlinkClick r:id="rId3" tooltip=""/>
          </p:cNvPr>
          <p:cNvSpPr/>
          <p:nvPr/>
        </p:nvSpPr>
        <p:spPr>
          <a:xfrm rot="5400000">
            <a:off x="5870448" y="2880360"/>
            <a:ext cx="457200" cy="5486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Text 7">
            <a:hlinkClick r:id="rId4" tooltip=""/>
          </p:cNvPr>
          <p:cNvSpPr/>
          <p:nvPr/>
        </p:nvSpPr>
        <p:spPr>
          <a:xfrm>
            <a:off x="420624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THE REEL</a:t>
            </a:r>
            <a:endParaRPr lang="en-US" sz="1300" dirty="0"/>
          </a:p>
        </p:txBody>
      </p:sp>
      <p:sp>
        <p:nvSpPr>
          <p:cNvPr id="10" name="Text 8">
            <a:hlinkClick r:id="rId5" tooltip=""/>
          </p:cNvPr>
          <p:cNvSpPr/>
          <p:nvPr/>
        </p:nvSpPr>
        <p:spPr>
          <a:xfrm>
            <a:off x="4206240" y="4224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u="sng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instagram.com/reel/DblkpJMSPtb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VS. SHOULD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12080" cy="3794760"/>
          </a:xfrm>
          <a:prstGeom prst="roundRect">
            <a:avLst>
              <a:gd name="adj" fmla="val 1446"/>
            </a:avLst>
          </a:prstGeom>
          <a:solidFill>
            <a:srgbClr val="E7E6F5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0" y="1691640"/>
            <a:ext cx="5212080" cy="3794760"/>
          </a:xfrm>
          <a:prstGeom prst="roundRect">
            <a:avLst>
              <a:gd name="adj" fmla="val 1446"/>
            </a:avLst>
          </a:prstGeom>
          <a:solidFill>
            <a:srgbClr val="E7E6F5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96596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5B4FE5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makes technically possible: automation, generation, scale. The frontier expands every month, faster than we can absorb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5B4FE5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worth doing: trust, values, consequences. Where we draw the line stays a human decision, not the model's.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58968" y="3337560"/>
            <a:ext cx="1280160" cy="1005840"/>
          </a:xfrm>
          <a:prstGeom prst="ellipse">
            <a:avLst/>
          </a:prstGeom>
          <a:solidFill>
            <a:srgbClr val="13131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58968" y="33375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because we can doesn't mean we should: </a:t>
            </a:r>
            <a:pPr indent="0" marL="0">
              <a:buNone/>
            </a:pPr>
            <a:r>
              <a:rPr lang="en-US" sz="15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is cheap, judgment is the job.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RESET IS </a:t>
            </a:r>
            <a:pPr indent="0" marL="0">
              <a:buNone/>
            </a:pPr>
            <a:r>
              <a:rPr lang="en-US" sz="2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HERE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5B4F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2025 grads secured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job in their field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352044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41% in 2024.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career ladder's first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is disappearing.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CNBC / Cengage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5B4FE5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600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3400" y="21488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343400" y="2971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in new grad hiring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Big Tech since 2019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3886200"/>
            <a:ext cx="352044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402336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postings down 35%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2023. AI automates the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juniors used to learn 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43400" y="5212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SignalFire / Revelio Labs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160020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5B4FE5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1600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LIFE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21488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046720" y="2971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2025 seniors feel pessimistic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their career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886200"/>
            <a:ext cx="352044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402336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of Class of 2023 were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underemployed a year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graduation.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5212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/ Burning Glass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rung of career ladder is disappearing. The question is what replaces it.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HERE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89320" y="5605272"/>
            <a:ext cx="777240" cy="566928"/>
          </a:xfrm>
          <a:prstGeom prst="rect">
            <a:avLst/>
          </a:prstGeom>
          <a:ln w="31750">
            <a:solidFill>
              <a:srgbClr val="5B4F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5038344"/>
            <a:ext cx="777240" cy="1133856"/>
          </a:xfrm>
          <a:prstGeom prst="rect">
            <a:avLst/>
          </a:prstGeom>
          <a:ln w="31750">
            <a:solidFill>
              <a:srgbClr val="5B4F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4471416"/>
            <a:ext cx="777240" cy="1700784"/>
          </a:xfrm>
          <a:prstGeom prst="rect">
            <a:avLst/>
          </a:prstGeom>
          <a:ln w="31750">
            <a:solidFill>
              <a:srgbClr val="5B4F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3904488"/>
            <a:ext cx="777240" cy="2267712"/>
          </a:xfrm>
          <a:prstGeom prst="rect">
            <a:avLst/>
          </a:prstGeom>
          <a:ln w="31750">
            <a:solidFill>
              <a:srgbClr val="5B4F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3337560"/>
            <a:ext cx="777240" cy="2834640"/>
          </a:xfrm>
          <a:prstGeom prst="rect">
            <a:avLst/>
          </a:prstGeom>
          <a:ln w="31750">
            <a:solidFill>
              <a:srgbClr val="5B4F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487668" y="5038344"/>
            <a:ext cx="694944" cy="566928"/>
          </a:xfrm>
          <a:prstGeom prst="line">
            <a:avLst/>
          </a:prstGeom>
          <a:noFill/>
          <a:ln w="25400">
            <a:solidFill>
              <a:srgbClr val="4A3FC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7402068" y="4471416"/>
            <a:ext cx="694944" cy="566928"/>
          </a:xfrm>
          <a:prstGeom prst="line">
            <a:avLst/>
          </a:prstGeom>
          <a:noFill/>
          <a:ln w="25400">
            <a:solidFill>
              <a:srgbClr val="4A3FC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8316468" y="3904488"/>
            <a:ext cx="694944" cy="566928"/>
          </a:xfrm>
          <a:prstGeom prst="line">
            <a:avLst/>
          </a:prstGeom>
          <a:noFill/>
          <a:ln w="25400">
            <a:solidFill>
              <a:srgbClr val="4A3FC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9230868" y="3337560"/>
            <a:ext cx="694944" cy="566928"/>
          </a:xfrm>
          <a:prstGeom prst="line">
            <a:avLst/>
          </a:prstGeom>
          <a:noFill/>
          <a:ln w="25400">
            <a:solidFill>
              <a:srgbClr val="4A3FC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246120" y="52852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KNOW</a:t>
            </a:r>
            <a:endParaRPr lang="en-US" sz="1500" dirty="0"/>
          </a:p>
          <a:p>
            <a:pPr algn="r" indent="0" marL="0">
              <a:buNone/>
            </a:pPr>
            <a:r>
              <a:rPr lang="en-US" sz="1500" b="1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MATTERS."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423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"WE'VE REDESIGNED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WORK."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612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WORK.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AUTOMATING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DYSFUNCTION.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TO NEXT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IS NO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WHAT CAN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DO WE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WORK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AI?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223760" y="1188720"/>
            <a:ext cx="4297680" cy="4846320"/>
          </a:xfrm>
          <a:prstGeom prst="rect">
            <a:avLst/>
          </a:prstGeom>
          <a:solidFill>
            <a:srgbClr val="13131F"/>
          </a:solidFill>
          <a:ln/>
        </p:spPr>
      </p:sp>
      <p:sp>
        <p:nvSpPr>
          <p:cNvPr id="8" name="Shape 6"/>
          <p:cNvSpPr/>
          <p:nvPr/>
        </p:nvSpPr>
        <p:spPr>
          <a:xfrm>
            <a:off x="8549640" y="2651760"/>
            <a:ext cx="1645920" cy="1645920"/>
          </a:xfrm>
          <a:prstGeom prst="ellipse">
            <a:avLst/>
          </a:prstGeom>
          <a:solidFill>
            <a:srgbClr val="2A2A45"/>
          </a:solidFill>
          <a:ln/>
        </p:spPr>
      </p:sp>
      <p:sp>
        <p:nvSpPr>
          <p:cNvPr id="9" name="Shape 7"/>
          <p:cNvSpPr/>
          <p:nvPr/>
        </p:nvSpPr>
        <p:spPr>
          <a:xfrm>
            <a:off x="9052560" y="3108960"/>
            <a:ext cx="228600" cy="22860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4754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MACHINE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WORK IS NOT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VS.</a:t>
            </a:r>
            <a:endParaRPr lang="en-US" sz="3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WORK 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7223760" y="1188720"/>
            <a:ext cx="4297680" cy="48463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347472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1" name="Shape 9"/>
          <p:cNvSpPr/>
          <p:nvPr/>
        </p:nvSpPr>
        <p:spPr>
          <a:xfrm>
            <a:off x="7818120" y="3886200"/>
            <a:ext cx="228600" cy="822960"/>
          </a:xfrm>
          <a:prstGeom prst="roundRect">
            <a:avLst>
              <a:gd name="adj" fmla="val 32000"/>
            </a:avLst>
          </a:prstGeom>
          <a:solidFill>
            <a:srgbClr val="5B4FE5"/>
          </a:solidFill>
          <a:ln/>
        </p:spPr>
      </p:sp>
      <p:sp>
        <p:nvSpPr>
          <p:cNvPr id="12" name="Shape 10"/>
          <p:cNvSpPr/>
          <p:nvPr/>
        </p:nvSpPr>
        <p:spPr>
          <a:xfrm>
            <a:off x="8549640" y="356616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3886200"/>
            <a:ext cx="228600" cy="822960"/>
          </a:xfrm>
          <a:prstGeom prst="roundRect">
            <a:avLst>
              <a:gd name="adj" fmla="val 32000"/>
            </a:avLst>
          </a:prstGeom>
          <a:solidFill>
            <a:srgbClr val="5B4FE5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0" y="347472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3886200"/>
            <a:ext cx="228600" cy="822960"/>
          </a:xfrm>
          <a:prstGeom prst="roundRect">
            <a:avLst>
              <a:gd name="adj" fmla="val 32000"/>
            </a:avLst>
          </a:prstGeom>
          <a:solidFill>
            <a:srgbClr val="5B4FE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04120" y="3566160"/>
            <a:ext cx="320040" cy="3200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49840" y="3886200"/>
            <a:ext cx="228600" cy="822960"/>
          </a:xfrm>
          <a:prstGeom prst="roundRect">
            <a:avLst>
              <a:gd name="adj" fmla="val 32000"/>
            </a:avLst>
          </a:prstGeom>
          <a:solidFill>
            <a:srgbClr val="5B4FE5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REPLACE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WHO USE AI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HUMANS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DON'T.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6217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MUST BE
DESIGNED ACROSS
</a:t>
            </a:r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HANDS, HEADS &amp;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418320" y="1280160"/>
            <a:ext cx="0" cy="14630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0" y="2743200"/>
            <a:ext cx="1005840" cy="1097280"/>
          </a:xfrm>
          <a:prstGeom prst="ellipse">
            <a:avLst/>
          </a:prstGeom>
          <a:solidFill>
            <a:srgbClr val="F4C542"/>
          </a:solidFill>
          <a:ln/>
        </p:spPr>
      </p:sp>
      <p:sp>
        <p:nvSpPr>
          <p:cNvPr id="8" name="Shape 6"/>
          <p:cNvSpPr/>
          <p:nvPr/>
        </p:nvSpPr>
        <p:spPr>
          <a:xfrm>
            <a:off x="9098280" y="3749040"/>
            <a:ext cx="640080" cy="274320"/>
          </a:xfrm>
          <a:prstGeom prst="rect">
            <a:avLst/>
          </a:prstGeom>
          <a:solidFill>
            <a:srgbClr val="555555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HANDS, HEADS, HEARTS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194560" y="2743200"/>
            <a:ext cx="1097280" cy="1097280"/>
          </a:xfrm>
          <a:prstGeom prst="ellipse">
            <a:avLst/>
          </a:prstGeom>
          <a:solidFill>
            <a:srgbClr val="E7E6F5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2743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B4FE5"/>
                </a:solidFill>
              </a:rPr>
              <a:t>✎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2743200"/>
            <a:ext cx="1097280" cy="1097280"/>
          </a:xfrm>
          <a:prstGeom prst="ellipse">
            <a:avLst/>
          </a:prstGeom>
          <a:solidFill>
            <a:srgbClr val="E7E6F5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2743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B4FE5"/>
                </a:solidFill>
              </a:rPr>
              <a:t>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480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09760" y="2743200"/>
            <a:ext cx="1097280" cy="1097280"/>
          </a:xfrm>
          <a:prstGeom prst="ellipse">
            <a:avLst/>
          </a:prstGeom>
          <a:solidFill>
            <a:srgbClr val="E7E6F5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2743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B4FE5"/>
                </a:solidFill>
              </a:rPr>
              <a:t>♥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4023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4480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NOT ON MVP... INSTEAD FOCUS on MLP: Most Lovable Proposition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RESETS AI FORCES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MINDSET: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control to trust, from certainty to experimentation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HEARTSET: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compliance to co-creation, from fear to transparency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64261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SKILLSET: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knowing answers to learning continuously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0954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TOOLSET: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tools leading to humans leading (tools serve)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4SET MODEL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4800600"/>
            <a:ext cx="2743200" cy="777240"/>
          </a:xfrm>
          <a:prstGeom prst="chevron">
            <a:avLst/>
          </a:prstGeom>
          <a:solidFill>
            <a:srgbClr val="4A3FC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800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4800600"/>
            <a:ext cx="2743200" cy="777240"/>
          </a:xfrm>
          <a:prstGeom prst="chevron">
            <a:avLst/>
          </a:prstGeom>
          <a:solidFill>
            <a:srgbClr val="5B4FE5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4800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4800600"/>
            <a:ext cx="2743200" cy="777240"/>
          </a:xfrm>
          <a:prstGeom prst="chevron">
            <a:avLst/>
          </a:prstGeom>
          <a:solidFill>
            <a:srgbClr val="7B71EC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4800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58200" y="4800600"/>
            <a:ext cx="2743200" cy="777240"/>
          </a:xfrm>
          <a:prstGeom prst="chevron">
            <a:avLst/>
          </a:prstGeom>
          <a:solidFill>
            <a:srgbClr val="9B93F1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4800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TOOLSET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49640" y="1828800"/>
            <a:ext cx="640080" cy="64008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2331720"/>
            <a:ext cx="640080" cy="640080"/>
          </a:xfrm>
          <a:prstGeom prst="ellipse">
            <a:avLst/>
          </a:prstGeom>
          <a:solidFill>
            <a:srgbClr val="D9D5F5"/>
          </a:solidFill>
          <a:ln/>
        </p:spPr>
      </p:sp>
      <p:sp>
        <p:nvSpPr>
          <p:cNvPr id="9" name="Shape 7"/>
          <p:cNvSpPr/>
          <p:nvPr/>
        </p:nvSpPr>
        <p:spPr>
          <a:xfrm>
            <a:off x="9052560" y="2331720"/>
            <a:ext cx="640080" cy="640080"/>
          </a:xfrm>
          <a:prstGeom prst="ellipse">
            <a:avLst/>
          </a:prstGeom>
          <a:solidFill>
            <a:srgbClr val="D9D5F5"/>
          </a:solidFill>
          <a:ln/>
        </p:spPr>
      </p:sp>
      <p:sp>
        <p:nvSpPr>
          <p:cNvPr id="10" name="Shape 8"/>
          <p:cNvSpPr/>
          <p:nvPr/>
        </p:nvSpPr>
        <p:spPr>
          <a:xfrm>
            <a:off x="7543800" y="2834640"/>
            <a:ext cx="640080" cy="640080"/>
          </a:xfrm>
          <a:prstGeom prst="ellipse">
            <a:avLst/>
          </a:prstGeom>
          <a:solidFill>
            <a:srgbClr val="D9D5F5"/>
          </a:solidFill>
          <a:ln/>
        </p:spPr>
      </p:sp>
      <p:sp>
        <p:nvSpPr>
          <p:cNvPr id="11" name="Shape 9"/>
          <p:cNvSpPr/>
          <p:nvPr/>
        </p:nvSpPr>
        <p:spPr>
          <a:xfrm>
            <a:off x="8549640" y="2834640"/>
            <a:ext cx="640080" cy="640080"/>
          </a:xfrm>
          <a:prstGeom prst="ellipse">
            <a:avLst/>
          </a:prstGeom>
          <a:solidFill>
            <a:srgbClr val="D9D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9555480" y="2834640"/>
            <a:ext cx="640080" cy="640080"/>
          </a:xfrm>
          <a:prstGeom prst="ellipse">
            <a:avLst/>
          </a:prstGeom>
          <a:solidFill>
            <a:srgbClr val="D9D5F5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MINDSET SHIFTS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0" y="1600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585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22585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25856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91693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291693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291693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35753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35753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2336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EXPERTISE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42336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423367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INTELLIGENCE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PLAYBOOK WON'T WORK IN A NEW WORLD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HEARTSET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394960" cy="48463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463040"/>
            <a:ext cx="457200" cy="1463040"/>
          </a:xfrm>
          <a:prstGeom prst="roundRect">
            <a:avLst>
              <a:gd name="adj" fmla="val 30000"/>
            </a:avLst>
          </a:prstGeom>
          <a:solidFill>
            <a:srgbClr val="8C7BE8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0" y="1463040"/>
            <a:ext cx="457200" cy="1463040"/>
          </a:xfrm>
          <a:prstGeom prst="roundRect">
            <a:avLst>
              <a:gd name="adj" fmla="val 30000"/>
            </a:avLst>
          </a:prstGeom>
          <a:solidFill>
            <a:srgbClr val="B8AEF0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1463040"/>
            <a:ext cx="457200" cy="1463040"/>
          </a:xfrm>
          <a:prstGeom prst="roundRect">
            <a:avLst>
              <a:gd name="adj" fmla="val 30000"/>
            </a:avLst>
          </a:prstGeom>
          <a:solidFill>
            <a:srgbClr val="D9D5F5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0" y="1463040"/>
            <a:ext cx="457200" cy="1463040"/>
          </a:xfrm>
          <a:prstGeom prst="roundRect">
            <a:avLst>
              <a:gd name="adj" fmla="val 30000"/>
            </a:avLst>
          </a:prstGeom>
          <a:solidFill>
            <a:srgbClr val="8C7BE8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5623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IN PROGRESS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TO NEXT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ISN'T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ENEMY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STRATEGY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TO NEXT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29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MINDSET SHIFT · 2026+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mindsets for </a:t>
            </a:r>
            <a:pPr indent="0" marL="0">
              <a:buNone/>
            </a:pPr>
            <a:r>
              <a:rPr lang="en-US" sz="2600" b="1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change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88136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574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33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95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856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a project team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61688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616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overcome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20574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7E6F5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633472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7E6F5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2633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job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560" y="3209544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7E6F5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32095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52560" y="3785616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7E6F5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37856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culture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52560" y="4361688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7E6F5"/>
          </a:solidFill>
          <a:ln/>
        </p:spPr>
      </p:sp>
      <p:sp>
        <p:nvSpPr>
          <p:cNvPr id="27" name="Text 25"/>
          <p:cNvSpPr/>
          <p:nvPr/>
        </p:nvSpPr>
        <p:spPr>
          <a:xfrm>
            <a:off x="9052560" y="43616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"done"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108960" y="3291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5806440" y="3520440"/>
            <a:ext cx="548640" cy="548640"/>
          </a:xfrm>
          <a:prstGeom prst="ellipse">
            <a:avLst/>
          </a:prstGeom>
          <a:solidFill>
            <a:srgbClr val="5B4FE5"/>
          </a:solidFill>
          <a:ln/>
        </p:spPr>
      </p:sp>
      <p:sp>
        <p:nvSpPr>
          <p:cNvPr id="30" name="Text 28"/>
          <p:cNvSpPr/>
          <p:nvPr/>
        </p:nvSpPr>
        <p:spPr>
          <a:xfrm>
            <a:off x="58064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7960" y="33375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CHANGEFULNESS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don't need better change programs: they need to become </a:t>
            </a:r>
            <a:pPr indent="0" marL="0">
              <a:buNone/>
            </a:pPr>
            <a:r>
              <a:rPr lang="en-US" sz="1300" b="1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changeful.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NOT THE SKILL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IS WORKFLOW REDESIGN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0352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60020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8C7BE8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210312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E27D7D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0" y="30632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6F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30632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2C2C4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30632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6E8FE0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40233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D9635F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484632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8C7BE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484632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6FC2AE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 WE DON'T 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IS REAL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workers are worried about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long-term career impact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43400" y="26060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343400" y="35661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 leaders expect to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workers with AI by end of 2026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0" y="26060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046720" y="35661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express low trust in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to use AI responsibly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isn't a weakness. It's a signal. </a:t>
            </a:r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who acknowledge it earn trust. Leaders who dismiss it lose their people.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WORKER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that make a knowledge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an AI-first world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520440" cy="1600200"/>
          </a:xfrm>
          <a:prstGeom prst="roundRect">
            <a:avLst>
              <a:gd name="adj" fmla="val 2857"/>
            </a:avLst>
          </a:prstGeom>
          <a:solidFill>
            <a:srgbClr val="EDED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judgment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override the machine.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3520440" cy="1600200"/>
          </a:xfrm>
          <a:prstGeom prst="roundRect">
            <a:avLst>
              <a:gd name="adj" fmla="val 2857"/>
            </a:avLst>
          </a:prstGeom>
          <a:solidFill>
            <a:srgbClr val="EDED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fluency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work really flows.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377440"/>
            <a:ext cx="3520440" cy="1600200"/>
          </a:xfrm>
          <a:prstGeom prst="roundRect">
            <a:avLst>
              <a:gd name="adj" fmla="val 2857"/>
            </a:avLst>
          </a:prstGeom>
          <a:solidFill>
            <a:srgbClr val="ED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craft &amp; iteration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Refine, constrain, pressure-test.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3520440" cy="1600200"/>
          </a:xfrm>
          <a:prstGeom prst="roundRect">
            <a:avLst>
              <a:gd name="adj" fmla="val 2857"/>
            </a:avLst>
          </a:prstGeom>
          <a:solidFill>
            <a:srgbClr val="ED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translation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shifts into language people adopt.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4160520"/>
            <a:ext cx="3520440" cy="1600200"/>
          </a:xfrm>
          <a:prstGeom prst="roundRect">
            <a:avLst>
              <a:gd name="adj" fmla="val 2857"/>
            </a:avLst>
          </a:prstGeom>
          <a:solidFill>
            <a:srgbClr val="EDEDED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4526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26280" y="50292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insight actionable, not just pretty.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4160520"/>
            <a:ext cx="3520440" cy="1600200"/>
          </a:xfrm>
          <a:prstGeom prst="roundRect">
            <a:avLst>
              <a:gd name="adj" fmla="val 2857"/>
            </a:avLst>
          </a:prstGeom>
          <a:solidFill>
            <a:srgbClr val="EDEDED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526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Relationship-led influence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0" y="50292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influence AI can't replace.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TOOLSET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COMES LAST,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FIRST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0" y="1463040"/>
            <a:ext cx="4297680" cy="4206240"/>
          </a:xfrm>
          <a:prstGeom prst="roundRect">
            <a:avLst>
              <a:gd name="adj" fmla="val 2174"/>
            </a:avLst>
          </a:prstGeom>
          <a:solidFill>
            <a:srgbClr val="1B2B2A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1920240"/>
            <a:ext cx="3566160" cy="0"/>
          </a:xfrm>
          <a:prstGeom prst="line">
            <a:avLst/>
          </a:prstGeom>
          <a:noFill/>
          <a:ln w="12700">
            <a:solidFill>
              <a:srgbClr val="3E5B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834640"/>
            <a:ext cx="3566160" cy="0"/>
          </a:xfrm>
          <a:prstGeom prst="line">
            <a:avLst/>
          </a:prstGeom>
          <a:noFill/>
          <a:ln w="12700">
            <a:solidFill>
              <a:srgbClr val="3E5B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3749040"/>
            <a:ext cx="3566160" cy="0"/>
          </a:xfrm>
          <a:prstGeom prst="line">
            <a:avLst/>
          </a:prstGeom>
          <a:noFill/>
          <a:ln w="12700">
            <a:solidFill>
              <a:srgbClr val="3E5B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4663440"/>
            <a:ext cx="3566160" cy="0"/>
          </a:xfrm>
          <a:prstGeom prst="line">
            <a:avLst/>
          </a:prstGeom>
          <a:noFill/>
          <a:ln w="12700">
            <a:solidFill>
              <a:srgbClr val="3E5B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737360"/>
            <a:ext cx="0" cy="3657600"/>
          </a:xfrm>
          <a:prstGeom prst="line">
            <a:avLst/>
          </a:prstGeom>
          <a:noFill/>
          <a:ln w="12700">
            <a:solidFill>
              <a:srgbClr val="3E5B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0" y="1737360"/>
            <a:ext cx="0" cy="3657600"/>
          </a:xfrm>
          <a:prstGeom prst="line">
            <a:avLst/>
          </a:prstGeom>
          <a:noFill/>
          <a:ln w="12700">
            <a:solidFill>
              <a:srgbClr val="3E5B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1737360"/>
            <a:ext cx="0" cy="3657600"/>
          </a:xfrm>
          <a:prstGeom prst="line">
            <a:avLst/>
          </a:prstGeom>
          <a:noFill/>
          <a:ln w="12700">
            <a:solidFill>
              <a:srgbClr val="3E5B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2834640"/>
            <a:ext cx="1005840" cy="1005840"/>
          </a:xfrm>
          <a:prstGeom prst="rect">
            <a:avLst/>
          </a:prstGeom>
          <a:solidFill>
            <a:srgbClr val="F4C542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TOOLSET: USE CASES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SELF-SERVICE, POLICY Q&amp;A, MANAGER COACHING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3832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DESCRIPTIONS, INTERNAL COMMS, TRAINING CONTENT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23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54480" y="4023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48056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PLANNING, ATTRITION PREDICTION, ENGAGEMENT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8813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120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54480" y="5120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577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APPS, CHATBOTS, WORKFLOW AUTOMATION, INTERNAL TOOLS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EDEDE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137160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E7E6F5"/>
          </a:solidFill>
          <a:ln w="19050">
            <a:solidFill>
              <a:srgbClr val="5B4F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You ask, it answers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Single turn, no memory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Generates text only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Lives in a browser tab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2788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You delegate, it executes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3291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Persistent memory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09360" y="3794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Takes action across apps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4297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Works autonomously 24/7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becomes a manager of AI agents.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DRAFT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OURS.</a:t>
            </a:r>
            <a:endParaRPr lang="en-US" sz="3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ISN'T COMING. IT'S HERE.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66751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CHANGE.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WHERE YOU'RE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NEXT,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ORGANIZATION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AS AN INDIVIDUAL.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3840480" cy="4206240"/>
          </a:xfrm>
          <a:prstGeom prst="rect">
            <a:avLst/>
          </a:prstGeom>
          <a:solidFill>
            <a:srgbClr val="13131F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4023360"/>
            <a:ext cx="822960" cy="1280160"/>
          </a:xfrm>
          <a:prstGeom prst="roundRect">
            <a:avLst>
              <a:gd name="adj" fmla="val 6667"/>
            </a:avLst>
          </a:prstGeom>
          <a:solidFill>
            <a:srgbClr val="2A2A45"/>
          </a:solidFill>
          <a:ln/>
        </p:spPr>
      </p:sp>
      <p:sp>
        <p:nvSpPr>
          <p:cNvPr id="9" name="Shape 7"/>
          <p:cNvSpPr/>
          <p:nvPr/>
        </p:nvSpPr>
        <p:spPr>
          <a:xfrm>
            <a:off x="8183880" y="3566160"/>
            <a:ext cx="365760" cy="365760"/>
          </a:xfrm>
          <a:prstGeom prst="ellipse">
            <a:avLst/>
          </a:prstGeom>
          <a:solidFill>
            <a:srgbClr val="3E3E5C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4023360"/>
            <a:ext cx="822960" cy="1280160"/>
          </a:xfrm>
          <a:prstGeom prst="roundRect">
            <a:avLst>
              <a:gd name="adj" fmla="val 6667"/>
            </a:avLst>
          </a:prstGeom>
          <a:solidFill>
            <a:srgbClr val="2A2A45"/>
          </a:solidFill>
          <a:ln/>
        </p:spPr>
      </p:sp>
      <p:sp>
        <p:nvSpPr>
          <p:cNvPr id="11" name="Shape 9"/>
          <p:cNvSpPr/>
          <p:nvPr/>
        </p:nvSpPr>
        <p:spPr>
          <a:xfrm>
            <a:off x="9281160" y="3566160"/>
            <a:ext cx="365760" cy="365760"/>
          </a:xfrm>
          <a:prstGeom prst="ellipse">
            <a:avLst/>
          </a:prstGeom>
          <a:solidFill>
            <a:srgbClr val="3E3E5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49840" y="4023360"/>
            <a:ext cx="822960" cy="1280160"/>
          </a:xfrm>
          <a:prstGeom prst="roundRect">
            <a:avLst>
              <a:gd name="adj" fmla="val 6667"/>
            </a:avLst>
          </a:prstGeom>
          <a:solidFill>
            <a:srgbClr val="2A2A4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78440" y="3566160"/>
            <a:ext cx="365760" cy="365760"/>
          </a:xfrm>
          <a:prstGeom prst="ellipse">
            <a:avLst/>
          </a:prstGeom>
          <a:solidFill>
            <a:srgbClr val="3E3E5C"/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0" y="1828800"/>
            <a:ext cx="1554480" cy="1005840"/>
          </a:xfrm>
          <a:prstGeom prst="rect">
            <a:avLst/>
          </a:prstGeom>
          <a:solidFill>
            <a:srgbClr val="2A2A45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6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504E"/>
          </a:solidFill>
          <a:ln/>
        </p:spPr>
      </p:sp>
      <p:sp>
        <p:nvSpPr>
          <p:cNvPr id="4" name="Text 2"/>
          <p:cNvSpPr/>
          <p:nvPr/>
        </p:nvSpPr>
        <p:spPr>
          <a:xfrm>
            <a:off x="7253935" y="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 |  38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05840" cy="0"/>
          </a:xfrm>
          <a:prstGeom prst="line">
            <a:avLst/>
          </a:prstGeom>
          <a:noFill/>
          <a:ln w="38100">
            <a:solidFill>
              <a:srgbClr val="5B4F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AVERBOOK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NOW TO NEXT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24688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74920" y="260604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5463540" y="260604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Shape 9"/>
          <p:cNvSpPr/>
          <p:nvPr/>
        </p:nvSpPr>
        <p:spPr>
          <a:xfrm>
            <a:off x="5657850" y="260604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46470" y="260604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Shape 11"/>
          <p:cNvSpPr/>
          <p:nvPr/>
        </p:nvSpPr>
        <p:spPr>
          <a:xfrm>
            <a:off x="6240780" y="260604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4920" y="280035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5269230" y="280035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0" y="280035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0780" y="280035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35090" y="280035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Shape 17"/>
          <p:cNvSpPr/>
          <p:nvPr/>
        </p:nvSpPr>
        <p:spPr>
          <a:xfrm>
            <a:off x="5269230" y="299466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Shape 18"/>
          <p:cNvSpPr/>
          <p:nvPr/>
        </p:nvSpPr>
        <p:spPr>
          <a:xfrm>
            <a:off x="5463540" y="299466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0" y="299466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Shape 20"/>
          <p:cNvSpPr/>
          <p:nvPr/>
        </p:nvSpPr>
        <p:spPr>
          <a:xfrm>
            <a:off x="6046470" y="299466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5090" y="299466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0" y="318897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5463540" y="318897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Shape 24"/>
          <p:cNvSpPr/>
          <p:nvPr/>
        </p:nvSpPr>
        <p:spPr>
          <a:xfrm>
            <a:off x="5657850" y="318897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Shape 25"/>
          <p:cNvSpPr/>
          <p:nvPr/>
        </p:nvSpPr>
        <p:spPr>
          <a:xfrm>
            <a:off x="6240780" y="318897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Shape 26"/>
          <p:cNvSpPr/>
          <p:nvPr/>
        </p:nvSpPr>
        <p:spPr>
          <a:xfrm>
            <a:off x="6435090" y="318897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Shape 27"/>
          <p:cNvSpPr/>
          <p:nvPr/>
        </p:nvSpPr>
        <p:spPr>
          <a:xfrm>
            <a:off x="5074920" y="338328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Shape 28"/>
          <p:cNvSpPr/>
          <p:nvPr/>
        </p:nvSpPr>
        <p:spPr>
          <a:xfrm>
            <a:off x="5269230" y="338328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Shape 29"/>
          <p:cNvSpPr/>
          <p:nvPr/>
        </p:nvSpPr>
        <p:spPr>
          <a:xfrm>
            <a:off x="5657850" y="338328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2" name="Shape 30"/>
          <p:cNvSpPr/>
          <p:nvPr/>
        </p:nvSpPr>
        <p:spPr>
          <a:xfrm>
            <a:off x="5852160" y="338328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Shape 31"/>
          <p:cNvSpPr/>
          <p:nvPr/>
        </p:nvSpPr>
        <p:spPr>
          <a:xfrm>
            <a:off x="6046470" y="338328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Shape 32"/>
          <p:cNvSpPr/>
          <p:nvPr/>
        </p:nvSpPr>
        <p:spPr>
          <a:xfrm>
            <a:off x="5463540" y="357759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Shape 33"/>
          <p:cNvSpPr/>
          <p:nvPr/>
        </p:nvSpPr>
        <p:spPr>
          <a:xfrm>
            <a:off x="6046470" y="357759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6" name="Shape 34"/>
          <p:cNvSpPr/>
          <p:nvPr/>
        </p:nvSpPr>
        <p:spPr>
          <a:xfrm>
            <a:off x="6240780" y="357759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7" name="Shape 35"/>
          <p:cNvSpPr/>
          <p:nvPr/>
        </p:nvSpPr>
        <p:spPr>
          <a:xfrm>
            <a:off x="6435090" y="357759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8" name="Shape 36"/>
          <p:cNvSpPr/>
          <p:nvPr/>
        </p:nvSpPr>
        <p:spPr>
          <a:xfrm>
            <a:off x="5074920" y="377190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Shape 37"/>
          <p:cNvSpPr/>
          <p:nvPr/>
        </p:nvSpPr>
        <p:spPr>
          <a:xfrm>
            <a:off x="5269230" y="377190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0" name="Shape 38"/>
          <p:cNvSpPr/>
          <p:nvPr/>
        </p:nvSpPr>
        <p:spPr>
          <a:xfrm>
            <a:off x="5463540" y="377190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1" name="Shape 39"/>
          <p:cNvSpPr/>
          <p:nvPr/>
        </p:nvSpPr>
        <p:spPr>
          <a:xfrm>
            <a:off x="5657850" y="377190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2" name="Shape 40"/>
          <p:cNvSpPr/>
          <p:nvPr/>
        </p:nvSpPr>
        <p:spPr>
          <a:xfrm>
            <a:off x="6046470" y="377190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3" name="Shape 41"/>
          <p:cNvSpPr/>
          <p:nvPr/>
        </p:nvSpPr>
        <p:spPr>
          <a:xfrm>
            <a:off x="5074920" y="396621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4" name="Shape 42"/>
          <p:cNvSpPr/>
          <p:nvPr/>
        </p:nvSpPr>
        <p:spPr>
          <a:xfrm>
            <a:off x="5657850" y="396621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5" name="Shape 43"/>
          <p:cNvSpPr/>
          <p:nvPr/>
        </p:nvSpPr>
        <p:spPr>
          <a:xfrm>
            <a:off x="5852160" y="396621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6" name="Shape 44"/>
          <p:cNvSpPr/>
          <p:nvPr/>
        </p:nvSpPr>
        <p:spPr>
          <a:xfrm>
            <a:off x="6240780" y="396621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7" name="Shape 45"/>
          <p:cNvSpPr/>
          <p:nvPr/>
        </p:nvSpPr>
        <p:spPr>
          <a:xfrm>
            <a:off x="6435090" y="3966210"/>
            <a:ext cx="178765" cy="17876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8" name="Text 46"/>
          <p:cNvSpPr/>
          <p:nvPr/>
        </p:nvSpPr>
        <p:spPr>
          <a:xfrm>
            <a:off x="704088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04088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LINKEDIN/SUBSTACK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2026-08-11T13:31:13Z</dcterms:created>
  <dcterms:modified xsi:type="dcterms:W3CDTF">2026-08-11T13:31:13Z</dcterms:modified>
</cp:coreProperties>
</file>