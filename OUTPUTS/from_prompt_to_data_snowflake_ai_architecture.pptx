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1.png"/><Relationship Id="rId3" Type="http://schemas.openxmlformats.org/officeDocument/2006/relationships/image" Target="../media/image-25-1.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image" Target="../media/image-32-1.png"/><Relationship Id="rId4" Type="http://schemas.openxmlformats.org/officeDocument/2006/relationships/image" Target="../media/image-32-1.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1.png"/><Relationship Id="rId3" Type="http://schemas.openxmlformats.org/officeDocument/2006/relationships/image" Target="../media/image-44-1.png"/><Relationship Id="rId4" Type="http://schemas.openxmlformats.org/officeDocument/2006/relationships/image" Target="../media/image-44-1.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1.png"/><Relationship Id="rId3" Type="http://schemas.openxmlformats.org/officeDocument/2006/relationships/image" Target="../media/image-49-1.png"/><Relationship Id="rId4" Type="http://schemas.openxmlformats.org/officeDocument/2006/relationships/image" Target="../media/image-49-1.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7699"/>
        </a:solidFill>
      </p:bgPr>
    </p:bg>
    <p:spTree>
      <p:nvGrpSpPr>
        <p:cNvPr id="1" name=""/>
        <p:cNvGrpSpPr/>
        <p:nvPr/>
      </p:nvGrpSpPr>
      <p:grpSpPr>
        <a:xfrm>
          <a:off x="0" y="0"/>
          <a:ext cx="0" cy="0"/>
          <a:chOff x="0" y="0"/>
          <a:chExt cx="0" cy="0"/>
        </a:xfrm>
      </p:grpSpPr>
      <p:sp>
        <p:nvSpPr>
          <p:cNvPr id="2" name="Shape 0"/>
          <p:cNvSpPr/>
          <p:nvPr/>
        </p:nvSpPr>
        <p:spPr>
          <a:xfrm>
            <a:off x="8183880" y="2194560"/>
            <a:ext cx="3474720" cy="3474720"/>
          </a:xfrm>
          <a:prstGeom prst="ellipse">
            <a:avLst/>
          </a:prstGeom>
          <a:ln w="13970">
            <a:solidFill>
              <a:srgbClr val="FFFFFF">
                <a:alpha val="70000"/>
              </a:srgbClr>
            </a:solidFill>
            <a:prstDash val="solid"/>
          </a:ln>
        </p:spPr>
      </p:sp>
      <p:sp>
        <p:nvSpPr>
          <p:cNvPr id="3" name="Shape 1"/>
          <p:cNvSpPr/>
          <p:nvPr/>
        </p:nvSpPr>
        <p:spPr>
          <a:xfrm>
            <a:off x="8549640" y="2560320"/>
            <a:ext cx="2743200" cy="2743200"/>
          </a:xfrm>
          <a:prstGeom prst="ellipse">
            <a:avLst/>
          </a:prstGeom>
          <a:ln w="13970">
            <a:solidFill>
              <a:srgbClr val="FFFFFF">
                <a:alpha val="58000"/>
              </a:srgbClr>
            </a:solidFill>
            <a:prstDash val="solid"/>
          </a:ln>
        </p:spPr>
      </p:sp>
      <p:sp>
        <p:nvSpPr>
          <p:cNvPr id="4" name="Shape 2"/>
          <p:cNvSpPr/>
          <p:nvPr/>
        </p:nvSpPr>
        <p:spPr>
          <a:xfrm>
            <a:off x="8961120" y="2971800"/>
            <a:ext cx="1920240" cy="1920240"/>
          </a:xfrm>
          <a:prstGeom prst="ellipse">
            <a:avLst/>
          </a:prstGeom>
          <a:ln w="13970">
            <a:solidFill>
              <a:srgbClr val="FFFFFF">
                <a:alpha val="46000"/>
              </a:srgbClr>
            </a:solidFill>
            <a:prstDash val="solid"/>
          </a:ln>
        </p:spPr>
      </p:sp>
      <p:sp>
        <p:nvSpPr>
          <p:cNvPr id="5" name="Shape 3"/>
          <p:cNvSpPr/>
          <p:nvPr/>
        </p:nvSpPr>
        <p:spPr>
          <a:xfrm>
            <a:off x="9354312" y="3364992"/>
            <a:ext cx="1133856" cy="1133856"/>
          </a:xfrm>
          <a:prstGeom prst="ellipse">
            <a:avLst/>
          </a:prstGeom>
          <a:ln w="13970">
            <a:solidFill>
              <a:srgbClr val="FFFFFF">
                <a:alpha val="34000"/>
              </a:srgbClr>
            </a:solidFill>
            <a:prstDash val="solid"/>
          </a:ln>
        </p:spPr>
      </p:sp>
      <p:sp>
        <p:nvSpPr>
          <p:cNvPr id="6" name="Shape 4"/>
          <p:cNvSpPr/>
          <p:nvPr/>
        </p:nvSpPr>
        <p:spPr>
          <a:xfrm>
            <a:off x="9537192" y="3547872"/>
            <a:ext cx="768096" cy="768096"/>
          </a:xfrm>
          <a:prstGeom prst="ellipse">
            <a:avLst/>
          </a:prstGeom>
          <a:ln w="13970">
            <a:solidFill>
              <a:srgbClr val="FFFFFF">
                <a:alpha val="22000"/>
              </a:srgbClr>
            </a:solidFill>
            <a:prstDash val="solid"/>
          </a:ln>
        </p:spPr>
      </p:sp>
      <p:sp>
        <p:nvSpPr>
          <p:cNvPr id="7" name="Shape 5"/>
          <p:cNvSpPr/>
          <p:nvPr/>
        </p:nvSpPr>
        <p:spPr>
          <a:xfrm>
            <a:off x="9610344" y="3621024"/>
            <a:ext cx="621792" cy="621792"/>
          </a:xfrm>
          <a:prstGeom prst="roundRect">
            <a:avLst>
              <a:gd name="adj" fmla="val 17647"/>
            </a:avLst>
          </a:prstGeom>
          <a:solidFill>
            <a:srgbClr val="FFFFFF">
              <a:alpha val="90000"/>
            </a:srgbClr>
          </a:solidFill>
          <a:ln/>
        </p:spPr>
      </p:sp>
      <p:pic>
        <p:nvPicPr>
          <p:cNvPr id="8" name="Image 0" descr="/home/claude/snowflake_deck/icons/database_slate.png">    </p:cNvPr>
          <p:cNvPicPr>
            <a:picLocks noChangeAspect="1"/>
          </p:cNvPicPr>
          <p:nvPr/>
        </p:nvPicPr>
        <p:blipFill>
          <a:blip r:embed="rId1"/>
          <a:stretch>
            <a:fillRect/>
          </a:stretch>
        </p:blipFill>
        <p:spPr>
          <a:xfrm>
            <a:off x="9720072" y="3730752"/>
            <a:ext cx="402336" cy="402336"/>
          </a:xfrm>
          <a:prstGeom prst="rect">
            <a:avLst/>
          </a:prstGeom>
        </p:spPr>
      </p:pic>
      <p:sp>
        <p:nvSpPr>
          <p:cNvPr id="9" name="Text 6"/>
          <p:cNvSpPr/>
          <p:nvPr/>
        </p:nvSpPr>
        <p:spPr>
          <a:xfrm>
            <a:off x="822960" y="1874520"/>
            <a:ext cx="8229600" cy="365760"/>
          </a:xfrm>
          <a:prstGeom prst="rect">
            <a:avLst/>
          </a:prstGeom>
          <a:noFill/>
          <a:ln/>
        </p:spPr>
        <p:txBody>
          <a:bodyPr wrap="square" rtlCol="0" anchor="ctr"/>
          <a:lstStyle/>
          <a:p>
            <a:pPr indent="0" marL="0">
              <a:buNone/>
            </a:pPr>
            <a:r>
              <a:rPr lang="en-US" sz="1300" b="1" spc="300" kern="0" dirty="0">
                <a:solidFill>
                  <a:srgbClr val="E9EFF8"/>
                </a:solidFill>
                <a:latin typeface="Calibri" pitchFamily="34" charset="0"/>
                <a:ea typeface="Calibri" pitchFamily="34" charset="-122"/>
                <a:cs typeface="Calibri" pitchFamily="34" charset="-120"/>
              </a:rPr>
              <a:t>ENTERPRISE ARCHITECTURE RESEARCH</a:t>
            </a:r>
            <a:endParaRPr lang="en-US" sz="1300" dirty="0"/>
          </a:p>
        </p:txBody>
      </p:sp>
      <p:sp>
        <p:nvSpPr>
          <p:cNvPr id="10" name="Text 7"/>
          <p:cNvSpPr/>
          <p:nvPr/>
        </p:nvSpPr>
        <p:spPr>
          <a:xfrm>
            <a:off x="777240" y="2286000"/>
            <a:ext cx="9509760"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From Prompt to Data</a:t>
            </a:r>
            <a:endParaRPr lang="en-US" sz="4600" dirty="0"/>
          </a:p>
        </p:txBody>
      </p:sp>
      <p:sp>
        <p:nvSpPr>
          <p:cNvPr id="11" name="Text 8"/>
          <p:cNvSpPr/>
          <p:nvPr/>
        </p:nvSpPr>
        <p:spPr>
          <a:xfrm>
            <a:off x="777240" y="3337560"/>
            <a:ext cx="7863840" cy="1143000"/>
          </a:xfrm>
          <a:prstGeom prst="rect">
            <a:avLst/>
          </a:prstGeom>
          <a:noFill/>
          <a:ln/>
        </p:spPr>
        <p:txBody>
          <a:bodyPr wrap="square" rtlCol="0" anchor="ctr"/>
          <a:lstStyle/>
          <a:p>
            <a:pPr indent="0" marL="0">
              <a:lnSpc>
                <a:spcPct val="125000"/>
              </a:lnSpc>
              <a:buNone/>
            </a:pPr>
            <a:r>
              <a:rPr lang="en-US" sz="1550" dirty="0">
                <a:solidFill>
                  <a:srgbClr val="FFFFFF"/>
                </a:solidFill>
                <a:latin typeface="Calibri" pitchFamily="34" charset="0"/>
                <a:ea typeface="Calibri" pitchFamily="34" charset="-122"/>
                <a:cs typeface="Calibri" pitchFamily="34" charset="-120"/>
              </a:rPr>
              <a:t>How a Snowflake AI Request Really Travels — Context, Semantic, and Data Layers for a Healthcare Enterprise Migrating from On-Premise to Snowflake + AWS</a:t>
            </a:r>
            <a:endParaRPr lang="en-US" sz="1550" dirty="0"/>
          </a:p>
        </p:txBody>
      </p:sp>
      <p:sp>
        <p:nvSpPr>
          <p:cNvPr id="12" name="Text 9"/>
          <p:cNvSpPr/>
          <p:nvPr/>
        </p:nvSpPr>
        <p:spPr>
          <a:xfrm>
            <a:off x="777240" y="6172200"/>
            <a:ext cx="9144000" cy="320040"/>
          </a:xfrm>
          <a:prstGeom prst="rect">
            <a:avLst/>
          </a:prstGeom>
          <a:noFill/>
          <a:ln/>
        </p:spPr>
        <p:txBody>
          <a:bodyPr wrap="square" rtlCol="0" anchor="ctr"/>
          <a:lstStyle/>
          <a:p>
            <a:pPr indent="0" marL="0">
              <a:buNone/>
            </a:pPr>
            <a:r>
              <a:rPr lang="en-US" sz="1050" spc="150" kern="0" dirty="0">
                <a:solidFill>
                  <a:srgbClr val="E9EFF8"/>
                </a:solidFill>
                <a:latin typeface="Calibri" pitchFamily="34" charset="0"/>
                <a:ea typeface="Calibri" pitchFamily="34" charset="-122"/>
                <a:cs typeface="Calibri" pitchFamily="34" charset="-120"/>
              </a:rPr>
              <a:t>SEPTEMBER 2026  •  SNOWFLAKE COWORK &amp; CORTEX AI  •  HEALTHCARE PAYER DATA PLATFORM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What This Research Answers, and How It Is Organized</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02920" y="1691640"/>
            <a:ext cx="5074920" cy="2148840"/>
          </a:xfrm>
          <a:prstGeom prst="roundRect">
            <a:avLst>
              <a:gd name="adj" fmla="val 3404"/>
            </a:avLst>
          </a:prstGeom>
          <a:solidFill>
            <a:srgbClr val="EAF0F8"/>
          </a:solidFill>
          <a:ln/>
        </p:spPr>
      </p:sp>
      <p:sp>
        <p:nvSpPr>
          <p:cNvPr id="7" name="Shape 5"/>
          <p:cNvSpPr/>
          <p:nvPr/>
        </p:nvSpPr>
        <p:spPr>
          <a:xfrm>
            <a:off x="704088" y="1892808"/>
            <a:ext cx="502920" cy="502920"/>
          </a:xfrm>
          <a:prstGeom prst="ellipse">
            <a:avLst/>
          </a:prstGeom>
          <a:solidFill>
            <a:srgbClr val="5C7699"/>
          </a:solidFill>
          <a:ln/>
        </p:spPr>
      </p:sp>
      <p:pic>
        <p:nvPicPr>
          <p:cNvPr id="8" name="Image 0" descr="/home/claude/snowflake_deck/icons/building_white.png">    </p:cNvPr>
          <p:cNvPicPr>
            <a:picLocks noChangeAspect="1"/>
          </p:cNvPicPr>
          <p:nvPr/>
        </p:nvPicPr>
        <p:blipFill>
          <a:blip r:embed="rId1"/>
          <a:stretch>
            <a:fillRect/>
          </a:stretch>
        </p:blipFill>
        <p:spPr>
          <a:xfrm>
            <a:off x="834847" y="2023567"/>
            <a:ext cx="241402" cy="241402"/>
          </a:xfrm>
          <a:prstGeom prst="rect">
            <a:avLst/>
          </a:prstGeom>
        </p:spPr>
      </p:pic>
      <p:sp>
        <p:nvSpPr>
          <p:cNvPr id="9" name="Text 6"/>
          <p:cNvSpPr/>
          <p:nvPr/>
        </p:nvSpPr>
        <p:spPr>
          <a:xfrm>
            <a:off x="1353312" y="18745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Business Case</a:t>
            </a:r>
            <a:endParaRPr lang="en-US" sz="1300" dirty="0"/>
          </a:p>
        </p:txBody>
      </p:sp>
      <p:sp>
        <p:nvSpPr>
          <p:cNvPr id="10" name="Text 7"/>
          <p:cNvSpPr/>
          <p:nvPr/>
        </p:nvSpPr>
        <p:spPr>
          <a:xfrm>
            <a:off x="704088" y="2505456"/>
            <a:ext cx="4672584" cy="11978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A healthcare company is migrating an on-premise, domain-siloed data platform to Snowflake, and its IT operations to AWS. How should the data be wired into one governed view?</a:t>
            </a:r>
            <a:endParaRPr lang="en-US" sz="1050" dirty="0"/>
          </a:p>
        </p:txBody>
      </p:sp>
      <p:sp>
        <p:nvSpPr>
          <p:cNvPr id="11" name="Shape 8"/>
          <p:cNvSpPr/>
          <p:nvPr/>
        </p:nvSpPr>
        <p:spPr>
          <a:xfrm>
            <a:off x="5897880" y="1691640"/>
            <a:ext cx="5074920" cy="2148840"/>
          </a:xfrm>
          <a:prstGeom prst="roundRect">
            <a:avLst>
              <a:gd name="adj" fmla="val 3404"/>
            </a:avLst>
          </a:prstGeom>
          <a:solidFill>
            <a:srgbClr val="EAF0F8"/>
          </a:solidFill>
          <a:ln/>
        </p:spPr>
      </p:sp>
      <p:sp>
        <p:nvSpPr>
          <p:cNvPr id="12" name="Shape 9"/>
          <p:cNvSpPr/>
          <p:nvPr/>
        </p:nvSpPr>
        <p:spPr>
          <a:xfrm>
            <a:off x="6099048" y="1892808"/>
            <a:ext cx="502920" cy="502920"/>
          </a:xfrm>
          <a:prstGeom prst="ellipse">
            <a:avLst/>
          </a:prstGeom>
          <a:solidFill>
            <a:srgbClr val="5C7699"/>
          </a:solidFill>
          <a:ln/>
        </p:spPr>
      </p:sp>
      <p:pic>
        <p:nvPicPr>
          <p:cNvPr id="13" name="Image 1" descr="/home/claude/snowflake_deck/icons/scaleBalanced_white.png">    </p:cNvPr>
          <p:cNvPicPr>
            <a:picLocks noChangeAspect="1"/>
          </p:cNvPicPr>
          <p:nvPr/>
        </p:nvPicPr>
        <p:blipFill>
          <a:blip r:embed="rId2"/>
          <a:stretch>
            <a:fillRect/>
          </a:stretch>
        </p:blipFill>
        <p:spPr>
          <a:xfrm>
            <a:off x="6229807" y="2023567"/>
            <a:ext cx="241402" cy="241402"/>
          </a:xfrm>
          <a:prstGeom prst="rect">
            <a:avLst/>
          </a:prstGeom>
        </p:spPr>
      </p:pic>
      <p:sp>
        <p:nvSpPr>
          <p:cNvPr id="14" name="Text 10"/>
          <p:cNvSpPr/>
          <p:nvPr/>
        </p:nvSpPr>
        <p:spPr>
          <a:xfrm>
            <a:off x="6748272" y="18745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Snowflake CoWork vs. AWS Bedrock/AgentCore</a:t>
            </a:r>
            <a:endParaRPr lang="en-US" sz="1300" dirty="0"/>
          </a:p>
        </p:txBody>
      </p:sp>
      <p:sp>
        <p:nvSpPr>
          <p:cNvPr id="15" name="Text 11"/>
          <p:cNvSpPr/>
          <p:nvPr/>
        </p:nvSpPr>
        <p:spPr>
          <a:xfrm>
            <a:off x="6099048" y="2505456"/>
            <a:ext cx="4672584" cy="11978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With AWS-native agent tooling available, where does Snowflake CoWork still add advantage for a company that is heavy on ad-hoc analytics?</a:t>
            </a:r>
            <a:endParaRPr lang="en-US" sz="1050" dirty="0"/>
          </a:p>
        </p:txBody>
      </p:sp>
      <p:sp>
        <p:nvSpPr>
          <p:cNvPr id="16" name="Shape 12"/>
          <p:cNvSpPr/>
          <p:nvPr/>
        </p:nvSpPr>
        <p:spPr>
          <a:xfrm>
            <a:off x="502920" y="4114800"/>
            <a:ext cx="5074920" cy="2148840"/>
          </a:xfrm>
          <a:prstGeom prst="roundRect">
            <a:avLst>
              <a:gd name="adj" fmla="val 3404"/>
            </a:avLst>
          </a:prstGeom>
          <a:solidFill>
            <a:srgbClr val="EAF0F8"/>
          </a:solidFill>
          <a:ln/>
        </p:spPr>
      </p:sp>
      <p:sp>
        <p:nvSpPr>
          <p:cNvPr id="17" name="Shape 13"/>
          <p:cNvSpPr/>
          <p:nvPr/>
        </p:nvSpPr>
        <p:spPr>
          <a:xfrm>
            <a:off x="704088" y="4315968"/>
            <a:ext cx="502920" cy="502920"/>
          </a:xfrm>
          <a:prstGeom prst="ellipse">
            <a:avLst/>
          </a:prstGeom>
          <a:solidFill>
            <a:srgbClr val="5C7699"/>
          </a:solidFill>
          <a:ln/>
        </p:spPr>
      </p:sp>
      <p:pic>
        <p:nvPicPr>
          <p:cNvPr id="18" name="Image 2" descr="/home/claude/snowflake_deck/icons/sitemap_white.png">    </p:cNvPr>
          <p:cNvPicPr>
            <a:picLocks noChangeAspect="1"/>
          </p:cNvPicPr>
          <p:nvPr/>
        </p:nvPicPr>
        <p:blipFill>
          <a:blip r:embed="rId3"/>
          <a:stretch>
            <a:fillRect/>
          </a:stretch>
        </p:blipFill>
        <p:spPr>
          <a:xfrm>
            <a:off x="834847" y="4446727"/>
            <a:ext cx="241402" cy="241402"/>
          </a:xfrm>
          <a:prstGeom prst="rect">
            <a:avLst/>
          </a:prstGeom>
        </p:spPr>
      </p:pic>
      <p:sp>
        <p:nvSpPr>
          <p:cNvPr id="19" name="Text 14"/>
          <p:cNvSpPr/>
          <p:nvPr/>
        </p:nvSpPr>
        <p:spPr>
          <a:xfrm>
            <a:off x="1353312" y="429768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Component-by-Component Deep Dive</a:t>
            </a:r>
            <a:endParaRPr lang="en-US" sz="1300" dirty="0"/>
          </a:p>
        </p:txBody>
      </p:sp>
      <p:sp>
        <p:nvSpPr>
          <p:cNvPr id="20" name="Text 15"/>
          <p:cNvSpPr/>
          <p:nvPr/>
        </p:nvSpPr>
        <p:spPr>
          <a:xfrm>
            <a:off x="704088" y="4928616"/>
            <a:ext cx="4672584" cy="11978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Bronze/silver/gold layers, entity relationships (group → member → provider/PCP → claims), and exactly how an AI prompt from Snowsight — versus a query from TOAD or DBeaver — routes through the context, semantic, and data layers.</a:t>
            </a:r>
            <a:endParaRPr lang="en-US" sz="1050" dirty="0"/>
          </a:p>
        </p:txBody>
      </p:sp>
      <p:sp>
        <p:nvSpPr>
          <p:cNvPr id="21" name="Shape 16"/>
          <p:cNvSpPr/>
          <p:nvPr/>
        </p:nvSpPr>
        <p:spPr>
          <a:xfrm>
            <a:off x="5897880" y="4114800"/>
            <a:ext cx="5074920" cy="2148840"/>
          </a:xfrm>
          <a:prstGeom prst="roundRect">
            <a:avLst>
              <a:gd name="adj" fmla="val 3404"/>
            </a:avLst>
          </a:prstGeom>
          <a:solidFill>
            <a:srgbClr val="EAF0F8"/>
          </a:solidFill>
          <a:ln/>
        </p:spPr>
      </p:sp>
      <p:sp>
        <p:nvSpPr>
          <p:cNvPr id="22" name="Shape 17"/>
          <p:cNvSpPr/>
          <p:nvPr/>
        </p:nvSpPr>
        <p:spPr>
          <a:xfrm>
            <a:off x="6099048" y="4315968"/>
            <a:ext cx="502920" cy="502920"/>
          </a:xfrm>
          <a:prstGeom prst="ellipse">
            <a:avLst/>
          </a:prstGeom>
          <a:solidFill>
            <a:srgbClr val="5C7699"/>
          </a:solidFill>
          <a:ln/>
        </p:spPr>
      </p:sp>
      <p:pic>
        <p:nvPicPr>
          <p:cNvPr id="23" name="Image 3" descr="/home/claude/snowflake_deck/icons/users_white.png">    </p:cNvPr>
          <p:cNvPicPr>
            <a:picLocks noChangeAspect="1"/>
          </p:cNvPicPr>
          <p:nvPr/>
        </p:nvPicPr>
        <p:blipFill>
          <a:blip r:embed="rId4"/>
          <a:stretch>
            <a:fillRect/>
          </a:stretch>
        </p:blipFill>
        <p:spPr>
          <a:xfrm>
            <a:off x="6229807" y="4446727"/>
            <a:ext cx="241402" cy="241402"/>
          </a:xfrm>
          <a:prstGeom prst="rect">
            <a:avLst/>
          </a:prstGeom>
        </p:spPr>
      </p:pic>
      <p:sp>
        <p:nvSpPr>
          <p:cNvPr id="24" name="Text 18"/>
          <p:cNvSpPr/>
          <p:nvPr/>
        </p:nvSpPr>
        <p:spPr>
          <a:xfrm>
            <a:off x="6748272" y="429768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Roles &amp; Governed Self-Service</a:t>
            </a:r>
            <a:endParaRPr lang="en-US" sz="1300" dirty="0"/>
          </a:p>
        </p:txBody>
      </p:sp>
      <p:sp>
        <p:nvSpPr>
          <p:cNvPr id="25" name="Text 19"/>
          <p:cNvSpPr/>
          <p:nvPr/>
        </p:nvSpPr>
        <p:spPr>
          <a:xfrm>
            <a:off x="6099048" y="4928616"/>
            <a:ext cx="4672584" cy="11978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Who in the software delivery organization owns each layer's artifacts, and whether a business user or analyst can safely run analysis directly from the CoWork workspace.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01</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The Business Case</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A domain-siloed on-premise healthcare data platform, migrating to Snowflake and AWS — and the unified data landscape that migration must produce.</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1 · MIGRATION SCOPE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Two Migrations at Once: Platform and Infrastructure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02920" y="1600200"/>
            <a:ext cx="5349240" cy="4114800"/>
          </a:xfrm>
          <a:prstGeom prst="roundRect">
            <a:avLst>
              <a:gd name="adj" fmla="val 1778"/>
            </a:avLst>
          </a:prstGeom>
          <a:solidFill>
            <a:srgbClr val="EAF0F8"/>
          </a:solidFill>
          <a:ln/>
        </p:spPr>
      </p:sp>
      <p:sp>
        <p:nvSpPr>
          <p:cNvPr id="7" name="Text 5"/>
          <p:cNvSpPr/>
          <p:nvPr/>
        </p:nvSpPr>
        <p:spPr>
          <a:xfrm>
            <a:off x="777240" y="1783080"/>
            <a:ext cx="4846320" cy="274320"/>
          </a:xfrm>
          <a:prstGeom prst="rect">
            <a:avLst/>
          </a:prstGeom>
          <a:noFill/>
          <a:ln/>
        </p:spPr>
        <p:txBody>
          <a:bodyPr wrap="square" rtlCol="0" anchor="ctr"/>
          <a:lstStyle/>
          <a:p>
            <a:pPr indent="0" marL="0">
              <a:buNone/>
            </a:pPr>
            <a:r>
              <a:rPr lang="en-US" sz="1150" b="1" spc="100" kern="0" dirty="0">
                <a:solidFill>
                  <a:srgbClr val="5C7699"/>
                </a:solidFill>
                <a:latin typeface="Calibri" pitchFamily="34" charset="0"/>
                <a:ea typeface="Calibri" pitchFamily="34" charset="-122"/>
                <a:cs typeface="Calibri" pitchFamily="34" charset="-120"/>
              </a:rPr>
              <a:t>FROM: ON-PREMISE TODAY</a:t>
            </a:r>
            <a:endParaRPr lang="en-US" sz="1150" dirty="0"/>
          </a:p>
        </p:txBody>
      </p:sp>
      <p:sp>
        <p:nvSpPr>
          <p:cNvPr id="8" name="Text 6"/>
          <p:cNvSpPr/>
          <p:nvPr/>
        </p:nvSpPr>
        <p:spPr>
          <a:xfrm>
            <a:off x="777240" y="2103120"/>
            <a:ext cx="4800600" cy="347472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A reasonably mature on-premise EDW consolidating data from every healthcare domain — enrollment, claims, provider, clinical, pharmacy, care management, finance.</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Domain data marts wired together manually; lineage and refresh cadence vary team to team.</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IT operations — compute, storage, networking, DR — run in company-owned data centers.</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Ad-hoc analysis performed through desktop SQL clients (TOAD, DBeaver) against replicated warehouse copies.</a:t>
            </a:r>
            <a:endParaRPr lang="en-US" sz="1200" dirty="0"/>
          </a:p>
        </p:txBody>
      </p:sp>
      <p:sp>
        <p:nvSpPr>
          <p:cNvPr id="9" name="Shape 7"/>
          <p:cNvSpPr/>
          <p:nvPr/>
        </p:nvSpPr>
        <p:spPr>
          <a:xfrm>
            <a:off x="6309360" y="1600200"/>
            <a:ext cx="5349240" cy="4114800"/>
          </a:xfrm>
          <a:prstGeom prst="roundRect">
            <a:avLst>
              <a:gd name="adj" fmla="val 1778"/>
            </a:avLst>
          </a:prstGeom>
          <a:solidFill>
            <a:srgbClr val="3A4556"/>
          </a:solidFill>
          <a:ln/>
        </p:spPr>
      </p:sp>
      <p:sp>
        <p:nvSpPr>
          <p:cNvPr id="10" name="Text 8"/>
          <p:cNvSpPr/>
          <p:nvPr/>
        </p:nvSpPr>
        <p:spPr>
          <a:xfrm>
            <a:off x="6583680" y="1783080"/>
            <a:ext cx="4846320" cy="274320"/>
          </a:xfrm>
          <a:prstGeom prst="rect">
            <a:avLst/>
          </a:prstGeom>
          <a:noFill/>
          <a:ln/>
        </p:spPr>
        <p:txBody>
          <a:bodyPr wrap="square" rtlCol="0" anchor="ctr"/>
          <a:lstStyle/>
          <a:p>
            <a:pPr indent="0" marL="0">
              <a:buNone/>
            </a:pPr>
            <a:r>
              <a:rPr lang="en-US" sz="1150" b="1" spc="100" kern="0" dirty="0">
                <a:solidFill>
                  <a:srgbClr val="E2A07E"/>
                </a:solidFill>
                <a:latin typeface="Calibri" pitchFamily="34" charset="0"/>
                <a:ea typeface="Calibri" pitchFamily="34" charset="-122"/>
                <a:cs typeface="Calibri" pitchFamily="34" charset="-120"/>
              </a:rPr>
              <a:t>TO: SNOWFLAKE + AWS</a:t>
            </a:r>
            <a:endParaRPr lang="en-US" sz="1150" dirty="0"/>
          </a:p>
        </p:txBody>
      </p:sp>
      <p:sp>
        <p:nvSpPr>
          <p:cNvPr id="11" name="Text 9"/>
          <p:cNvSpPr/>
          <p:nvPr/>
        </p:nvSpPr>
        <p:spPr>
          <a:xfrm>
            <a:off x="6583680" y="2103120"/>
            <a:ext cx="4800600" cy="347472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One governed Snowflake account holds curated, unified data for every domain — a single source of truth replacing the domain marts.</a:t>
            </a:r>
            <a:endParaRPr lang="en-US" sz="1200" dirty="0"/>
          </a:p>
          <a:p>
            <a:pPr marL="177800" indent="-177800">
              <a:lnSpc>
                <a:spcPct val="112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IT operations shift to AWS: compute and orchestration around the platform run cloud-native, while Snowflake itself runs its own multi-cloud compute/storage independent of the customer's AWS footprint.</a:t>
            </a:r>
            <a:endParaRPr lang="en-US" sz="1200" dirty="0"/>
          </a:p>
          <a:p>
            <a:pPr marL="177800" indent="-177800">
              <a:lnSpc>
                <a:spcPct val="112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Native Cortex AI and CoWork sit directly on top of governed data — no separate AI infrastructure to stand up.</a:t>
            </a:r>
            <a:endParaRPr lang="en-US" sz="1200" dirty="0"/>
          </a:p>
          <a:p>
            <a:pPr marL="177800" indent="-177800">
              <a:lnSpc>
                <a:spcPct val="112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Ad-hoc analysis becomes governed self-service: Snowsight, semantic views, and CoWork alongside — not instead of — existing SQL clients.</a:t>
            </a:r>
            <a:endParaRPr lang="en-US" sz="1200" dirty="0"/>
          </a:p>
        </p:txBody>
      </p:sp>
      <p:sp>
        <p:nvSpPr>
          <p:cNvPr id="12" name="Shape 10"/>
          <p:cNvSpPr/>
          <p:nvPr/>
        </p:nvSpPr>
        <p:spPr>
          <a:xfrm>
            <a:off x="502920" y="5897880"/>
            <a:ext cx="11185855" cy="502920"/>
          </a:xfrm>
          <a:prstGeom prst="roundRect">
            <a:avLst>
              <a:gd name="adj" fmla="val 14545"/>
            </a:avLst>
          </a:prstGeom>
          <a:solidFill>
            <a:srgbClr val="FBEEE6"/>
          </a:solidFill>
          <a:ln/>
        </p:spPr>
      </p:sp>
      <p:sp>
        <p:nvSpPr>
          <p:cNvPr id="13" name="Text 11"/>
          <p:cNvSpPr/>
          <p:nvPr/>
        </p:nvSpPr>
        <p:spPr>
          <a:xfrm>
            <a:off x="777240" y="5897880"/>
            <a:ext cx="10637215" cy="50292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The two migrations are coupled: a unified data landscape is the prerequisite for any AI layer, agentic or otherwise, to be trustworthy.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1 · CURRENT STATE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Healthcare Data Domain Landscape, Today</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02920" y="1691640"/>
            <a:ext cx="2542032" cy="1874520"/>
          </a:xfrm>
          <a:prstGeom prst="roundRect">
            <a:avLst>
              <a:gd name="adj" fmla="val 3902"/>
            </a:avLst>
          </a:prstGeom>
          <a:solidFill>
            <a:srgbClr val="EAF0F8"/>
          </a:solidFill>
          <a:ln/>
        </p:spPr>
      </p:sp>
      <p:sp>
        <p:nvSpPr>
          <p:cNvPr id="7" name="Shape 5"/>
          <p:cNvSpPr/>
          <p:nvPr/>
        </p:nvSpPr>
        <p:spPr>
          <a:xfrm>
            <a:off x="685800" y="1874520"/>
            <a:ext cx="420624" cy="420624"/>
          </a:xfrm>
          <a:prstGeom prst="ellipse">
            <a:avLst/>
          </a:prstGeom>
          <a:solidFill>
            <a:srgbClr val="5C7699"/>
          </a:solidFill>
          <a:ln/>
        </p:spPr>
      </p:sp>
      <p:pic>
        <p:nvPicPr>
          <p:cNvPr id="8" name="Image 0" descr="/home/claude/snowflake_deck/icons/idCard_white.png">    </p:cNvPr>
          <p:cNvPicPr>
            <a:picLocks noChangeAspect="1"/>
          </p:cNvPicPr>
          <p:nvPr/>
        </p:nvPicPr>
        <p:blipFill>
          <a:blip r:embed="rId1"/>
          <a:stretch>
            <a:fillRect/>
          </a:stretch>
        </p:blipFill>
        <p:spPr>
          <a:xfrm>
            <a:off x="795162" y="1983882"/>
            <a:ext cx="201900" cy="201900"/>
          </a:xfrm>
          <a:prstGeom prst="rect">
            <a:avLst/>
          </a:prstGeom>
        </p:spPr>
      </p:pic>
      <p:sp>
        <p:nvSpPr>
          <p:cNvPr id="9" name="Text 6"/>
          <p:cNvSpPr/>
          <p:nvPr/>
        </p:nvSpPr>
        <p:spPr>
          <a:xfrm>
            <a:off x="667512" y="2404872"/>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Enrollment</a:t>
            </a:r>
            <a:endParaRPr lang="en-US" sz="1250" dirty="0"/>
          </a:p>
        </p:txBody>
      </p:sp>
      <p:sp>
        <p:nvSpPr>
          <p:cNvPr id="10" name="Text 7"/>
          <p:cNvSpPr/>
          <p:nvPr/>
        </p:nvSpPr>
        <p:spPr>
          <a:xfrm>
            <a:off x="667512" y="2697480"/>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Group &amp; member enrollment, eligibility, benefit plans</a:t>
            </a:r>
            <a:endParaRPr lang="en-US" sz="950" dirty="0"/>
          </a:p>
        </p:txBody>
      </p:sp>
      <p:sp>
        <p:nvSpPr>
          <p:cNvPr id="11" name="Shape 8"/>
          <p:cNvSpPr/>
          <p:nvPr/>
        </p:nvSpPr>
        <p:spPr>
          <a:xfrm>
            <a:off x="3209544" y="1691640"/>
            <a:ext cx="2542032" cy="1874520"/>
          </a:xfrm>
          <a:prstGeom prst="roundRect">
            <a:avLst>
              <a:gd name="adj" fmla="val 3902"/>
            </a:avLst>
          </a:prstGeom>
          <a:solidFill>
            <a:srgbClr val="EAF0F8"/>
          </a:solidFill>
          <a:ln/>
        </p:spPr>
      </p:sp>
      <p:sp>
        <p:nvSpPr>
          <p:cNvPr id="12" name="Shape 9"/>
          <p:cNvSpPr/>
          <p:nvPr/>
        </p:nvSpPr>
        <p:spPr>
          <a:xfrm>
            <a:off x="3392424" y="1874520"/>
            <a:ext cx="420624" cy="420624"/>
          </a:xfrm>
          <a:prstGeom prst="ellipse">
            <a:avLst/>
          </a:prstGeom>
          <a:solidFill>
            <a:srgbClr val="5C7699"/>
          </a:solidFill>
          <a:ln/>
        </p:spPr>
      </p:sp>
      <p:pic>
        <p:nvPicPr>
          <p:cNvPr id="13" name="Image 1" descr="/home/claude/snowflake_deck/icons/fileMedical_white.png">    </p:cNvPr>
          <p:cNvPicPr>
            <a:picLocks noChangeAspect="1"/>
          </p:cNvPicPr>
          <p:nvPr/>
        </p:nvPicPr>
        <p:blipFill>
          <a:blip r:embed="rId2"/>
          <a:stretch>
            <a:fillRect/>
          </a:stretch>
        </p:blipFill>
        <p:spPr>
          <a:xfrm>
            <a:off x="3501786" y="1983882"/>
            <a:ext cx="201900" cy="201900"/>
          </a:xfrm>
          <a:prstGeom prst="rect">
            <a:avLst/>
          </a:prstGeom>
        </p:spPr>
      </p:pic>
      <p:sp>
        <p:nvSpPr>
          <p:cNvPr id="14" name="Text 10"/>
          <p:cNvSpPr/>
          <p:nvPr/>
        </p:nvSpPr>
        <p:spPr>
          <a:xfrm>
            <a:off x="3374136" y="2404872"/>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Claims</a:t>
            </a:r>
            <a:endParaRPr lang="en-US" sz="1250" dirty="0"/>
          </a:p>
        </p:txBody>
      </p:sp>
      <p:sp>
        <p:nvSpPr>
          <p:cNvPr id="15" name="Text 11"/>
          <p:cNvSpPr/>
          <p:nvPr/>
        </p:nvSpPr>
        <p:spPr>
          <a:xfrm>
            <a:off x="3374136" y="2697480"/>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Medical, pharmacy, and dental claims — header &amp; line detail</a:t>
            </a:r>
            <a:endParaRPr lang="en-US" sz="950" dirty="0"/>
          </a:p>
        </p:txBody>
      </p:sp>
      <p:sp>
        <p:nvSpPr>
          <p:cNvPr id="16" name="Shape 12"/>
          <p:cNvSpPr/>
          <p:nvPr/>
        </p:nvSpPr>
        <p:spPr>
          <a:xfrm>
            <a:off x="5916168" y="1691640"/>
            <a:ext cx="2542032" cy="1874520"/>
          </a:xfrm>
          <a:prstGeom prst="roundRect">
            <a:avLst>
              <a:gd name="adj" fmla="val 3902"/>
            </a:avLst>
          </a:prstGeom>
          <a:solidFill>
            <a:srgbClr val="EAF0F8"/>
          </a:solidFill>
          <a:ln/>
        </p:spPr>
      </p:sp>
      <p:sp>
        <p:nvSpPr>
          <p:cNvPr id="17" name="Shape 13"/>
          <p:cNvSpPr/>
          <p:nvPr/>
        </p:nvSpPr>
        <p:spPr>
          <a:xfrm>
            <a:off x="6099048" y="1874520"/>
            <a:ext cx="420624" cy="420624"/>
          </a:xfrm>
          <a:prstGeom prst="ellipse">
            <a:avLst/>
          </a:prstGeom>
          <a:solidFill>
            <a:srgbClr val="5C7699"/>
          </a:solidFill>
          <a:ln/>
        </p:spPr>
      </p:sp>
      <p:pic>
        <p:nvPicPr>
          <p:cNvPr id="18" name="Image 2" descr="/home/claude/snowflake_deck/icons/userMd_white.png">    </p:cNvPr>
          <p:cNvPicPr>
            <a:picLocks noChangeAspect="1"/>
          </p:cNvPicPr>
          <p:nvPr/>
        </p:nvPicPr>
        <p:blipFill>
          <a:blip r:embed="rId3"/>
          <a:stretch>
            <a:fillRect/>
          </a:stretch>
        </p:blipFill>
        <p:spPr>
          <a:xfrm>
            <a:off x="6208410" y="1983882"/>
            <a:ext cx="201900" cy="201900"/>
          </a:xfrm>
          <a:prstGeom prst="rect">
            <a:avLst/>
          </a:prstGeom>
        </p:spPr>
      </p:pic>
      <p:sp>
        <p:nvSpPr>
          <p:cNvPr id="19" name="Text 14"/>
          <p:cNvSpPr/>
          <p:nvPr/>
        </p:nvSpPr>
        <p:spPr>
          <a:xfrm>
            <a:off x="6080760" y="2404872"/>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Provider</a:t>
            </a:r>
            <a:endParaRPr lang="en-US" sz="1250" dirty="0"/>
          </a:p>
        </p:txBody>
      </p:sp>
      <p:sp>
        <p:nvSpPr>
          <p:cNvPr id="20" name="Text 15"/>
          <p:cNvSpPr/>
          <p:nvPr/>
        </p:nvSpPr>
        <p:spPr>
          <a:xfrm>
            <a:off x="6080760" y="2697480"/>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Provider directory, network, PCP assignment, credentialing</a:t>
            </a:r>
            <a:endParaRPr lang="en-US" sz="950" dirty="0"/>
          </a:p>
        </p:txBody>
      </p:sp>
      <p:sp>
        <p:nvSpPr>
          <p:cNvPr id="21" name="Shape 16"/>
          <p:cNvSpPr/>
          <p:nvPr/>
        </p:nvSpPr>
        <p:spPr>
          <a:xfrm>
            <a:off x="8622792" y="1691640"/>
            <a:ext cx="2542032" cy="1874520"/>
          </a:xfrm>
          <a:prstGeom prst="roundRect">
            <a:avLst>
              <a:gd name="adj" fmla="val 3902"/>
            </a:avLst>
          </a:prstGeom>
          <a:solidFill>
            <a:srgbClr val="EAF0F8"/>
          </a:solidFill>
          <a:ln/>
        </p:spPr>
      </p:sp>
      <p:sp>
        <p:nvSpPr>
          <p:cNvPr id="22" name="Shape 17"/>
          <p:cNvSpPr/>
          <p:nvPr/>
        </p:nvSpPr>
        <p:spPr>
          <a:xfrm>
            <a:off x="8805672" y="1874520"/>
            <a:ext cx="420624" cy="420624"/>
          </a:xfrm>
          <a:prstGeom prst="ellipse">
            <a:avLst/>
          </a:prstGeom>
          <a:solidFill>
            <a:srgbClr val="5C7699"/>
          </a:solidFill>
          <a:ln/>
        </p:spPr>
      </p:sp>
      <p:pic>
        <p:nvPicPr>
          <p:cNvPr id="23" name="Image 3" descr="/home/claude/snowflake_deck/icons/heartbeat_white.png">    </p:cNvPr>
          <p:cNvPicPr>
            <a:picLocks noChangeAspect="1"/>
          </p:cNvPicPr>
          <p:nvPr/>
        </p:nvPicPr>
        <p:blipFill>
          <a:blip r:embed="rId4"/>
          <a:stretch>
            <a:fillRect/>
          </a:stretch>
        </p:blipFill>
        <p:spPr>
          <a:xfrm>
            <a:off x="8915034" y="1983882"/>
            <a:ext cx="201900" cy="201900"/>
          </a:xfrm>
          <a:prstGeom prst="rect">
            <a:avLst/>
          </a:prstGeom>
        </p:spPr>
      </p:pic>
      <p:sp>
        <p:nvSpPr>
          <p:cNvPr id="24" name="Text 18"/>
          <p:cNvSpPr/>
          <p:nvPr/>
        </p:nvSpPr>
        <p:spPr>
          <a:xfrm>
            <a:off x="8787384" y="2404872"/>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Clinical</a:t>
            </a:r>
            <a:endParaRPr lang="en-US" sz="1250" dirty="0"/>
          </a:p>
        </p:txBody>
      </p:sp>
      <p:sp>
        <p:nvSpPr>
          <p:cNvPr id="25" name="Text 19"/>
          <p:cNvSpPr/>
          <p:nvPr/>
        </p:nvSpPr>
        <p:spPr>
          <a:xfrm>
            <a:off x="8787384" y="2697480"/>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EHR extracts, labs, care gaps, quality measures</a:t>
            </a:r>
            <a:endParaRPr lang="en-US" sz="950" dirty="0"/>
          </a:p>
        </p:txBody>
      </p:sp>
      <p:sp>
        <p:nvSpPr>
          <p:cNvPr id="26" name="Shape 20"/>
          <p:cNvSpPr/>
          <p:nvPr/>
        </p:nvSpPr>
        <p:spPr>
          <a:xfrm>
            <a:off x="502920" y="3767328"/>
            <a:ext cx="2542032" cy="1874520"/>
          </a:xfrm>
          <a:prstGeom prst="roundRect">
            <a:avLst>
              <a:gd name="adj" fmla="val 3902"/>
            </a:avLst>
          </a:prstGeom>
          <a:solidFill>
            <a:srgbClr val="EAF0F8"/>
          </a:solidFill>
          <a:ln/>
        </p:spPr>
      </p:sp>
      <p:sp>
        <p:nvSpPr>
          <p:cNvPr id="27" name="Shape 21"/>
          <p:cNvSpPr/>
          <p:nvPr/>
        </p:nvSpPr>
        <p:spPr>
          <a:xfrm>
            <a:off x="685800" y="3950208"/>
            <a:ext cx="420624" cy="420624"/>
          </a:xfrm>
          <a:prstGeom prst="ellipse">
            <a:avLst/>
          </a:prstGeom>
          <a:solidFill>
            <a:srgbClr val="5C7699"/>
          </a:solidFill>
          <a:ln/>
        </p:spPr>
      </p:sp>
      <p:pic>
        <p:nvPicPr>
          <p:cNvPr id="28" name="Image 4" descr="/home/claude/snowflake_deck/icons/medkit_white.png">    </p:cNvPr>
          <p:cNvPicPr>
            <a:picLocks noChangeAspect="1"/>
          </p:cNvPicPr>
          <p:nvPr/>
        </p:nvPicPr>
        <p:blipFill>
          <a:blip r:embed="rId5"/>
          <a:stretch>
            <a:fillRect/>
          </a:stretch>
        </p:blipFill>
        <p:spPr>
          <a:xfrm>
            <a:off x="795162" y="4059570"/>
            <a:ext cx="201900" cy="201900"/>
          </a:xfrm>
          <a:prstGeom prst="rect">
            <a:avLst/>
          </a:prstGeom>
        </p:spPr>
      </p:pic>
      <p:sp>
        <p:nvSpPr>
          <p:cNvPr id="29" name="Text 22"/>
          <p:cNvSpPr/>
          <p:nvPr/>
        </p:nvSpPr>
        <p:spPr>
          <a:xfrm>
            <a:off x="667512" y="4480560"/>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Pharmacy</a:t>
            </a:r>
            <a:endParaRPr lang="en-US" sz="1250" dirty="0"/>
          </a:p>
        </p:txBody>
      </p:sp>
      <p:sp>
        <p:nvSpPr>
          <p:cNvPr id="30" name="Text 23"/>
          <p:cNvSpPr/>
          <p:nvPr/>
        </p:nvSpPr>
        <p:spPr>
          <a:xfrm>
            <a:off x="667512" y="4773168"/>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Formulary, prior authorization, PBM extracts</a:t>
            </a:r>
            <a:endParaRPr lang="en-US" sz="950" dirty="0"/>
          </a:p>
        </p:txBody>
      </p:sp>
      <p:sp>
        <p:nvSpPr>
          <p:cNvPr id="31" name="Shape 24"/>
          <p:cNvSpPr/>
          <p:nvPr/>
        </p:nvSpPr>
        <p:spPr>
          <a:xfrm>
            <a:off x="3209544" y="3767328"/>
            <a:ext cx="2542032" cy="1874520"/>
          </a:xfrm>
          <a:prstGeom prst="roundRect">
            <a:avLst>
              <a:gd name="adj" fmla="val 3902"/>
            </a:avLst>
          </a:prstGeom>
          <a:solidFill>
            <a:srgbClr val="EAF0F8"/>
          </a:solidFill>
          <a:ln/>
        </p:spPr>
      </p:sp>
      <p:sp>
        <p:nvSpPr>
          <p:cNvPr id="32" name="Shape 25"/>
          <p:cNvSpPr/>
          <p:nvPr/>
        </p:nvSpPr>
        <p:spPr>
          <a:xfrm>
            <a:off x="3392424" y="3950208"/>
            <a:ext cx="420624" cy="420624"/>
          </a:xfrm>
          <a:prstGeom prst="ellipse">
            <a:avLst/>
          </a:prstGeom>
          <a:solidFill>
            <a:srgbClr val="5C7699"/>
          </a:solidFill>
          <a:ln/>
        </p:spPr>
      </p:sp>
      <p:pic>
        <p:nvPicPr>
          <p:cNvPr id="33" name="Image 5" descr="/home/claude/snowflake_deck/icons/clipboard_white.png">    </p:cNvPr>
          <p:cNvPicPr>
            <a:picLocks noChangeAspect="1"/>
          </p:cNvPicPr>
          <p:nvPr/>
        </p:nvPicPr>
        <p:blipFill>
          <a:blip r:embed="rId6"/>
          <a:stretch>
            <a:fillRect/>
          </a:stretch>
        </p:blipFill>
        <p:spPr>
          <a:xfrm>
            <a:off x="3501786" y="4059570"/>
            <a:ext cx="201900" cy="201900"/>
          </a:xfrm>
          <a:prstGeom prst="rect">
            <a:avLst/>
          </a:prstGeom>
        </p:spPr>
      </p:pic>
      <p:sp>
        <p:nvSpPr>
          <p:cNvPr id="34" name="Text 26"/>
          <p:cNvSpPr/>
          <p:nvPr/>
        </p:nvSpPr>
        <p:spPr>
          <a:xfrm>
            <a:off x="3374136" y="4480560"/>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Care Management</a:t>
            </a:r>
            <a:endParaRPr lang="en-US" sz="1250" dirty="0"/>
          </a:p>
        </p:txBody>
      </p:sp>
      <p:sp>
        <p:nvSpPr>
          <p:cNvPr id="35" name="Text 27"/>
          <p:cNvSpPr/>
          <p:nvPr/>
        </p:nvSpPr>
        <p:spPr>
          <a:xfrm>
            <a:off x="3374136" y="4773168"/>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Case management, utilization review, care plans</a:t>
            </a:r>
            <a:endParaRPr lang="en-US" sz="950" dirty="0"/>
          </a:p>
        </p:txBody>
      </p:sp>
      <p:sp>
        <p:nvSpPr>
          <p:cNvPr id="36" name="Shape 28"/>
          <p:cNvSpPr/>
          <p:nvPr/>
        </p:nvSpPr>
        <p:spPr>
          <a:xfrm>
            <a:off x="5916168" y="3767328"/>
            <a:ext cx="2542032" cy="1874520"/>
          </a:xfrm>
          <a:prstGeom prst="roundRect">
            <a:avLst>
              <a:gd name="adj" fmla="val 3902"/>
            </a:avLst>
          </a:prstGeom>
          <a:solidFill>
            <a:srgbClr val="EAF0F8"/>
          </a:solidFill>
          <a:ln/>
        </p:spPr>
      </p:sp>
      <p:sp>
        <p:nvSpPr>
          <p:cNvPr id="37" name="Shape 29"/>
          <p:cNvSpPr/>
          <p:nvPr/>
        </p:nvSpPr>
        <p:spPr>
          <a:xfrm>
            <a:off x="6099048" y="3950208"/>
            <a:ext cx="420624" cy="420624"/>
          </a:xfrm>
          <a:prstGeom prst="ellipse">
            <a:avLst/>
          </a:prstGeom>
          <a:solidFill>
            <a:srgbClr val="5C7699"/>
          </a:solidFill>
          <a:ln/>
        </p:spPr>
      </p:sp>
      <p:pic>
        <p:nvPicPr>
          <p:cNvPr id="38" name="Image 6" descr="/home/claude/snowflake_deck/icons/fileInvoice_white.png">    </p:cNvPr>
          <p:cNvPicPr>
            <a:picLocks noChangeAspect="1"/>
          </p:cNvPicPr>
          <p:nvPr/>
        </p:nvPicPr>
        <p:blipFill>
          <a:blip r:embed="rId7"/>
          <a:stretch>
            <a:fillRect/>
          </a:stretch>
        </p:blipFill>
        <p:spPr>
          <a:xfrm>
            <a:off x="6208410" y="4059570"/>
            <a:ext cx="201900" cy="201900"/>
          </a:xfrm>
          <a:prstGeom prst="rect">
            <a:avLst/>
          </a:prstGeom>
        </p:spPr>
      </p:pic>
      <p:sp>
        <p:nvSpPr>
          <p:cNvPr id="39" name="Text 30"/>
          <p:cNvSpPr/>
          <p:nvPr/>
        </p:nvSpPr>
        <p:spPr>
          <a:xfrm>
            <a:off x="6080760" y="4480560"/>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Finance</a:t>
            </a:r>
            <a:endParaRPr lang="en-US" sz="1250" dirty="0"/>
          </a:p>
        </p:txBody>
      </p:sp>
      <p:sp>
        <p:nvSpPr>
          <p:cNvPr id="40" name="Text 31"/>
          <p:cNvSpPr/>
          <p:nvPr/>
        </p:nvSpPr>
        <p:spPr>
          <a:xfrm>
            <a:off x="6080760" y="4773168"/>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Premium, capitation, claims payment, reserves</a:t>
            </a:r>
            <a:endParaRPr lang="en-US" sz="950" dirty="0"/>
          </a:p>
        </p:txBody>
      </p:sp>
      <p:sp>
        <p:nvSpPr>
          <p:cNvPr id="41" name="Shape 32"/>
          <p:cNvSpPr/>
          <p:nvPr/>
        </p:nvSpPr>
        <p:spPr>
          <a:xfrm>
            <a:off x="8622792" y="3767328"/>
            <a:ext cx="2542032" cy="1874520"/>
          </a:xfrm>
          <a:prstGeom prst="roundRect">
            <a:avLst>
              <a:gd name="adj" fmla="val 3902"/>
            </a:avLst>
          </a:prstGeom>
          <a:solidFill>
            <a:srgbClr val="EAF0F8"/>
          </a:solidFill>
          <a:ln/>
        </p:spPr>
      </p:sp>
      <p:sp>
        <p:nvSpPr>
          <p:cNvPr id="42" name="Shape 33"/>
          <p:cNvSpPr/>
          <p:nvPr/>
        </p:nvSpPr>
        <p:spPr>
          <a:xfrm>
            <a:off x="8805672" y="3950208"/>
            <a:ext cx="420624" cy="420624"/>
          </a:xfrm>
          <a:prstGeom prst="ellipse">
            <a:avLst/>
          </a:prstGeom>
          <a:solidFill>
            <a:srgbClr val="5C7699"/>
          </a:solidFill>
          <a:ln/>
        </p:spPr>
      </p:sp>
      <p:pic>
        <p:nvPicPr>
          <p:cNvPr id="43" name="Image 7" descr="/home/claude/snowflake_deck/icons/handshake_white.png">    </p:cNvPr>
          <p:cNvPicPr>
            <a:picLocks noChangeAspect="1"/>
          </p:cNvPicPr>
          <p:nvPr/>
        </p:nvPicPr>
        <p:blipFill>
          <a:blip r:embed="rId8"/>
          <a:stretch>
            <a:fillRect/>
          </a:stretch>
        </p:blipFill>
        <p:spPr>
          <a:xfrm>
            <a:off x="8915034" y="4059570"/>
            <a:ext cx="201900" cy="201900"/>
          </a:xfrm>
          <a:prstGeom prst="rect">
            <a:avLst/>
          </a:prstGeom>
        </p:spPr>
      </p:pic>
      <p:sp>
        <p:nvSpPr>
          <p:cNvPr id="44" name="Text 34"/>
          <p:cNvSpPr/>
          <p:nvPr/>
        </p:nvSpPr>
        <p:spPr>
          <a:xfrm>
            <a:off x="8787384" y="4480560"/>
            <a:ext cx="2212848" cy="292608"/>
          </a:xfrm>
          <a:prstGeom prst="rect">
            <a:avLst/>
          </a:prstGeom>
          <a:noFill/>
          <a:ln/>
        </p:spPr>
        <p:txBody>
          <a:bodyPr wrap="square" rtlCol="0" anchor="ctr"/>
          <a:lstStyle/>
          <a:p>
            <a:pPr indent="0" marL="0">
              <a:buNone/>
            </a:pPr>
            <a:r>
              <a:rPr lang="en-US" sz="1250" b="1" dirty="0">
                <a:solidFill>
                  <a:srgbClr val="3A4556"/>
                </a:solidFill>
                <a:latin typeface="Calibri" pitchFamily="34" charset="0"/>
                <a:ea typeface="Calibri" pitchFamily="34" charset="-122"/>
                <a:cs typeface="Calibri" pitchFamily="34" charset="-120"/>
              </a:rPr>
              <a:t>Vendor / Partner</a:t>
            </a:r>
            <a:endParaRPr lang="en-US" sz="1250" dirty="0"/>
          </a:p>
        </p:txBody>
      </p:sp>
      <p:sp>
        <p:nvSpPr>
          <p:cNvPr id="45" name="Text 35"/>
          <p:cNvSpPr/>
          <p:nvPr/>
        </p:nvSpPr>
        <p:spPr>
          <a:xfrm>
            <a:off x="8787384" y="4773168"/>
            <a:ext cx="2212848" cy="77724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Inbound/outbound EDI (834, 837, 835) with the healthcare ecosystem</a:t>
            </a:r>
            <a:endParaRPr lang="en-US" sz="950" dirty="0"/>
          </a:p>
        </p:txBody>
      </p:sp>
      <p:sp>
        <p:nvSpPr>
          <p:cNvPr id="46" name="Shape 36"/>
          <p:cNvSpPr/>
          <p:nvPr/>
        </p:nvSpPr>
        <p:spPr>
          <a:xfrm>
            <a:off x="502920" y="5897880"/>
            <a:ext cx="11185855" cy="502920"/>
          </a:xfrm>
          <a:prstGeom prst="roundRect">
            <a:avLst>
              <a:gd name="adj" fmla="val 14545"/>
            </a:avLst>
          </a:prstGeom>
          <a:solidFill>
            <a:srgbClr val="3A4556"/>
          </a:solidFill>
          <a:ln/>
        </p:spPr>
      </p:sp>
      <p:sp>
        <p:nvSpPr>
          <p:cNvPr id="47" name="Text 37"/>
          <p:cNvSpPr/>
          <p:nvPr/>
        </p:nvSpPr>
        <p:spPr>
          <a:xfrm>
            <a:off x="777240" y="5897880"/>
            <a:ext cx="10637215" cy="502920"/>
          </a:xfrm>
          <a:prstGeom prst="rect">
            <a:avLst/>
          </a:prstGeom>
          <a:noFill/>
          <a:ln/>
        </p:spPr>
        <p:txBody>
          <a:bodyPr wrap="square" rtlCol="0" anchor="ctr"/>
          <a:lstStyle/>
          <a:p>
            <a:pPr algn="l" indent="0" marL="0">
              <a:lnSpc>
                <a:spcPct val="115000"/>
              </a:lnSpc>
              <a:buNone/>
            </a:pPr>
            <a:r>
              <a:rPr lang="en-US" sz="1300" i="1" dirty="0">
                <a:solidFill>
                  <a:srgbClr val="FFFFFF"/>
                </a:solidFill>
                <a:latin typeface="Calibri" pitchFamily="34" charset="0"/>
                <a:ea typeface="Calibri" pitchFamily="34" charset="-122"/>
                <a:cs typeface="Calibri" pitchFamily="34" charset="-120"/>
              </a:rPr>
              <a:t>Each domain today has its own extract cadence, its own keys, and — often — its own definition of "member." Unifying the landscape means resolving these before any AI layer is trustworthy.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1 · TARGET STATE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Wiring the Domains Into One Unified Landscape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02920" y="1691640"/>
            <a:ext cx="2331720" cy="457200"/>
          </a:xfrm>
          <a:prstGeom prst="roundRect">
            <a:avLst>
              <a:gd name="adj" fmla="val 16000"/>
            </a:avLst>
          </a:prstGeom>
          <a:solidFill>
            <a:srgbClr val="EAF0F8"/>
          </a:solidFill>
          <a:ln/>
        </p:spPr>
      </p:sp>
      <p:sp>
        <p:nvSpPr>
          <p:cNvPr id="7" name="Text 5"/>
          <p:cNvSpPr/>
          <p:nvPr/>
        </p:nvSpPr>
        <p:spPr>
          <a:xfrm>
            <a:off x="502920" y="169164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Enrollment</a:t>
            </a:r>
            <a:endParaRPr lang="en-US" sz="1050" dirty="0"/>
          </a:p>
        </p:txBody>
      </p:sp>
      <p:sp>
        <p:nvSpPr>
          <p:cNvPr id="8" name="Shape 6"/>
          <p:cNvSpPr/>
          <p:nvPr/>
        </p:nvSpPr>
        <p:spPr>
          <a:xfrm>
            <a:off x="502920" y="2240280"/>
            <a:ext cx="2331720" cy="457200"/>
          </a:xfrm>
          <a:prstGeom prst="roundRect">
            <a:avLst>
              <a:gd name="adj" fmla="val 16000"/>
            </a:avLst>
          </a:prstGeom>
          <a:solidFill>
            <a:srgbClr val="EAF0F8"/>
          </a:solidFill>
          <a:ln/>
        </p:spPr>
      </p:sp>
      <p:sp>
        <p:nvSpPr>
          <p:cNvPr id="9" name="Text 7"/>
          <p:cNvSpPr/>
          <p:nvPr/>
        </p:nvSpPr>
        <p:spPr>
          <a:xfrm>
            <a:off x="502920" y="224028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Claims</a:t>
            </a:r>
            <a:endParaRPr lang="en-US" sz="1050" dirty="0"/>
          </a:p>
        </p:txBody>
      </p:sp>
      <p:sp>
        <p:nvSpPr>
          <p:cNvPr id="10" name="Shape 8"/>
          <p:cNvSpPr/>
          <p:nvPr/>
        </p:nvSpPr>
        <p:spPr>
          <a:xfrm>
            <a:off x="502920" y="2788920"/>
            <a:ext cx="2331720" cy="457200"/>
          </a:xfrm>
          <a:prstGeom prst="roundRect">
            <a:avLst>
              <a:gd name="adj" fmla="val 16000"/>
            </a:avLst>
          </a:prstGeom>
          <a:solidFill>
            <a:srgbClr val="EAF0F8"/>
          </a:solidFill>
          <a:ln/>
        </p:spPr>
      </p:sp>
      <p:sp>
        <p:nvSpPr>
          <p:cNvPr id="11" name="Text 9"/>
          <p:cNvSpPr/>
          <p:nvPr/>
        </p:nvSpPr>
        <p:spPr>
          <a:xfrm>
            <a:off x="502920" y="278892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Provider</a:t>
            </a:r>
            <a:endParaRPr lang="en-US" sz="1050" dirty="0"/>
          </a:p>
        </p:txBody>
      </p:sp>
      <p:sp>
        <p:nvSpPr>
          <p:cNvPr id="12" name="Shape 10"/>
          <p:cNvSpPr/>
          <p:nvPr/>
        </p:nvSpPr>
        <p:spPr>
          <a:xfrm>
            <a:off x="502920" y="3337560"/>
            <a:ext cx="2331720" cy="457200"/>
          </a:xfrm>
          <a:prstGeom prst="roundRect">
            <a:avLst>
              <a:gd name="adj" fmla="val 16000"/>
            </a:avLst>
          </a:prstGeom>
          <a:solidFill>
            <a:srgbClr val="EAF0F8"/>
          </a:solidFill>
          <a:ln/>
        </p:spPr>
      </p:sp>
      <p:sp>
        <p:nvSpPr>
          <p:cNvPr id="13" name="Text 11"/>
          <p:cNvSpPr/>
          <p:nvPr/>
        </p:nvSpPr>
        <p:spPr>
          <a:xfrm>
            <a:off x="502920" y="333756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Clinical</a:t>
            </a:r>
            <a:endParaRPr lang="en-US" sz="1050" dirty="0"/>
          </a:p>
        </p:txBody>
      </p:sp>
      <p:sp>
        <p:nvSpPr>
          <p:cNvPr id="14" name="Shape 12"/>
          <p:cNvSpPr/>
          <p:nvPr/>
        </p:nvSpPr>
        <p:spPr>
          <a:xfrm>
            <a:off x="502920" y="3886200"/>
            <a:ext cx="2331720" cy="457200"/>
          </a:xfrm>
          <a:prstGeom prst="roundRect">
            <a:avLst>
              <a:gd name="adj" fmla="val 16000"/>
            </a:avLst>
          </a:prstGeom>
          <a:solidFill>
            <a:srgbClr val="EAF0F8"/>
          </a:solidFill>
          <a:ln/>
        </p:spPr>
      </p:sp>
      <p:sp>
        <p:nvSpPr>
          <p:cNvPr id="15" name="Text 13"/>
          <p:cNvSpPr/>
          <p:nvPr/>
        </p:nvSpPr>
        <p:spPr>
          <a:xfrm>
            <a:off x="502920" y="388620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Pharmacy</a:t>
            </a:r>
            <a:endParaRPr lang="en-US" sz="1050" dirty="0"/>
          </a:p>
        </p:txBody>
      </p:sp>
      <p:sp>
        <p:nvSpPr>
          <p:cNvPr id="16" name="Shape 14"/>
          <p:cNvSpPr/>
          <p:nvPr/>
        </p:nvSpPr>
        <p:spPr>
          <a:xfrm>
            <a:off x="502920" y="4434840"/>
            <a:ext cx="2331720" cy="457200"/>
          </a:xfrm>
          <a:prstGeom prst="roundRect">
            <a:avLst>
              <a:gd name="adj" fmla="val 16000"/>
            </a:avLst>
          </a:prstGeom>
          <a:solidFill>
            <a:srgbClr val="EAF0F8"/>
          </a:solidFill>
          <a:ln/>
        </p:spPr>
      </p:sp>
      <p:sp>
        <p:nvSpPr>
          <p:cNvPr id="17" name="Text 15"/>
          <p:cNvSpPr/>
          <p:nvPr/>
        </p:nvSpPr>
        <p:spPr>
          <a:xfrm>
            <a:off x="502920" y="443484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Care Mgmt</a:t>
            </a:r>
            <a:endParaRPr lang="en-US" sz="1050" dirty="0"/>
          </a:p>
        </p:txBody>
      </p:sp>
      <p:sp>
        <p:nvSpPr>
          <p:cNvPr id="18" name="Shape 16"/>
          <p:cNvSpPr/>
          <p:nvPr/>
        </p:nvSpPr>
        <p:spPr>
          <a:xfrm>
            <a:off x="502920" y="4983480"/>
            <a:ext cx="2331720" cy="457200"/>
          </a:xfrm>
          <a:prstGeom prst="roundRect">
            <a:avLst>
              <a:gd name="adj" fmla="val 16000"/>
            </a:avLst>
          </a:prstGeom>
          <a:solidFill>
            <a:srgbClr val="EAF0F8"/>
          </a:solidFill>
          <a:ln/>
        </p:spPr>
      </p:sp>
      <p:sp>
        <p:nvSpPr>
          <p:cNvPr id="19" name="Text 17"/>
          <p:cNvSpPr/>
          <p:nvPr/>
        </p:nvSpPr>
        <p:spPr>
          <a:xfrm>
            <a:off x="502920" y="498348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Finance</a:t>
            </a:r>
            <a:endParaRPr lang="en-US" sz="1050" dirty="0"/>
          </a:p>
        </p:txBody>
      </p:sp>
      <p:sp>
        <p:nvSpPr>
          <p:cNvPr id="20" name="Shape 18"/>
          <p:cNvSpPr/>
          <p:nvPr/>
        </p:nvSpPr>
        <p:spPr>
          <a:xfrm>
            <a:off x="502920" y="5532120"/>
            <a:ext cx="2331720" cy="457200"/>
          </a:xfrm>
          <a:prstGeom prst="roundRect">
            <a:avLst>
              <a:gd name="adj" fmla="val 16000"/>
            </a:avLst>
          </a:prstGeom>
          <a:solidFill>
            <a:srgbClr val="EAF0F8"/>
          </a:solidFill>
          <a:ln/>
        </p:spPr>
      </p:sp>
      <p:sp>
        <p:nvSpPr>
          <p:cNvPr id="21" name="Text 19"/>
          <p:cNvSpPr/>
          <p:nvPr/>
        </p:nvSpPr>
        <p:spPr>
          <a:xfrm>
            <a:off x="502920" y="5532120"/>
            <a:ext cx="2331720" cy="457200"/>
          </a:xfrm>
          <a:prstGeom prst="rect">
            <a:avLst/>
          </a:prstGeom>
          <a:noFill/>
          <a:ln/>
        </p:spPr>
        <p:txBody>
          <a:bodyPr wrap="square" rtlCol="0" anchor="ctr"/>
          <a:lstStyle/>
          <a:p>
            <a:pPr algn="ctr" indent="0" marL="0">
              <a:buNone/>
            </a:pPr>
            <a:r>
              <a:rPr lang="en-US" sz="1050" b="1" dirty="0">
                <a:solidFill>
                  <a:srgbClr val="3A4556"/>
                </a:solidFill>
                <a:latin typeface="Calibri" pitchFamily="34" charset="0"/>
                <a:ea typeface="Calibri" pitchFamily="34" charset="-122"/>
                <a:cs typeface="Calibri" pitchFamily="34" charset="-120"/>
              </a:rPr>
              <a:t>Vendor EDI</a:t>
            </a:r>
            <a:endParaRPr lang="en-US" sz="1050" dirty="0"/>
          </a:p>
        </p:txBody>
      </p:sp>
      <p:pic>
        <p:nvPicPr>
          <p:cNvPr id="22" name="Image 0" descr="/home/claude/snowflake_deck/icons/arrowRight_lightgray.png">    </p:cNvPr>
          <p:cNvPicPr>
            <a:picLocks noChangeAspect="1"/>
          </p:cNvPicPr>
          <p:nvPr/>
        </p:nvPicPr>
        <p:blipFill>
          <a:blip r:embed="rId1"/>
          <a:stretch>
            <a:fillRect/>
          </a:stretch>
        </p:blipFill>
        <p:spPr>
          <a:xfrm>
            <a:off x="2944368" y="3566160"/>
            <a:ext cx="292608" cy="292608"/>
          </a:xfrm>
          <a:prstGeom prst="rect">
            <a:avLst/>
          </a:prstGeom>
        </p:spPr>
      </p:pic>
      <p:sp>
        <p:nvSpPr>
          <p:cNvPr id="23" name="Shape 20"/>
          <p:cNvSpPr/>
          <p:nvPr/>
        </p:nvSpPr>
        <p:spPr>
          <a:xfrm>
            <a:off x="3474720" y="1691640"/>
            <a:ext cx="3383280" cy="4069080"/>
          </a:xfrm>
          <a:prstGeom prst="roundRect">
            <a:avLst>
              <a:gd name="adj" fmla="val 2162"/>
            </a:avLst>
          </a:prstGeom>
          <a:solidFill>
            <a:srgbClr val="3A4556"/>
          </a:solidFill>
          <a:ln/>
        </p:spPr>
      </p:sp>
      <p:sp>
        <p:nvSpPr>
          <p:cNvPr id="24" name="Text 21"/>
          <p:cNvSpPr/>
          <p:nvPr/>
        </p:nvSpPr>
        <p:spPr>
          <a:xfrm>
            <a:off x="3657600" y="1856232"/>
            <a:ext cx="3017520" cy="274320"/>
          </a:xfrm>
          <a:prstGeom prst="rect">
            <a:avLst/>
          </a:prstGeom>
          <a:noFill/>
          <a:ln/>
        </p:spPr>
        <p:txBody>
          <a:bodyPr wrap="square" rtlCol="0" anchor="ctr"/>
          <a:lstStyle/>
          <a:p>
            <a:pPr indent="0" marL="0">
              <a:buNone/>
            </a:pPr>
            <a:r>
              <a:rPr lang="en-US" sz="1050" b="1" spc="100" kern="0" dirty="0">
                <a:solidFill>
                  <a:srgbClr val="E2A07E"/>
                </a:solidFill>
                <a:latin typeface="Calibri" pitchFamily="34" charset="0"/>
                <a:ea typeface="Calibri" pitchFamily="34" charset="-122"/>
                <a:cs typeface="Calibri" pitchFamily="34" charset="-120"/>
              </a:rPr>
              <a:t>UNIFIED SNOWFLAKE PLATFORM</a:t>
            </a:r>
            <a:endParaRPr lang="en-US" sz="1050" dirty="0"/>
          </a:p>
        </p:txBody>
      </p:sp>
      <p:sp>
        <p:nvSpPr>
          <p:cNvPr id="25" name="Text 22"/>
          <p:cNvSpPr/>
          <p:nvPr/>
        </p:nvSpPr>
        <p:spPr>
          <a:xfrm>
            <a:off x="3657600" y="2240280"/>
            <a:ext cx="3017520" cy="3337560"/>
          </a:xfrm>
          <a:prstGeom prst="rect">
            <a:avLst/>
          </a:prstGeom>
          <a:noFill/>
          <a:ln/>
        </p:spPr>
        <p:txBody>
          <a:bodyPr wrap="square" rtlCol="0" anchor="t"/>
          <a:lstStyle/>
          <a:p>
            <a:pPr marL="177800" indent="-177800">
              <a:lnSpc>
                <a:spcPct val="112000"/>
              </a:lnSpc>
              <a:spcAft>
                <a:spcPts val="1200"/>
              </a:spcAft>
              <a:buSzPct val="100000"/>
              <a:buChar char="●"/>
            </a:pPr>
            <a:r>
              <a:rPr lang="en-US" sz="1050" dirty="0">
                <a:solidFill>
                  <a:srgbClr val="FFFFFF"/>
                </a:solidFill>
                <a:latin typeface="Calibri" pitchFamily="34" charset="0"/>
                <a:ea typeface="Calibri" pitchFamily="34" charset="-122"/>
                <a:cs typeface="Calibri" pitchFamily="34" charset="-120"/>
              </a:rPr>
              <a:t>Bronze — raw domain landing, source grain</a:t>
            </a:r>
            <a:endParaRPr lang="en-US" sz="1050" dirty="0"/>
          </a:p>
          <a:p>
            <a:pPr marL="177800" indent="-177800">
              <a:lnSpc>
                <a:spcPct val="112000"/>
              </a:lnSpc>
              <a:spcAft>
                <a:spcPts val="1200"/>
              </a:spcAft>
              <a:buSzPct val="100000"/>
              <a:buChar char="●"/>
            </a:pPr>
            <a:r>
              <a:rPr lang="en-US" sz="1050" dirty="0">
                <a:solidFill>
                  <a:srgbClr val="FFFFFF"/>
                </a:solidFill>
                <a:latin typeface="Calibri" pitchFamily="34" charset="0"/>
                <a:ea typeface="Calibri" pitchFamily="34" charset="-122"/>
                <a:cs typeface="Calibri" pitchFamily="34" charset="-120"/>
              </a:rPr>
              <a:t>Silver — cleansed, conformed, keyed to Member/Provider</a:t>
            </a:r>
            <a:endParaRPr lang="en-US" sz="1050" dirty="0"/>
          </a:p>
          <a:p>
            <a:pPr marL="177800" indent="-177800">
              <a:lnSpc>
                <a:spcPct val="112000"/>
              </a:lnSpc>
              <a:spcAft>
                <a:spcPts val="1200"/>
              </a:spcAft>
              <a:buSzPct val="100000"/>
              <a:buChar char="●"/>
            </a:pPr>
            <a:r>
              <a:rPr lang="en-US" sz="1050" dirty="0">
                <a:solidFill>
                  <a:srgbClr val="FFFFFF"/>
                </a:solidFill>
                <a:latin typeface="Calibri" pitchFamily="34" charset="0"/>
                <a:ea typeface="Calibri" pitchFamily="34" charset="-122"/>
                <a:cs typeface="Calibri" pitchFamily="34" charset="-120"/>
              </a:rPr>
              <a:t>Gold — curated, business-ready, dimensional</a:t>
            </a:r>
            <a:endParaRPr lang="en-US" sz="1050" dirty="0"/>
          </a:p>
          <a:p>
            <a:pPr marL="177800" indent="-177800">
              <a:lnSpc>
                <a:spcPct val="112000"/>
              </a:lnSpc>
              <a:spcAft>
                <a:spcPts val="1200"/>
              </a:spcAft>
              <a:buSzPct val="100000"/>
              <a:buChar char="●"/>
            </a:pPr>
            <a:r>
              <a:rPr lang="en-US" sz="1050" dirty="0">
                <a:solidFill>
                  <a:srgbClr val="FFFFFF"/>
                </a:solidFill>
                <a:latin typeface="Calibri" pitchFamily="34" charset="0"/>
                <a:ea typeface="Calibri" pitchFamily="34" charset="-122"/>
                <a:cs typeface="Calibri" pitchFamily="34" charset="-120"/>
              </a:rPr>
              <a:t>Semantic Views — one governed business vocabulary</a:t>
            </a:r>
            <a:endParaRPr lang="en-US" sz="1050" dirty="0"/>
          </a:p>
          <a:p>
            <a:pPr marL="177800" indent="-177800">
              <a:lnSpc>
                <a:spcPct val="112000"/>
              </a:lnSpc>
              <a:spcAft>
                <a:spcPts val="1200"/>
              </a:spcAft>
              <a:buSzPct val="100000"/>
              <a:buChar char="●"/>
            </a:pPr>
            <a:r>
              <a:rPr lang="en-US" sz="1050" dirty="0">
                <a:solidFill>
                  <a:srgbClr val="FFFFFF"/>
                </a:solidFill>
                <a:latin typeface="Calibri" pitchFamily="34" charset="0"/>
                <a:ea typeface="Calibri" pitchFamily="34" charset="-122"/>
                <a:cs typeface="Calibri" pitchFamily="34" charset="-120"/>
              </a:rPr>
              <a:t>Cortex Sense — runtime context layer</a:t>
            </a:r>
            <a:endParaRPr lang="en-US" sz="1050" dirty="0"/>
          </a:p>
        </p:txBody>
      </p:sp>
      <p:pic>
        <p:nvPicPr>
          <p:cNvPr id="26" name="Image 1" descr="/home/claude/snowflake_deck/icons/arrowRight_lightgray.png">    </p:cNvPr>
          <p:cNvPicPr>
            <a:picLocks noChangeAspect="1"/>
          </p:cNvPicPr>
          <p:nvPr/>
        </p:nvPicPr>
        <p:blipFill>
          <a:blip r:embed="rId2"/>
          <a:stretch>
            <a:fillRect/>
          </a:stretch>
        </p:blipFill>
        <p:spPr>
          <a:xfrm>
            <a:off x="6967728" y="3566160"/>
            <a:ext cx="292608" cy="292608"/>
          </a:xfrm>
          <a:prstGeom prst="rect">
            <a:avLst/>
          </a:prstGeom>
        </p:spPr>
      </p:pic>
      <p:sp>
        <p:nvSpPr>
          <p:cNvPr id="27" name="Shape 23"/>
          <p:cNvSpPr/>
          <p:nvPr/>
        </p:nvSpPr>
        <p:spPr>
          <a:xfrm>
            <a:off x="7452360" y="1691640"/>
            <a:ext cx="2651760" cy="822960"/>
          </a:xfrm>
          <a:prstGeom prst="roundRect">
            <a:avLst>
              <a:gd name="adj" fmla="val 8889"/>
            </a:avLst>
          </a:prstGeom>
          <a:solidFill>
            <a:srgbClr val="EAF0F8"/>
          </a:solidFill>
          <a:ln/>
        </p:spPr>
      </p:sp>
      <p:sp>
        <p:nvSpPr>
          <p:cNvPr id="28" name="Shape 24"/>
          <p:cNvSpPr/>
          <p:nvPr/>
        </p:nvSpPr>
        <p:spPr>
          <a:xfrm>
            <a:off x="7589520" y="1856232"/>
            <a:ext cx="457200" cy="457200"/>
          </a:xfrm>
          <a:prstGeom prst="ellipse">
            <a:avLst/>
          </a:prstGeom>
          <a:solidFill>
            <a:srgbClr val="5C7699"/>
          </a:solidFill>
          <a:ln/>
        </p:spPr>
      </p:sp>
      <p:pic>
        <p:nvPicPr>
          <p:cNvPr id="29" name="Image 2" descr="/home/claude/snowflake_deck/icons/desktop_white.png">    </p:cNvPr>
          <p:cNvPicPr>
            <a:picLocks noChangeAspect="1"/>
          </p:cNvPicPr>
          <p:nvPr/>
        </p:nvPicPr>
        <p:blipFill>
          <a:blip r:embed="rId3"/>
          <a:stretch>
            <a:fillRect/>
          </a:stretch>
        </p:blipFill>
        <p:spPr>
          <a:xfrm>
            <a:off x="7708392" y="1975104"/>
            <a:ext cx="219456" cy="219456"/>
          </a:xfrm>
          <a:prstGeom prst="rect">
            <a:avLst/>
          </a:prstGeom>
        </p:spPr>
      </p:pic>
      <p:sp>
        <p:nvSpPr>
          <p:cNvPr id="30" name="Text 25"/>
          <p:cNvSpPr/>
          <p:nvPr/>
        </p:nvSpPr>
        <p:spPr>
          <a:xfrm>
            <a:off x="8138160" y="1691640"/>
            <a:ext cx="1828800" cy="822960"/>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Snowsight / CoWork</a:t>
            </a:r>
            <a:endParaRPr lang="en-US" sz="1100" dirty="0"/>
          </a:p>
        </p:txBody>
      </p:sp>
      <p:sp>
        <p:nvSpPr>
          <p:cNvPr id="31" name="Shape 26"/>
          <p:cNvSpPr/>
          <p:nvPr/>
        </p:nvSpPr>
        <p:spPr>
          <a:xfrm>
            <a:off x="7452360" y="2679192"/>
            <a:ext cx="2651760" cy="822960"/>
          </a:xfrm>
          <a:prstGeom prst="roundRect">
            <a:avLst>
              <a:gd name="adj" fmla="val 8889"/>
            </a:avLst>
          </a:prstGeom>
          <a:solidFill>
            <a:srgbClr val="EAF0F8"/>
          </a:solidFill>
          <a:ln/>
        </p:spPr>
      </p:sp>
      <p:sp>
        <p:nvSpPr>
          <p:cNvPr id="32" name="Shape 27"/>
          <p:cNvSpPr/>
          <p:nvPr/>
        </p:nvSpPr>
        <p:spPr>
          <a:xfrm>
            <a:off x="7589520" y="2843784"/>
            <a:ext cx="457200" cy="457200"/>
          </a:xfrm>
          <a:prstGeom prst="ellipse">
            <a:avLst/>
          </a:prstGeom>
          <a:solidFill>
            <a:srgbClr val="5C7699"/>
          </a:solidFill>
          <a:ln/>
        </p:spPr>
      </p:sp>
      <p:pic>
        <p:nvPicPr>
          <p:cNvPr id="33" name="Image 3" descr="/home/claude/snowflake_deck/icons/terminal_white.png">    </p:cNvPr>
          <p:cNvPicPr>
            <a:picLocks noChangeAspect="1"/>
          </p:cNvPicPr>
          <p:nvPr/>
        </p:nvPicPr>
        <p:blipFill>
          <a:blip r:embed="rId4"/>
          <a:stretch>
            <a:fillRect/>
          </a:stretch>
        </p:blipFill>
        <p:spPr>
          <a:xfrm>
            <a:off x="7708392" y="2962656"/>
            <a:ext cx="219456" cy="219456"/>
          </a:xfrm>
          <a:prstGeom prst="rect">
            <a:avLst/>
          </a:prstGeom>
        </p:spPr>
      </p:pic>
      <p:sp>
        <p:nvSpPr>
          <p:cNvPr id="34" name="Text 28"/>
          <p:cNvSpPr/>
          <p:nvPr/>
        </p:nvSpPr>
        <p:spPr>
          <a:xfrm>
            <a:off x="8138160" y="2679192"/>
            <a:ext cx="1828800" cy="822960"/>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TOAD / DBeaver (SQL)</a:t>
            </a:r>
            <a:endParaRPr lang="en-US" sz="1100" dirty="0"/>
          </a:p>
        </p:txBody>
      </p:sp>
      <p:sp>
        <p:nvSpPr>
          <p:cNvPr id="35" name="Shape 29"/>
          <p:cNvSpPr/>
          <p:nvPr/>
        </p:nvSpPr>
        <p:spPr>
          <a:xfrm>
            <a:off x="7452360" y="3666744"/>
            <a:ext cx="2651760" cy="822960"/>
          </a:xfrm>
          <a:prstGeom prst="roundRect">
            <a:avLst>
              <a:gd name="adj" fmla="val 8889"/>
            </a:avLst>
          </a:prstGeom>
          <a:solidFill>
            <a:srgbClr val="EAF0F8"/>
          </a:solidFill>
          <a:ln/>
        </p:spPr>
      </p:sp>
      <p:sp>
        <p:nvSpPr>
          <p:cNvPr id="36" name="Shape 30"/>
          <p:cNvSpPr/>
          <p:nvPr/>
        </p:nvSpPr>
        <p:spPr>
          <a:xfrm>
            <a:off x="7589520" y="3831336"/>
            <a:ext cx="457200" cy="457200"/>
          </a:xfrm>
          <a:prstGeom prst="ellipse">
            <a:avLst/>
          </a:prstGeom>
          <a:solidFill>
            <a:srgbClr val="5C7699"/>
          </a:solidFill>
          <a:ln/>
        </p:spPr>
      </p:sp>
      <p:pic>
        <p:nvPicPr>
          <p:cNvPr id="37" name="Image 4" descr="/home/claude/snowflake_deck/icons/chartPie_white.png">    </p:cNvPr>
          <p:cNvPicPr>
            <a:picLocks noChangeAspect="1"/>
          </p:cNvPicPr>
          <p:nvPr/>
        </p:nvPicPr>
        <p:blipFill>
          <a:blip r:embed="rId5"/>
          <a:stretch>
            <a:fillRect/>
          </a:stretch>
        </p:blipFill>
        <p:spPr>
          <a:xfrm>
            <a:off x="7708392" y="3950208"/>
            <a:ext cx="219456" cy="219456"/>
          </a:xfrm>
          <a:prstGeom prst="rect">
            <a:avLst/>
          </a:prstGeom>
        </p:spPr>
      </p:pic>
      <p:sp>
        <p:nvSpPr>
          <p:cNvPr id="38" name="Text 31"/>
          <p:cNvSpPr/>
          <p:nvPr/>
        </p:nvSpPr>
        <p:spPr>
          <a:xfrm>
            <a:off x="8138160" y="3666744"/>
            <a:ext cx="1828800" cy="822960"/>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BI: Tableau / Power BI</a:t>
            </a:r>
            <a:endParaRPr lang="en-US" sz="1100" dirty="0"/>
          </a:p>
        </p:txBody>
      </p:sp>
      <p:sp>
        <p:nvSpPr>
          <p:cNvPr id="39" name="Shape 32"/>
          <p:cNvSpPr/>
          <p:nvPr/>
        </p:nvSpPr>
        <p:spPr>
          <a:xfrm>
            <a:off x="7452360" y="4654296"/>
            <a:ext cx="2651760" cy="822960"/>
          </a:xfrm>
          <a:prstGeom prst="roundRect">
            <a:avLst>
              <a:gd name="adj" fmla="val 8889"/>
            </a:avLst>
          </a:prstGeom>
          <a:solidFill>
            <a:srgbClr val="EAF0F8"/>
          </a:solidFill>
          <a:ln/>
        </p:spPr>
      </p:sp>
      <p:sp>
        <p:nvSpPr>
          <p:cNvPr id="40" name="Shape 33"/>
          <p:cNvSpPr/>
          <p:nvPr/>
        </p:nvSpPr>
        <p:spPr>
          <a:xfrm>
            <a:off x="7589520" y="4818888"/>
            <a:ext cx="457200" cy="457200"/>
          </a:xfrm>
          <a:prstGeom prst="ellipse">
            <a:avLst/>
          </a:prstGeom>
          <a:solidFill>
            <a:srgbClr val="5C7699"/>
          </a:solidFill>
          <a:ln/>
        </p:spPr>
      </p:sp>
      <p:pic>
        <p:nvPicPr>
          <p:cNvPr id="41" name="Image 5" descr="/home/claude/snowflake_deck/icons/comments_white.png">    </p:cNvPr>
          <p:cNvPicPr>
            <a:picLocks noChangeAspect="1"/>
          </p:cNvPicPr>
          <p:nvPr/>
        </p:nvPicPr>
        <p:blipFill>
          <a:blip r:embed="rId6"/>
          <a:stretch>
            <a:fillRect/>
          </a:stretch>
        </p:blipFill>
        <p:spPr>
          <a:xfrm>
            <a:off x="7708392" y="4937760"/>
            <a:ext cx="219456" cy="219456"/>
          </a:xfrm>
          <a:prstGeom prst="rect">
            <a:avLst/>
          </a:prstGeom>
        </p:spPr>
      </p:pic>
      <p:sp>
        <p:nvSpPr>
          <p:cNvPr id="42" name="Text 34"/>
          <p:cNvSpPr/>
          <p:nvPr/>
        </p:nvSpPr>
        <p:spPr>
          <a:xfrm>
            <a:off x="8138160" y="4654296"/>
            <a:ext cx="1828800" cy="822960"/>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Business Chat &amp; Reports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1 · PLATFORM RATIONALE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Why Snowflake for the Target Healthcare EDW</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02920" y="1691640"/>
            <a:ext cx="3520440" cy="1965960"/>
          </a:xfrm>
          <a:prstGeom prst="roundRect">
            <a:avLst>
              <a:gd name="adj" fmla="val 3721"/>
            </a:avLst>
          </a:prstGeom>
          <a:solidFill>
            <a:srgbClr val="EAF0F8"/>
          </a:solidFill>
          <a:ln/>
        </p:spPr>
      </p:sp>
      <p:sp>
        <p:nvSpPr>
          <p:cNvPr id="7" name="Shape 5"/>
          <p:cNvSpPr/>
          <p:nvPr/>
        </p:nvSpPr>
        <p:spPr>
          <a:xfrm>
            <a:off x="704088" y="1892808"/>
            <a:ext cx="457200" cy="457200"/>
          </a:xfrm>
          <a:prstGeom prst="ellipse">
            <a:avLst/>
          </a:prstGeom>
          <a:solidFill>
            <a:srgbClr val="5C7699"/>
          </a:solidFill>
          <a:ln/>
        </p:spPr>
      </p:sp>
      <p:pic>
        <p:nvPicPr>
          <p:cNvPr id="8" name="Image 0" descr="/home/claude/snowflake_deck/icons/cubes_white.png">    </p:cNvPr>
          <p:cNvPicPr>
            <a:picLocks noChangeAspect="1"/>
          </p:cNvPicPr>
          <p:nvPr/>
        </p:nvPicPr>
        <p:blipFill>
          <a:blip r:embed="rId1"/>
          <a:stretch>
            <a:fillRect/>
          </a:stretch>
        </p:blipFill>
        <p:spPr>
          <a:xfrm>
            <a:off x="822960" y="2011680"/>
            <a:ext cx="219456" cy="219456"/>
          </a:xfrm>
          <a:prstGeom prst="rect">
            <a:avLst/>
          </a:prstGeom>
        </p:spPr>
      </p:pic>
      <p:sp>
        <p:nvSpPr>
          <p:cNvPr id="9" name="Text 6"/>
          <p:cNvSpPr/>
          <p:nvPr/>
        </p:nvSpPr>
        <p:spPr>
          <a:xfrm>
            <a:off x="130759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Multi-Cluster Shared Data</a:t>
            </a:r>
            <a:endParaRPr lang="en-US" sz="1300" dirty="0"/>
          </a:p>
        </p:txBody>
      </p:sp>
      <p:sp>
        <p:nvSpPr>
          <p:cNvPr id="10" name="Text 7"/>
          <p:cNvSpPr/>
          <p:nvPr/>
        </p:nvSpPr>
        <p:spPr>
          <a:xfrm>
            <a:off x="70408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Storage, compute, and cloud services scale independently — ad-hoc analyst load never competes with production extract jobs.</a:t>
            </a:r>
            <a:endParaRPr lang="en-US" sz="1050" dirty="0"/>
          </a:p>
        </p:txBody>
      </p:sp>
      <p:sp>
        <p:nvSpPr>
          <p:cNvPr id="11" name="Shape 8"/>
          <p:cNvSpPr/>
          <p:nvPr/>
        </p:nvSpPr>
        <p:spPr>
          <a:xfrm>
            <a:off x="4206240" y="1691640"/>
            <a:ext cx="3520440" cy="1965960"/>
          </a:xfrm>
          <a:prstGeom prst="roundRect">
            <a:avLst>
              <a:gd name="adj" fmla="val 3721"/>
            </a:avLst>
          </a:prstGeom>
          <a:solidFill>
            <a:srgbClr val="EAF0F8"/>
          </a:solidFill>
          <a:ln/>
        </p:spPr>
      </p:sp>
      <p:sp>
        <p:nvSpPr>
          <p:cNvPr id="12" name="Shape 9"/>
          <p:cNvSpPr/>
          <p:nvPr/>
        </p:nvSpPr>
        <p:spPr>
          <a:xfrm>
            <a:off x="4407408" y="1892808"/>
            <a:ext cx="457200" cy="457200"/>
          </a:xfrm>
          <a:prstGeom prst="ellipse">
            <a:avLst/>
          </a:prstGeom>
          <a:solidFill>
            <a:srgbClr val="5C7699"/>
          </a:solidFill>
          <a:ln/>
        </p:spPr>
      </p:sp>
      <p:pic>
        <p:nvPicPr>
          <p:cNvPr id="13" name="Image 1" descr="/home/claude/snowflake_deck/icons/history_white.png">    </p:cNvPr>
          <p:cNvPicPr>
            <a:picLocks noChangeAspect="1"/>
          </p:cNvPicPr>
          <p:nvPr/>
        </p:nvPicPr>
        <p:blipFill>
          <a:blip r:embed="rId2"/>
          <a:stretch>
            <a:fillRect/>
          </a:stretch>
        </p:blipFill>
        <p:spPr>
          <a:xfrm>
            <a:off x="4526280" y="2011680"/>
            <a:ext cx="219456" cy="219456"/>
          </a:xfrm>
          <a:prstGeom prst="rect">
            <a:avLst/>
          </a:prstGeom>
        </p:spPr>
      </p:pic>
      <p:sp>
        <p:nvSpPr>
          <p:cNvPr id="14" name="Text 10"/>
          <p:cNvSpPr/>
          <p:nvPr/>
        </p:nvSpPr>
        <p:spPr>
          <a:xfrm>
            <a:off x="501091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Time Travel &amp; Zero-Copy Clone</a:t>
            </a:r>
            <a:endParaRPr lang="en-US" sz="1300" dirty="0"/>
          </a:p>
        </p:txBody>
      </p:sp>
      <p:sp>
        <p:nvSpPr>
          <p:cNvPr id="15" name="Text 11"/>
          <p:cNvSpPr/>
          <p:nvPr/>
        </p:nvSpPr>
        <p:spPr>
          <a:xfrm>
            <a:off x="440740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Instant point-in-time recovery and cost-free environment cloning replace legacy backup/restore cycles.</a:t>
            </a:r>
            <a:endParaRPr lang="en-US" sz="1050" dirty="0"/>
          </a:p>
        </p:txBody>
      </p:sp>
      <p:sp>
        <p:nvSpPr>
          <p:cNvPr id="16" name="Shape 12"/>
          <p:cNvSpPr/>
          <p:nvPr/>
        </p:nvSpPr>
        <p:spPr>
          <a:xfrm>
            <a:off x="7909560" y="1691640"/>
            <a:ext cx="3520440" cy="1965960"/>
          </a:xfrm>
          <a:prstGeom prst="roundRect">
            <a:avLst>
              <a:gd name="adj" fmla="val 3721"/>
            </a:avLst>
          </a:prstGeom>
          <a:solidFill>
            <a:srgbClr val="EAF0F8"/>
          </a:solidFill>
          <a:ln/>
        </p:spPr>
      </p:sp>
      <p:sp>
        <p:nvSpPr>
          <p:cNvPr id="17" name="Shape 13"/>
          <p:cNvSpPr/>
          <p:nvPr/>
        </p:nvSpPr>
        <p:spPr>
          <a:xfrm>
            <a:off x="8110728" y="1892808"/>
            <a:ext cx="457200" cy="457200"/>
          </a:xfrm>
          <a:prstGeom prst="ellipse">
            <a:avLst/>
          </a:prstGeom>
          <a:solidFill>
            <a:srgbClr val="5C7699"/>
          </a:solidFill>
          <a:ln/>
        </p:spPr>
      </p:sp>
      <p:pic>
        <p:nvPicPr>
          <p:cNvPr id="18" name="Image 2" descr="/home/claude/snowflake_deck/icons/sync_white.png">    </p:cNvPr>
          <p:cNvPicPr>
            <a:picLocks noChangeAspect="1"/>
          </p:cNvPicPr>
          <p:nvPr/>
        </p:nvPicPr>
        <p:blipFill>
          <a:blip r:embed="rId3"/>
          <a:stretch>
            <a:fillRect/>
          </a:stretch>
        </p:blipFill>
        <p:spPr>
          <a:xfrm>
            <a:off x="8229600" y="2011680"/>
            <a:ext cx="219456" cy="219456"/>
          </a:xfrm>
          <a:prstGeom prst="rect">
            <a:avLst/>
          </a:prstGeom>
        </p:spPr>
      </p:pic>
      <p:sp>
        <p:nvSpPr>
          <p:cNvPr id="19" name="Text 14"/>
          <p:cNvSpPr/>
          <p:nvPr/>
        </p:nvSpPr>
        <p:spPr>
          <a:xfrm>
            <a:off x="871423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Dynamic Tables &amp; Native dbt</a:t>
            </a:r>
            <a:endParaRPr lang="en-US" sz="1300" dirty="0"/>
          </a:p>
        </p:txBody>
      </p:sp>
      <p:sp>
        <p:nvSpPr>
          <p:cNvPr id="20" name="Text 15"/>
          <p:cNvSpPr/>
          <p:nvPr/>
        </p:nvSpPr>
        <p:spPr>
          <a:xfrm>
            <a:off x="811072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Declarative, incrementally-refreshed pipelines replace hand-written ETL — dbt Core and dbt Fusion run natively on Snowflake compute.</a:t>
            </a:r>
            <a:endParaRPr lang="en-US" sz="1050" dirty="0"/>
          </a:p>
        </p:txBody>
      </p:sp>
      <p:sp>
        <p:nvSpPr>
          <p:cNvPr id="21" name="Shape 16"/>
          <p:cNvSpPr/>
          <p:nvPr/>
        </p:nvSpPr>
        <p:spPr>
          <a:xfrm>
            <a:off x="502920" y="3858768"/>
            <a:ext cx="3520440" cy="1965960"/>
          </a:xfrm>
          <a:prstGeom prst="roundRect">
            <a:avLst>
              <a:gd name="adj" fmla="val 3721"/>
            </a:avLst>
          </a:prstGeom>
          <a:solidFill>
            <a:srgbClr val="EAF0F8"/>
          </a:solidFill>
          <a:ln/>
        </p:spPr>
      </p:sp>
      <p:sp>
        <p:nvSpPr>
          <p:cNvPr id="22" name="Shape 17"/>
          <p:cNvSpPr/>
          <p:nvPr/>
        </p:nvSpPr>
        <p:spPr>
          <a:xfrm>
            <a:off x="704088" y="4059936"/>
            <a:ext cx="457200" cy="457200"/>
          </a:xfrm>
          <a:prstGeom prst="ellipse">
            <a:avLst/>
          </a:prstGeom>
          <a:solidFill>
            <a:srgbClr val="5C7699"/>
          </a:solidFill>
          <a:ln/>
        </p:spPr>
      </p:sp>
      <p:pic>
        <p:nvPicPr>
          <p:cNvPr id="23" name="Image 3" descr="/home/claude/snowflake_deck/icons/shield_white.png">    </p:cNvPr>
          <p:cNvPicPr>
            <a:picLocks noChangeAspect="1"/>
          </p:cNvPicPr>
          <p:nvPr/>
        </p:nvPicPr>
        <p:blipFill>
          <a:blip r:embed="rId4"/>
          <a:stretch>
            <a:fillRect/>
          </a:stretch>
        </p:blipFill>
        <p:spPr>
          <a:xfrm>
            <a:off x="822960" y="4178808"/>
            <a:ext cx="219456" cy="219456"/>
          </a:xfrm>
          <a:prstGeom prst="rect">
            <a:avLst/>
          </a:prstGeom>
        </p:spPr>
      </p:pic>
      <p:sp>
        <p:nvSpPr>
          <p:cNvPr id="24" name="Text 18"/>
          <p:cNvSpPr/>
          <p:nvPr/>
        </p:nvSpPr>
        <p:spPr>
          <a:xfrm>
            <a:off x="130759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Governance Built Into the Runtime</a:t>
            </a:r>
            <a:endParaRPr lang="en-US" sz="1300" dirty="0"/>
          </a:p>
        </p:txBody>
      </p:sp>
      <p:sp>
        <p:nvSpPr>
          <p:cNvPr id="25" name="Text 19"/>
          <p:cNvSpPr/>
          <p:nvPr/>
        </p:nvSpPr>
        <p:spPr>
          <a:xfrm>
            <a:off x="70408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RBAC, dynamic data masking, row access policies, and full audit trails are intrinsic — not bolted on after the fact.</a:t>
            </a:r>
            <a:endParaRPr lang="en-US" sz="1050" dirty="0"/>
          </a:p>
        </p:txBody>
      </p:sp>
      <p:sp>
        <p:nvSpPr>
          <p:cNvPr id="26" name="Shape 20"/>
          <p:cNvSpPr/>
          <p:nvPr/>
        </p:nvSpPr>
        <p:spPr>
          <a:xfrm>
            <a:off x="4206240" y="3858768"/>
            <a:ext cx="3520440" cy="1965960"/>
          </a:xfrm>
          <a:prstGeom prst="roundRect">
            <a:avLst>
              <a:gd name="adj" fmla="val 3721"/>
            </a:avLst>
          </a:prstGeom>
          <a:solidFill>
            <a:srgbClr val="EAF0F8"/>
          </a:solidFill>
          <a:ln/>
        </p:spPr>
      </p:sp>
      <p:sp>
        <p:nvSpPr>
          <p:cNvPr id="27" name="Shape 21"/>
          <p:cNvSpPr/>
          <p:nvPr/>
        </p:nvSpPr>
        <p:spPr>
          <a:xfrm>
            <a:off x="4407408" y="4059936"/>
            <a:ext cx="457200" cy="457200"/>
          </a:xfrm>
          <a:prstGeom prst="ellipse">
            <a:avLst/>
          </a:prstGeom>
          <a:solidFill>
            <a:srgbClr val="5C7699"/>
          </a:solidFill>
          <a:ln/>
        </p:spPr>
      </p:sp>
      <p:pic>
        <p:nvPicPr>
          <p:cNvPr id="28" name="Image 4" descr="/home/claude/snowflake_deck/icons/cloud_white.png">    </p:cNvPr>
          <p:cNvPicPr>
            <a:picLocks noChangeAspect="1"/>
          </p:cNvPicPr>
          <p:nvPr/>
        </p:nvPicPr>
        <p:blipFill>
          <a:blip r:embed="rId5"/>
          <a:stretch>
            <a:fillRect/>
          </a:stretch>
        </p:blipFill>
        <p:spPr>
          <a:xfrm>
            <a:off x="4526280" y="4178808"/>
            <a:ext cx="219456" cy="219456"/>
          </a:xfrm>
          <a:prstGeom prst="rect">
            <a:avLst/>
          </a:prstGeom>
        </p:spPr>
      </p:pic>
      <p:sp>
        <p:nvSpPr>
          <p:cNvPr id="29" name="Text 22"/>
          <p:cNvSpPr/>
          <p:nvPr/>
        </p:nvSpPr>
        <p:spPr>
          <a:xfrm>
            <a:off x="501091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Multi-Cloud, Cross-Region</a:t>
            </a:r>
            <a:endParaRPr lang="en-US" sz="1300" dirty="0"/>
          </a:p>
        </p:txBody>
      </p:sp>
      <p:sp>
        <p:nvSpPr>
          <p:cNvPr id="30" name="Text 23"/>
          <p:cNvSpPr/>
          <p:nvPr/>
        </p:nvSpPr>
        <p:spPr>
          <a:xfrm>
            <a:off x="440740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Runs across AWS, Azure, and GCP with the same object model, easing an AWS-centric IT strategy without locking data to one cloud.</a:t>
            </a:r>
            <a:endParaRPr lang="en-US" sz="1050" dirty="0"/>
          </a:p>
        </p:txBody>
      </p:sp>
      <p:sp>
        <p:nvSpPr>
          <p:cNvPr id="31" name="Shape 24"/>
          <p:cNvSpPr/>
          <p:nvPr/>
        </p:nvSpPr>
        <p:spPr>
          <a:xfrm>
            <a:off x="7909560" y="3858768"/>
            <a:ext cx="3520440" cy="1965960"/>
          </a:xfrm>
          <a:prstGeom prst="roundRect">
            <a:avLst>
              <a:gd name="adj" fmla="val 3721"/>
            </a:avLst>
          </a:prstGeom>
          <a:solidFill>
            <a:srgbClr val="EAF0F8"/>
          </a:solidFill>
          <a:ln/>
        </p:spPr>
      </p:sp>
      <p:sp>
        <p:nvSpPr>
          <p:cNvPr id="32" name="Shape 25"/>
          <p:cNvSpPr/>
          <p:nvPr/>
        </p:nvSpPr>
        <p:spPr>
          <a:xfrm>
            <a:off x="8110728" y="4059936"/>
            <a:ext cx="457200" cy="457200"/>
          </a:xfrm>
          <a:prstGeom prst="ellipse">
            <a:avLst/>
          </a:prstGeom>
          <a:solidFill>
            <a:srgbClr val="5C7699"/>
          </a:solidFill>
          <a:ln/>
        </p:spPr>
      </p:sp>
      <p:pic>
        <p:nvPicPr>
          <p:cNvPr id="33" name="Image 5" descr="/home/claude/snowflake_deck/icons/brain_white.png">    </p:cNvPr>
          <p:cNvPicPr>
            <a:picLocks noChangeAspect="1"/>
          </p:cNvPicPr>
          <p:nvPr/>
        </p:nvPicPr>
        <p:blipFill>
          <a:blip r:embed="rId6"/>
          <a:stretch>
            <a:fillRect/>
          </a:stretch>
        </p:blipFill>
        <p:spPr>
          <a:xfrm>
            <a:off x="8229600" y="4178808"/>
            <a:ext cx="219456" cy="219456"/>
          </a:xfrm>
          <a:prstGeom prst="rect">
            <a:avLst/>
          </a:prstGeom>
        </p:spPr>
      </p:pic>
      <p:sp>
        <p:nvSpPr>
          <p:cNvPr id="34" name="Text 26"/>
          <p:cNvSpPr/>
          <p:nvPr/>
        </p:nvSpPr>
        <p:spPr>
          <a:xfrm>
            <a:off x="871423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Native AI, Zero Egress</a:t>
            </a:r>
            <a:endParaRPr lang="en-US" sz="1300" dirty="0"/>
          </a:p>
        </p:txBody>
      </p:sp>
      <p:sp>
        <p:nvSpPr>
          <p:cNvPr id="35" name="Text 27"/>
          <p:cNvSpPr/>
          <p:nvPr/>
        </p:nvSpPr>
        <p:spPr>
          <a:xfrm>
            <a:off x="811072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Cortex AI functions and CoWork execute inference against governed data inside the account — no separate AI stack to secure.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1 · BRIDGE TO THE AI LAYER</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Once the Data Is Unified, the AI Layer Sits Directly on Top</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02920" y="1783080"/>
            <a:ext cx="7863840" cy="1737360"/>
          </a:xfrm>
          <a:prstGeom prst="rect">
            <a:avLst/>
          </a:prstGeom>
          <a:noFill/>
          <a:ln/>
        </p:spPr>
        <p:txBody>
          <a:bodyPr wrap="square" rtlCol="0" anchor="ctr"/>
          <a:lstStyle/>
          <a:p>
            <a:pPr indent="0" marL="0">
              <a:lnSpc>
                <a:spcPct val="135000"/>
              </a:lnSpc>
              <a:buNone/>
            </a:pPr>
            <a:r>
              <a:rPr lang="en-US" sz="1500" dirty="0">
                <a:solidFill>
                  <a:srgbClr val="3A4556"/>
                </a:solidFill>
                <a:latin typeface="Calibri" pitchFamily="34" charset="0"/>
                <a:ea typeface="Calibri" pitchFamily="34" charset="-122"/>
                <a:cs typeface="Calibri" pitchFamily="34" charset="-120"/>
              </a:rPr>
              <a:t>A governed, unified Snowflake platform is not a prerequisite Snowflake merely recommends — it is the literal foundation Cortex AI and CoWork read from. Every capability described in this research — text-to-SQL, hybrid search, proactive agents — executes against the same bronze/silver/gold tables and semantic views built for ordinary reporting.</a:t>
            </a:r>
            <a:endParaRPr lang="en-US" sz="1500" dirty="0"/>
          </a:p>
        </p:txBody>
      </p:sp>
      <p:sp>
        <p:nvSpPr>
          <p:cNvPr id="7" name="Shape 5"/>
          <p:cNvSpPr/>
          <p:nvPr/>
        </p:nvSpPr>
        <p:spPr>
          <a:xfrm>
            <a:off x="8549640" y="1783080"/>
            <a:ext cx="3154680" cy="932688"/>
          </a:xfrm>
          <a:prstGeom prst="roundRect">
            <a:avLst>
              <a:gd name="adj" fmla="val 7843"/>
            </a:avLst>
          </a:prstGeom>
          <a:solidFill>
            <a:srgbClr val="EAF0F8"/>
          </a:solidFill>
          <a:ln/>
        </p:spPr>
      </p:sp>
      <p:sp>
        <p:nvSpPr>
          <p:cNvPr id="8" name="Text 6"/>
          <p:cNvSpPr/>
          <p:nvPr/>
        </p:nvSpPr>
        <p:spPr>
          <a:xfrm>
            <a:off x="8686800" y="1892808"/>
            <a:ext cx="457200" cy="548640"/>
          </a:xfrm>
          <a:prstGeom prst="rect">
            <a:avLst/>
          </a:prstGeom>
          <a:noFill/>
          <a:ln/>
        </p:spPr>
        <p:txBody>
          <a:bodyPr wrap="square" rtlCol="0" anchor="ctr"/>
          <a:lstStyle/>
          <a:p>
            <a:pPr indent="0" marL="0">
              <a:buNone/>
            </a:pPr>
            <a:r>
              <a:rPr lang="en-US" sz="2200" b="1" dirty="0">
                <a:solidFill>
                  <a:srgbClr val="5C7699"/>
                </a:solidFill>
                <a:latin typeface="Cambria" pitchFamily="34" charset="0"/>
                <a:ea typeface="Cambria" pitchFamily="34" charset="-122"/>
                <a:cs typeface="Cambria" pitchFamily="34" charset="-120"/>
              </a:rPr>
              <a:t>4</a:t>
            </a:r>
            <a:endParaRPr lang="en-US" sz="2200" dirty="0"/>
          </a:p>
        </p:txBody>
      </p:sp>
      <p:sp>
        <p:nvSpPr>
          <p:cNvPr id="9" name="Text 7"/>
          <p:cNvSpPr/>
          <p:nvPr/>
        </p:nvSpPr>
        <p:spPr>
          <a:xfrm>
            <a:off x="9189720" y="1856232"/>
            <a:ext cx="2377440" cy="292608"/>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Agentic Control Plane</a:t>
            </a:r>
            <a:endParaRPr lang="en-US" sz="1100" dirty="0"/>
          </a:p>
        </p:txBody>
      </p:sp>
      <p:sp>
        <p:nvSpPr>
          <p:cNvPr id="10" name="Text 8"/>
          <p:cNvSpPr/>
          <p:nvPr/>
        </p:nvSpPr>
        <p:spPr>
          <a:xfrm>
            <a:off x="9189720" y="2130552"/>
            <a:ext cx="2423160" cy="548640"/>
          </a:xfrm>
          <a:prstGeom prst="rect">
            <a:avLst/>
          </a:prstGeom>
          <a:noFill/>
          <a:ln/>
        </p:spPr>
        <p:txBody>
          <a:bodyPr wrap="square" rtlCol="0" anchor="ctr"/>
          <a:lstStyle/>
          <a:p>
            <a:pPr indent="0" marL="0">
              <a:lnSpc>
                <a:spcPct val="110000"/>
              </a:lnSpc>
              <a:buNone/>
            </a:pPr>
            <a:r>
              <a:rPr lang="en-US" sz="850" dirty="0">
                <a:solidFill>
                  <a:srgbClr val="68758A"/>
                </a:solidFill>
                <a:latin typeface="Calibri" pitchFamily="34" charset="0"/>
                <a:ea typeface="Calibri" pitchFamily="34" charset="-122"/>
                <a:cs typeface="Calibri" pitchFamily="34" charset="-120"/>
              </a:rPr>
              <a:t>Orchestration turning governed intent into safe, automated action (CoWork).</a:t>
            </a:r>
            <a:endParaRPr lang="en-US" sz="850" dirty="0"/>
          </a:p>
        </p:txBody>
      </p:sp>
      <p:sp>
        <p:nvSpPr>
          <p:cNvPr id="11" name="Shape 9"/>
          <p:cNvSpPr/>
          <p:nvPr/>
        </p:nvSpPr>
        <p:spPr>
          <a:xfrm>
            <a:off x="8549640" y="2825496"/>
            <a:ext cx="3154680" cy="932688"/>
          </a:xfrm>
          <a:prstGeom prst="roundRect">
            <a:avLst>
              <a:gd name="adj" fmla="val 7843"/>
            </a:avLst>
          </a:prstGeom>
          <a:solidFill>
            <a:srgbClr val="EAF0F8"/>
          </a:solidFill>
          <a:ln/>
        </p:spPr>
      </p:sp>
      <p:sp>
        <p:nvSpPr>
          <p:cNvPr id="12" name="Text 10"/>
          <p:cNvSpPr/>
          <p:nvPr/>
        </p:nvSpPr>
        <p:spPr>
          <a:xfrm>
            <a:off x="8686800" y="2935224"/>
            <a:ext cx="457200" cy="548640"/>
          </a:xfrm>
          <a:prstGeom prst="rect">
            <a:avLst/>
          </a:prstGeom>
          <a:noFill/>
          <a:ln/>
        </p:spPr>
        <p:txBody>
          <a:bodyPr wrap="square" rtlCol="0" anchor="ctr"/>
          <a:lstStyle/>
          <a:p>
            <a:pPr indent="0" marL="0">
              <a:buNone/>
            </a:pPr>
            <a:r>
              <a:rPr lang="en-US" sz="2200" b="1" dirty="0">
                <a:solidFill>
                  <a:srgbClr val="5C7699"/>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9189720" y="2898648"/>
            <a:ext cx="2377440" cy="292608"/>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Applications</a:t>
            </a:r>
            <a:endParaRPr lang="en-US" sz="1100" dirty="0"/>
          </a:p>
        </p:txBody>
      </p:sp>
      <p:sp>
        <p:nvSpPr>
          <p:cNvPr id="14" name="Text 12"/>
          <p:cNvSpPr/>
          <p:nvPr/>
        </p:nvSpPr>
        <p:spPr>
          <a:xfrm>
            <a:off x="9189720" y="3172968"/>
            <a:ext cx="2423160" cy="548640"/>
          </a:xfrm>
          <a:prstGeom prst="rect">
            <a:avLst/>
          </a:prstGeom>
          <a:noFill/>
          <a:ln/>
        </p:spPr>
        <p:txBody>
          <a:bodyPr wrap="square" rtlCol="0" anchor="ctr"/>
          <a:lstStyle/>
          <a:p>
            <a:pPr indent="0" marL="0">
              <a:lnSpc>
                <a:spcPct val="110000"/>
              </a:lnSpc>
              <a:buNone/>
            </a:pPr>
            <a:r>
              <a:rPr lang="en-US" sz="850" dirty="0">
                <a:solidFill>
                  <a:srgbClr val="68758A"/>
                </a:solidFill>
                <a:latin typeface="Calibri" pitchFamily="34" charset="0"/>
                <a:ea typeface="Calibri" pitchFamily="34" charset="-122"/>
                <a:cs typeface="Calibri" pitchFamily="34" charset="-120"/>
              </a:rPr>
              <a:t>Where the work happens — Salesforce, Jira, Slack, and the tools teams already use.</a:t>
            </a:r>
            <a:endParaRPr lang="en-US" sz="850" dirty="0"/>
          </a:p>
        </p:txBody>
      </p:sp>
      <p:sp>
        <p:nvSpPr>
          <p:cNvPr id="15" name="Shape 13"/>
          <p:cNvSpPr/>
          <p:nvPr/>
        </p:nvSpPr>
        <p:spPr>
          <a:xfrm>
            <a:off x="8549640" y="3867912"/>
            <a:ext cx="3154680" cy="932688"/>
          </a:xfrm>
          <a:prstGeom prst="roundRect">
            <a:avLst>
              <a:gd name="adj" fmla="val 7843"/>
            </a:avLst>
          </a:prstGeom>
          <a:solidFill>
            <a:srgbClr val="EAF0F8"/>
          </a:solidFill>
          <a:ln/>
        </p:spPr>
      </p:sp>
      <p:sp>
        <p:nvSpPr>
          <p:cNvPr id="16" name="Text 14"/>
          <p:cNvSpPr/>
          <p:nvPr/>
        </p:nvSpPr>
        <p:spPr>
          <a:xfrm>
            <a:off x="8686800" y="3977640"/>
            <a:ext cx="457200" cy="548640"/>
          </a:xfrm>
          <a:prstGeom prst="rect">
            <a:avLst/>
          </a:prstGeom>
          <a:noFill/>
          <a:ln/>
        </p:spPr>
        <p:txBody>
          <a:bodyPr wrap="square" rtlCol="0" anchor="ctr"/>
          <a:lstStyle/>
          <a:p>
            <a:pPr indent="0" marL="0">
              <a:buNone/>
            </a:pPr>
            <a:r>
              <a:rPr lang="en-US" sz="2200" b="1" dirty="0">
                <a:solidFill>
                  <a:srgbClr val="5C7699"/>
                </a:solidFill>
                <a:latin typeface="Cambria" pitchFamily="34" charset="0"/>
                <a:ea typeface="Cambria" pitchFamily="34" charset="-122"/>
                <a:cs typeface="Cambria" pitchFamily="34" charset="-120"/>
              </a:rPr>
              <a:t>2</a:t>
            </a:r>
            <a:endParaRPr lang="en-US" sz="2200" dirty="0"/>
          </a:p>
        </p:txBody>
      </p:sp>
      <p:sp>
        <p:nvSpPr>
          <p:cNvPr id="17" name="Text 15"/>
          <p:cNvSpPr/>
          <p:nvPr/>
        </p:nvSpPr>
        <p:spPr>
          <a:xfrm>
            <a:off x="9189720" y="3941064"/>
            <a:ext cx="2377440" cy="292608"/>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AI Models</a:t>
            </a:r>
            <a:endParaRPr lang="en-US" sz="1100" dirty="0"/>
          </a:p>
        </p:txBody>
      </p:sp>
      <p:sp>
        <p:nvSpPr>
          <p:cNvPr id="18" name="Text 16"/>
          <p:cNvSpPr/>
          <p:nvPr/>
        </p:nvSpPr>
        <p:spPr>
          <a:xfrm>
            <a:off x="9189720" y="4215384"/>
            <a:ext cx="2423160" cy="548640"/>
          </a:xfrm>
          <a:prstGeom prst="rect">
            <a:avLst/>
          </a:prstGeom>
          <a:noFill/>
          <a:ln/>
        </p:spPr>
        <p:txBody>
          <a:bodyPr wrap="square" rtlCol="0" anchor="ctr"/>
          <a:lstStyle/>
          <a:p>
            <a:pPr indent="0" marL="0">
              <a:lnSpc>
                <a:spcPct val="110000"/>
              </a:lnSpc>
              <a:buNone/>
            </a:pPr>
            <a:r>
              <a:rPr lang="en-US" sz="850" dirty="0">
                <a:solidFill>
                  <a:srgbClr val="68758A"/>
                </a:solidFill>
                <a:latin typeface="Calibri" pitchFamily="34" charset="0"/>
                <a:ea typeface="Calibri" pitchFamily="34" charset="-122"/>
                <a:cs typeface="Calibri" pitchFamily="34" charset="-120"/>
              </a:rPr>
              <a:t>Interchangeable reasoning engines (Claude, Mistral, Llama) swapped without re-architecting.</a:t>
            </a:r>
            <a:endParaRPr lang="en-US" sz="850" dirty="0"/>
          </a:p>
        </p:txBody>
      </p:sp>
      <p:sp>
        <p:nvSpPr>
          <p:cNvPr id="19" name="Shape 17"/>
          <p:cNvSpPr/>
          <p:nvPr/>
        </p:nvSpPr>
        <p:spPr>
          <a:xfrm>
            <a:off x="8549640" y="4910328"/>
            <a:ext cx="3154680" cy="932688"/>
          </a:xfrm>
          <a:prstGeom prst="roundRect">
            <a:avLst>
              <a:gd name="adj" fmla="val 7843"/>
            </a:avLst>
          </a:prstGeom>
          <a:solidFill>
            <a:srgbClr val="EAF0F8"/>
          </a:solidFill>
          <a:ln/>
        </p:spPr>
      </p:sp>
      <p:sp>
        <p:nvSpPr>
          <p:cNvPr id="20" name="Text 18"/>
          <p:cNvSpPr/>
          <p:nvPr/>
        </p:nvSpPr>
        <p:spPr>
          <a:xfrm>
            <a:off x="8686800" y="5020056"/>
            <a:ext cx="457200" cy="548640"/>
          </a:xfrm>
          <a:prstGeom prst="rect">
            <a:avLst/>
          </a:prstGeom>
          <a:noFill/>
          <a:ln/>
        </p:spPr>
        <p:txBody>
          <a:bodyPr wrap="square" rtlCol="0" anchor="ctr"/>
          <a:lstStyle/>
          <a:p>
            <a:pPr indent="0" marL="0">
              <a:buNone/>
            </a:pPr>
            <a:r>
              <a:rPr lang="en-US" sz="2200" b="1" dirty="0">
                <a:solidFill>
                  <a:srgbClr val="5C7699"/>
                </a:solidFill>
                <a:latin typeface="Cambria" pitchFamily="34" charset="0"/>
                <a:ea typeface="Cambria" pitchFamily="34" charset="-122"/>
                <a:cs typeface="Cambria" pitchFamily="34" charset="-120"/>
              </a:rPr>
              <a:t>1</a:t>
            </a:r>
            <a:endParaRPr lang="en-US" sz="2200" dirty="0"/>
          </a:p>
        </p:txBody>
      </p:sp>
      <p:sp>
        <p:nvSpPr>
          <p:cNvPr id="21" name="Text 19"/>
          <p:cNvSpPr/>
          <p:nvPr/>
        </p:nvSpPr>
        <p:spPr>
          <a:xfrm>
            <a:off x="9189720" y="4983480"/>
            <a:ext cx="2377440" cy="292608"/>
          </a:xfrm>
          <a:prstGeom prst="rect">
            <a:avLst/>
          </a:prstGeom>
          <a:noFill/>
          <a:ln/>
        </p:spPr>
        <p:txBody>
          <a:bodyPr wrap="square" rtlCol="0" anchor="ctr"/>
          <a:lstStyle/>
          <a:p>
            <a:pPr indent="0" marL="0">
              <a:buNone/>
            </a:pPr>
            <a:r>
              <a:rPr lang="en-US" sz="1100" b="1" dirty="0">
                <a:solidFill>
                  <a:srgbClr val="3A4556"/>
                </a:solidFill>
                <a:latin typeface="Calibri" pitchFamily="34" charset="0"/>
                <a:ea typeface="Calibri" pitchFamily="34" charset="-122"/>
                <a:cs typeface="Calibri" pitchFamily="34" charset="-120"/>
              </a:rPr>
              <a:t>Governed Enterprise Data &amp; Context</a:t>
            </a:r>
            <a:endParaRPr lang="en-US" sz="1100" dirty="0"/>
          </a:p>
        </p:txBody>
      </p:sp>
      <p:sp>
        <p:nvSpPr>
          <p:cNvPr id="22" name="Text 20"/>
          <p:cNvSpPr/>
          <p:nvPr/>
        </p:nvSpPr>
        <p:spPr>
          <a:xfrm>
            <a:off x="9189720" y="5257800"/>
            <a:ext cx="2423160" cy="548640"/>
          </a:xfrm>
          <a:prstGeom prst="rect">
            <a:avLst/>
          </a:prstGeom>
          <a:noFill/>
          <a:ln/>
        </p:spPr>
        <p:txBody>
          <a:bodyPr wrap="square" rtlCol="0" anchor="ctr"/>
          <a:lstStyle/>
          <a:p>
            <a:pPr indent="0" marL="0">
              <a:lnSpc>
                <a:spcPct val="110000"/>
              </a:lnSpc>
              <a:buNone/>
            </a:pPr>
            <a:r>
              <a:rPr lang="en-US" sz="850" dirty="0">
                <a:solidFill>
                  <a:srgbClr val="68758A"/>
                </a:solidFill>
                <a:latin typeface="Calibri" pitchFamily="34" charset="0"/>
                <a:ea typeface="Calibri" pitchFamily="34" charset="-122"/>
                <a:cs typeface="Calibri" pitchFamily="34" charset="-120"/>
              </a:rPr>
              <a:t>The foundation: unified data, entitlements, and business context in one compliant perimeter.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02</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Snowflake's Native AI Stack</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The Cortex suite and CoWork — the capabilities that will answer questions against the unified healthcare platform.</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Cortex Suite: A Governed AI Ecosystem</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02920" y="1691640"/>
            <a:ext cx="5074920" cy="1828800"/>
          </a:xfrm>
          <a:prstGeom prst="roundRect">
            <a:avLst>
              <a:gd name="adj" fmla="val 4000"/>
            </a:avLst>
          </a:prstGeom>
          <a:solidFill>
            <a:srgbClr val="EAF0F8"/>
          </a:solidFill>
          <a:ln/>
        </p:spPr>
      </p:sp>
      <p:sp>
        <p:nvSpPr>
          <p:cNvPr id="7" name="Shape 5"/>
          <p:cNvSpPr/>
          <p:nvPr/>
        </p:nvSpPr>
        <p:spPr>
          <a:xfrm>
            <a:off x="704088" y="1892808"/>
            <a:ext cx="502920" cy="502920"/>
          </a:xfrm>
          <a:prstGeom prst="ellipse">
            <a:avLst/>
          </a:prstGeom>
          <a:solidFill>
            <a:srgbClr val="5C7699"/>
          </a:solidFill>
          <a:ln/>
        </p:spPr>
      </p:sp>
      <p:pic>
        <p:nvPicPr>
          <p:cNvPr id="8" name="Image 0" descr="/home/claude/snowflake_deck/icons/search_white.png">    </p:cNvPr>
          <p:cNvPicPr>
            <a:picLocks noChangeAspect="1"/>
          </p:cNvPicPr>
          <p:nvPr/>
        </p:nvPicPr>
        <p:blipFill>
          <a:blip r:embed="rId1"/>
          <a:stretch>
            <a:fillRect/>
          </a:stretch>
        </p:blipFill>
        <p:spPr>
          <a:xfrm>
            <a:off x="834847" y="2023567"/>
            <a:ext cx="241402" cy="241402"/>
          </a:xfrm>
          <a:prstGeom prst="rect">
            <a:avLst/>
          </a:prstGeom>
        </p:spPr>
      </p:pic>
      <p:sp>
        <p:nvSpPr>
          <p:cNvPr id="9" name="Text 6"/>
          <p:cNvSpPr/>
          <p:nvPr/>
        </p:nvSpPr>
        <p:spPr>
          <a:xfrm>
            <a:off x="1353312" y="18745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Cortex Analyst</a:t>
            </a:r>
            <a:endParaRPr lang="en-US" sz="1300" dirty="0"/>
          </a:p>
        </p:txBody>
      </p:sp>
      <p:sp>
        <p:nvSpPr>
          <p:cNvPr id="10" name="Text 7"/>
          <p:cNvSpPr/>
          <p:nvPr/>
        </p:nvSpPr>
        <p:spPr>
          <a:xfrm>
            <a:off x="704088" y="2505456"/>
            <a:ext cx="4672584" cy="8778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High-accuracy, structured text-to-SQL translation. Reads a semantic model — logical tables, dimensions, facts, metrics, relationships — instead of a bare schema, then generates and runs SQL against governed tables.</a:t>
            </a:r>
            <a:endParaRPr lang="en-US" sz="1050" dirty="0"/>
          </a:p>
        </p:txBody>
      </p:sp>
      <p:sp>
        <p:nvSpPr>
          <p:cNvPr id="11" name="Shape 8"/>
          <p:cNvSpPr/>
          <p:nvPr/>
        </p:nvSpPr>
        <p:spPr>
          <a:xfrm>
            <a:off x="5897880" y="1691640"/>
            <a:ext cx="5074920" cy="1828800"/>
          </a:xfrm>
          <a:prstGeom prst="roundRect">
            <a:avLst>
              <a:gd name="adj" fmla="val 4000"/>
            </a:avLst>
          </a:prstGeom>
          <a:solidFill>
            <a:srgbClr val="EAF0F8"/>
          </a:solidFill>
          <a:ln/>
        </p:spPr>
      </p:sp>
      <p:sp>
        <p:nvSpPr>
          <p:cNvPr id="12" name="Shape 9"/>
          <p:cNvSpPr/>
          <p:nvPr/>
        </p:nvSpPr>
        <p:spPr>
          <a:xfrm>
            <a:off x="6099048" y="1892808"/>
            <a:ext cx="502920" cy="502920"/>
          </a:xfrm>
          <a:prstGeom prst="ellipse">
            <a:avLst/>
          </a:prstGeom>
          <a:solidFill>
            <a:srgbClr val="5C7699"/>
          </a:solidFill>
          <a:ln/>
        </p:spPr>
      </p:sp>
      <p:pic>
        <p:nvPicPr>
          <p:cNvPr id="13" name="Image 1" descr="/home/claude/snowflake_deck/icons/book_white.png">    </p:cNvPr>
          <p:cNvPicPr>
            <a:picLocks noChangeAspect="1"/>
          </p:cNvPicPr>
          <p:nvPr/>
        </p:nvPicPr>
        <p:blipFill>
          <a:blip r:embed="rId2"/>
          <a:stretch>
            <a:fillRect/>
          </a:stretch>
        </p:blipFill>
        <p:spPr>
          <a:xfrm>
            <a:off x="6229807" y="2023567"/>
            <a:ext cx="241402" cy="241402"/>
          </a:xfrm>
          <a:prstGeom prst="rect">
            <a:avLst/>
          </a:prstGeom>
        </p:spPr>
      </p:pic>
      <p:sp>
        <p:nvSpPr>
          <p:cNvPr id="14" name="Text 10"/>
          <p:cNvSpPr/>
          <p:nvPr/>
        </p:nvSpPr>
        <p:spPr>
          <a:xfrm>
            <a:off x="6748272" y="18745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Cortex Search</a:t>
            </a:r>
            <a:endParaRPr lang="en-US" sz="1300" dirty="0"/>
          </a:p>
        </p:txBody>
      </p:sp>
      <p:sp>
        <p:nvSpPr>
          <p:cNvPr id="15" name="Text 11"/>
          <p:cNvSpPr/>
          <p:nvPr/>
        </p:nvSpPr>
        <p:spPr>
          <a:xfrm>
            <a:off x="6099048" y="2505456"/>
            <a:ext cx="4672584" cy="8778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Managed hybrid search — vector and keyword — over unstructured content such as benefit PDFs, provider manuals, and clinical notes.</a:t>
            </a:r>
            <a:endParaRPr lang="en-US" sz="1050" dirty="0"/>
          </a:p>
        </p:txBody>
      </p:sp>
      <p:sp>
        <p:nvSpPr>
          <p:cNvPr id="16" name="Shape 12"/>
          <p:cNvSpPr/>
          <p:nvPr/>
        </p:nvSpPr>
        <p:spPr>
          <a:xfrm>
            <a:off x="502920" y="3749040"/>
            <a:ext cx="5074920" cy="1828800"/>
          </a:xfrm>
          <a:prstGeom prst="roundRect">
            <a:avLst>
              <a:gd name="adj" fmla="val 4000"/>
            </a:avLst>
          </a:prstGeom>
          <a:solidFill>
            <a:srgbClr val="EAF0F8"/>
          </a:solidFill>
          <a:ln/>
        </p:spPr>
      </p:sp>
      <p:sp>
        <p:nvSpPr>
          <p:cNvPr id="17" name="Shape 13"/>
          <p:cNvSpPr/>
          <p:nvPr/>
        </p:nvSpPr>
        <p:spPr>
          <a:xfrm>
            <a:off x="704088" y="3950208"/>
            <a:ext cx="502920" cy="502920"/>
          </a:xfrm>
          <a:prstGeom prst="ellipse">
            <a:avLst/>
          </a:prstGeom>
          <a:solidFill>
            <a:srgbClr val="5C7699"/>
          </a:solidFill>
          <a:ln/>
        </p:spPr>
      </p:sp>
      <p:pic>
        <p:nvPicPr>
          <p:cNvPr id="18" name="Image 2" descr="/home/claude/snowflake_deck/icons/robot_white.png">    </p:cNvPr>
          <p:cNvPicPr>
            <a:picLocks noChangeAspect="1"/>
          </p:cNvPicPr>
          <p:nvPr/>
        </p:nvPicPr>
        <p:blipFill>
          <a:blip r:embed="rId3"/>
          <a:stretch>
            <a:fillRect/>
          </a:stretch>
        </p:blipFill>
        <p:spPr>
          <a:xfrm>
            <a:off x="834847" y="4080967"/>
            <a:ext cx="241402" cy="241402"/>
          </a:xfrm>
          <a:prstGeom prst="rect">
            <a:avLst/>
          </a:prstGeom>
        </p:spPr>
      </p:pic>
      <p:sp>
        <p:nvSpPr>
          <p:cNvPr id="19" name="Text 14"/>
          <p:cNvSpPr/>
          <p:nvPr/>
        </p:nvSpPr>
        <p:spPr>
          <a:xfrm>
            <a:off x="1353312" y="39319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Cortex Agents</a:t>
            </a:r>
            <a:endParaRPr lang="en-US" sz="1300" dirty="0"/>
          </a:p>
        </p:txBody>
      </p:sp>
      <p:sp>
        <p:nvSpPr>
          <p:cNvPr id="20" name="Text 15"/>
          <p:cNvSpPr/>
          <p:nvPr/>
        </p:nvSpPr>
        <p:spPr>
          <a:xfrm>
            <a:off x="704088" y="4562856"/>
            <a:ext cx="4672584" cy="8778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Multi-model orchestration layer that maps a stated intent to the executed operations across Analyst, Search, and external tools.</a:t>
            </a:r>
            <a:endParaRPr lang="en-US" sz="1050" dirty="0"/>
          </a:p>
        </p:txBody>
      </p:sp>
      <p:sp>
        <p:nvSpPr>
          <p:cNvPr id="21" name="Shape 16"/>
          <p:cNvSpPr/>
          <p:nvPr/>
        </p:nvSpPr>
        <p:spPr>
          <a:xfrm>
            <a:off x="5897880" y="3749040"/>
            <a:ext cx="5074920" cy="1828800"/>
          </a:xfrm>
          <a:prstGeom prst="roundRect">
            <a:avLst>
              <a:gd name="adj" fmla="val 4000"/>
            </a:avLst>
          </a:prstGeom>
          <a:solidFill>
            <a:srgbClr val="EAF0F8"/>
          </a:solidFill>
          <a:ln/>
        </p:spPr>
      </p:sp>
      <p:sp>
        <p:nvSpPr>
          <p:cNvPr id="22" name="Shape 17"/>
          <p:cNvSpPr/>
          <p:nvPr/>
        </p:nvSpPr>
        <p:spPr>
          <a:xfrm>
            <a:off x="6099048" y="3950208"/>
            <a:ext cx="502920" cy="502920"/>
          </a:xfrm>
          <a:prstGeom prst="ellipse">
            <a:avLst/>
          </a:prstGeom>
          <a:solidFill>
            <a:srgbClr val="5C7699"/>
          </a:solidFill>
          <a:ln/>
        </p:spPr>
      </p:sp>
      <p:pic>
        <p:nvPicPr>
          <p:cNvPr id="23" name="Image 3" descr="/home/claude/snowflake_deck/icons/code_white.png">    </p:cNvPr>
          <p:cNvPicPr>
            <a:picLocks noChangeAspect="1"/>
          </p:cNvPicPr>
          <p:nvPr/>
        </p:nvPicPr>
        <p:blipFill>
          <a:blip r:embed="rId4"/>
          <a:stretch>
            <a:fillRect/>
          </a:stretch>
        </p:blipFill>
        <p:spPr>
          <a:xfrm>
            <a:off x="6229807" y="4080967"/>
            <a:ext cx="241402" cy="241402"/>
          </a:xfrm>
          <a:prstGeom prst="rect">
            <a:avLst/>
          </a:prstGeom>
        </p:spPr>
      </p:pic>
      <p:sp>
        <p:nvSpPr>
          <p:cNvPr id="24" name="Text 18"/>
          <p:cNvSpPr/>
          <p:nvPr/>
        </p:nvSpPr>
        <p:spPr>
          <a:xfrm>
            <a:off x="6748272" y="3931920"/>
            <a:ext cx="404164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LLM Functions</a:t>
            </a:r>
            <a:endParaRPr lang="en-US" sz="1300" dirty="0"/>
          </a:p>
        </p:txBody>
      </p:sp>
      <p:sp>
        <p:nvSpPr>
          <p:cNvPr id="25" name="Text 19"/>
          <p:cNvSpPr/>
          <p:nvPr/>
        </p:nvSpPr>
        <p:spPr>
          <a:xfrm>
            <a:off x="6099048" y="4562856"/>
            <a:ext cx="4672584" cy="8778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Native SQL/Python functions (COMPLETE, EXTRACT, SUMMARIZE, TRANSLATE) callable directly wherever SQL runs — including from third-party clients.</a:t>
            </a:r>
            <a:endParaRPr lang="en-US" sz="1050" dirty="0"/>
          </a:p>
        </p:txBody>
      </p:sp>
      <p:sp>
        <p:nvSpPr>
          <p:cNvPr id="26" name="Shape 20"/>
          <p:cNvSpPr/>
          <p:nvPr/>
        </p:nvSpPr>
        <p:spPr>
          <a:xfrm>
            <a:off x="502920" y="5897880"/>
            <a:ext cx="11185855" cy="502920"/>
          </a:xfrm>
          <a:prstGeom prst="roundRect">
            <a:avLst>
              <a:gd name="adj" fmla="val 14545"/>
            </a:avLst>
          </a:prstGeom>
          <a:solidFill>
            <a:srgbClr val="FBEEE6"/>
          </a:solidFill>
          <a:ln/>
        </p:spPr>
      </p:sp>
      <p:sp>
        <p:nvSpPr>
          <p:cNvPr id="27" name="Text 21"/>
          <p:cNvSpPr/>
          <p:nvPr/>
        </p:nvSpPr>
        <p:spPr>
          <a:xfrm>
            <a:off x="777240" y="5897880"/>
            <a:ext cx="10637215" cy="50292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All four are schema-level or account-level objects governed by the same RBAC as ordinary tables — there is no separate AI security perimeter to manage.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SEMANTIC LAYER</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Cortex Analyst: Turning Business Questions Into SQL</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02920" y="1691640"/>
            <a:ext cx="5577840" cy="3931920"/>
          </a:xfrm>
          <a:prstGeom prst="roundRect">
            <a:avLst>
              <a:gd name="adj" fmla="val 1860"/>
            </a:avLst>
          </a:prstGeom>
          <a:solidFill>
            <a:srgbClr val="EAF0F8"/>
          </a:solidFill>
          <a:ln/>
        </p:spPr>
      </p:sp>
      <p:sp>
        <p:nvSpPr>
          <p:cNvPr id="7" name="Text 5"/>
          <p:cNvSpPr/>
          <p:nvPr/>
        </p:nvSpPr>
        <p:spPr>
          <a:xfrm>
            <a:off x="731520" y="1874520"/>
            <a:ext cx="5120640" cy="274320"/>
          </a:xfrm>
          <a:prstGeom prst="rect">
            <a:avLst/>
          </a:prstGeom>
          <a:noFill/>
          <a:ln/>
        </p:spPr>
        <p:txBody>
          <a:bodyPr wrap="square" rtlCol="0" anchor="ctr"/>
          <a:lstStyle/>
          <a:p>
            <a:pPr indent="0" marL="0">
              <a:buNone/>
            </a:pPr>
            <a:r>
              <a:rPr lang="en-US" sz="1100" b="1" spc="100" kern="0" dirty="0">
                <a:solidFill>
                  <a:srgbClr val="5C7699"/>
                </a:solidFill>
                <a:latin typeface="Calibri" pitchFamily="34" charset="0"/>
                <a:ea typeface="Calibri" pitchFamily="34" charset="-122"/>
                <a:cs typeface="Calibri" pitchFamily="34" charset="-120"/>
              </a:rPr>
              <a:t>THE SEMANTIC MODEL BRIDGE</a:t>
            </a:r>
            <a:endParaRPr lang="en-US" sz="1100" dirty="0"/>
          </a:p>
        </p:txBody>
      </p:sp>
      <p:sp>
        <p:nvSpPr>
          <p:cNvPr id="8" name="Text 6"/>
          <p:cNvSpPr/>
          <p:nvPr/>
        </p:nvSpPr>
        <p:spPr>
          <a:xfrm>
            <a:off x="731520" y="2194560"/>
            <a:ext cx="5120640" cy="3291840"/>
          </a:xfrm>
          <a:prstGeom prst="rect">
            <a:avLst/>
          </a:prstGeom>
          <a:noFill/>
          <a:ln/>
        </p:spPr>
        <p:txBody>
          <a:bodyPr wrap="square" rtlCol="0" anchor="t"/>
          <a:lstStyle/>
          <a:p>
            <a:pPr marL="177800" indent="-177800">
              <a:lnSpc>
                <a:spcPct val="112000"/>
              </a:lnSpc>
              <a:spcAft>
                <a:spcPts val="200"/>
              </a:spcAft>
              <a:buSzPct val="100000"/>
              <a:buChar char="●"/>
            </a:pPr>
            <a:r>
              <a:rPr lang="en-US" sz="1150" b="1" dirty="0">
                <a:solidFill>
                  <a:srgbClr val="3A4556"/>
                </a:solidFill>
                <a:latin typeface="Calibri" pitchFamily="34" charset="0"/>
                <a:ea typeface="Calibri" pitchFamily="34" charset="-122"/>
                <a:cs typeface="Calibri" pitchFamily="34" charset="-120"/>
              </a:rPr>
              <a:t>Logical Tables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Business entities such as Member, Provider, or Claim.</a:t>
            </a:r>
            <a:endParaRPr lang="en-US" sz="1150" dirty="0"/>
          </a:p>
          <a:p>
            <a:pPr marL="177800" indent="-177800">
              <a:lnSpc>
                <a:spcPct val="112000"/>
              </a:lnSpc>
              <a:spcAft>
                <a:spcPts val="200"/>
              </a:spcAft>
              <a:buSzPct val="100000"/>
              <a:buChar char="●"/>
            </a:pPr>
            <a:r>
              <a:rPr lang="en-US" sz="1150" b="1" dirty="0">
                <a:solidFill>
                  <a:srgbClr val="3A4556"/>
                </a:solidFill>
                <a:latin typeface="Calibri" pitchFamily="34" charset="0"/>
                <a:ea typeface="Calibri" pitchFamily="34" charset="-122"/>
                <a:cs typeface="Calibri" pitchFamily="34" charset="-120"/>
              </a:rPr>
              <a:t>Dimensions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Categorical context — plan type, provider specialty, claim status.</a:t>
            </a:r>
            <a:endParaRPr lang="en-US" sz="1150" dirty="0"/>
          </a:p>
          <a:p>
            <a:pPr marL="177800" indent="-177800">
              <a:lnSpc>
                <a:spcPct val="112000"/>
              </a:lnSpc>
              <a:spcAft>
                <a:spcPts val="200"/>
              </a:spcAft>
              <a:buSzPct val="100000"/>
              <a:buChar char="●"/>
            </a:pPr>
            <a:r>
              <a:rPr lang="en-US" sz="1150" b="1" dirty="0">
                <a:solidFill>
                  <a:srgbClr val="3A4556"/>
                </a:solidFill>
                <a:latin typeface="Calibri" pitchFamily="34" charset="0"/>
                <a:ea typeface="Calibri" pitchFamily="34" charset="-122"/>
                <a:cs typeface="Calibri" pitchFamily="34" charset="-120"/>
              </a:rPr>
              <a:t>Facts &amp; Metrics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Row-level measures (paid amount) aggregated into KPIs (medical loss ratio).</a:t>
            </a:r>
            <a:endParaRPr lang="en-US" sz="1150" dirty="0"/>
          </a:p>
          <a:p>
            <a:pPr marL="177800" indent="-177800">
              <a:lnSpc>
                <a:spcPct val="112000"/>
              </a:lnSpc>
              <a:spcAft>
                <a:spcPts val="200"/>
              </a:spcAft>
              <a:buSzPct val="100000"/>
              <a:buChar char="●"/>
            </a:pPr>
            <a:r>
              <a:rPr lang="en-US" sz="1150" b="1" dirty="0">
                <a:solidFill>
                  <a:srgbClr val="3A4556"/>
                </a:solidFill>
                <a:latin typeface="Calibri" pitchFamily="34" charset="0"/>
                <a:ea typeface="Calibri" pitchFamily="34" charset="-122"/>
                <a:cs typeface="Calibri" pitchFamily="34" charset="-120"/>
              </a:rPr>
              <a:t>Relationships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Declared join paths, so the model never has to guess how Member links to Claim.</a:t>
            </a:r>
            <a:endParaRPr lang="en-US" sz="1150" dirty="0"/>
          </a:p>
        </p:txBody>
      </p:sp>
      <p:sp>
        <p:nvSpPr>
          <p:cNvPr id="9" name="Shape 7"/>
          <p:cNvSpPr/>
          <p:nvPr/>
        </p:nvSpPr>
        <p:spPr>
          <a:xfrm>
            <a:off x="6263640" y="1691640"/>
            <a:ext cx="5394960" cy="3931920"/>
          </a:xfrm>
          <a:prstGeom prst="roundRect">
            <a:avLst>
              <a:gd name="adj" fmla="val 1860"/>
            </a:avLst>
          </a:prstGeom>
          <a:solidFill>
            <a:srgbClr val="3A4556"/>
          </a:solidFill>
          <a:ln/>
        </p:spPr>
      </p:sp>
      <p:sp>
        <p:nvSpPr>
          <p:cNvPr id="10" name="Text 8"/>
          <p:cNvSpPr/>
          <p:nvPr/>
        </p:nvSpPr>
        <p:spPr>
          <a:xfrm>
            <a:off x="6492240" y="1874520"/>
            <a:ext cx="4937760" cy="274320"/>
          </a:xfrm>
          <a:prstGeom prst="rect">
            <a:avLst/>
          </a:prstGeom>
          <a:noFill/>
          <a:ln/>
        </p:spPr>
        <p:txBody>
          <a:bodyPr wrap="square" rtlCol="0" anchor="ctr"/>
          <a:lstStyle/>
          <a:p>
            <a:pPr indent="0" marL="0">
              <a:buNone/>
            </a:pPr>
            <a:r>
              <a:rPr lang="en-US" sz="1100" b="1" spc="100" kern="0" dirty="0">
                <a:solidFill>
                  <a:srgbClr val="E2A07E"/>
                </a:solidFill>
                <a:latin typeface="Calibri" pitchFamily="34" charset="0"/>
                <a:ea typeface="Calibri" pitchFamily="34" charset="-122"/>
                <a:cs typeface="Calibri" pitchFamily="34" charset="-120"/>
              </a:rPr>
              <a:t>REQUEST / RESPONSE FLOW</a:t>
            </a:r>
            <a:endParaRPr lang="en-US" sz="1100" dirty="0"/>
          </a:p>
        </p:txBody>
      </p:sp>
      <p:sp>
        <p:nvSpPr>
          <p:cNvPr id="11" name="Shape 9"/>
          <p:cNvSpPr/>
          <p:nvPr/>
        </p:nvSpPr>
        <p:spPr>
          <a:xfrm>
            <a:off x="6492240" y="2212848"/>
            <a:ext cx="292608" cy="292608"/>
          </a:xfrm>
          <a:prstGeom prst="ellipse">
            <a:avLst/>
          </a:prstGeom>
          <a:solidFill>
            <a:srgbClr val="E2A07E"/>
          </a:solidFill>
          <a:ln/>
        </p:spPr>
      </p:sp>
      <p:sp>
        <p:nvSpPr>
          <p:cNvPr id="12" name="Text 10"/>
          <p:cNvSpPr/>
          <p:nvPr/>
        </p:nvSpPr>
        <p:spPr>
          <a:xfrm>
            <a:off x="6492240" y="2212848"/>
            <a:ext cx="292608" cy="292608"/>
          </a:xfrm>
          <a:prstGeom prst="rect">
            <a:avLst/>
          </a:prstGeom>
          <a:noFill/>
          <a:ln/>
        </p:spPr>
        <p:txBody>
          <a:bodyPr wrap="square" rtlCol="0" anchor="ctr"/>
          <a:lstStyle/>
          <a:p>
            <a:pPr algn="ctr" indent="0" marL="0">
              <a:buNone/>
            </a:pPr>
            <a:r>
              <a:rPr lang="en-US" sz="1200" b="1" dirty="0">
                <a:solidFill>
                  <a:srgbClr val="3A4556"/>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6903720" y="2157984"/>
            <a:ext cx="4572000" cy="548640"/>
          </a:xfrm>
          <a:prstGeom prst="rect">
            <a:avLst/>
          </a:prstGeom>
          <a:noFill/>
          <a:ln/>
        </p:spPr>
        <p:txBody>
          <a:bodyPr wrap="square" rtlCol="0" anchor="t"/>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Natural-language question submitted (Snowsight, API, or custom chat app)</a:t>
            </a:r>
            <a:endParaRPr lang="en-US" sz="1080" dirty="0"/>
          </a:p>
        </p:txBody>
      </p:sp>
      <p:sp>
        <p:nvSpPr>
          <p:cNvPr id="14" name="Shape 12"/>
          <p:cNvSpPr/>
          <p:nvPr/>
        </p:nvSpPr>
        <p:spPr>
          <a:xfrm>
            <a:off x="6492240" y="2816352"/>
            <a:ext cx="292608" cy="292608"/>
          </a:xfrm>
          <a:prstGeom prst="ellipse">
            <a:avLst/>
          </a:prstGeom>
          <a:solidFill>
            <a:srgbClr val="E2A07E"/>
          </a:solidFill>
          <a:ln/>
        </p:spPr>
      </p:sp>
      <p:sp>
        <p:nvSpPr>
          <p:cNvPr id="15" name="Text 13"/>
          <p:cNvSpPr/>
          <p:nvPr/>
        </p:nvSpPr>
        <p:spPr>
          <a:xfrm>
            <a:off x="6492240" y="2816352"/>
            <a:ext cx="292608" cy="292608"/>
          </a:xfrm>
          <a:prstGeom prst="rect">
            <a:avLst/>
          </a:prstGeom>
          <a:noFill/>
          <a:ln/>
        </p:spPr>
        <p:txBody>
          <a:bodyPr wrap="square" rtlCol="0" anchor="ctr"/>
          <a:lstStyle/>
          <a:p>
            <a:pPr algn="ctr" indent="0" marL="0">
              <a:buNone/>
            </a:pPr>
            <a:r>
              <a:rPr lang="en-US" sz="1200" b="1" dirty="0">
                <a:solidFill>
                  <a:srgbClr val="3A4556"/>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6903720" y="2761488"/>
            <a:ext cx="4572000" cy="548640"/>
          </a:xfrm>
          <a:prstGeom prst="rect">
            <a:avLst/>
          </a:prstGeom>
          <a:noFill/>
          <a:ln/>
        </p:spPr>
        <p:txBody>
          <a:bodyPr wrap="square" rtlCol="0" anchor="t"/>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Cortex Analyst consults the semantic model for business logic and join paths</a:t>
            </a:r>
            <a:endParaRPr lang="en-US" sz="1080" dirty="0"/>
          </a:p>
        </p:txBody>
      </p:sp>
      <p:sp>
        <p:nvSpPr>
          <p:cNvPr id="17" name="Shape 15"/>
          <p:cNvSpPr/>
          <p:nvPr/>
        </p:nvSpPr>
        <p:spPr>
          <a:xfrm>
            <a:off x="6492240" y="3419856"/>
            <a:ext cx="292608" cy="292608"/>
          </a:xfrm>
          <a:prstGeom prst="ellipse">
            <a:avLst/>
          </a:prstGeom>
          <a:solidFill>
            <a:srgbClr val="E2A07E"/>
          </a:solidFill>
          <a:ln/>
        </p:spPr>
      </p:sp>
      <p:sp>
        <p:nvSpPr>
          <p:cNvPr id="18" name="Text 16"/>
          <p:cNvSpPr/>
          <p:nvPr/>
        </p:nvSpPr>
        <p:spPr>
          <a:xfrm>
            <a:off x="6492240" y="3419856"/>
            <a:ext cx="292608" cy="292608"/>
          </a:xfrm>
          <a:prstGeom prst="rect">
            <a:avLst/>
          </a:prstGeom>
          <a:noFill/>
          <a:ln/>
        </p:spPr>
        <p:txBody>
          <a:bodyPr wrap="square" rtlCol="0" anchor="ctr"/>
          <a:lstStyle/>
          <a:p>
            <a:pPr algn="ctr" indent="0" marL="0">
              <a:buNone/>
            </a:pPr>
            <a:r>
              <a:rPr lang="en-US" sz="1200" b="1" dirty="0">
                <a:solidFill>
                  <a:srgbClr val="3A4556"/>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903720" y="3364992"/>
            <a:ext cx="4572000" cy="548640"/>
          </a:xfrm>
          <a:prstGeom prst="rect">
            <a:avLst/>
          </a:prstGeom>
          <a:noFill/>
          <a:ln/>
        </p:spPr>
        <p:txBody>
          <a:bodyPr wrap="square" rtlCol="0" anchor="t"/>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An LLM (Claude, GPT-4.1, or an open model, chosen automatically) generates SQL</a:t>
            </a:r>
            <a:endParaRPr lang="en-US" sz="1080" dirty="0"/>
          </a:p>
        </p:txBody>
      </p:sp>
      <p:sp>
        <p:nvSpPr>
          <p:cNvPr id="20" name="Shape 18"/>
          <p:cNvSpPr/>
          <p:nvPr/>
        </p:nvSpPr>
        <p:spPr>
          <a:xfrm>
            <a:off x="6492240" y="4023360"/>
            <a:ext cx="292608" cy="292608"/>
          </a:xfrm>
          <a:prstGeom prst="ellipse">
            <a:avLst/>
          </a:prstGeom>
          <a:solidFill>
            <a:srgbClr val="E2A07E"/>
          </a:solidFill>
          <a:ln/>
        </p:spPr>
      </p:sp>
      <p:sp>
        <p:nvSpPr>
          <p:cNvPr id="21" name="Text 19"/>
          <p:cNvSpPr/>
          <p:nvPr/>
        </p:nvSpPr>
        <p:spPr>
          <a:xfrm>
            <a:off x="6492240" y="4023360"/>
            <a:ext cx="292608" cy="292608"/>
          </a:xfrm>
          <a:prstGeom prst="rect">
            <a:avLst/>
          </a:prstGeom>
          <a:noFill/>
          <a:ln/>
        </p:spPr>
        <p:txBody>
          <a:bodyPr wrap="square" rtlCol="0" anchor="ctr"/>
          <a:lstStyle/>
          <a:p>
            <a:pPr algn="ctr" indent="0" marL="0">
              <a:buNone/>
            </a:pPr>
            <a:r>
              <a:rPr lang="en-US" sz="1200" b="1" dirty="0">
                <a:solidFill>
                  <a:srgbClr val="3A4556"/>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03720" y="3968496"/>
            <a:ext cx="4572000" cy="548640"/>
          </a:xfrm>
          <a:prstGeom prst="rect">
            <a:avLst/>
          </a:prstGeom>
          <a:noFill/>
          <a:ln/>
        </p:spPr>
        <p:txBody>
          <a:bodyPr wrap="square" rtlCol="0" anchor="t"/>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SQL executes on a governed virtual warehouse against gold-layer tables</a:t>
            </a:r>
            <a:endParaRPr lang="en-US" sz="1080" dirty="0"/>
          </a:p>
        </p:txBody>
      </p:sp>
      <p:sp>
        <p:nvSpPr>
          <p:cNvPr id="23" name="Shape 21"/>
          <p:cNvSpPr/>
          <p:nvPr/>
        </p:nvSpPr>
        <p:spPr>
          <a:xfrm>
            <a:off x="6492240" y="4626864"/>
            <a:ext cx="292608" cy="292608"/>
          </a:xfrm>
          <a:prstGeom prst="ellipse">
            <a:avLst/>
          </a:prstGeom>
          <a:solidFill>
            <a:srgbClr val="E2A07E"/>
          </a:solidFill>
          <a:ln/>
        </p:spPr>
      </p:sp>
      <p:sp>
        <p:nvSpPr>
          <p:cNvPr id="24" name="Text 22"/>
          <p:cNvSpPr/>
          <p:nvPr/>
        </p:nvSpPr>
        <p:spPr>
          <a:xfrm>
            <a:off x="6492240" y="4626864"/>
            <a:ext cx="292608" cy="292608"/>
          </a:xfrm>
          <a:prstGeom prst="rect">
            <a:avLst/>
          </a:prstGeom>
          <a:noFill/>
          <a:ln/>
        </p:spPr>
        <p:txBody>
          <a:bodyPr wrap="square" rtlCol="0" anchor="ctr"/>
          <a:lstStyle/>
          <a:p>
            <a:pPr algn="ctr" indent="0" marL="0">
              <a:buNone/>
            </a:pPr>
            <a:r>
              <a:rPr lang="en-US" sz="1200" b="1" dirty="0">
                <a:solidFill>
                  <a:srgbClr val="3A4556"/>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6903720" y="4572000"/>
            <a:ext cx="4572000" cy="548640"/>
          </a:xfrm>
          <a:prstGeom prst="rect">
            <a:avLst/>
          </a:prstGeom>
          <a:noFill/>
          <a:ln/>
        </p:spPr>
        <p:txBody>
          <a:bodyPr wrap="square" rtlCol="0" anchor="t"/>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Results, interpretation text, and the generated SQL return to the caller</a:t>
            </a:r>
            <a:endParaRPr lang="en-US" sz="1080" dirty="0"/>
          </a:p>
        </p:txBody>
      </p:sp>
      <p:sp>
        <p:nvSpPr>
          <p:cNvPr id="26" name="Shape 24"/>
          <p:cNvSpPr/>
          <p:nvPr/>
        </p:nvSpPr>
        <p:spPr>
          <a:xfrm>
            <a:off x="502920" y="5760720"/>
            <a:ext cx="11185855" cy="502920"/>
          </a:xfrm>
          <a:prstGeom prst="roundRect">
            <a:avLst>
              <a:gd name="adj" fmla="val 14545"/>
            </a:avLst>
          </a:prstGeom>
          <a:solidFill>
            <a:srgbClr val="FBEEE6"/>
          </a:solidFill>
          <a:ln/>
        </p:spPr>
      </p:sp>
      <p:sp>
        <p:nvSpPr>
          <p:cNvPr id="27" name="Text 25"/>
          <p:cNvSpPr/>
          <p:nvPr/>
        </p:nvSpPr>
        <p:spPr>
          <a:xfrm>
            <a:off x="777240" y="5760720"/>
            <a:ext cx="10637215" cy="50292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Invoked from Snowsight (Streamlit-in-Snowflake), via the REST API, or embedded in Slack/Teams — always through an authenticated, RBAC-scoped call.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UNSTRUCTURED DATA</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Cortex Search: Managed Hybrid RAG Over Documents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502920" y="1737360"/>
            <a:ext cx="6035040" cy="3931920"/>
          </a:xfrm>
          <a:prstGeom prst="rect">
            <a:avLst/>
          </a:prstGeom>
          <a:noFill/>
          <a:ln/>
        </p:spPr>
        <p:txBody>
          <a:bodyPr wrap="square" rtlCol="0" anchor="t"/>
          <a:lstStyle/>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Combines vector similarity and keyword matching in a single managed index — no separate vector database to operate.</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Purpose-built for the healthcare document long tail: benefit summaries, provider manuals, prior-authorization letters, and clinical PDFs.</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Documents are parsed with Snowpark's PARSE_DOCUMENT() — preserving layout and OCR text — then chunked and embedded directly into the Search index, entirely inside the account perimeter.</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Cortex Agents call Search as a tool alongside Cortex Analyst, so one question can blend a structured answer ("how many members") with an unstructured citation ("per the 2026 Summary of Benefits").</a:t>
            </a:r>
            <a:endParaRPr lang="en-US" sz="1350" dirty="0"/>
          </a:p>
        </p:txBody>
      </p:sp>
      <p:sp>
        <p:nvSpPr>
          <p:cNvPr id="7" name="Shape 5"/>
          <p:cNvSpPr/>
          <p:nvPr/>
        </p:nvSpPr>
        <p:spPr>
          <a:xfrm>
            <a:off x="7223760" y="1737360"/>
            <a:ext cx="4434840" cy="3931920"/>
          </a:xfrm>
          <a:prstGeom prst="roundRect">
            <a:avLst>
              <a:gd name="adj" fmla="val 1860"/>
            </a:avLst>
          </a:prstGeom>
          <a:solidFill>
            <a:srgbClr val="EAF4EE"/>
          </a:solidFill>
          <a:ln/>
        </p:spPr>
      </p:sp>
      <p:sp>
        <p:nvSpPr>
          <p:cNvPr id="8" name="Text 6"/>
          <p:cNvSpPr/>
          <p:nvPr/>
        </p:nvSpPr>
        <p:spPr>
          <a:xfrm>
            <a:off x="7452360" y="1920240"/>
            <a:ext cx="3931920" cy="274320"/>
          </a:xfrm>
          <a:prstGeom prst="rect">
            <a:avLst/>
          </a:prstGeom>
          <a:noFill/>
          <a:ln/>
        </p:spPr>
        <p:txBody>
          <a:bodyPr wrap="square" rtlCol="0" anchor="ctr"/>
          <a:lstStyle/>
          <a:p>
            <a:pPr indent="0" marL="0">
              <a:buNone/>
            </a:pPr>
            <a:r>
              <a:rPr lang="en-US" sz="1100" b="1" spc="100" kern="0" dirty="0">
                <a:solidFill>
                  <a:srgbClr val="5E9C76"/>
                </a:solidFill>
                <a:latin typeface="Calibri" pitchFamily="34" charset="0"/>
                <a:ea typeface="Calibri" pitchFamily="34" charset="-122"/>
                <a:cs typeface="Calibri" pitchFamily="34" charset="-120"/>
              </a:rPr>
              <a:t>THE UNSTRUCTURED PIPELINE</a:t>
            </a:r>
            <a:endParaRPr lang="en-US" sz="1100" dirty="0"/>
          </a:p>
        </p:txBody>
      </p:sp>
      <p:sp>
        <p:nvSpPr>
          <p:cNvPr id="9" name="Text 7"/>
          <p:cNvSpPr/>
          <p:nvPr/>
        </p:nvSpPr>
        <p:spPr>
          <a:xfrm>
            <a:off x="7452360" y="2286000"/>
            <a:ext cx="320040" cy="457200"/>
          </a:xfrm>
          <a:prstGeom prst="rect">
            <a:avLst/>
          </a:prstGeom>
          <a:noFill/>
          <a:ln/>
        </p:spPr>
        <p:txBody>
          <a:bodyPr wrap="square" rtlCol="0" anchor="ctr"/>
          <a:lstStyle/>
          <a:p>
            <a:pPr indent="0" marL="0">
              <a:buNone/>
            </a:pPr>
            <a:r>
              <a:rPr lang="en-US" sz="1200" b="1" dirty="0">
                <a:solidFill>
                  <a:srgbClr val="5E9C76"/>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7772400" y="2286000"/>
            <a:ext cx="3703320" cy="548640"/>
          </a:xfrm>
          <a:prstGeom prst="rect">
            <a:avLst/>
          </a:prstGeom>
          <a:noFill/>
          <a:ln/>
        </p:spPr>
        <p:txBody>
          <a:bodyPr wrap="square" rtlCol="0" anchor="ctr"/>
          <a:lstStyle/>
          <a:p>
            <a:pPr indent="0" marL="0">
              <a:lnSpc>
                <a:spcPct val="110000"/>
              </a:lnSpc>
              <a:buNone/>
            </a:pPr>
            <a:r>
              <a:rPr lang="en-US" sz="1050" dirty="0">
                <a:solidFill>
                  <a:srgbClr val="3A4556"/>
                </a:solidFill>
                <a:latin typeface="Calibri" pitchFamily="34" charset="0"/>
                <a:ea typeface="Calibri" pitchFamily="34" charset="-122"/>
                <a:cs typeface="Calibri" pitchFamily="34" charset="-120"/>
              </a:rPr>
              <a:t>Raw PDF / clinical note enters the pipeline</a:t>
            </a:r>
            <a:endParaRPr lang="en-US" sz="1050" dirty="0"/>
          </a:p>
        </p:txBody>
      </p:sp>
      <p:sp>
        <p:nvSpPr>
          <p:cNvPr id="11" name="Text 9"/>
          <p:cNvSpPr/>
          <p:nvPr/>
        </p:nvSpPr>
        <p:spPr>
          <a:xfrm>
            <a:off x="7452360" y="2907792"/>
            <a:ext cx="320040" cy="457200"/>
          </a:xfrm>
          <a:prstGeom prst="rect">
            <a:avLst/>
          </a:prstGeom>
          <a:noFill/>
          <a:ln/>
        </p:spPr>
        <p:txBody>
          <a:bodyPr wrap="square" rtlCol="0" anchor="ctr"/>
          <a:lstStyle/>
          <a:p>
            <a:pPr indent="0" marL="0">
              <a:buNone/>
            </a:pPr>
            <a:r>
              <a:rPr lang="en-US" sz="1200" b="1" dirty="0">
                <a:solidFill>
                  <a:srgbClr val="5E9C76"/>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772400" y="2907792"/>
            <a:ext cx="3703320" cy="548640"/>
          </a:xfrm>
          <a:prstGeom prst="rect">
            <a:avLst/>
          </a:prstGeom>
          <a:noFill/>
          <a:ln/>
        </p:spPr>
        <p:txBody>
          <a:bodyPr wrap="square" rtlCol="0" anchor="ctr"/>
          <a:lstStyle/>
          <a:p>
            <a:pPr indent="0" marL="0">
              <a:lnSpc>
                <a:spcPct val="110000"/>
              </a:lnSpc>
              <a:buNone/>
            </a:pPr>
            <a:r>
              <a:rPr lang="en-US" sz="1050" dirty="0">
                <a:solidFill>
                  <a:srgbClr val="3A4556"/>
                </a:solidFill>
                <a:latin typeface="Calibri" pitchFamily="34" charset="0"/>
                <a:ea typeface="Calibri" pitchFamily="34" charset="-122"/>
                <a:cs typeface="Calibri" pitchFamily="34" charset="-120"/>
              </a:rPr>
              <a:t>PARSE_DOCUMENT() extracts layout-aware text + OCR</a:t>
            </a:r>
            <a:endParaRPr lang="en-US" sz="1050" dirty="0"/>
          </a:p>
        </p:txBody>
      </p:sp>
      <p:sp>
        <p:nvSpPr>
          <p:cNvPr id="13" name="Text 11"/>
          <p:cNvSpPr/>
          <p:nvPr/>
        </p:nvSpPr>
        <p:spPr>
          <a:xfrm>
            <a:off x="7452360" y="3529584"/>
            <a:ext cx="320040" cy="457200"/>
          </a:xfrm>
          <a:prstGeom prst="rect">
            <a:avLst/>
          </a:prstGeom>
          <a:noFill/>
          <a:ln/>
        </p:spPr>
        <p:txBody>
          <a:bodyPr wrap="square" rtlCol="0" anchor="ctr"/>
          <a:lstStyle/>
          <a:p>
            <a:pPr indent="0" marL="0">
              <a:buNone/>
            </a:pPr>
            <a:r>
              <a:rPr lang="en-US" sz="1200" b="1" dirty="0">
                <a:solidFill>
                  <a:srgbClr val="5E9C76"/>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7772400" y="3529584"/>
            <a:ext cx="3703320" cy="548640"/>
          </a:xfrm>
          <a:prstGeom prst="rect">
            <a:avLst/>
          </a:prstGeom>
          <a:noFill/>
          <a:ln/>
        </p:spPr>
        <p:txBody>
          <a:bodyPr wrap="square" rtlCol="0" anchor="ctr"/>
          <a:lstStyle/>
          <a:p>
            <a:pPr indent="0" marL="0">
              <a:lnSpc>
                <a:spcPct val="110000"/>
              </a:lnSpc>
              <a:buNone/>
            </a:pPr>
            <a:r>
              <a:rPr lang="en-US" sz="1050" dirty="0">
                <a:solidFill>
                  <a:srgbClr val="3A4556"/>
                </a:solidFill>
                <a:latin typeface="Calibri" pitchFamily="34" charset="0"/>
                <a:ea typeface="Calibri" pitchFamily="34" charset="-122"/>
                <a:cs typeface="Calibri" pitchFamily="34" charset="-120"/>
              </a:rPr>
              <a:t>AI_REDACT strips PHI before indexing</a:t>
            </a:r>
            <a:endParaRPr lang="en-US" sz="1050" dirty="0"/>
          </a:p>
        </p:txBody>
      </p:sp>
      <p:sp>
        <p:nvSpPr>
          <p:cNvPr id="15" name="Text 13"/>
          <p:cNvSpPr/>
          <p:nvPr/>
        </p:nvSpPr>
        <p:spPr>
          <a:xfrm>
            <a:off x="7452360" y="4151376"/>
            <a:ext cx="320040" cy="457200"/>
          </a:xfrm>
          <a:prstGeom prst="rect">
            <a:avLst/>
          </a:prstGeom>
          <a:noFill/>
          <a:ln/>
        </p:spPr>
        <p:txBody>
          <a:bodyPr wrap="square" rtlCol="0" anchor="ctr"/>
          <a:lstStyle/>
          <a:p>
            <a:pPr indent="0" marL="0">
              <a:buNone/>
            </a:pPr>
            <a:r>
              <a:rPr lang="en-US" sz="1200" b="1" dirty="0">
                <a:solidFill>
                  <a:srgbClr val="5E9C76"/>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7772400" y="4151376"/>
            <a:ext cx="3703320" cy="548640"/>
          </a:xfrm>
          <a:prstGeom prst="rect">
            <a:avLst/>
          </a:prstGeom>
          <a:noFill/>
          <a:ln/>
        </p:spPr>
        <p:txBody>
          <a:bodyPr wrap="square" rtlCol="0" anchor="ctr"/>
          <a:lstStyle/>
          <a:p>
            <a:pPr indent="0" marL="0">
              <a:lnSpc>
                <a:spcPct val="110000"/>
              </a:lnSpc>
              <a:buNone/>
            </a:pPr>
            <a:r>
              <a:rPr lang="en-US" sz="1050" dirty="0">
                <a:solidFill>
                  <a:srgbClr val="3A4556"/>
                </a:solidFill>
                <a:latin typeface="Calibri" pitchFamily="34" charset="0"/>
                <a:ea typeface="Calibri" pitchFamily="34" charset="-122"/>
                <a:cs typeface="Calibri" pitchFamily="34" charset="-120"/>
              </a:rPr>
              <a:t>Chunked &amp; embedded into a Cortex Search index</a:t>
            </a:r>
            <a:endParaRPr lang="en-US" sz="1050" dirty="0"/>
          </a:p>
        </p:txBody>
      </p:sp>
      <p:sp>
        <p:nvSpPr>
          <p:cNvPr id="17" name="Text 15"/>
          <p:cNvSpPr/>
          <p:nvPr/>
        </p:nvSpPr>
        <p:spPr>
          <a:xfrm>
            <a:off x="7452360" y="4773168"/>
            <a:ext cx="320040" cy="457200"/>
          </a:xfrm>
          <a:prstGeom prst="rect">
            <a:avLst/>
          </a:prstGeom>
          <a:noFill/>
          <a:ln/>
        </p:spPr>
        <p:txBody>
          <a:bodyPr wrap="square" rtlCol="0" anchor="ctr"/>
          <a:lstStyle/>
          <a:p>
            <a:pPr indent="0" marL="0">
              <a:buNone/>
            </a:pPr>
            <a:r>
              <a:rPr lang="en-US" sz="1200" b="1" dirty="0">
                <a:solidFill>
                  <a:srgbClr val="5E9C76"/>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7772400" y="4773168"/>
            <a:ext cx="3703320" cy="548640"/>
          </a:xfrm>
          <a:prstGeom prst="rect">
            <a:avLst/>
          </a:prstGeom>
          <a:noFill/>
          <a:ln/>
        </p:spPr>
        <p:txBody>
          <a:bodyPr wrap="square" rtlCol="0" anchor="ctr"/>
          <a:lstStyle/>
          <a:p>
            <a:pPr indent="0" marL="0">
              <a:lnSpc>
                <a:spcPct val="110000"/>
              </a:lnSpc>
              <a:buNone/>
            </a:pPr>
            <a:r>
              <a:rPr lang="en-US" sz="1050" dirty="0">
                <a:solidFill>
                  <a:srgbClr val="3A4556"/>
                </a:solidFill>
                <a:latin typeface="Calibri" pitchFamily="34" charset="0"/>
                <a:ea typeface="Calibri" pitchFamily="34" charset="-122"/>
                <a:cs typeface="Calibri" pitchFamily="34" charset="-120"/>
              </a:rPr>
              <a:t>Retrieved by Cortex Agents at query time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CONTEXT LAYER</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Cortex Sense: The Runtime Context Layer</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02920" y="1691640"/>
            <a:ext cx="11155680" cy="777240"/>
          </a:xfrm>
          <a:prstGeom prst="rect">
            <a:avLst/>
          </a:prstGeom>
          <a:noFill/>
          <a:ln/>
        </p:spPr>
        <p:txBody>
          <a:bodyPr wrap="square" rtlCol="0" anchor="ctr"/>
          <a:lstStyle/>
          <a:p>
            <a:pPr indent="0" marL="0">
              <a:lnSpc>
                <a:spcPct val="130000"/>
              </a:lnSpc>
              <a:buNone/>
            </a:pPr>
            <a:r>
              <a:rPr lang="en-US" sz="1400" dirty="0">
                <a:solidFill>
                  <a:srgbClr val="3A4556"/>
                </a:solidFill>
                <a:latin typeface="Calibri" pitchFamily="34" charset="0"/>
                <a:ea typeface="Calibri" pitchFamily="34" charset="-122"/>
                <a:cs typeface="Calibri" pitchFamily="34" charset="-120"/>
              </a:rPr>
              <a:t>Cortex Sense is a background service that automatically surfaces the right business definitions to an AI agent at query time — a "library and librarian" for enterprise context, so no one has to hand-wire it per question.</a:t>
            </a:r>
            <a:endParaRPr lang="en-US" sz="1400" dirty="0"/>
          </a:p>
        </p:txBody>
      </p:sp>
      <p:sp>
        <p:nvSpPr>
          <p:cNvPr id="7" name="Shape 5"/>
          <p:cNvSpPr/>
          <p:nvPr/>
        </p:nvSpPr>
        <p:spPr>
          <a:xfrm>
            <a:off x="502920" y="2697480"/>
            <a:ext cx="2606040" cy="1828800"/>
          </a:xfrm>
          <a:prstGeom prst="roundRect">
            <a:avLst>
              <a:gd name="adj" fmla="val 4000"/>
            </a:avLst>
          </a:prstGeom>
          <a:solidFill>
            <a:srgbClr val="EAF0F8"/>
          </a:solidFill>
          <a:ln/>
        </p:spPr>
      </p:sp>
      <p:sp>
        <p:nvSpPr>
          <p:cNvPr id="8" name="Shape 6"/>
          <p:cNvSpPr/>
          <p:nvPr/>
        </p:nvSpPr>
        <p:spPr>
          <a:xfrm>
            <a:off x="667512" y="2862072"/>
            <a:ext cx="457200" cy="457200"/>
          </a:xfrm>
          <a:prstGeom prst="ellipse">
            <a:avLst/>
          </a:prstGeom>
          <a:solidFill>
            <a:srgbClr val="5C7699"/>
          </a:solidFill>
          <a:ln/>
        </p:spPr>
      </p:sp>
      <p:pic>
        <p:nvPicPr>
          <p:cNvPr id="9" name="Image 0" descr="/home/claude/snowflake_deck/icons/history_white.png">    </p:cNvPr>
          <p:cNvPicPr>
            <a:picLocks noChangeAspect="1"/>
          </p:cNvPicPr>
          <p:nvPr/>
        </p:nvPicPr>
        <p:blipFill>
          <a:blip r:embed="rId1"/>
          <a:stretch>
            <a:fillRect/>
          </a:stretch>
        </p:blipFill>
        <p:spPr>
          <a:xfrm>
            <a:off x="786384" y="2980944"/>
            <a:ext cx="219456" cy="219456"/>
          </a:xfrm>
          <a:prstGeom prst="rect">
            <a:avLst/>
          </a:prstGeom>
        </p:spPr>
      </p:pic>
      <p:sp>
        <p:nvSpPr>
          <p:cNvPr id="10" name="Text 7"/>
          <p:cNvSpPr/>
          <p:nvPr/>
        </p:nvSpPr>
        <p:spPr>
          <a:xfrm>
            <a:off x="667512" y="3447288"/>
            <a:ext cx="2276856" cy="320040"/>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Query History</a:t>
            </a:r>
            <a:endParaRPr lang="en-US" sz="1150" dirty="0"/>
          </a:p>
        </p:txBody>
      </p:sp>
      <p:sp>
        <p:nvSpPr>
          <p:cNvPr id="11" name="Text 8"/>
          <p:cNvSpPr/>
          <p:nvPr/>
        </p:nvSpPr>
        <p:spPr>
          <a:xfrm>
            <a:off x="667512" y="3758184"/>
            <a:ext cx="2276856" cy="68580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Patterns from past queries run in the account</a:t>
            </a:r>
            <a:endParaRPr lang="en-US" sz="950" dirty="0"/>
          </a:p>
        </p:txBody>
      </p:sp>
      <p:sp>
        <p:nvSpPr>
          <p:cNvPr id="12" name="Shape 9"/>
          <p:cNvSpPr/>
          <p:nvPr/>
        </p:nvSpPr>
        <p:spPr>
          <a:xfrm>
            <a:off x="3291840" y="2697480"/>
            <a:ext cx="2606040" cy="1828800"/>
          </a:xfrm>
          <a:prstGeom prst="roundRect">
            <a:avLst>
              <a:gd name="adj" fmla="val 4000"/>
            </a:avLst>
          </a:prstGeom>
          <a:solidFill>
            <a:srgbClr val="EAF0F8"/>
          </a:solidFill>
          <a:ln/>
        </p:spPr>
      </p:sp>
      <p:sp>
        <p:nvSpPr>
          <p:cNvPr id="13" name="Shape 10"/>
          <p:cNvSpPr/>
          <p:nvPr/>
        </p:nvSpPr>
        <p:spPr>
          <a:xfrm>
            <a:off x="3456432" y="2862072"/>
            <a:ext cx="457200" cy="457200"/>
          </a:xfrm>
          <a:prstGeom prst="ellipse">
            <a:avLst/>
          </a:prstGeom>
          <a:solidFill>
            <a:srgbClr val="5C7699"/>
          </a:solidFill>
          <a:ln/>
        </p:spPr>
      </p:sp>
      <p:pic>
        <p:nvPicPr>
          <p:cNvPr id="14" name="Image 1" descr="/home/claude/snowflake_deck/icons/table_white.png">    </p:cNvPr>
          <p:cNvPicPr>
            <a:picLocks noChangeAspect="1"/>
          </p:cNvPicPr>
          <p:nvPr/>
        </p:nvPicPr>
        <p:blipFill>
          <a:blip r:embed="rId2"/>
          <a:stretch>
            <a:fillRect/>
          </a:stretch>
        </p:blipFill>
        <p:spPr>
          <a:xfrm>
            <a:off x="3575304" y="2980944"/>
            <a:ext cx="219456" cy="219456"/>
          </a:xfrm>
          <a:prstGeom prst="rect">
            <a:avLst/>
          </a:prstGeom>
        </p:spPr>
      </p:pic>
      <p:sp>
        <p:nvSpPr>
          <p:cNvPr id="15" name="Text 11"/>
          <p:cNvSpPr/>
          <p:nvPr/>
        </p:nvSpPr>
        <p:spPr>
          <a:xfrm>
            <a:off x="3456432" y="3447288"/>
            <a:ext cx="2276856" cy="320040"/>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Object Metadata</a:t>
            </a:r>
            <a:endParaRPr lang="en-US" sz="1150" dirty="0"/>
          </a:p>
        </p:txBody>
      </p:sp>
      <p:sp>
        <p:nvSpPr>
          <p:cNvPr id="16" name="Text 12"/>
          <p:cNvSpPr/>
          <p:nvPr/>
        </p:nvSpPr>
        <p:spPr>
          <a:xfrm>
            <a:off x="3456432" y="3758184"/>
            <a:ext cx="2276856" cy="68580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Table and column names, with their descriptions</a:t>
            </a:r>
            <a:endParaRPr lang="en-US" sz="950" dirty="0"/>
          </a:p>
        </p:txBody>
      </p:sp>
      <p:sp>
        <p:nvSpPr>
          <p:cNvPr id="17" name="Shape 13"/>
          <p:cNvSpPr/>
          <p:nvPr/>
        </p:nvSpPr>
        <p:spPr>
          <a:xfrm>
            <a:off x="6080760" y="2697480"/>
            <a:ext cx="2606040" cy="1828800"/>
          </a:xfrm>
          <a:prstGeom prst="roundRect">
            <a:avLst>
              <a:gd name="adj" fmla="val 4000"/>
            </a:avLst>
          </a:prstGeom>
          <a:solidFill>
            <a:srgbClr val="EAF0F8"/>
          </a:solidFill>
          <a:ln/>
        </p:spPr>
      </p:sp>
      <p:sp>
        <p:nvSpPr>
          <p:cNvPr id="18" name="Shape 14"/>
          <p:cNvSpPr/>
          <p:nvPr/>
        </p:nvSpPr>
        <p:spPr>
          <a:xfrm>
            <a:off x="6245352" y="2862072"/>
            <a:ext cx="457200" cy="457200"/>
          </a:xfrm>
          <a:prstGeom prst="ellipse">
            <a:avLst/>
          </a:prstGeom>
          <a:solidFill>
            <a:srgbClr val="5C7699"/>
          </a:solidFill>
          <a:ln/>
        </p:spPr>
      </p:sp>
      <p:pic>
        <p:nvPicPr>
          <p:cNvPr id="19" name="Image 2" descr="/home/claude/snowflake_deck/icons/chartPie_white.png">    </p:cNvPr>
          <p:cNvPicPr>
            <a:picLocks noChangeAspect="1"/>
          </p:cNvPicPr>
          <p:nvPr/>
        </p:nvPicPr>
        <p:blipFill>
          <a:blip r:embed="rId3"/>
          <a:stretch>
            <a:fillRect/>
          </a:stretch>
        </p:blipFill>
        <p:spPr>
          <a:xfrm>
            <a:off x="6364224" y="2980944"/>
            <a:ext cx="219456" cy="219456"/>
          </a:xfrm>
          <a:prstGeom prst="rect">
            <a:avLst/>
          </a:prstGeom>
        </p:spPr>
      </p:pic>
      <p:sp>
        <p:nvSpPr>
          <p:cNvPr id="20" name="Text 15"/>
          <p:cNvSpPr/>
          <p:nvPr/>
        </p:nvSpPr>
        <p:spPr>
          <a:xfrm>
            <a:off x="6245352" y="3447288"/>
            <a:ext cx="2276856" cy="320040"/>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BI Definitions</a:t>
            </a:r>
            <a:endParaRPr lang="en-US" sz="1150" dirty="0"/>
          </a:p>
        </p:txBody>
      </p:sp>
      <p:sp>
        <p:nvSpPr>
          <p:cNvPr id="21" name="Text 16"/>
          <p:cNvSpPr/>
          <p:nvPr/>
        </p:nvSpPr>
        <p:spPr>
          <a:xfrm>
            <a:off x="6245352" y="3758184"/>
            <a:ext cx="2276856" cy="68580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Dashboard context pulled from Power BI and Tableau</a:t>
            </a:r>
            <a:endParaRPr lang="en-US" sz="950" dirty="0"/>
          </a:p>
        </p:txBody>
      </p:sp>
      <p:sp>
        <p:nvSpPr>
          <p:cNvPr id="22" name="Shape 17"/>
          <p:cNvSpPr/>
          <p:nvPr/>
        </p:nvSpPr>
        <p:spPr>
          <a:xfrm>
            <a:off x="8869680" y="2697480"/>
            <a:ext cx="2606040" cy="1828800"/>
          </a:xfrm>
          <a:prstGeom prst="roundRect">
            <a:avLst>
              <a:gd name="adj" fmla="val 4000"/>
            </a:avLst>
          </a:prstGeom>
          <a:solidFill>
            <a:srgbClr val="EAF0F8"/>
          </a:solidFill>
          <a:ln/>
        </p:spPr>
      </p:sp>
      <p:sp>
        <p:nvSpPr>
          <p:cNvPr id="23" name="Shape 18"/>
          <p:cNvSpPr/>
          <p:nvPr/>
        </p:nvSpPr>
        <p:spPr>
          <a:xfrm>
            <a:off x="9034272" y="2862072"/>
            <a:ext cx="457200" cy="457200"/>
          </a:xfrm>
          <a:prstGeom prst="ellipse">
            <a:avLst/>
          </a:prstGeom>
          <a:solidFill>
            <a:srgbClr val="5C7699"/>
          </a:solidFill>
          <a:ln/>
        </p:spPr>
      </p:sp>
      <p:pic>
        <p:nvPicPr>
          <p:cNvPr id="24" name="Image 3" descr="/home/claude/snowflake_deck/icons/sitemap_white.png">    </p:cNvPr>
          <p:cNvPicPr>
            <a:picLocks noChangeAspect="1"/>
          </p:cNvPicPr>
          <p:nvPr/>
        </p:nvPicPr>
        <p:blipFill>
          <a:blip r:embed="rId4"/>
          <a:stretch>
            <a:fillRect/>
          </a:stretch>
        </p:blipFill>
        <p:spPr>
          <a:xfrm>
            <a:off x="9153144" y="2980944"/>
            <a:ext cx="219456" cy="219456"/>
          </a:xfrm>
          <a:prstGeom prst="rect">
            <a:avLst/>
          </a:prstGeom>
        </p:spPr>
      </p:pic>
      <p:sp>
        <p:nvSpPr>
          <p:cNvPr id="25" name="Text 19"/>
          <p:cNvSpPr/>
          <p:nvPr/>
        </p:nvSpPr>
        <p:spPr>
          <a:xfrm>
            <a:off x="9034272" y="3447288"/>
            <a:ext cx="2276856" cy="320040"/>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Semantic Views</a:t>
            </a:r>
            <a:endParaRPr lang="en-US" sz="1150" dirty="0"/>
          </a:p>
        </p:txBody>
      </p:sp>
      <p:sp>
        <p:nvSpPr>
          <p:cNvPr id="26" name="Text 20"/>
          <p:cNvSpPr/>
          <p:nvPr/>
        </p:nvSpPr>
        <p:spPr>
          <a:xfrm>
            <a:off x="9034272" y="3758184"/>
            <a:ext cx="2276856" cy="685800"/>
          </a:xfrm>
          <a:prstGeom prst="rect">
            <a:avLst/>
          </a:prstGeom>
          <a:noFill/>
          <a:ln/>
        </p:spPr>
        <p:txBody>
          <a:bodyPr wrap="square" rtlCol="0" anchor="ctr"/>
          <a:lstStyle/>
          <a:p>
            <a:pPr indent="0" marL="0">
              <a:lnSpc>
                <a:spcPct val="115000"/>
              </a:lnSpc>
              <a:buNone/>
            </a:pPr>
            <a:r>
              <a:rPr lang="en-US" sz="950" dirty="0">
                <a:solidFill>
                  <a:srgbClr val="68758A"/>
                </a:solidFill>
                <a:latin typeface="Calibri" pitchFamily="34" charset="0"/>
                <a:ea typeface="Calibri" pitchFamily="34" charset="-122"/>
                <a:cs typeface="Calibri" pitchFamily="34" charset="-120"/>
              </a:rPr>
              <a:t>Governed metric definitions held in Horizon Context</a:t>
            </a:r>
            <a:endParaRPr lang="en-US" sz="950" dirty="0"/>
          </a:p>
        </p:txBody>
      </p:sp>
      <p:sp>
        <p:nvSpPr>
          <p:cNvPr id="27" name="Shape 21"/>
          <p:cNvSpPr/>
          <p:nvPr/>
        </p:nvSpPr>
        <p:spPr>
          <a:xfrm>
            <a:off x="502920" y="4800600"/>
            <a:ext cx="11185855" cy="1234440"/>
          </a:xfrm>
          <a:prstGeom prst="roundRect">
            <a:avLst>
              <a:gd name="adj" fmla="val 5926"/>
            </a:avLst>
          </a:prstGeom>
          <a:solidFill>
            <a:srgbClr val="3A4556"/>
          </a:solidFill>
          <a:ln/>
        </p:spPr>
      </p:sp>
      <p:sp>
        <p:nvSpPr>
          <p:cNvPr id="28" name="Text 22"/>
          <p:cNvSpPr/>
          <p:nvPr/>
        </p:nvSpPr>
        <p:spPr>
          <a:xfrm>
            <a:off x="777240" y="4800600"/>
            <a:ext cx="10637215" cy="1234440"/>
          </a:xfrm>
          <a:prstGeom prst="rect">
            <a:avLst/>
          </a:prstGeom>
          <a:noFill/>
          <a:ln/>
        </p:spPr>
        <p:txBody>
          <a:bodyPr wrap="square" rtlCol="0" anchor="ctr"/>
          <a:lstStyle/>
          <a:p>
            <a:pPr algn="l" indent="0" marL="0">
              <a:lnSpc>
                <a:spcPct val="115000"/>
              </a:lnSpc>
              <a:buNone/>
            </a:pPr>
            <a:r>
              <a:rPr lang="en-US" sz="1250" i="1" dirty="0">
                <a:solidFill>
                  <a:srgbClr val="FFFFFF"/>
                </a:solidFill>
                <a:latin typeface="Calibri" pitchFamily="34" charset="0"/>
                <a:ea typeface="Calibri" pitchFamily="34" charset="-122"/>
                <a:cs typeface="Calibri" pitchFamily="34" charset="-120"/>
              </a:rPr>
              <a:t>How it routes a request: when an agent receives a question, Cortex Sense performs hybrid retrieval — matching candidate definitions by meaning and by exact keyword — then re-ranks so the most relevant definitions arrive first. It augments Horizon's governed definitions with live signals; it does not itself validate that a calculation is correct.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AGENT LAYER</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Snowflake CoWork: The Personal Work Agent</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02920" y="1691640"/>
            <a:ext cx="3520440" cy="1965960"/>
          </a:xfrm>
          <a:prstGeom prst="roundRect">
            <a:avLst>
              <a:gd name="adj" fmla="val 3721"/>
            </a:avLst>
          </a:prstGeom>
          <a:solidFill>
            <a:srgbClr val="EAF0F8"/>
          </a:solidFill>
          <a:ln/>
        </p:spPr>
      </p:sp>
      <p:sp>
        <p:nvSpPr>
          <p:cNvPr id="7" name="Shape 5"/>
          <p:cNvSpPr/>
          <p:nvPr/>
        </p:nvSpPr>
        <p:spPr>
          <a:xfrm>
            <a:off x="704088" y="1892808"/>
            <a:ext cx="457200" cy="457200"/>
          </a:xfrm>
          <a:prstGeom prst="ellipse">
            <a:avLst/>
          </a:prstGeom>
          <a:solidFill>
            <a:srgbClr val="5C7699"/>
          </a:solidFill>
          <a:ln/>
        </p:spPr>
      </p:sp>
      <p:pic>
        <p:nvPicPr>
          <p:cNvPr id="8" name="Image 0" descr="/home/claude/snowflake_deck/icons/history_white.png">    </p:cNvPr>
          <p:cNvPicPr>
            <a:picLocks noChangeAspect="1"/>
          </p:cNvPicPr>
          <p:nvPr/>
        </p:nvPicPr>
        <p:blipFill>
          <a:blip r:embed="rId1"/>
          <a:stretch>
            <a:fillRect/>
          </a:stretch>
        </p:blipFill>
        <p:spPr>
          <a:xfrm>
            <a:off x="822960" y="2011680"/>
            <a:ext cx="219456" cy="219456"/>
          </a:xfrm>
          <a:prstGeom prst="rect">
            <a:avLst/>
          </a:prstGeom>
        </p:spPr>
      </p:pic>
      <p:sp>
        <p:nvSpPr>
          <p:cNvPr id="9" name="Text 6"/>
          <p:cNvSpPr/>
          <p:nvPr/>
        </p:nvSpPr>
        <p:spPr>
          <a:xfrm>
            <a:off x="130759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Persistent Memory</a:t>
            </a:r>
            <a:endParaRPr lang="en-US" sz="1300" dirty="0"/>
          </a:p>
        </p:txBody>
      </p:sp>
      <p:sp>
        <p:nvSpPr>
          <p:cNvPr id="10" name="Text 7"/>
          <p:cNvSpPr/>
          <p:nvPr/>
        </p:nvSpPr>
        <p:spPr>
          <a:xfrm>
            <a:off x="70408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Retains preferences, role-specific patterns, and recurring tasks across sessions — no re-explaining context each time.</a:t>
            </a:r>
            <a:endParaRPr lang="en-US" sz="1050" dirty="0"/>
          </a:p>
        </p:txBody>
      </p:sp>
      <p:sp>
        <p:nvSpPr>
          <p:cNvPr id="11" name="Shape 8"/>
          <p:cNvSpPr/>
          <p:nvPr/>
        </p:nvSpPr>
        <p:spPr>
          <a:xfrm>
            <a:off x="4206240" y="1691640"/>
            <a:ext cx="3520440" cy="1965960"/>
          </a:xfrm>
          <a:prstGeom prst="roundRect">
            <a:avLst>
              <a:gd name="adj" fmla="val 3721"/>
            </a:avLst>
          </a:prstGeom>
          <a:solidFill>
            <a:srgbClr val="EAF0F8"/>
          </a:solidFill>
          <a:ln/>
        </p:spPr>
      </p:sp>
      <p:sp>
        <p:nvSpPr>
          <p:cNvPr id="12" name="Shape 9"/>
          <p:cNvSpPr/>
          <p:nvPr/>
        </p:nvSpPr>
        <p:spPr>
          <a:xfrm>
            <a:off x="4407408" y="1892808"/>
            <a:ext cx="457200" cy="457200"/>
          </a:xfrm>
          <a:prstGeom prst="ellipse">
            <a:avLst/>
          </a:prstGeom>
          <a:solidFill>
            <a:srgbClr val="5C7699"/>
          </a:solidFill>
          <a:ln/>
        </p:spPr>
      </p:sp>
      <p:pic>
        <p:nvPicPr>
          <p:cNvPr id="13" name="Image 1" descr="/home/claude/snowflake_deck/icons/wand_white.png">    </p:cNvPr>
          <p:cNvPicPr>
            <a:picLocks noChangeAspect="1"/>
          </p:cNvPicPr>
          <p:nvPr/>
        </p:nvPicPr>
        <p:blipFill>
          <a:blip r:embed="rId2"/>
          <a:stretch>
            <a:fillRect/>
          </a:stretch>
        </p:blipFill>
        <p:spPr>
          <a:xfrm>
            <a:off x="4526280" y="2011680"/>
            <a:ext cx="219456" cy="219456"/>
          </a:xfrm>
          <a:prstGeom prst="rect">
            <a:avLst/>
          </a:prstGeom>
        </p:spPr>
      </p:pic>
      <p:sp>
        <p:nvSpPr>
          <p:cNvPr id="14" name="Text 10"/>
          <p:cNvSpPr/>
          <p:nvPr/>
        </p:nvSpPr>
        <p:spPr>
          <a:xfrm>
            <a:off x="501091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User Skills</a:t>
            </a:r>
            <a:endParaRPr lang="en-US" sz="1300" dirty="0"/>
          </a:p>
        </p:txBody>
      </p:sp>
      <p:sp>
        <p:nvSpPr>
          <p:cNvPr id="15" name="Text 11"/>
          <p:cNvSpPr/>
          <p:nvPr/>
        </p:nvSpPr>
        <p:spPr>
          <a:xfrm>
            <a:off x="440740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Multi-step routines described once in natural language become reusable, shareable organizational automations.</a:t>
            </a:r>
            <a:endParaRPr lang="en-US" sz="1050" dirty="0"/>
          </a:p>
        </p:txBody>
      </p:sp>
      <p:sp>
        <p:nvSpPr>
          <p:cNvPr id="16" name="Shape 12"/>
          <p:cNvSpPr/>
          <p:nvPr/>
        </p:nvSpPr>
        <p:spPr>
          <a:xfrm>
            <a:off x="7909560" y="1691640"/>
            <a:ext cx="3520440" cy="1965960"/>
          </a:xfrm>
          <a:prstGeom prst="roundRect">
            <a:avLst>
              <a:gd name="adj" fmla="val 3721"/>
            </a:avLst>
          </a:prstGeom>
          <a:solidFill>
            <a:srgbClr val="EAF0F8"/>
          </a:solidFill>
          <a:ln/>
        </p:spPr>
      </p:sp>
      <p:sp>
        <p:nvSpPr>
          <p:cNvPr id="17" name="Shape 13"/>
          <p:cNvSpPr/>
          <p:nvPr/>
        </p:nvSpPr>
        <p:spPr>
          <a:xfrm>
            <a:off x="8110728" y="1892808"/>
            <a:ext cx="457200" cy="457200"/>
          </a:xfrm>
          <a:prstGeom prst="ellipse">
            <a:avLst/>
          </a:prstGeom>
          <a:solidFill>
            <a:srgbClr val="5C7699"/>
          </a:solidFill>
          <a:ln/>
        </p:spPr>
      </p:sp>
      <p:pic>
        <p:nvPicPr>
          <p:cNvPr id="18" name="Image 2" descr="/home/claude/snowflake_deck/icons/plug_white.png">    </p:cNvPr>
          <p:cNvPicPr>
            <a:picLocks noChangeAspect="1"/>
          </p:cNvPicPr>
          <p:nvPr/>
        </p:nvPicPr>
        <p:blipFill>
          <a:blip r:embed="rId3"/>
          <a:stretch>
            <a:fillRect/>
          </a:stretch>
        </p:blipFill>
        <p:spPr>
          <a:xfrm>
            <a:off x="8229600" y="2011680"/>
            <a:ext cx="219456" cy="219456"/>
          </a:xfrm>
          <a:prstGeom prst="rect">
            <a:avLst/>
          </a:prstGeom>
        </p:spPr>
      </p:pic>
      <p:sp>
        <p:nvSpPr>
          <p:cNvPr id="19" name="Text 14"/>
          <p:cNvSpPr/>
          <p:nvPr/>
        </p:nvSpPr>
        <p:spPr>
          <a:xfrm>
            <a:off x="871423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MCP Connectors</a:t>
            </a:r>
            <a:endParaRPr lang="en-US" sz="1300" dirty="0"/>
          </a:p>
        </p:txBody>
      </p:sp>
      <p:sp>
        <p:nvSpPr>
          <p:cNvPr id="20" name="Text 15"/>
          <p:cNvSpPr/>
          <p:nvPr/>
        </p:nvSpPr>
        <p:spPr>
          <a:xfrm>
            <a:off x="8110728" y="2459736"/>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Governed, standardized connections let CoWork draft in Gmail, update Jira, or post to Slack — inside RBAC boundaries.</a:t>
            </a:r>
            <a:endParaRPr lang="en-US" sz="1050" dirty="0"/>
          </a:p>
        </p:txBody>
      </p:sp>
      <p:sp>
        <p:nvSpPr>
          <p:cNvPr id="21" name="Shape 16"/>
          <p:cNvSpPr/>
          <p:nvPr/>
        </p:nvSpPr>
        <p:spPr>
          <a:xfrm>
            <a:off x="502920" y="3858768"/>
            <a:ext cx="3520440" cy="1965960"/>
          </a:xfrm>
          <a:prstGeom prst="roundRect">
            <a:avLst>
              <a:gd name="adj" fmla="val 3721"/>
            </a:avLst>
          </a:prstGeom>
          <a:solidFill>
            <a:srgbClr val="EAF0F8"/>
          </a:solidFill>
          <a:ln/>
        </p:spPr>
      </p:sp>
      <p:sp>
        <p:nvSpPr>
          <p:cNvPr id="22" name="Shape 17"/>
          <p:cNvSpPr/>
          <p:nvPr/>
        </p:nvSpPr>
        <p:spPr>
          <a:xfrm>
            <a:off x="704088" y="4059936"/>
            <a:ext cx="457200" cy="457200"/>
          </a:xfrm>
          <a:prstGeom prst="ellipse">
            <a:avLst/>
          </a:prstGeom>
          <a:solidFill>
            <a:srgbClr val="5C7699"/>
          </a:solidFill>
          <a:ln/>
        </p:spPr>
      </p:sp>
      <p:pic>
        <p:nvPicPr>
          <p:cNvPr id="23" name="Image 3" descr="/home/claude/snowflake_deck/icons/bolt_white.png">    </p:cNvPr>
          <p:cNvPicPr>
            <a:picLocks noChangeAspect="1"/>
          </p:cNvPicPr>
          <p:nvPr/>
        </p:nvPicPr>
        <p:blipFill>
          <a:blip r:embed="rId4"/>
          <a:stretch>
            <a:fillRect/>
          </a:stretch>
        </p:blipFill>
        <p:spPr>
          <a:xfrm>
            <a:off x="822960" y="4178808"/>
            <a:ext cx="219456" cy="219456"/>
          </a:xfrm>
          <a:prstGeom prst="rect">
            <a:avLst/>
          </a:prstGeom>
        </p:spPr>
      </p:pic>
      <p:sp>
        <p:nvSpPr>
          <p:cNvPr id="24" name="Text 18"/>
          <p:cNvSpPr/>
          <p:nvPr/>
        </p:nvSpPr>
        <p:spPr>
          <a:xfrm>
            <a:off x="130759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Async Agent API</a:t>
            </a:r>
            <a:endParaRPr lang="en-US" sz="1300" dirty="0"/>
          </a:p>
        </p:txBody>
      </p:sp>
      <p:sp>
        <p:nvSpPr>
          <p:cNvPr id="25" name="Text 19"/>
          <p:cNvSpPr/>
          <p:nvPr/>
        </p:nvSpPr>
        <p:spPr>
          <a:xfrm>
            <a:off x="70408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Long-running, multi-step research and tasks execute in the background and notify the user on completion.</a:t>
            </a:r>
            <a:endParaRPr lang="en-US" sz="1050" dirty="0"/>
          </a:p>
        </p:txBody>
      </p:sp>
      <p:sp>
        <p:nvSpPr>
          <p:cNvPr id="26" name="Shape 20"/>
          <p:cNvSpPr/>
          <p:nvPr/>
        </p:nvSpPr>
        <p:spPr>
          <a:xfrm>
            <a:off x="4206240" y="3858768"/>
            <a:ext cx="3520440" cy="1965960"/>
          </a:xfrm>
          <a:prstGeom prst="roundRect">
            <a:avLst>
              <a:gd name="adj" fmla="val 3721"/>
            </a:avLst>
          </a:prstGeom>
          <a:solidFill>
            <a:srgbClr val="EAF0F8"/>
          </a:solidFill>
          <a:ln/>
        </p:spPr>
      </p:sp>
      <p:sp>
        <p:nvSpPr>
          <p:cNvPr id="27" name="Shape 21"/>
          <p:cNvSpPr/>
          <p:nvPr/>
        </p:nvSpPr>
        <p:spPr>
          <a:xfrm>
            <a:off x="4407408" y="4059936"/>
            <a:ext cx="457200" cy="457200"/>
          </a:xfrm>
          <a:prstGeom prst="ellipse">
            <a:avLst/>
          </a:prstGeom>
          <a:solidFill>
            <a:srgbClr val="5C7699"/>
          </a:solidFill>
          <a:ln/>
        </p:spPr>
      </p:sp>
      <p:pic>
        <p:nvPicPr>
          <p:cNvPr id="28" name="Image 4" descr="/home/claude/snowflake_deck/icons/flask_white.png">    </p:cNvPr>
          <p:cNvPicPr>
            <a:picLocks noChangeAspect="1"/>
          </p:cNvPicPr>
          <p:nvPr/>
        </p:nvPicPr>
        <p:blipFill>
          <a:blip r:embed="rId5"/>
          <a:stretch>
            <a:fillRect/>
          </a:stretch>
        </p:blipFill>
        <p:spPr>
          <a:xfrm>
            <a:off x="4526280" y="4178808"/>
            <a:ext cx="219456" cy="219456"/>
          </a:xfrm>
          <a:prstGeom prst="rect">
            <a:avLst/>
          </a:prstGeom>
        </p:spPr>
      </p:pic>
      <p:sp>
        <p:nvSpPr>
          <p:cNvPr id="29" name="Text 22"/>
          <p:cNvSpPr/>
          <p:nvPr/>
        </p:nvSpPr>
        <p:spPr>
          <a:xfrm>
            <a:off x="501091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Deep Research &amp; Analytical Search</a:t>
            </a:r>
            <a:endParaRPr lang="en-US" sz="1300" dirty="0"/>
          </a:p>
        </p:txBody>
      </p:sp>
      <p:sp>
        <p:nvSpPr>
          <p:cNvPr id="30" name="Text 23"/>
          <p:cNvSpPr/>
          <p:nvPr/>
        </p:nvSpPr>
        <p:spPr>
          <a:xfrm>
            <a:off x="440740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Multi-agent orchestration examines complex questions across structured and unstructured data at once.</a:t>
            </a:r>
            <a:endParaRPr lang="en-US" sz="1050" dirty="0"/>
          </a:p>
        </p:txBody>
      </p:sp>
      <p:sp>
        <p:nvSpPr>
          <p:cNvPr id="31" name="Shape 24"/>
          <p:cNvSpPr/>
          <p:nvPr/>
        </p:nvSpPr>
        <p:spPr>
          <a:xfrm>
            <a:off x="7909560" y="3858768"/>
            <a:ext cx="3520440" cy="1965960"/>
          </a:xfrm>
          <a:prstGeom prst="roundRect">
            <a:avLst>
              <a:gd name="adj" fmla="val 3721"/>
            </a:avLst>
          </a:prstGeom>
          <a:solidFill>
            <a:srgbClr val="EAF0F8"/>
          </a:solidFill>
          <a:ln/>
        </p:spPr>
      </p:sp>
      <p:sp>
        <p:nvSpPr>
          <p:cNvPr id="32" name="Shape 25"/>
          <p:cNvSpPr/>
          <p:nvPr/>
        </p:nvSpPr>
        <p:spPr>
          <a:xfrm>
            <a:off x="8110728" y="4059936"/>
            <a:ext cx="457200" cy="457200"/>
          </a:xfrm>
          <a:prstGeom prst="ellipse">
            <a:avLst/>
          </a:prstGeom>
          <a:solidFill>
            <a:srgbClr val="5C7699"/>
          </a:solidFill>
          <a:ln/>
        </p:spPr>
      </p:sp>
      <p:pic>
        <p:nvPicPr>
          <p:cNvPr id="33" name="Image 5" descr="/home/claude/snowflake_deck/icons/comments_white.png">    </p:cNvPr>
          <p:cNvPicPr>
            <a:picLocks noChangeAspect="1"/>
          </p:cNvPicPr>
          <p:nvPr/>
        </p:nvPicPr>
        <p:blipFill>
          <a:blip r:embed="rId6"/>
          <a:stretch>
            <a:fillRect/>
          </a:stretch>
        </p:blipFill>
        <p:spPr>
          <a:xfrm>
            <a:off x="8229600" y="4178808"/>
            <a:ext cx="219456" cy="219456"/>
          </a:xfrm>
          <a:prstGeom prst="rect">
            <a:avLst/>
          </a:prstGeom>
        </p:spPr>
      </p:pic>
      <p:sp>
        <p:nvSpPr>
          <p:cNvPr id="34" name="Text 26"/>
          <p:cNvSpPr/>
          <p:nvPr/>
        </p:nvSpPr>
        <p:spPr>
          <a:xfrm>
            <a:off x="8714232" y="4041648"/>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Shared Live Artifacts</a:t>
            </a:r>
            <a:endParaRPr lang="en-US" sz="1300" dirty="0"/>
          </a:p>
        </p:txBody>
      </p:sp>
      <p:sp>
        <p:nvSpPr>
          <p:cNvPr id="35" name="Text 27"/>
          <p:cNvSpPr/>
          <p:nvPr/>
        </p:nvSpPr>
        <p:spPr>
          <a:xfrm>
            <a:off x="8110728" y="4626864"/>
            <a:ext cx="3118104" cy="106070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Analyses and dashboards stay live and shareable, refreshed for every viewer under their own row/column access.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WHY IT WORKS</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Why Context Wins: Accuracy Under Test</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02920" y="1783080"/>
            <a:ext cx="5349240" cy="2880360"/>
          </a:xfrm>
          <a:prstGeom prst="roundRect">
            <a:avLst>
              <a:gd name="adj" fmla="val 2540"/>
            </a:avLst>
          </a:prstGeom>
          <a:solidFill>
            <a:srgbClr val="EAF0F8"/>
          </a:solidFill>
          <a:ln/>
        </p:spPr>
      </p:sp>
      <p:sp>
        <p:nvSpPr>
          <p:cNvPr id="7" name="Text 5"/>
          <p:cNvSpPr/>
          <p:nvPr/>
        </p:nvSpPr>
        <p:spPr>
          <a:xfrm>
            <a:off x="868680" y="2103120"/>
            <a:ext cx="4572000" cy="640080"/>
          </a:xfrm>
          <a:prstGeom prst="rect">
            <a:avLst/>
          </a:prstGeom>
          <a:noFill/>
          <a:ln/>
        </p:spPr>
        <p:txBody>
          <a:bodyPr wrap="square" rtlCol="0" anchor="ctr"/>
          <a:lstStyle/>
          <a:p>
            <a:pPr algn="l" indent="0" marL="0">
              <a:buNone/>
            </a:pPr>
            <a:r>
              <a:rPr lang="en-US" sz="5400" b="1" dirty="0">
                <a:solidFill>
                  <a:srgbClr val="5C7699"/>
                </a:solidFill>
                <a:latin typeface="Cambria" pitchFamily="34" charset="0"/>
                <a:ea typeface="Cambria" pitchFamily="34" charset="-122"/>
                <a:cs typeface="Cambria" pitchFamily="34" charset="-120"/>
              </a:rPr>
              <a:t>83%</a:t>
            </a:r>
            <a:endParaRPr lang="en-US" sz="5400" dirty="0"/>
          </a:p>
        </p:txBody>
      </p:sp>
      <p:sp>
        <p:nvSpPr>
          <p:cNvPr id="8" name="Text 6"/>
          <p:cNvSpPr/>
          <p:nvPr/>
        </p:nvSpPr>
        <p:spPr>
          <a:xfrm>
            <a:off x="868680" y="2743200"/>
            <a:ext cx="4572000" cy="548640"/>
          </a:xfrm>
          <a:prstGeom prst="rect">
            <a:avLst/>
          </a:prstGeom>
          <a:noFill/>
          <a:ln/>
        </p:spPr>
        <p:txBody>
          <a:bodyPr wrap="square" rtlCol="0" anchor="t"/>
          <a:lstStyle/>
          <a:p>
            <a:pPr algn="l" indent="0" marL="0">
              <a:lnSpc>
                <a:spcPct val="110000"/>
              </a:lnSpc>
              <a:buNone/>
            </a:pPr>
            <a:r>
              <a:rPr lang="en-US" sz="1100" dirty="0">
                <a:solidFill>
                  <a:srgbClr val="68758A"/>
                </a:solidFill>
                <a:latin typeface="Calibri" pitchFamily="34" charset="0"/>
                <a:ea typeface="Calibri" pitchFamily="34" charset="-122"/>
                <a:cs typeface="Calibri" pitchFamily="34" charset="-120"/>
              </a:rPr>
              <a:t>Accuracy on complex enterprise queries — CoWork grounded in Cortex Sense's native context layer</a:t>
            </a:r>
            <a:endParaRPr lang="en-US" sz="1100" dirty="0"/>
          </a:p>
        </p:txBody>
      </p:sp>
      <p:sp>
        <p:nvSpPr>
          <p:cNvPr id="9" name="Shape 7"/>
          <p:cNvSpPr/>
          <p:nvPr/>
        </p:nvSpPr>
        <p:spPr>
          <a:xfrm>
            <a:off x="6309360" y="1783080"/>
            <a:ext cx="5349240" cy="2880360"/>
          </a:xfrm>
          <a:prstGeom prst="roundRect">
            <a:avLst>
              <a:gd name="adj" fmla="val 2540"/>
            </a:avLst>
          </a:prstGeom>
          <a:solidFill>
            <a:srgbClr val="FBEEE6"/>
          </a:solidFill>
          <a:ln/>
        </p:spPr>
      </p:sp>
      <p:sp>
        <p:nvSpPr>
          <p:cNvPr id="10" name="Text 8"/>
          <p:cNvSpPr/>
          <p:nvPr/>
        </p:nvSpPr>
        <p:spPr>
          <a:xfrm>
            <a:off x="6675120" y="2103120"/>
            <a:ext cx="4572000" cy="640080"/>
          </a:xfrm>
          <a:prstGeom prst="rect">
            <a:avLst/>
          </a:prstGeom>
          <a:noFill/>
          <a:ln/>
        </p:spPr>
        <p:txBody>
          <a:bodyPr wrap="square" rtlCol="0" anchor="ctr"/>
          <a:lstStyle/>
          <a:p>
            <a:pPr algn="l" indent="0" marL="0">
              <a:buNone/>
            </a:pPr>
            <a:r>
              <a:rPr lang="en-US" sz="5400" b="1" dirty="0">
                <a:solidFill>
                  <a:srgbClr val="C97F5C"/>
                </a:solidFill>
                <a:latin typeface="Cambria" pitchFamily="34" charset="0"/>
                <a:ea typeface="Cambria" pitchFamily="34" charset="-122"/>
                <a:cs typeface="Cambria" pitchFamily="34" charset="-120"/>
              </a:rPr>
              <a:t>23%</a:t>
            </a:r>
            <a:endParaRPr lang="en-US" sz="5400" dirty="0"/>
          </a:p>
        </p:txBody>
      </p:sp>
      <p:sp>
        <p:nvSpPr>
          <p:cNvPr id="11" name="Text 9"/>
          <p:cNvSpPr/>
          <p:nvPr/>
        </p:nvSpPr>
        <p:spPr>
          <a:xfrm>
            <a:off x="6675120" y="2743200"/>
            <a:ext cx="4572000" cy="548640"/>
          </a:xfrm>
          <a:prstGeom prst="rect">
            <a:avLst/>
          </a:prstGeom>
          <a:noFill/>
          <a:ln/>
        </p:spPr>
        <p:txBody>
          <a:bodyPr wrap="square" rtlCol="0" anchor="t"/>
          <a:lstStyle/>
          <a:p>
            <a:pPr algn="l" indent="0" marL="0">
              <a:lnSpc>
                <a:spcPct val="110000"/>
              </a:lnSpc>
              <a:buNone/>
            </a:pPr>
            <a:r>
              <a:rPr lang="en-US" sz="1100" dirty="0">
                <a:solidFill>
                  <a:srgbClr val="68758A"/>
                </a:solidFill>
                <a:latin typeface="Calibri" pitchFamily="34" charset="0"/>
                <a:ea typeface="Calibri" pitchFamily="34" charset="-122"/>
                <a:cs typeface="Calibri" pitchFamily="34" charset="-120"/>
              </a:rPr>
              <a:t>Accuracy for generic frontier coding agents connected to the same data over a bare MCP schema, with no business context</a:t>
            </a:r>
            <a:endParaRPr lang="en-US" sz="1100" dirty="0"/>
          </a:p>
        </p:txBody>
      </p:sp>
      <p:sp>
        <p:nvSpPr>
          <p:cNvPr id="12" name="Shape 10"/>
          <p:cNvSpPr/>
          <p:nvPr/>
        </p:nvSpPr>
        <p:spPr>
          <a:xfrm>
            <a:off x="502920" y="5029200"/>
            <a:ext cx="11185855" cy="1234440"/>
          </a:xfrm>
          <a:prstGeom prst="roundRect">
            <a:avLst>
              <a:gd name="adj" fmla="val 5926"/>
            </a:avLst>
          </a:prstGeom>
          <a:solidFill>
            <a:srgbClr val="3A4556"/>
          </a:solidFill>
          <a:ln/>
        </p:spPr>
      </p:sp>
      <p:sp>
        <p:nvSpPr>
          <p:cNvPr id="13" name="Text 11"/>
          <p:cNvSpPr/>
          <p:nvPr/>
        </p:nvSpPr>
        <p:spPr>
          <a:xfrm>
            <a:off x="777240" y="5029200"/>
            <a:ext cx="10637215" cy="1234440"/>
          </a:xfrm>
          <a:prstGeom prst="rect">
            <a:avLst/>
          </a:prstGeom>
          <a:noFill/>
          <a:ln/>
        </p:spPr>
        <p:txBody>
          <a:bodyPr wrap="square" rtlCol="0" anchor="ctr"/>
          <a:lstStyle/>
          <a:p>
            <a:pPr algn="l" indent="0" marL="0">
              <a:lnSpc>
                <a:spcPct val="115000"/>
              </a:lnSpc>
              <a:buNone/>
            </a:pPr>
            <a:r>
              <a:rPr lang="en-US" sz="1300" i="1" dirty="0">
                <a:solidFill>
                  <a:srgbClr val="FFFFFF"/>
                </a:solidFill>
                <a:latin typeface="Calibri" pitchFamily="34" charset="0"/>
                <a:ea typeface="Calibri" pitchFamily="34" charset="-122"/>
                <a:cs typeface="Calibri" pitchFamily="34" charset="-120"/>
              </a:rPr>
              <a:t>Generic agents fail without context — not because the underlying model is weak, but because a raw schema does not encode what "gross revenue" or "attributed member" means. The gap is a governance and semantic-modeling problem, not a model-selection one.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TRUST &amp; SAFETY</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PHI / PII Protection at Ingestion</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02920" y="1691640"/>
            <a:ext cx="5532120" cy="3931920"/>
          </a:xfrm>
          <a:prstGeom prst="roundRect">
            <a:avLst>
              <a:gd name="adj" fmla="val 1860"/>
            </a:avLst>
          </a:prstGeom>
          <a:solidFill>
            <a:srgbClr val="EAF0F8"/>
          </a:solidFill>
          <a:ln/>
        </p:spPr>
      </p:sp>
      <p:sp>
        <p:nvSpPr>
          <p:cNvPr id="7" name="Text 5"/>
          <p:cNvSpPr/>
          <p:nvPr/>
        </p:nvSpPr>
        <p:spPr>
          <a:xfrm>
            <a:off x="731520" y="1874520"/>
            <a:ext cx="5120640" cy="457200"/>
          </a:xfrm>
          <a:prstGeom prst="rect">
            <a:avLst/>
          </a:prstGeom>
          <a:noFill/>
          <a:ln/>
        </p:spPr>
        <p:txBody>
          <a:bodyPr wrap="square" rtlCol="0" anchor="ctr"/>
          <a:lstStyle/>
          <a:p>
            <a:pPr indent="0" marL="0">
              <a:buNone/>
            </a:pPr>
            <a:r>
              <a:rPr lang="en-US" sz="1100" b="1" spc="50" kern="0" dirty="0">
                <a:solidFill>
                  <a:srgbClr val="5C7699"/>
                </a:solidFill>
                <a:latin typeface="Calibri" pitchFamily="34" charset="0"/>
                <a:ea typeface="Calibri" pitchFamily="34" charset="-122"/>
                <a:cs typeface="Calibri" pitchFamily="34" charset="-120"/>
              </a:rPr>
              <a:t>STRUCTURED DATA: DYNAMIC DATA MASKING</a:t>
            </a:r>
            <a:endParaRPr lang="en-US" sz="1100" dirty="0"/>
          </a:p>
        </p:txBody>
      </p:sp>
      <p:sp>
        <p:nvSpPr>
          <p:cNvPr id="8" name="Text 6"/>
          <p:cNvSpPr/>
          <p:nvPr/>
        </p:nvSpPr>
        <p:spPr>
          <a:xfrm>
            <a:off x="731520" y="2423160"/>
            <a:ext cx="5074920" cy="310896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A masking policy is attached once to a column (SSN, DOB, member ID) at the table or view level.</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Snowflake evaluates the querying role at run time and reveals plaintext, a partial mask, or a full mask automatically — the same policy protects Snowsight, CoWork, TOAD, DBeaver, and BI tools alike, because it lives in the data layer, not the client.</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No separate redaction step for every consuming application.</a:t>
            </a:r>
            <a:endParaRPr lang="en-US" sz="1200" dirty="0"/>
          </a:p>
        </p:txBody>
      </p:sp>
      <p:sp>
        <p:nvSpPr>
          <p:cNvPr id="9" name="Shape 7"/>
          <p:cNvSpPr/>
          <p:nvPr/>
        </p:nvSpPr>
        <p:spPr>
          <a:xfrm>
            <a:off x="6355080" y="1691640"/>
            <a:ext cx="5349240" cy="3931920"/>
          </a:xfrm>
          <a:prstGeom prst="roundRect">
            <a:avLst>
              <a:gd name="adj" fmla="val 1860"/>
            </a:avLst>
          </a:prstGeom>
          <a:solidFill>
            <a:srgbClr val="FBEEE6"/>
          </a:solidFill>
          <a:ln/>
        </p:spPr>
      </p:sp>
      <p:sp>
        <p:nvSpPr>
          <p:cNvPr id="10" name="Text 8"/>
          <p:cNvSpPr/>
          <p:nvPr/>
        </p:nvSpPr>
        <p:spPr>
          <a:xfrm>
            <a:off x="6583680" y="1874520"/>
            <a:ext cx="4937760" cy="457200"/>
          </a:xfrm>
          <a:prstGeom prst="rect">
            <a:avLst/>
          </a:prstGeom>
          <a:noFill/>
          <a:ln/>
        </p:spPr>
        <p:txBody>
          <a:bodyPr wrap="square" rtlCol="0" anchor="ctr"/>
          <a:lstStyle/>
          <a:p>
            <a:pPr indent="0" marL="0">
              <a:buNone/>
            </a:pPr>
            <a:r>
              <a:rPr lang="en-US" sz="1100" b="1" spc="50" kern="0" dirty="0">
                <a:solidFill>
                  <a:srgbClr val="C97F5C"/>
                </a:solidFill>
                <a:latin typeface="Calibri" pitchFamily="34" charset="0"/>
                <a:ea typeface="Calibri" pitchFamily="34" charset="-122"/>
                <a:cs typeface="Calibri" pitchFamily="34" charset="-120"/>
              </a:rPr>
              <a:t>UNSTRUCTURED DATA: CORTEX AI_REDACT</a:t>
            </a:r>
            <a:endParaRPr lang="en-US" sz="1100" dirty="0"/>
          </a:p>
        </p:txBody>
      </p:sp>
      <p:sp>
        <p:nvSpPr>
          <p:cNvPr id="11" name="Text 9"/>
          <p:cNvSpPr/>
          <p:nvPr/>
        </p:nvSpPr>
        <p:spPr>
          <a:xfrm>
            <a:off x="6583680" y="2423160"/>
            <a:ext cx="4937760" cy="310896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Free-text clinical notes and scanned documents pass through AI_REDACT before they are chunked and embedded.</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Names, addresses, phone numbers, and dates dissolve into redacted placeholders — no custom regex library to maintain per document type.</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Sanitized text is what reaches Cortex Search and any downstream LLM — PHI never leaves the governed pipeline, and never trains a foundation model.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THE AI STACK · PIPELINES</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Smart Data Engineering: Declarative, Not Hand-Written</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5855" cy="914400"/>
        </p:xfrm>
        <a:graphic>
          <a:graphicData uri="http://schemas.openxmlformats.org/drawingml/2006/table">
            <a:tbl>
              <a:tblPr/>
              <a:tblGrid>
                <a:gridCol w="2240280"/>
                <a:gridCol w="4480560"/>
                <a:gridCol w="4434840"/>
              </a:tblGrid>
              <a:tr h="384048">
                <a:tc>
                  <a:txBody>
                    <a:bodyPr/>
                    <a:lstStyle/>
                    <a:p>
                      <a:pPr algn="l" indent="0" marL="0">
                        <a:buNone/>
                      </a:pP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3A455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Legacy — Spark / Traditional ETL</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6875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Smart — Dynamic Tables &amp; dbt on Snowflake</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5C7699"/>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Infrastructure</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Separate cluster to provision and patch</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Zero external infrastructure — runs on Snowflake compute</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Refresh Logic</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Fragile, hand-written incremental logic</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Declarative target freshness — Snowflake computes the plan</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Dependency Tracking</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Manual, multi-tool dependency graphs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Automated dependency tracking, built into Dynamic Tables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Transformations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External Python/Scala jobs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Native dbt Core / dbt Fusion + Snowpark, adjacent to the data</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bl>
          </a:graphicData>
        </a:graphic>
      </p:graphicFrame>
      <p:sp>
        <p:nvSpPr>
          <p:cNvPr id="7" name="Shape 4"/>
          <p:cNvSpPr/>
          <p:nvPr/>
        </p:nvSpPr>
        <p:spPr>
          <a:xfrm>
            <a:off x="502920" y="4160520"/>
            <a:ext cx="5440680" cy="1600200"/>
          </a:xfrm>
          <a:prstGeom prst="roundRect">
            <a:avLst>
              <a:gd name="adj" fmla="val 4571"/>
            </a:avLst>
          </a:prstGeom>
          <a:solidFill>
            <a:srgbClr val="EAF4EE"/>
          </a:solidFill>
          <a:ln/>
        </p:spPr>
      </p:sp>
      <p:sp>
        <p:nvSpPr>
          <p:cNvPr id="8" name="Text 5"/>
          <p:cNvSpPr/>
          <p:nvPr/>
        </p:nvSpPr>
        <p:spPr>
          <a:xfrm>
            <a:off x="731520" y="4297680"/>
            <a:ext cx="4937760" cy="274320"/>
          </a:xfrm>
          <a:prstGeom prst="rect">
            <a:avLst/>
          </a:prstGeom>
          <a:noFill/>
          <a:ln/>
        </p:spPr>
        <p:txBody>
          <a:bodyPr wrap="square" rtlCol="0" anchor="ctr"/>
          <a:lstStyle/>
          <a:p>
            <a:pPr indent="0" marL="0">
              <a:buNone/>
            </a:pPr>
            <a:r>
              <a:rPr lang="en-US" sz="1050" b="1" spc="100" kern="0" dirty="0">
                <a:solidFill>
                  <a:srgbClr val="5E9C76"/>
                </a:solidFill>
                <a:latin typeface="Calibri" pitchFamily="34" charset="0"/>
                <a:ea typeface="Calibri" pitchFamily="34" charset="-122"/>
                <a:cs typeface="Calibri" pitchFamily="34" charset="-120"/>
              </a:rPr>
              <a:t>PROOF POINT — PFIZER</a:t>
            </a:r>
            <a:endParaRPr lang="en-US" sz="1050" dirty="0"/>
          </a:p>
        </p:txBody>
      </p:sp>
      <p:sp>
        <p:nvSpPr>
          <p:cNvPr id="9" name="Text 6"/>
          <p:cNvSpPr/>
          <p:nvPr/>
        </p:nvSpPr>
        <p:spPr>
          <a:xfrm>
            <a:off x="731520" y="4599432"/>
            <a:ext cx="4937760" cy="457200"/>
          </a:xfrm>
          <a:prstGeom prst="rect">
            <a:avLst/>
          </a:prstGeom>
          <a:noFill/>
          <a:ln/>
        </p:spPr>
        <p:txBody>
          <a:bodyPr wrap="square" rtlCol="0" anchor="ctr"/>
          <a:lstStyle/>
          <a:p>
            <a:pPr indent="0" marL="0">
              <a:buNone/>
            </a:pPr>
            <a:r>
              <a:rPr lang="en-US" sz="1050" dirty="0">
                <a:solidFill>
                  <a:srgbClr val="3A4556"/>
                </a:solidFill>
                <a:latin typeface="Calibri" pitchFamily="34" charset="0"/>
                <a:ea typeface="Calibri" pitchFamily="34" charset="-122"/>
                <a:cs typeface="Calibri" pitchFamily="34" charset="-120"/>
              </a:rPr>
              <a:t>Migrated legacy Apache Spark workloads to Snowpark with zero code changes.</a:t>
            </a:r>
            <a:endParaRPr lang="en-US" sz="1050" dirty="0"/>
          </a:p>
        </p:txBody>
      </p:sp>
      <p:sp>
        <p:nvSpPr>
          <p:cNvPr id="10" name="Text 7"/>
          <p:cNvSpPr/>
          <p:nvPr/>
        </p:nvSpPr>
        <p:spPr>
          <a:xfrm>
            <a:off x="731520" y="5074920"/>
            <a:ext cx="4937760" cy="548640"/>
          </a:xfrm>
          <a:prstGeom prst="rect">
            <a:avLst/>
          </a:prstGeom>
          <a:noFill/>
          <a:ln/>
        </p:spPr>
        <p:txBody>
          <a:bodyPr wrap="square" rtlCol="0" anchor="ctr"/>
          <a:lstStyle/>
          <a:p>
            <a:pPr indent="0" marL="0">
              <a:buNone/>
            </a:pPr>
            <a:r>
              <a:rPr lang="en-US" sz="1300" b="1" dirty="0">
                <a:solidFill>
                  <a:srgbClr val="3A4556"/>
                </a:solidFill>
              </a:rPr>
              <a:t>5.1x faster   </a:t>
            </a:r>
            <a:pPr indent="0" marL="0">
              <a:buNone/>
            </a:pPr>
            <a:r>
              <a:rPr lang="en-US" sz="1300" b="1" dirty="0">
                <a:solidFill>
                  <a:srgbClr val="3A4556"/>
                </a:solidFill>
              </a:rPr>
              <a:t>57% lower TCO   </a:t>
            </a:r>
            <a:pPr indent="0" marL="0">
              <a:buNone/>
            </a:pPr>
            <a:r>
              <a:rPr lang="en-US" sz="1300" b="1" dirty="0">
                <a:solidFill>
                  <a:srgbClr val="3A4556"/>
                </a:solidFill>
              </a:rPr>
              <a:t>42% cost reduction</a:t>
            </a:r>
            <a:endParaRPr lang="en-US" sz="1300" dirty="0"/>
          </a:p>
        </p:txBody>
      </p:sp>
      <p:sp>
        <p:nvSpPr>
          <p:cNvPr id="11" name="Shape 8"/>
          <p:cNvSpPr/>
          <p:nvPr/>
        </p:nvSpPr>
        <p:spPr>
          <a:xfrm>
            <a:off x="6263640" y="4160520"/>
            <a:ext cx="5394960" cy="1600200"/>
          </a:xfrm>
          <a:prstGeom prst="roundRect">
            <a:avLst>
              <a:gd name="adj" fmla="val 4571"/>
            </a:avLst>
          </a:prstGeom>
          <a:solidFill>
            <a:srgbClr val="FBEEE6"/>
          </a:solidFill>
          <a:ln/>
        </p:spPr>
      </p:sp>
      <p:sp>
        <p:nvSpPr>
          <p:cNvPr id="12" name="Text 9"/>
          <p:cNvSpPr/>
          <p:nvPr/>
        </p:nvSpPr>
        <p:spPr>
          <a:xfrm>
            <a:off x="6492240" y="4297680"/>
            <a:ext cx="4937760" cy="274320"/>
          </a:xfrm>
          <a:prstGeom prst="rect">
            <a:avLst/>
          </a:prstGeom>
          <a:noFill/>
          <a:ln/>
        </p:spPr>
        <p:txBody>
          <a:bodyPr wrap="square" rtlCol="0" anchor="ctr"/>
          <a:lstStyle/>
          <a:p>
            <a:pPr indent="0" marL="0">
              <a:buNone/>
            </a:pPr>
            <a:r>
              <a:rPr lang="en-US" sz="1050" b="1" spc="100" kern="0" dirty="0">
                <a:solidFill>
                  <a:srgbClr val="C97F5C"/>
                </a:solidFill>
                <a:latin typeface="Calibri" pitchFamily="34" charset="0"/>
                <a:ea typeface="Calibri" pitchFamily="34" charset="-122"/>
                <a:cs typeface="Calibri" pitchFamily="34" charset="-120"/>
              </a:rPr>
              <a:t>PROOF POINT — WIND CREEK HOSPITALITY</a:t>
            </a:r>
            <a:endParaRPr lang="en-US" sz="1050" dirty="0"/>
          </a:p>
        </p:txBody>
      </p:sp>
      <p:sp>
        <p:nvSpPr>
          <p:cNvPr id="13" name="Text 10"/>
          <p:cNvSpPr/>
          <p:nvPr/>
        </p:nvSpPr>
        <p:spPr>
          <a:xfrm>
            <a:off x="6492240" y="4599432"/>
            <a:ext cx="4937760" cy="457200"/>
          </a:xfrm>
          <a:prstGeom prst="rect">
            <a:avLst/>
          </a:prstGeom>
          <a:noFill/>
          <a:ln/>
        </p:spPr>
        <p:txBody>
          <a:bodyPr wrap="square" rtlCol="0" anchor="ctr"/>
          <a:lstStyle/>
          <a:p>
            <a:pPr indent="0" marL="0">
              <a:buNone/>
            </a:pPr>
            <a:r>
              <a:rPr lang="en-US" sz="1050" dirty="0">
                <a:solidFill>
                  <a:srgbClr val="3A4556"/>
                </a:solidFill>
                <a:latin typeface="Calibri" pitchFamily="34" charset="0"/>
                <a:ea typeface="Calibri" pitchFamily="34" charset="-122"/>
                <a:cs typeface="Calibri" pitchFamily="34" charset="-120"/>
              </a:rPr>
              <a:t>End-to-end clinical data processing latency, using Dynamic Tables:</a:t>
            </a:r>
            <a:endParaRPr lang="en-US" sz="1050" dirty="0"/>
          </a:p>
        </p:txBody>
      </p:sp>
      <p:sp>
        <p:nvSpPr>
          <p:cNvPr id="14" name="Text 11"/>
          <p:cNvSpPr/>
          <p:nvPr/>
        </p:nvSpPr>
        <p:spPr>
          <a:xfrm>
            <a:off x="6492240" y="5074920"/>
            <a:ext cx="4937760" cy="548640"/>
          </a:xfrm>
          <a:prstGeom prst="rect">
            <a:avLst/>
          </a:prstGeom>
          <a:noFill/>
          <a:ln/>
        </p:spPr>
        <p:txBody>
          <a:bodyPr wrap="square" rtlCol="0" anchor="ctr"/>
          <a:lstStyle/>
          <a:p>
            <a:pPr indent="0" marL="0">
              <a:buNone/>
            </a:pPr>
            <a:r>
              <a:rPr lang="en-US" sz="2000" b="1" dirty="0">
                <a:solidFill>
                  <a:srgbClr val="3A4556"/>
                </a:solidFill>
                <a:latin typeface="Cambria" pitchFamily="34" charset="0"/>
                <a:ea typeface="Cambria" pitchFamily="34" charset="-122"/>
                <a:cs typeface="Cambria" pitchFamily="34" charset="-120"/>
              </a:rPr>
              <a:t>30 min  →  &lt; 1 min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03</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CoWork vs. AWS Bedrock + AgentCore</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Step 2 of the research prompt: with IT operations also moving to AWS, where does Snowflake CoWork still add advantage over AWS-native agent tooling?</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SCENARIO</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Scenario: AWS-Native AI Enters the Picture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02920" y="1737360"/>
            <a:ext cx="11185855" cy="1371600"/>
          </a:xfrm>
          <a:prstGeom prst="rect">
            <a:avLst/>
          </a:prstGeom>
          <a:noFill/>
          <a:ln/>
        </p:spPr>
        <p:txBody>
          <a:bodyPr wrap="square" rtlCol="0" anchor="ctr"/>
          <a:lstStyle/>
          <a:p>
            <a:pPr indent="0" marL="0">
              <a:lnSpc>
                <a:spcPct val="135000"/>
              </a:lnSpc>
              <a:buNone/>
            </a:pPr>
            <a:r>
              <a:rPr lang="en-US" sz="1500" dirty="0">
                <a:solidFill>
                  <a:srgbClr val="3A4556"/>
                </a:solidFill>
                <a:latin typeface="Calibri" pitchFamily="34" charset="0"/>
                <a:ea typeface="Calibri" pitchFamily="34" charset="-122"/>
                <a:cs typeface="Calibri" pitchFamily="34" charset="-120"/>
              </a:rPr>
              <a:t>The healthcare company is not only moving its data platform to Snowflake — it is also shifting IT operations to AWS. AWS brings its own agent-building stack: Amazon Bedrock (managed foundation models) and Bedrock AgentCore (a runtime for deploying production agents). The natural question: once AWS AI is available, is Snowflake CoWork still worth running alongside it?</a:t>
            </a:r>
            <a:endParaRPr lang="en-US" sz="1500" dirty="0"/>
          </a:p>
        </p:txBody>
      </p:sp>
      <p:sp>
        <p:nvSpPr>
          <p:cNvPr id="7" name="Shape 5"/>
          <p:cNvSpPr/>
          <p:nvPr/>
        </p:nvSpPr>
        <p:spPr>
          <a:xfrm>
            <a:off x="502920" y="3337560"/>
            <a:ext cx="3520440" cy="2377440"/>
          </a:xfrm>
          <a:prstGeom prst="roundRect">
            <a:avLst>
              <a:gd name="adj" fmla="val 3077"/>
            </a:avLst>
          </a:prstGeom>
          <a:solidFill>
            <a:srgbClr val="EAF0F8"/>
          </a:solidFill>
          <a:ln/>
        </p:spPr>
      </p:sp>
      <p:sp>
        <p:nvSpPr>
          <p:cNvPr id="8" name="Shape 6"/>
          <p:cNvSpPr/>
          <p:nvPr/>
        </p:nvSpPr>
        <p:spPr>
          <a:xfrm>
            <a:off x="704088" y="3538728"/>
            <a:ext cx="502920" cy="502920"/>
          </a:xfrm>
          <a:prstGeom prst="ellipse">
            <a:avLst/>
          </a:prstGeom>
          <a:solidFill>
            <a:srgbClr val="5C7699"/>
          </a:solidFill>
          <a:ln/>
        </p:spPr>
      </p:sp>
      <p:pic>
        <p:nvPicPr>
          <p:cNvPr id="9" name="Image 0" descr="/home/claude/snowflake_deck/icons/route_white.png">    </p:cNvPr>
          <p:cNvPicPr>
            <a:picLocks noChangeAspect="1"/>
          </p:cNvPicPr>
          <p:nvPr/>
        </p:nvPicPr>
        <p:blipFill>
          <a:blip r:embed="rId1"/>
          <a:stretch>
            <a:fillRect/>
          </a:stretch>
        </p:blipFill>
        <p:spPr>
          <a:xfrm>
            <a:off x="834847" y="3669487"/>
            <a:ext cx="241402" cy="241402"/>
          </a:xfrm>
          <a:prstGeom prst="rect">
            <a:avLst/>
          </a:prstGeom>
        </p:spPr>
      </p:pic>
      <p:sp>
        <p:nvSpPr>
          <p:cNvPr id="10" name="Text 7"/>
          <p:cNvSpPr/>
          <p:nvPr/>
        </p:nvSpPr>
        <p:spPr>
          <a:xfrm>
            <a:off x="1353312" y="352044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What Bedrock/AgentCore Is</a:t>
            </a:r>
            <a:endParaRPr lang="en-US" sz="1300" dirty="0"/>
          </a:p>
        </p:txBody>
      </p:sp>
      <p:sp>
        <p:nvSpPr>
          <p:cNvPr id="11" name="Text 8"/>
          <p:cNvSpPr/>
          <p:nvPr/>
        </p:nvSpPr>
        <p:spPr>
          <a:xfrm>
            <a:off x="704088" y="4151376"/>
            <a:ext cx="3118104" cy="14264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General-purpose infrastructure for building and running AI agents against any framework, any model, any data source — including but not limited to Snowflake.</a:t>
            </a:r>
            <a:endParaRPr lang="en-US" sz="1050" dirty="0"/>
          </a:p>
        </p:txBody>
      </p:sp>
      <p:sp>
        <p:nvSpPr>
          <p:cNvPr id="12" name="Shape 9"/>
          <p:cNvSpPr/>
          <p:nvPr/>
        </p:nvSpPr>
        <p:spPr>
          <a:xfrm>
            <a:off x="4206240" y="3337560"/>
            <a:ext cx="3520440" cy="2377440"/>
          </a:xfrm>
          <a:prstGeom prst="roundRect">
            <a:avLst>
              <a:gd name="adj" fmla="val 3077"/>
            </a:avLst>
          </a:prstGeom>
          <a:solidFill>
            <a:srgbClr val="EAF0F8"/>
          </a:solidFill>
          <a:ln/>
        </p:spPr>
      </p:sp>
      <p:sp>
        <p:nvSpPr>
          <p:cNvPr id="13" name="Shape 10"/>
          <p:cNvSpPr/>
          <p:nvPr/>
        </p:nvSpPr>
        <p:spPr>
          <a:xfrm>
            <a:off x="4407408" y="3538728"/>
            <a:ext cx="502920" cy="502920"/>
          </a:xfrm>
          <a:prstGeom prst="ellipse">
            <a:avLst/>
          </a:prstGeom>
          <a:solidFill>
            <a:srgbClr val="5C7699"/>
          </a:solidFill>
          <a:ln/>
        </p:spPr>
      </p:sp>
      <p:pic>
        <p:nvPicPr>
          <p:cNvPr id="14" name="Image 1" descr="/home/claude/snowflake_deck/icons/cube_white.png">    </p:cNvPr>
          <p:cNvPicPr>
            <a:picLocks noChangeAspect="1"/>
          </p:cNvPicPr>
          <p:nvPr/>
        </p:nvPicPr>
        <p:blipFill>
          <a:blip r:embed="rId2"/>
          <a:stretch>
            <a:fillRect/>
          </a:stretch>
        </p:blipFill>
        <p:spPr>
          <a:xfrm>
            <a:off x="4538167" y="3669487"/>
            <a:ext cx="241402" cy="241402"/>
          </a:xfrm>
          <a:prstGeom prst="rect">
            <a:avLst/>
          </a:prstGeom>
        </p:spPr>
      </p:pic>
      <p:sp>
        <p:nvSpPr>
          <p:cNvPr id="15" name="Text 11"/>
          <p:cNvSpPr/>
          <p:nvPr/>
        </p:nvSpPr>
        <p:spPr>
          <a:xfrm>
            <a:off x="5056632" y="352044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What CoWork Is</a:t>
            </a:r>
            <a:endParaRPr lang="en-US" sz="1300" dirty="0"/>
          </a:p>
        </p:txBody>
      </p:sp>
      <p:sp>
        <p:nvSpPr>
          <p:cNvPr id="16" name="Text 12"/>
          <p:cNvSpPr/>
          <p:nvPr/>
        </p:nvSpPr>
        <p:spPr>
          <a:xfrm>
            <a:off x="4407408" y="4151376"/>
            <a:ext cx="3118104" cy="14264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A work agent purpose-built for one governed enterprise data estate — it starts from the unified Snowflake platform, not from a blank canvas.</a:t>
            </a:r>
            <a:endParaRPr lang="en-US" sz="1050" dirty="0"/>
          </a:p>
        </p:txBody>
      </p:sp>
      <p:sp>
        <p:nvSpPr>
          <p:cNvPr id="17" name="Shape 13"/>
          <p:cNvSpPr/>
          <p:nvPr/>
        </p:nvSpPr>
        <p:spPr>
          <a:xfrm>
            <a:off x="7909560" y="3337560"/>
            <a:ext cx="3520440" cy="2377440"/>
          </a:xfrm>
          <a:prstGeom prst="roundRect">
            <a:avLst>
              <a:gd name="adj" fmla="val 3077"/>
            </a:avLst>
          </a:prstGeom>
          <a:solidFill>
            <a:srgbClr val="EAF0F8"/>
          </a:solidFill>
          <a:ln/>
        </p:spPr>
      </p:sp>
      <p:sp>
        <p:nvSpPr>
          <p:cNvPr id="18" name="Shape 14"/>
          <p:cNvSpPr/>
          <p:nvPr/>
        </p:nvSpPr>
        <p:spPr>
          <a:xfrm>
            <a:off x="8110728" y="3538728"/>
            <a:ext cx="502920" cy="502920"/>
          </a:xfrm>
          <a:prstGeom prst="ellipse">
            <a:avLst/>
          </a:prstGeom>
          <a:solidFill>
            <a:srgbClr val="5C7699"/>
          </a:solidFill>
          <a:ln/>
        </p:spPr>
      </p:sp>
      <p:pic>
        <p:nvPicPr>
          <p:cNvPr id="19" name="Image 2" descr="/home/claude/snowflake_deck/icons/question_white.png">    </p:cNvPr>
          <p:cNvPicPr>
            <a:picLocks noChangeAspect="1"/>
          </p:cNvPicPr>
          <p:nvPr/>
        </p:nvPicPr>
        <p:blipFill>
          <a:blip r:embed="rId3"/>
          <a:stretch>
            <a:fillRect/>
          </a:stretch>
        </p:blipFill>
        <p:spPr>
          <a:xfrm>
            <a:off x="8241487" y="3669487"/>
            <a:ext cx="241402" cy="241402"/>
          </a:xfrm>
          <a:prstGeom prst="rect">
            <a:avLst/>
          </a:prstGeom>
        </p:spPr>
      </p:pic>
      <p:sp>
        <p:nvSpPr>
          <p:cNvPr id="20" name="Text 15"/>
          <p:cNvSpPr/>
          <p:nvPr/>
        </p:nvSpPr>
        <p:spPr>
          <a:xfrm>
            <a:off x="8759952" y="352044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The Real Question</a:t>
            </a:r>
            <a:endParaRPr lang="en-US" sz="1300" dirty="0"/>
          </a:p>
        </p:txBody>
      </p:sp>
      <p:sp>
        <p:nvSpPr>
          <p:cNvPr id="21" name="Text 16"/>
          <p:cNvSpPr/>
          <p:nvPr/>
        </p:nvSpPr>
        <p:spPr>
          <a:xfrm>
            <a:off x="8110728" y="4151376"/>
            <a:ext cx="3118104" cy="142646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Not "which is better" in the abstract, but which is the right default for a heavy, ad-hoc, data-grounded analytics workload — versus which is right for building bespoke, app-embedded agents.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AWS AI STACK</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AWS Bedrock + AgentCore SDK: What It Provides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02920" y="1691640"/>
            <a:ext cx="3520440" cy="1847088"/>
          </a:xfrm>
          <a:prstGeom prst="roundRect">
            <a:avLst>
              <a:gd name="adj" fmla="val 3960"/>
            </a:avLst>
          </a:prstGeom>
          <a:solidFill>
            <a:srgbClr val="F1F2F5"/>
          </a:solidFill>
          <a:ln/>
        </p:spPr>
      </p:sp>
      <p:sp>
        <p:nvSpPr>
          <p:cNvPr id="7" name="Shape 5"/>
          <p:cNvSpPr/>
          <p:nvPr/>
        </p:nvSpPr>
        <p:spPr>
          <a:xfrm>
            <a:off x="704088" y="1892808"/>
            <a:ext cx="457200" cy="457200"/>
          </a:xfrm>
          <a:prstGeom prst="ellipse">
            <a:avLst/>
          </a:prstGeom>
          <a:solidFill>
            <a:srgbClr val="68758A"/>
          </a:solidFill>
          <a:ln/>
        </p:spPr>
      </p:sp>
      <p:pic>
        <p:nvPicPr>
          <p:cNvPr id="8" name="Image 0" descr="/home/claude/snowflake_deck/icons/gears_white.png">    </p:cNvPr>
          <p:cNvPicPr>
            <a:picLocks noChangeAspect="1"/>
          </p:cNvPicPr>
          <p:nvPr/>
        </p:nvPicPr>
        <p:blipFill>
          <a:blip r:embed="rId1"/>
          <a:stretch>
            <a:fillRect/>
          </a:stretch>
        </p:blipFill>
        <p:spPr>
          <a:xfrm>
            <a:off x="822960" y="2011680"/>
            <a:ext cx="219456" cy="219456"/>
          </a:xfrm>
          <a:prstGeom prst="rect">
            <a:avLst/>
          </a:prstGeom>
        </p:spPr>
      </p:pic>
      <p:sp>
        <p:nvSpPr>
          <p:cNvPr id="9" name="Text 6"/>
          <p:cNvSpPr/>
          <p:nvPr/>
        </p:nvSpPr>
        <p:spPr>
          <a:xfrm>
            <a:off x="130759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Runtime</a:t>
            </a:r>
            <a:endParaRPr lang="en-US" sz="1300" dirty="0"/>
          </a:p>
        </p:txBody>
      </p:sp>
      <p:sp>
        <p:nvSpPr>
          <p:cNvPr id="10" name="Text 7"/>
          <p:cNvSpPr/>
          <p:nvPr/>
        </p:nvSpPr>
        <p:spPr>
          <a:xfrm>
            <a:off x="704088" y="245973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Deploys agents built in any framework — LangChain, Strands, OpenAI Agents SDK, Claude Agent SDK, or a custom stack — to production infrastructure.</a:t>
            </a:r>
            <a:endParaRPr lang="en-US" sz="1050" dirty="0"/>
          </a:p>
        </p:txBody>
      </p:sp>
      <p:sp>
        <p:nvSpPr>
          <p:cNvPr id="11" name="Shape 8"/>
          <p:cNvSpPr/>
          <p:nvPr/>
        </p:nvSpPr>
        <p:spPr>
          <a:xfrm>
            <a:off x="4206240" y="1691640"/>
            <a:ext cx="3520440" cy="1847088"/>
          </a:xfrm>
          <a:prstGeom prst="roundRect">
            <a:avLst>
              <a:gd name="adj" fmla="val 3960"/>
            </a:avLst>
          </a:prstGeom>
          <a:solidFill>
            <a:srgbClr val="F1F2F5"/>
          </a:solidFill>
          <a:ln/>
        </p:spPr>
      </p:sp>
      <p:sp>
        <p:nvSpPr>
          <p:cNvPr id="12" name="Shape 9"/>
          <p:cNvSpPr/>
          <p:nvPr/>
        </p:nvSpPr>
        <p:spPr>
          <a:xfrm>
            <a:off x="4407408" y="1892808"/>
            <a:ext cx="457200" cy="457200"/>
          </a:xfrm>
          <a:prstGeom prst="ellipse">
            <a:avLst/>
          </a:prstGeom>
          <a:solidFill>
            <a:srgbClr val="68758A"/>
          </a:solidFill>
          <a:ln/>
        </p:spPr>
      </p:sp>
      <p:pic>
        <p:nvPicPr>
          <p:cNvPr id="13" name="Image 1" descr="/home/claude/snowflake_deck/icons/history_white.png">    </p:cNvPr>
          <p:cNvPicPr>
            <a:picLocks noChangeAspect="1"/>
          </p:cNvPicPr>
          <p:nvPr/>
        </p:nvPicPr>
        <p:blipFill>
          <a:blip r:embed="rId2"/>
          <a:stretch>
            <a:fillRect/>
          </a:stretch>
        </p:blipFill>
        <p:spPr>
          <a:xfrm>
            <a:off x="4526280" y="2011680"/>
            <a:ext cx="219456" cy="219456"/>
          </a:xfrm>
          <a:prstGeom prst="rect">
            <a:avLst/>
          </a:prstGeom>
        </p:spPr>
      </p:pic>
      <p:sp>
        <p:nvSpPr>
          <p:cNvPr id="14" name="Text 10"/>
          <p:cNvSpPr/>
          <p:nvPr/>
        </p:nvSpPr>
        <p:spPr>
          <a:xfrm>
            <a:off x="501091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Memory</a:t>
            </a:r>
            <a:endParaRPr lang="en-US" sz="1300" dirty="0"/>
          </a:p>
        </p:txBody>
      </p:sp>
      <p:sp>
        <p:nvSpPr>
          <p:cNvPr id="15" name="Text 11"/>
          <p:cNvSpPr/>
          <p:nvPr/>
        </p:nvSpPr>
        <p:spPr>
          <a:xfrm>
            <a:off x="4407408" y="245973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Managed short- and long-term memory primitives for agent state across a session or across sessions.</a:t>
            </a:r>
            <a:endParaRPr lang="en-US" sz="1050" dirty="0"/>
          </a:p>
        </p:txBody>
      </p:sp>
      <p:sp>
        <p:nvSpPr>
          <p:cNvPr id="16" name="Shape 12"/>
          <p:cNvSpPr/>
          <p:nvPr/>
        </p:nvSpPr>
        <p:spPr>
          <a:xfrm>
            <a:off x="7909560" y="1691640"/>
            <a:ext cx="3520440" cy="1847088"/>
          </a:xfrm>
          <a:prstGeom prst="roundRect">
            <a:avLst>
              <a:gd name="adj" fmla="val 3960"/>
            </a:avLst>
          </a:prstGeom>
          <a:solidFill>
            <a:srgbClr val="F1F2F5"/>
          </a:solidFill>
          <a:ln/>
        </p:spPr>
      </p:sp>
      <p:sp>
        <p:nvSpPr>
          <p:cNvPr id="17" name="Shape 13"/>
          <p:cNvSpPr/>
          <p:nvPr/>
        </p:nvSpPr>
        <p:spPr>
          <a:xfrm>
            <a:off x="8110728" y="1892808"/>
            <a:ext cx="457200" cy="457200"/>
          </a:xfrm>
          <a:prstGeom prst="ellipse">
            <a:avLst/>
          </a:prstGeom>
          <a:solidFill>
            <a:srgbClr val="68758A"/>
          </a:solidFill>
          <a:ln/>
        </p:spPr>
      </p:sp>
      <p:pic>
        <p:nvPicPr>
          <p:cNvPr id="18" name="Image 2" descr="/home/claude/snowflake_deck/icons/userShield_white.png">    </p:cNvPr>
          <p:cNvPicPr>
            <a:picLocks noChangeAspect="1"/>
          </p:cNvPicPr>
          <p:nvPr/>
        </p:nvPicPr>
        <p:blipFill>
          <a:blip r:embed="rId3"/>
          <a:stretch>
            <a:fillRect/>
          </a:stretch>
        </p:blipFill>
        <p:spPr>
          <a:xfrm>
            <a:off x="8229600" y="2011680"/>
            <a:ext cx="219456" cy="219456"/>
          </a:xfrm>
          <a:prstGeom prst="rect">
            <a:avLst/>
          </a:prstGeom>
        </p:spPr>
      </p:pic>
      <p:sp>
        <p:nvSpPr>
          <p:cNvPr id="19" name="Text 14"/>
          <p:cNvSpPr/>
          <p:nvPr/>
        </p:nvSpPr>
        <p:spPr>
          <a:xfrm>
            <a:off x="8714232" y="187452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Identity &amp; Gateway</a:t>
            </a:r>
            <a:endParaRPr lang="en-US" sz="1300" dirty="0"/>
          </a:p>
        </p:txBody>
      </p:sp>
      <p:sp>
        <p:nvSpPr>
          <p:cNvPr id="20" name="Text 15"/>
          <p:cNvSpPr/>
          <p:nvPr/>
        </p:nvSpPr>
        <p:spPr>
          <a:xfrm>
            <a:off x="8110728" y="245973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Authentication and access control when an agent must reach multiple resources at once — MCP servers, knowledge bases, APIs, Lambda functions.</a:t>
            </a:r>
            <a:endParaRPr lang="en-US" sz="1050" dirty="0"/>
          </a:p>
        </p:txBody>
      </p:sp>
      <p:sp>
        <p:nvSpPr>
          <p:cNvPr id="21" name="Shape 16"/>
          <p:cNvSpPr/>
          <p:nvPr/>
        </p:nvSpPr>
        <p:spPr>
          <a:xfrm>
            <a:off x="502920" y="3703320"/>
            <a:ext cx="3520440" cy="1847088"/>
          </a:xfrm>
          <a:prstGeom prst="roundRect">
            <a:avLst>
              <a:gd name="adj" fmla="val 3960"/>
            </a:avLst>
          </a:prstGeom>
          <a:solidFill>
            <a:srgbClr val="F1F2F5"/>
          </a:solidFill>
          <a:ln/>
        </p:spPr>
      </p:sp>
      <p:sp>
        <p:nvSpPr>
          <p:cNvPr id="22" name="Shape 17"/>
          <p:cNvSpPr/>
          <p:nvPr/>
        </p:nvSpPr>
        <p:spPr>
          <a:xfrm>
            <a:off x="704088" y="3904488"/>
            <a:ext cx="457200" cy="457200"/>
          </a:xfrm>
          <a:prstGeom prst="ellipse">
            <a:avLst/>
          </a:prstGeom>
          <a:solidFill>
            <a:srgbClr val="68758A"/>
          </a:solidFill>
          <a:ln/>
        </p:spPr>
      </p:sp>
      <p:pic>
        <p:nvPicPr>
          <p:cNvPr id="23" name="Image 3" descr="/home/claude/snowflake_deck/icons/eye_white.png">    </p:cNvPr>
          <p:cNvPicPr>
            <a:picLocks noChangeAspect="1"/>
          </p:cNvPicPr>
          <p:nvPr/>
        </p:nvPicPr>
        <p:blipFill>
          <a:blip r:embed="rId4"/>
          <a:stretch>
            <a:fillRect/>
          </a:stretch>
        </p:blipFill>
        <p:spPr>
          <a:xfrm>
            <a:off x="822960" y="4023360"/>
            <a:ext cx="219456" cy="219456"/>
          </a:xfrm>
          <a:prstGeom prst="rect">
            <a:avLst/>
          </a:prstGeom>
        </p:spPr>
      </p:pic>
      <p:sp>
        <p:nvSpPr>
          <p:cNvPr id="24" name="Text 18"/>
          <p:cNvSpPr/>
          <p:nvPr/>
        </p:nvSpPr>
        <p:spPr>
          <a:xfrm>
            <a:off x="1307592" y="388620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Observability</a:t>
            </a:r>
            <a:endParaRPr lang="en-US" sz="1300" dirty="0"/>
          </a:p>
        </p:txBody>
      </p:sp>
      <p:sp>
        <p:nvSpPr>
          <p:cNvPr id="25" name="Text 19"/>
          <p:cNvSpPr/>
          <p:nvPr/>
        </p:nvSpPr>
        <p:spPr>
          <a:xfrm>
            <a:off x="704088" y="447141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Tracing, step-by-step execution visibility, and comparison of agent variations against real traffic.</a:t>
            </a:r>
            <a:endParaRPr lang="en-US" sz="1050" dirty="0"/>
          </a:p>
        </p:txBody>
      </p:sp>
      <p:sp>
        <p:nvSpPr>
          <p:cNvPr id="26" name="Shape 20"/>
          <p:cNvSpPr/>
          <p:nvPr/>
        </p:nvSpPr>
        <p:spPr>
          <a:xfrm>
            <a:off x="4206240" y="3703320"/>
            <a:ext cx="3520440" cy="1847088"/>
          </a:xfrm>
          <a:prstGeom prst="roundRect">
            <a:avLst>
              <a:gd name="adj" fmla="val 3960"/>
            </a:avLst>
          </a:prstGeom>
          <a:solidFill>
            <a:srgbClr val="F1F2F5"/>
          </a:solidFill>
          <a:ln/>
        </p:spPr>
      </p:sp>
      <p:sp>
        <p:nvSpPr>
          <p:cNvPr id="27" name="Shape 21"/>
          <p:cNvSpPr/>
          <p:nvPr/>
        </p:nvSpPr>
        <p:spPr>
          <a:xfrm>
            <a:off x="4407408" y="3904488"/>
            <a:ext cx="457200" cy="457200"/>
          </a:xfrm>
          <a:prstGeom prst="ellipse">
            <a:avLst/>
          </a:prstGeom>
          <a:solidFill>
            <a:srgbClr val="68758A"/>
          </a:solidFill>
          <a:ln/>
        </p:spPr>
      </p:sp>
      <p:pic>
        <p:nvPicPr>
          <p:cNvPr id="28" name="Image 4" descr="/home/claude/snowflake_deck/icons/terminal_white.png">    </p:cNvPr>
          <p:cNvPicPr>
            <a:picLocks noChangeAspect="1"/>
          </p:cNvPicPr>
          <p:nvPr/>
        </p:nvPicPr>
        <p:blipFill>
          <a:blip r:embed="rId5"/>
          <a:stretch>
            <a:fillRect/>
          </a:stretch>
        </p:blipFill>
        <p:spPr>
          <a:xfrm>
            <a:off x="4526280" y="4023360"/>
            <a:ext cx="219456" cy="219456"/>
          </a:xfrm>
          <a:prstGeom prst="rect">
            <a:avLst/>
          </a:prstGeom>
        </p:spPr>
      </p:pic>
      <p:sp>
        <p:nvSpPr>
          <p:cNvPr id="29" name="Text 22"/>
          <p:cNvSpPr/>
          <p:nvPr/>
        </p:nvSpPr>
        <p:spPr>
          <a:xfrm>
            <a:off x="5010912" y="388620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Code Interpreter &amp; Browser</a:t>
            </a:r>
            <a:endParaRPr lang="en-US" sz="1300" dirty="0"/>
          </a:p>
        </p:txBody>
      </p:sp>
      <p:sp>
        <p:nvSpPr>
          <p:cNvPr id="30" name="Text 23"/>
          <p:cNvSpPr/>
          <p:nvPr/>
        </p:nvSpPr>
        <p:spPr>
          <a:xfrm>
            <a:off x="4407408" y="447141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Sandboxed tools an agent can call to execute code or browse the web as part of a task.</a:t>
            </a:r>
            <a:endParaRPr lang="en-US" sz="1050" dirty="0"/>
          </a:p>
        </p:txBody>
      </p:sp>
      <p:sp>
        <p:nvSpPr>
          <p:cNvPr id="31" name="Shape 24"/>
          <p:cNvSpPr/>
          <p:nvPr/>
        </p:nvSpPr>
        <p:spPr>
          <a:xfrm>
            <a:off x="7909560" y="3703320"/>
            <a:ext cx="3520440" cy="1847088"/>
          </a:xfrm>
          <a:prstGeom prst="roundRect">
            <a:avLst>
              <a:gd name="adj" fmla="val 3960"/>
            </a:avLst>
          </a:prstGeom>
          <a:solidFill>
            <a:srgbClr val="F1F2F5"/>
          </a:solidFill>
          <a:ln/>
        </p:spPr>
      </p:sp>
      <p:sp>
        <p:nvSpPr>
          <p:cNvPr id="32" name="Shape 25"/>
          <p:cNvSpPr/>
          <p:nvPr/>
        </p:nvSpPr>
        <p:spPr>
          <a:xfrm>
            <a:off x="8110728" y="3904488"/>
            <a:ext cx="457200" cy="457200"/>
          </a:xfrm>
          <a:prstGeom prst="ellipse">
            <a:avLst/>
          </a:prstGeom>
          <a:solidFill>
            <a:srgbClr val="68758A"/>
          </a:solidFill>
          <a:ln/>
        </p:spPr>
      </p:sp>
      <p:pic>
        <p:nvPicPr>
          <p:cNvPr id="33" name="Image 5" descr="/home/claude/snowflake_deck/icons/shield_white.png">    </p:cNvPr>
          <p:cNvPicPr>
            <a:picLocks noChangeAspect="1"/>
          </p:cNvPicPr>
          <p:nvPr/>
        </p:nvPicPr>
        <p:blipFill>
          <a:blip r:embed="rId6"/>
          <a:stretch>
            <a:fillRect/>
          </a:stretch>
        </p:blipFill>
        <p:spPr>
          <a:xfrm>
            <a:off x="8229600" y="4023360"/>
            <a:ext cx="219456" cy="219456"/>
          </a:xfrm>
          <a:prstGeom prst="rect">
            <a:avLst/>
          </a:prstGeom>
        </p:spPr>
      </p:pic>
      <p:sp>
        <p:nvSpPr>
          <p:cNvPr id="34" name="Text 26"/>
          <p:cNvSpPr/>
          <p:nvPr/>
        </p:nvSpPr>
        <p:spPr>
          <a:xfrm>
            <a:off x="8714232" y="3886200"/>
            <a:ext cx="253288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Compliance Substrate</a:t>
            </a:r>
            <a:endParaRPr lang="en-US" sz="1300" dirty="0"/>
          </a:p>
        </p:txBody>
      </p:sp>
      <p:sp>
        <p:nvSpPr>
          <p:cNvPr id="35" name="Text 27"/>
          <p:cNvSpPr/>
          <p:nvPr/>
        </p:nvSpPr>
        <p:spPr>
          <a:xfrm>
            <a:off x="8110728" y="4471416"/>
            <a:ext cx="3118104" cy="941832"/>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Built on core AWS infrastructure (the automated-reasoning technology behind IAM and S3), supporting AWS compliance programs.</a:t>
            </a:r>
            <a:endParaRPr lang="en-US" sz="1050" dirty="0"/>
          </a:p>
        </p:txBody>
      </p:sp>
      <p:sp>
        <p:nvSpPr>
          <p:cNvPr id="36" name="Shape 28"/>
          <p:cNvSpPr/>
          <p:nvPr/>
        </p:nvSpPr>
        <p:spPr>
          <a:xfrm>
            <a:off x="502920" y="5897880"/>
            <a:ext cx="11185855" cy="502920"/>
          </a:xfrm>
          <a:prstGeom prst="roundRect">
            <a:avLst>
              <a:gd name="adj" fmla="val 14545"/>
            </a:avLst>
          </a:prstGeom>
          <a:solidFill>
            <a:srgbClr val="FBEEE6"/>
          </a:solidFill>
          <a:ln/>
        </p:spPr>
      </p:sp>
      <p:sp>
        <p:nvSpPr>
          <p:cNvPr id="37" name="Text 29"/>
          <p:cNvSpPr/>
          <p:nvPr/>
        </p:nvSpPr>
        <p:spPr>
          <a:xfrm>
            <a:off x="777240" y="5897880"/>
            <a:ext cx="10637215" cy="50292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AgentCore is data-and-model agnostic by design — powerful for building custom agents, but it does not ship an understanding of what "member" or "PCP" means. That has to be built, same as with any blank-canvas framework.</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ARCHITECTURAL CHOICE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Two Paths to Agentic AI Over the Same Data</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02920" y="1691640"/>
            <a:ext cx="5349240" cy="3977640"/>
          </a:xfrm>
          <a:prstGeom prst="roundRect">
            <a:avLst>
              <a:gd name="adj" fmla="val 1839"/>
            </a:avLst>
          </a:prstGeom>
          <a:solidFill>
            <a:srgbClr val="EAF0F8"/>
          </a:solidFill>
          <a:ln/>
        </p:spPr>
      </p:sp>
      <p:sp>
        <p:nvSpPr>
          <p:cNvPr id="7" name="Text 5"/>
          <p:cNvSpPr/>
          <p:nvPr/>
        </p:nvSpPr>
        <p:spPr>
          <a:xfrm>
            <a:off x="731520" y="1874520"/>
            <a:ext cx="4846320" cy="274320"/>
          </a:xfrm>
          <a:prstGeom prst="rect">
            <a:avLst/>
          </a:prstGeom>
          <a:noFill/>
          <a:ln/>
        </p:spPr>
        <p:txBody>
          <a:bodyPr wrap="square" rtlCol="0" anchor="ctr"/>
          <a:lstStyle/>
          <a:p>
            <a:pPr indent="0" marL="0">
              <a:buNone/>
            </a:pPr>
            <a:r>
              <a:rPr lang="en-US" sz="1200" b="1" spc="100" kern="0" dirty="0">
                <a:solidFill>
                  <a:srgbClr val="68758A"/>
                </a:solidFill>
                <a:latin typeface="Calibri" pitchFamily="34" charset="0"/>
                <a:ea typeface="Calibri" pitchFamily="34" charset="-122"/>
                <a:cs typeface="Calibri" pitchFamily="34" charset="-120"/>
              </a:rPr>
              <a:t>MULTI-HOP EXECUTION</a:t>
            </a:r>
            <a:endParaRPr lang="en-US" sz="1200" dirty="0"/>
          </a:p>
        </p:txBody>
      </p:sp>
      <p:sp>
        <p:nvSpPr>
          <p:cNvPr id="8" name="Text 6"/>
          <p:cNvSpPr/>
          <p:nvPr/>
        </p:nvSpPr>
        <p:spPr>
          <a:xfrm>
            <a:off x="731520" y="2148840"/>
            <a:ext cx="4846320" cy="365760"/>
          </a:xfrm>
          <a:prstGeom prst="rect">
            <a:avLst/>
          </a:prstGeom>
          <a:noFill/>
          <a:ln/>
        </p:spPr>
        <p:txBody>
          <a:bodyPr wrap="square" rtlCol="0" anchor="ctr"/>
          <a:lstStyle/>
          <a:p>
            <a:pPr indent="0" marL="0">
              <a:buNone/>
            </a:pPr>
            <a:r>
              <a:rPr lang="en-US" sz="1600" b="1" dirty="0">
                <a:solidFill>
                  <a:srgbClr val="3A4556"/>
                </a:solidFill>
                <a:latin typeface="Cambria" pitchFamily="34" charset="0"/>
                <a:ea typeface="Cambria" pitchFamily="34" charset="-122"/>
                <a:cs typeface="Cambria" pitchFamily="34" charset="-120"/>
              </a:rPr>
              <a:t>AWS Bedrock + AgentCore SDK</a:t>
            </a:r>
            <a:endParaRPr lang="en-US" sz="1600" dirty="0"/>
          </a:p>
        </p:txBody>
      </p:sp>
      <p:sp>
        <p:nvSpPr>
          <p:cNvPr id="9" name="Text 7"/>
          <p:cNvSpPr/>
          <p:nvPr/>
        </p:nvSpPr>
        <p:spPr>
          <a:xfrm>
            <a:off x="731520" y="2606040"/>
            <a:ext cx="4846320" cy="292608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Agent runtime lives outside Snowflake; relevant data is extracted or queried out to feed it.</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Each hop (Snowflake → extract/API → AgentCore → model → back) is a network boundary to secure and monitor.</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Context and semantics must be re-built for the agent layer, separate from Snowflake's semantic views.</a:t>
            </a:r>
            <a:endParaRPr lang="en-US" sz="1150" dirty="0"/>
          </a:p>
        </p:txBody>
      </p:sp>
      <p:sp>
        <p:nvSpPr>
          <p:cNvPr id="10" name="Shape 8"/>
          <p:cNvSpPr/>
          <p:nvPr/>
        </p:nvSpPr>
        <p:spPr>
          <a:xfrm>
            <a:off x="6309360" y="1691640"/>
            <a:ext cx="5349240" cy="3977640"/>
          </a:xfrm>
          <a:prstGeom prst="roundRect">
            <a:avLst>
              <a:gd name="adj" fmla="val 1839"/>
            </a:avLst>
          </a:prstGeom>
          <a:solidFill>
            <a:srgbClr val="3A4556"/>
          </a:solidFill>
          <a:ln/>
        </p:spPr>
      </p:sp>
      <p:sp>
        <p:nvSpPr>
          <p:cNvPr id="11" name="Text 9"/>
          <p:cNvSpPr/>
          <p:nvPr/>
        </p:nvSpPr>
        <p:spPr>
          <a:xfrm>
            <a:off x="6537960" y="1874520"/>
            <a:ext cx="4846320" cy="274320"/>
          </a:xfrm>
          <a:prstGeom prst="rect">
            <a:avLst/>
          </a:prstGeom>
          <a:noFill/>
          <a:ln/>
        </p:spPr>
        <p:txBody>
          <a:bodyPr wrap="square" rtlCol="0" anchor="ctr"/>
          <a:lstStyle/>
          <a:p>
            <a:pPr indent="0" marL="0">
              <a:buNone/>
            </a:pPr>
            <a:r>
              <a:rPr lang="en-US" sz="1200" b="1" spc="100" kern="0" dirty="0">
                <a:solidFill>
                  <a:srgbClr val="E2A07E"/>
                </a:solidFill>
                <a:latin typeface="Calibri" pitchFamily="34" charset="0"/>
                <a:ea typeface="Calibri" pitchFamily="34" charset="-122"/>
                <a:cs typeface="Calibri" pitchFamily="34" charset="-120"/>
              </a:rPr>
              <a:t>IN-PLACE EXECUTION</a:t>
            </a:r>
            <a:endParaRPr lang="en-US" sz="1200" dirty="0"/>
          </a:p>
        </p:txBody>
      </p:sp>
      <p:sp>
        <p:nvSpPr>
          <p:cNvPr id="12" name="Text 10"/>
          <p:cNvSpPr/>
          <p:nvPr/>
        </p:nvSpPr>
        <p:spPr>
          <a:xfrm>
            <a:off x="6537960" y="2148840"/>
            <a:ext cx="484632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Snowflake Cortex + CoWork</a:t>
            </a:r>
            <a:endParaRPr lang="en-US" sz="1600" dirty="0"/>
          </a:p>
        </p:txBody>
      </p:sp>
      <p:sp>
        <p:nvSpPr>
          <p:cNvPr id="13" name="Text 11"/>
          <p:cNvSpPr/>
          <p:nvPr/>
        </p:nvSpPr>
        <p:spPr>
          <a:xfrm>
            <a:off x="6537960" y="2606040"/>
            <a:ext cx="4846320" cy="292608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Inference happens where the governed data already lives — no extraction step.</a:t>
            </a:r>
            <a:endParaRPr lang="en-US" sz="1150" dirty="0"/>
          </a:p>
          <a:p>
            <a:pPr marL="177800" indent="-177800">
              <a:lnSpc>
                <a:spcPct val="1120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One network boundary (the Snowflake account), not a chain of them.</a:t>
            </a:r>
            <a:endParaRPr lang="en-US" sz="1150" dirty="0"/>
          </a:p>
          <a:p>
            <a:pPr marL="177800" indent="-177800">
              <a:lnSpc>
                <a:spcPct val="1120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Context and semantics are the same semantic views and RBAC used for ordinary BI — nothing to duplicate.</a:t>
            </a:r>
            <a:endParaRPr lang="en-US" sz="1150" dirty="0"/>
          </a:p>
        </p:txBody>
      </p:sp>
      <p:sp>
        <p:nvSpPr>
          <p:cNvPr id="14" name="Shape 12"/>
          <p:cNvSpPr/>
          <p:nvPr/>
        </p:nvSpPr>
        <p:spPr>
          <a:xfrm>
            <a:off x="502920" y="5852160"/>
            <a:ext cx="11185855" cy="548640"/>
          </a:xfrm>
          <a:prstGeom prst="roundRect">
            <a:avLst>
              <a:gd name="adj" fmla="val 13333"/>
            </a:avLst>
          </a:prstGeom>
          <a:solidFill>
            <a:srgbClr val="FBEEE6"/>
          </a:solidFill>
          <a:ln/>
        </p:spPr>
      </p:sp>
      <p:sp>
        <p:nvSpPr>
          <p:cNvPr id="15" name="Text 13"/>
          <p:cNvSpPr/>
          <p:nvPr/>
        </p:nvSpPr>
        <p:spPr>
          <a:xfrm>
            <a:off x="777240" y="5852160"/>
            <a:ext cx="10637215" cy="54864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Neither path is wrong — they optimize for different things. The right choice follows the workload, covered next.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COMPARISON</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Head-to-Head: CoWork vs. Bedrock/AgentCore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5855" cy="914400"/>
        </p:xfrm>
        <a:graphic>
          <a:graphicData uri="http://schemas.openxmlformats.org/drawingml/2006/table">
            <a:tbl>
              <a:tblPr/>
              <a:tblGrid>
                <a:gridCol w="2496312"/>
                <a:gridCol w="4480560"/>
                <a:gridCol w="4178808"/>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3A455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Snowflake CoWork</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5C769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AWS Bedrock + AgentCore</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68758A"/>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Data Locality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Executes in-account — zero egress from Snowflake</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Data typically moves or is queried out to the agent runtime</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Context / Semantics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Inherits Cortex Sense + semantic views automatically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Must be engineered per agent — no built-in business glossary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Time to First Agent</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Minutes — point at existing semantic views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Longer — build retrieval, memory, and governance yourself</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Framework Flexibility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Snowflake-native; Cortex Agents &amp; MCP tools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Any framework, any model — maximum flexibility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Best Fit</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Governed, data-grounded analytics agents for the whole org</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Bespoke, app-embedded agents outside the data platform</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Governance</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Inherits existing Snowflake RBAC &amp; audit, automatically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68758A"/>
                          </a:solidFill>
                          <a:latin typeface="Calibri" pitchFamily="34" charset="0"/>
                          <a:ea typeface="Calibri" pitchFamily="34" charset="-122"/>
                          <a:cs typeface="Calibri" pitchFamily="34" charset="-120"/>
                        </a:rPr>
                        <a:t>Configured explicitly per agent via Identity &amp; Gateway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WORKLOAD PROFILE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Healthcare Analytics Workload, By the Numbers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02920" y="1691640"/>
            <a:ext cx="11185855" cy="822960"/>
          </a:xfrm>
          <a:prstGeom prst="rect">
            <a:avLst/>
          </a:prstGeom>
          <a:noFill/>
          <a:ln/>
        </p:spPr>
        <p:txBody>
          <a:bodyPr wrap="square" rtlCol="0" anchor="ctr"/>
          <a:lstStyle/>
          <a:p>
            <a:pPr indent="0" marL="0">
              <a:lnSpc>
                <a:spcPct val="130000"/>
              </a:lnSpc>
              <a:buNone/>
            </a:pPr>
            <a:r>
              <a:rPr lang="en-US" sz="1350" dirty="0">
                <a:solidFill>
                  <a:srgbClr val="3A4556"/>
                </a:solidFill>
                <a:latin typeface="Calibri" pitchFamily="34" charset="0"/>
                <a:ea typeface="Calibri" pitchFamily="34" charset="-122"/>
                <a:cs typeface="Calibri" pitchFamily="34" charset="-120"/>
              </a:rPr>
              <a:t>A typical healthcare payer or provider platform is heavy on data operations — high-volume inbound/outbound extracts, a wide network of vendor integrations, and constant ad-hoc analysis running all day. This is the workload the AI layer has to serve well.</a:t>
            </a:r>
            <a:endParaRPr lang="en-US" sz="1350" dirty="0"/>
          </a:p>
        </p:txBody>
      </p:sp>
      <p:sp>
        <p:nvSpPr>
          <p:cNvPr id="7" name="Shape 5"/>
          <p:cNvSpPr/>
          <p:nvPr/>
        </p:nvSpPr>
        <p:spPr>
          <a:xfrm>
            <a:off x="502920" y="2697480"/>
            <a:ext cx="2606040" cy="2606040"/>
          </a:xfrm>
          <a:prstGeom prst="roundRect">
            <a:avLst>
              <a:gd name="adj" fmla="val 2807"/>
            </a:avLst>
          </a:prstGeom>
          <a:solidFill>
            <a:srgbClr val="EAF0F8"/>
          </a:solidFill>
          <a:ln/>
        </p:spPr>
      </p:sp>
      <p:sp>
        <p:nvSpPr>
          <p:cNvPr id="8" name="Shape 6"/>
          <p:cNvSpPr/>
          <p:nvPr/>
        </p:nvSpPr>
        <p:spPr>
          <a:xfrm>
            <a:off x="667512" y="2880360"/>
            <a:ext cx="457200" cy="457200"/>
          </a:xfrm>
          <a:prstGeom prst="ellipse">
            <a:avLst/>
          </a:prstGeom>
          <a:solidFill>
            <a:srgbClr val="5C7699"/>
          </a:solidFill>
          <a:ln/>
        </p:spPr>
      </p:sp>
      <p:pic>
        <p:nvPicPr>
          <p:cNvPr id="9" name="Image 0" descr="/home/claude/snowflake_deck/icons/userMd_white.png">    </p:cNvPr>
          <p:cNvPicPr>
            <a:picLocks noChangeAspect="1"/>
          </p:cNvPicPr>
          <p:nvPr/>
        </p:nvPicPr>
        <p:blipFill>
          <a:blip r:embed="rId1"/>
          <a:stretch>
            <a:fillRect/>
          </a:stretch>
        </p:blipFill>
        <p:spPr>
          <a:xfrm>
            <a:off x="786384" y="2999232"/>
            <a:ext cx="219456" cy="219456"/>
          </a:xfrm>
          <a:prstGeom prst="rect">
            <a:avLst/>
          </a:prstGeom>
        </p:spPr>
      </p:pic>
      <p:sp>
        <p:nvSpPr>
          <p:cNvPr id="10" name="Text 7"/>
          <p:cNvSpPr/>
          <p:nvPr/>
        </p:nvSpPr>
        <p:spPr>
          <a:xfrm>
            <a:off x="667512" y="3483864"/>
            <a:ext cx="2276856" cy="502920"/>
          </a:xfrm>
          <a:prstGeom prst="rect">
            <a:avLst/>
          </a:prstGeom>
          <a:noFill/>
          <a:ln/>
        </p:spPr>
        <p:txBody>
          <a:bodyPr wrap="square" rtlCol="0" anchor="t"/>
          <a:lstStyle/>
          <a:p>
            <a:pPr indent="0" marL="0">
              <a:buNone/>
            </a:pPr>
            <a:r>
              <a:rPr lang="en-US" sz="1200" b="1" dirty="0">
                <a:solidFill>
                  <a:srgbClr val="3A4556"/>
                </a:solidFill>
                <a:latin typeface="Calibri" pitchFamily="34" charset="0"/>
                <a:ea typeface="Calibri" pitchFamily="34" charset="-122"/>
                <a:cs typeface="Calibri" pitchFamily="34" charset="-120"/>
              </a:rPr>
              <a:t>IT Business Analysts</a:t>
            </a:r>
            <a:endParaRPr lang="en-US" sz="1200" dirty="0"/>
          </a:p>
        </p:txBody>
      </p:sp>
      <p:sp>
        <p:nvSpPr>
          <p:cNvPr id="11" name="Text 8"/>
          <p:cNvSpPr/>
          <p:nvPr/>
        </p:nvSpPr>
        <p:spPr>
          <a:xfrm>
            <a:off x="667512" y="3977640"/>
            <a:ext cx="2276856" cy="1234440"/>
          </a:xfrm>
          <a:prstGeom prst="rect">
            <a:avLst/>
          </a:prstGeom>
          <a:noFill/>
          <a:ln/>
        </p:spPr>
        <p:txBody>
          <a:bodyPr wrap="square" rtlCol="0" anchor="t"/>
          <a:lstStyle/>
          <a:p>
            <a:pPr indent="0" marL="0">
              <a:lnSpc>
                <a:spcPct val="115000"/>
              </a:lnSpc>
              <a:buNone/>
            </a:pPr>
            <a:r>
              <a:rPr lang="en-US" sz="1000" dirty="0">
                <a:solidFill>
                  <a:srgbClr val="68758A"/>
                </a:solidFill>
                <a:latin typeface="Calibri" pitchFamily="34" charset="0"/>
                <a:ea typeface="Calibri" pitchFamily="34" charset="-122"/>
                <a:cs typeface="Calibri" pitchFamily="34" charset="-120"/>
              </a:rPr>
              <a:t>Constant ad-hoc SQL and semantic-layer questions supporting operational teams</a:t>
            </a:r>
            <a:endParaRPr lang="en-US" sz="1000" dirty="0"/>
          </a:p>
        </p:txBody>
      </p:sp>
      <p:sp>
        <p:nvSpPr>
          <p:cNvPr id="12" name="Shape 9"/>
          <p:cNvSpPr/>
          <p:nvPr/>
        </p:nvSpPr>
        <p:spPr>
          <a:xfrm>
            <a:off x="3291840" y="2697480"/>
            <a:ext cx="2606040" cy="2606040"/>
          </a:xfrm>
          <a:prstGeom prst="roundRect">
            <a:avLst>
              <a:gd name="adj" fmla="val 2807"/>
            </a:avLst>
          </a:prstGeom>
          <a:solidFill>
            <a:srgbClr val="EAF0F8"/>
          </a:solidFill>
          <a:ln/>
        </p:spPr>
      </p:sp>
      <p:sp>
        <p:nvSpPr>
          <p:cNvPr id="13" name="Shape 10"/>
          <p:cNvSpPr/>
          <p:nvPr/>
        </p:nvSpPr>
        <p:spPr>
          <a:xfrm>
            <a:off x="3456432" y="2880360"/>
            <a:ext cx="457200" cy="457200"/>
          </a:xfrm>
          <a:prstGeom prst="ellipse">
            <a:avLst/>
          </a:prstGeom>
          <a:solidFill>
            <a:srgbClr val="5C7699"/>
          </a:solidFill>
          <a:ln/>
        </p:spPr>
      </p:sp>
      <p:pic>
        <p:nvPicPr>
          <p:cNvPr id="14" name="Image 1" descr="/home/claude/snowflake_deck/icons/microscope_white.png">    </p:cNvPr>
          <p:cNvPicPr>
            <a:picLocks noChangeAspect="1"/>
          </p:cNvPicPr>
          <p:nvPr/>
        </p:nvPicPr>
        <p:blipFill>
          <a:blip r:embed="rId2"/>
          <a:stretch>
            <a:fillRect/>
          </a:stretch>
        </p:blipFill>
        <p:spPr>
          <a:xfrm>
            <a:off x="3575304" y="2999232"/>
            <a:ext cx="219456" cy="219456"/>
          </a:xfrm>
          <a:prstGeom prst="rect">
            <a:avLst/>
          </a:prstGeom>
        </p:spPr>
      </p:pic>
      <p:sp>
        <p:nvSpPr>
          <p:cNvPr id="15" name="Text 11"/>
          <p:cNvSpPr/>
          <p:nvPr/>
        </p:nvSpPr>
        <p:spPr>
          <a:xfrm>
            <a:off x="3456432" y="3483864"/>
            <a:ext cx="2276856" cy="502920"/>
          </a:xfrm>
          <a:prstGeom prst="rect">
            <a:avLst/>
          </a:prstGeom>
          <a:noFill/>
          <a:ln/>
        </p:spPr>
        <p:txBody>
          <a:bodyPr wrap="square" rtlCol="0" anchor="t"/>
          <a:lstStyle/>
          <a:p>
            <a:pPr indent="0" marL="0">
              <a:buNone/>
            </a:pPr>
            <a:r>
              <a:rPr lang="en-US" sz="1200" b="1" dirty="0">
                <a:solidFill>
                  <a:srgbClr val="3A4556"/>
                </a:solidFill>
                <a:latin typeface="Calibri" pitchFamily="34" charset="0"/>
                <a:ea typeface="Calibri" pitchFamily="34" charset="-122"/>
                <a:cs typeface="Calibri" pitchFamily="34" charset="-120"/>
              </a:rPr>
              <a:t>Data Scientists</a:t>
            </a:r>
            <a:endParaRPr lang="en-US" sz="1200" dirty="0"/>
          </a:p>
        </p:txBody>
      </p:sp>
      <p:sp>
        <p:nvSpPr>
          <p:cNvPr id="16" name="Text 12"/>
          <p:cNvSpPr/>
          <p:nvPr/>
        </p:nvSpPr>
        <p:spPr>
          <a:xfrm>
            <a:off x="3456432" y="3977640"/>
            <a:ext cx="2276856" cy="1234440"/>
          </a:xfrm>
          <a:prstGeom prst="rect">
            <a:avLst/>
          </a:prstGeom>
          <a:noFill/>
          <a:ln/>
        </p:spPr>
        <p:txBody>
          <a:bodyPr wrap="square" rtlCol="0" anchor="t"/>
          <a:lstStyle/>
          <a:p>
            <a:pPr indent="0" marL="0">
              <a:lnSpc>
                <a:spcPct val="115000"/>
              </a:lnSpc>
              <a:buNone/>
            </a:pPr>
            <a:r>
              <a:rPr lang="en-US" sz="1000" dirty="0">
                <a:solidFill>
                  <a:srgbClr val="68758A"/>
                </a:solidFill>
                <a:latin typeface="Calibri" pitchFamily="34" charset="0"/>
                <a:ea typeface="Calibri" pitchFamily="34" charset="-122"/>
                <a:cs typeface="Calibri" pitchFamily="34" charset="-120"/>
              </a:rPr>
              <a:t>Model features, cohort pulls, and exploratory analysis against curated gold data</a:t>
            </a:r>
            <a:endParaRPr lang="en-US" sz="1000" dirty="0"/>
          </a:p>
        </p:txBody>
      </p:sp>
      <p:sp>
        <p:nvSpPr>
          <p:cNvPr id="17" name="Shape 13"/>
          <p:cNvSpPr/>
          <p:nvPr/>
        </p:nvSpPr>
        <p:spPr>
          <a:xfrm>
            <a:off x="6080760" y="2697480"/>
            <a:ext cx="2606040" cy="2606040"/>
          </a:xfrm>
          <a:prstGeom prst="roundRect">
            <a:avLst>
              <a:gd name="adj" fmla="val 2807"/>
            </a:avLst>
          </a:prstGeom>
          <a:solidFill>
            <a:srgbClr val="EAF0F8"/>
          </a:solidFill>
          <a:ln/>
        </p:spPr>
      </p:sp>
      <p:sp>
        <p:nvSpPr>
          <p:cNvPr id="18" name="Shape 14"/>
          <p:cNvSpPr/>
          <p:nvPr/>
        </p:nvSpPr>
        <p:spPr>
          <a:xfrm>
            <a:off x="6245352" y="2880360"/>
            <a:ext cx="457200" cy="457200"/>
          </a:xfrm>
          <a:prstGeom prst="ellipse">
            <a:avLst/>
          </a:prstGeom>
          <a:solidFill>
            <a:srgbClr val="5C7699"/>
          </a:solidFill>
          <a:ln/>
        </p:spPr>
      </p:sp>
      <p:pic>
        <p:nvPicPr>
          <p:cNvPr id="19" name="Image 2" descr="/home/claude/snowflake_deck/icons/briefcase_white.png">    </p:cNvPr>
          <p:cNvPicPr>
            <a:picLocks noChangeAspect="1"/>
          </p:cNvPicPr>
          <p:nvPr/>
        </p:nvPicPr>
        <p:blipFill>
          <a:blip r:embed="rId3"/>
          <a:stretch>
            <a:fillRect/>
          </a:stretch>
        </p:blipFill>
        <p:spPr>
          <a:xfrm>
            <a:off x="6364224" y="2999232"/>
            <a:ext cx="219456" cy="219456"/>
          </a:xfrm>
          <a:prstGeom prst="rect">
            <a:avLst/>
          </a:prstGeom>
        </p:spPr>
      </p:pic>
      <p:sp>
        <p:nvSpPr>
          <p:cNvPr id="20" name="Text 15"/>
          <p:cNvSpPr/>
          <p:nvPr/>
        </p:nvSpPr>
        <p:spPr>
          <a:xfrm>
            <a:off x="6245352" y="3483864"/>
            <a:ext cx="2276856" cy="502920"/>
          </a:xfrm>
          <a:prstGeom prst="rect">
            <a:avLst/>
          </a:prstGeom>
          <a:noFill/>
          <a:ln/>
        </p:spPr>
        <p:txBody>
          <a:bodyPr wrap="square" rtlCol="0" anchor="t"/>
          <a:lstStyle/>
          <a:p>
            <a:pPr indent="0" marL="0">
              <a:buNone/>
            </a:pPr>
            <a:r>
              <a:rPr lang="en-US" sz="1200" b="1" dirty="0">
                <a:solidFill>
                  <a:srgbClr val="3A4556"/>
                </a:solidFill>
                <a:latin typeface="Calibri" pitchFamily="34" charset="0"/>
                <a:ea typeface="Calibri" pitchFamily="34" charset="-122"/>
                <a:cs typeface="Calibri" pitchFamily="34" charset="-120"/>
              </a:rPr>
              <a:t>Business &amp; Operations</a:t>
            </a:r>
            <a:endParaRPr lang="en-US" sz="1200" dirty="0"/>
          </a:p>
        </p:txBody>
      </p:sp>
      <p:sp>
        <p:nvSpPr>
          <p:cNvPr id="21" name="Text 16"/>
          <p:cNvSpPr/>
          <p:nvPr/>
        </p:nvSpPr>
        <p:spPr>
          <a:xfrm>
            <a:off x="6245352" y="3977640"/>
            <a:ext cx="2276856" cy="1234440"/>
          </a:xfrm>
          <a:prstGeom prst="rect">
            <a:avLst/>
          </a:prstGeom>
          <a:noFill/>
          <a:ln/>
        </p:spPr>
        <p:txBody>
          <a:bodyPr wrap="square" rtlCol="0" anchor="t"/>
          <a:lstStyle/>
          <a:p>
            <a:pPr indent="0" marL="0">
              <a:lnSpc>
                <a:spcPct val="115000"/>
              </a:lnSpc>
              <a:buNone/>
            </a:pPr>
            <a:r>
              <a:rPr lang="en-US" sz="1000" dirty="0">
                <a:solidFill>
                  <a:srgbClr val="68758A"/>
                </a:solidFill>
                <a:latin typeface="Calibri" pitchFamily="34" charset="0"/>
                <a:ea typeface="Calibri" pitchFamily="34" charset="-122"/>
                <a:cs typeface="Calibri" pitchFamily="34" charset="-120"/>
              </a:rPr>
              <a:t>Self-service reporting — enrollment counts, claims aging, network adequacy</a:t>
            </a:r>
            <a:endParaRPr lang="en-US" sz="1000" dirty="0"/>
          </a:p>
        </p:txBody>
      </p:sp>
      <p:sp>
        <p:nvSpPr>
          <p:cNvPr id="22" name="Shape 17"/>
          <p:cNvSpPr/>
          <p:nvPr/>
        </p:nvSpPr>
        <p:spPr>
          <a:xfrm>
            <a:off x="8869680" y="2697480"/>
            <a:ext cx="2606040" cy="2606040"/>
          </a:xfrm>
          <a:prstGeom prst="roundRect">
            <a:avLst>
              <a:gd name="adj" fmla="val 2807"/>
            </a:avLst>
          </a:prstGeom>
          <a:solidFill>
            <a:srgbClr val="EAF0F8"/>
          </a:solidFill>
          <a:ln/>
        </p:spPr>
      </p:sp>
      <p:sp>
        <p:nvSpPr>
          <p:cNvPr id="23" name="Shape 18"/>
          <p:cNvSpPr/>
          <p:nvPr/>
        </p:nvSpPr>
        <p:spPr>
          <a:xfrm>
            <a:off x="9034272" y="2880360"/>
            <a:ext cx="457200" cy="457200"/>
          </a:xfrm>
          <a:prstGeom prst="ellipse">
            <a:avLst/>
          </a:prstGeom>
          <a:solidFill>
            <a:srgbClr val="5C7699"/>
          </a:solidFill>
          <a:ln/>
        </p:spPr>
      </p:sp>
      <p:pic>
        <p:nvPicPr>
          <p:cNvPr id="24" name="Image 3" descr="/home/claude/snowflake_deck/icons/handshake_white.png">    </p:cNvPr>
          <p:cNvPicPr>
            <a:picLocks noChangeAspect="1"/>
          </p:cNvPicPr>
          <p:nvPr/>
        </p:nvPicPr>
        <p:blipFill>
          <a:blip r:embed="rId4"/>
          <a:stretch>
            <a:fillRect/>
          </a:stretch>
        </p:blipFill>
        <p:spPr>
          <a:xfrm>
            <a:off x="9153144" y="2999232"/>
            <a:ext cx="219456" cy="219456"/>
          </a:xfrm>
          <a:prstGeom prst="rect">
            <a:avLst/>
          </a:prstGeom>
        </p:spPr>
      </p:pic>
      <p:sp>
        <p:nvSpPr>
          <p:cNvPr id="25" name="Text 19"/>
          <p:cNvSpPr/>
          <p:nvPr/>
        </p:nvSpPr>
        <p:spPr>
          <a:xfrm>
            <a:off x="9034272" y="3483864"/>
            <a:ext cx="2276856" cy="502920"/>
          </a:xfrm>
          <a:prstGeom prst="rect">
            <a:avLst/>
          </a:prstGeom>
          <a:noFill/>
          <a:ln/>
        </p:spPr>
        <p:txBody>
          <a:bodyPr wrap="square" rtlCol="0" anchor="t"/>
          <a:lstStyle/>
          <a:p>
            <a:pPr indent="0" marL="0">
              <a:buNone/>
            </a:pPr>
            <a:r>
              <a:rPr lang="en-US" sz="1200" b="1" dirty="0">
                <a:solidFill>
                  <a:srgbClr val="3A4556"/>
                </a:solidFill>
                <a:latin typeface="Calibri" pitchFamily="34" charset="0"/>
                <a:ea typeface="Calibri" pitchFamily="34" charset="-122"/>
                <a:cs typeface="Calibri" pitchFamily="34" charset="-120"/>
              </a:rPr>
              <a:t>Vendor Integrations</a:t>
            </a:r>
            <a:endParaRPr lang="en-US" sz="1200" dirty="0"/>
          </a:p>
        </p:txBody>
      </p:sp>
      <p:sp>
        <p:nvSpPr>
          <p:cNvPr id="26" name="Text 20"/>
          <p:cNvSpPr/>
          <p:nvPr/>
        </p:nvSpPr>
        <p:spPr>
          <a:xfrm>
            <a:off x="9034272" y="3977640"/>
            <a:ext cx="2276856" cy="1234440"/>
          </a:xfrm>
          <a:prstGeom prst="rect">
            <a:avLst/>
          </a:prstGeom>
          <a:noFill/>
          <a:ln/>
        </p:spPr>
        <p:txBody>
          <a:bodyPr wrap="square" rtlCol="0" anchor="t"/>
          <a:lstStyle/>
          <a:p>
            <a:pPr indent="0" marL="0">
              <a:lnSpc>
                <a:spcPct val="115000"/>
              </a:lnSpc>
              <a:buNone/>
            </a:pPr>
            <a:r>
              <a:rPr lang="en-US" sz="1000" dirty="0">
                <a:solidFill>
                  <a:srgbClr val="68758A"/>
                </a:solidFill>
                <a:latin typeface="Calibri" pitchFamily="34" charset="0"/>
                <a:ea typeface="Calibri" pitchFamily="34" charset="-122"/>
                <a:cs typeface="Calibri" pitchFamily="34" charset="-120"/>
              </a:rPr>
              <a:t>A wide network of inbound/outbound EDI feeds (834, 837, 835) running continuously</a:t>
            </a:r>
            <a:endParaRPr lang="en-US" sz="1000" dirty="0"/>
          </a:p>
        </p:txBody>
      </p:sp>
      <p:sp>
        <p:nvSpPr>
          <p:cNvPr id="27" name="Shape 21"/>
          <p:cNvSpPr/>
          <p:nvPr/>
        </p:nvSpPr>
        <p:spPr>
          <a:xfrm>
            <a:off x="502920" y="5532120"/>
            <a:ext cx="11185855" cy="868680"/>
          </a:xfrm>
          <a:prstGeom prst="roundRect">
            <a:avLst>
              <a:gd name="adj" fmla="val 8421"/>
            </a:avLst>
          </a:prstGeom>
          <a:solidFill>
            <a:srgbClr val="3A4556"/>
          </a:solidFill>
          <a:ln/>
        </p:spPr>
      </p:sp>
      <p:sp>
        <p:nvSpPr>
          <p:cNvPr id="28" name="Text 22"/>
          <p:cNvSpPr/>
          <p:nvPr/>
        </p:nvSpPr>
        <p:spPr>
          <a:xfrm>
            <a:off x="777240" y="5532120"/>
            <a:ext cx="10637215" cy="868680"/>
          </a:xfrm>
          <a:prstGeom prst="rect">
            <a:avLst/>
          </a:prstGeom>
          <a:noFill/>
          <a:ln/>
        </p:spPr>
        <p:txBody>
          <a:bodyPr wrap="square" rtlCol="0" anchor="ctr"/>
          <a:lstStyle/>
          <a:p>
            <a:pPr algn="l" indent="0" marL="0">
              <a:lnSpc>
                <a:spcPct val="115000"/>
              </a:lnSpc>
              <a:buNone/>
            </a:pPr>
            <a:r>
              <a:rPr lang="en-US" sz="1200" i="1" dirty="0">
                <a:solidFill>
                  <a:srgbClr val="FFFFFF"/>
                </a:solidFill>
                <a:latin typeface="Calibri" pitchFamily="34" charset="0"/>
                <a:ea typeface="Calibri" pitchFamily="34" charset="-122"/>
                <a:cs typeface="Calibri" pitchFamily="34" charset="-120"/>
              </a:rPr>
              <a:t>This workload profile is precisely what Cortex Sense and semantic views were built for: many different askers, asking constantly, needing the same governed answer every time — not a small number of long-running, custom-built agent applications.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BALANCED VIEW</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Where Each Platform Wins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02920" y="1691640"/>
            <a:ext cx="5349240" cy="4023360"/>
          </a:xfrm>
          <a:prstGeom prst="roundRect">
            <a:avLst>
              <a:gd name="adj" fmla="val 1818"/>
            </a:avLst>
          </a:prstGeom>
          <a:solidFill>
            <a:srgbClr val="EAF4EE"/>
          </a:solidFill>
          <a:ln/>
        </p:spPr>
      </p:sp>
      <p:sp>
        <p:nvSpPr>
          <p:cNvPr id="7" name="Text 5"/>
          <p:cNvSpPr/>
          <p:nvPr/>
        </p:nvSpPr>
        <p:spPr>
          <a:xfrm>
            <a:off x="731520" y="1874520"/>
            <a:ext cx="4846320" cy="457200"/>
          </a:xfrm>
          <a:prstGeom prst="rect">
            <a:avLst/>
          </a:prstGeom>
          <a:noFill/>
          <a:ln/>
        </p:spPr>
        <p:txBody>
          <a:bodyPr wrap="square" rtlCol="0" anchor="ctr"/>
          <a:lstStyle/>
          <a:p>
            <a:pPr indent="0" marL="0">
              <a:buNone/>
            </a:pPr>
            <a:r>
              <a:rPr lang="en-US" sz="1100" b="1" spc="50" kern="0" dirty="0">
                <a:solidFill>
                  <a:srgbClr val="5E9C76"/>
                </a:solidFill>
                <a:latin typeface="Calibri" pitchFamily="34" charset="0"/>
                <a:ea typeface="Calibri" pitchFamily="34" charset="-122"/>
                <a:cs typeface="Calibri" pitchFamily="34" charset="-120"/>
              </a:rPr>
              <a:t>WHERE COWORK WINS FOR THIS WORKLOAD</a:t>
            </a:r>
            <a:endParaRPr lang="en-US" sz="1100" dirty="0"/>
          </a:p>
        </p:txBody>
      </p:sp>
      <p:sp>
        <p:nvSpPr>
          <p:cNvPr id="8" name="Text 6"/>
          <p:cNvSpPr/>
          <p:nvPr/>
        </p:nvSpPr>
        <p:spPr>
          <a:xfrm>
            <a:off x="731520" y="2423160"/>
            <a:ext cx="4892040" cy="32004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Hundreds of daily ad-hoc questions from BAs, data scientists, and business/ops — no per-question engineering.</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Zero-egress posture matters directly for HIPAA-regulated member and claims data.</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One semantic layer already serves BI — CoWork reuses it instead of duplicating metric logic.</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No new infrastructure to secure and patch for the analytics use case.</a:t>
            </a:r>
            <a:endParaRPr lang="en-US" sz="1150" dirty="0"/>
          </a:p>
        </p:txBody>
      </p:sp>
      <p:sp>
        <p:nvSpPr>
          <p:cNvPr id="9" name="Shape 7"/>
          <p:cNvSpPr/>
          <p:nvPr/>
        </p:nvSpPr>
        <p:spPr>
          <a:xfrm>
            <a:off x="6309360" y="1691640"/>
            <a:ext cx="5349240" cy="4023360"/>
          </a:xfrm>
          <a:prstGeom prst="roundRect">
            <a:avLst>
              <a:gd name="adj" fmla="val 1818"/>
            </a:avLst>
          </a:prstGeom>
          <a:solidFill>
            <a:srgbClr val="FBEEE6"/>
          </a:solidFill>
          <a:ln/>
        </p:spPr>
      </p:sp>
      <p:sp>
        <p:nvSpPr>
          <p:cNvPr id="10" name="Text 8"/>
          <p:cNvSpPr/>
          <p:nvPr/>
        </p:nvSpPr>
        <p:spPr>
          <a:xfrm>
            <a:off x="6537960" y="1874520"/>
            <a:ext cx="4846320" cy="457200"/>
          </a:xfrm>
          <a:prstGeom prst="rect">
            <a:avLst/>
          </a:prstGeom>
          <a:noFill/>
          <a:ln/>
        </p:spPr>
        <p:txBody>
          <a:bodyPr wrap="square" rtlCol="0" anchor="ctr"/>
          <a:lstStyle/>
          <a:p>
            <a:pPr indent="0" marL="0">
              <a:buNone/>
            </a:pPr>
            <a:r>
              <a:rPr lang="en-US" sz="1100" b="1" spc="50" kern="0" dirty="0">
                <a:solidFill>
                  <a:srgbClr val="C97F5C"/>
                </a:solidFill>
                <a:latin typeface="Calibri" pitchFamily="34" charset="0"/>
                <a:ea typeface="Calibri" pitchFamily="34" charset="-122"/>
                <a:cs typeface="Calibri" pitchFamily="34" charset="-120"/>
              </a:rPr>
              <a:t>WHERE BEDROCK / AGENTCORE STILL MATTERS</a:t>
            </a:r>
            <a:endParaRPr lang="en-US" sz="1100" dirty="0"/>
          </a:p>
        </p:txBody>
      </p:sp>
      <p:sp>
        <p:nvSpPr>
          <p:cNvPr id="11" name="Text 9"/>
          <p:cNvSpPr/>
          <p:nvPr/>
        </p:nvSpPr>
        <p:spPr>
          <a:xfrm>
            <a:off x="6537960" y="2423160"/>
            <a:ext cx="4892040" cy="32004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Custom, long-running agents embedded inside member- or provider-facing applications, not analytics.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Agents that must orchestrate non-Snowflake systems as their primary job (scheduling, ticketing, case routing).</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Teams standardizing on a specific open-source agent framework across all of AWS, not only the data platform.</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Fine-grained control over model choice, hosting, and cost for a narrow, high-volume production workload.</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2 · RECOMMENDATION</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Recommended Pattern: Hybrid, Not Either/Or</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02920" y="1691640"/>
            <a:ext cx="11185855" cy="457200"/>
          </a:xfrm>
          <a:prstGeom prst="rect">
            <a:avLst/>
          </a:prstGeom>
          <a:noFill/>
          <a:ln/>
        </p:spPr>
        <p:txBody>
          <a:bodyPr wrap="square" rtlCol="0" anchor="ctr"/>
          <a:lstStyle/>
          <a:p>
            <a:pPr indent="0" marL="0">
              <a:buNone/>
            </a:pPr>
            <a:r>
              <a:rPr lang="en-US" sz="1800" b="1" i="1" dirty="0">
                <a:solidFill>
                  <a:srgbClr val="3A4556"/>
                </a:solidFill>
                <a:latin typeface="Cambria" pitchFamily="34" charset="0"/>
                <a:ea typeface="Cambria" pitchFamily="34" charset="-122"/>
                <a:cs typeface="Cambria" pitchFamily="34" charset="-120"/>
              </a:rPr>
              <a:t>Route by where the work happens, not by vendor allegiance.</a:t>
            </a:r>
            <a:endParaRPr lang="en-US" sz="1800" dirty="0"/>
          </a:p>
        </p:txBody>
      </p:sp>
      <p:sp>
        <p:nvSpPr>
          <p:cNvPr id="7" name="Shape 5"/>
          <p:cNvSpPr/>
          <p:nvPr/>
        </p:nvSpPr>
        <p:spPr>
          <a:xfrm>
            <a:off x="502920" y="2514600"/>
            <a:ext cx="2604440" cy="1920240"/>
          </a:xfrm>
          <a:prstGeom prst="roundRect">
            <a:avLst>
              <a:gd name="adj" fmla="val 3810"/>
            </a:avLst>
          </a:prstGeom>
          <a:solidFill>
            <a:srgbClr val="EAF0F8"/>
          </a:solidFill>
          <a:ln/>
        </p:spPr>
      </p:sp>
      <p:sp>
        <p:nvSpPr>
          <p:cNvPr id="8" name="Shape 6"/>
          <p:cNvSpPr/>
          <p:nvPr/>
        </p:nvSpPr>
        <p:spPr>
          <a:xfrm>
            <a:off x="1631404" y="2340864"/>
            <a:ext cx="347472" cy="347472"/>
          </a:xfrm>
          <a:prstGeom prst="ellipse">
            <a:avLst/>
          </a:prstGeom>
          <a:solidFill>
            <a:srgbClr val="5C7699"/>
          </a:solidFill>
          <a:ln w="25400">
            <a:solidFill>
              <a:srgbClr val="FFFFFF"/>
            </a:solidFill>
            <a:prstDash val="solid"/>
          </a:ln>
        </p:spPr>
      </p:sp>
      <p:sp>
        <p:nvSpPr>
          <p:cNvPr id="9" name="Text 7"/>
          <p:cNvSpPr/>
          <p:nvPr/>
        </p:nvSpPr>
        <p:spPr>
          <a:xfrm>
            <a:off x="1631404" y="23408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612648" y="2715768"/>
            <a:ext cx="2384984"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Data-Grounded Analytics</a:t>
            </a:r>
            <a:endParaRPr lang="en-US" sz="1200" dirty="0"/>
          </a:p>
        </p:txBody>
      </p:sp>
      <p:sp>
        <p:nvSpPr>
          <p:cNvPr id="11" name="Text 9"/>
          <p:cNvSpPr/>
          <p:nvPr/>
        </p:nvSpPr>
        <p:spPr>
          <a:xfrm>
            <a:off x="612648" y="3136392"/>
            <a:ext cx="2384984" cy="118872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Route to Snowflake CoWork — ad-hoc questions, dashboards, and self-service reporting against governed healthcare data.</a:t>
            </a:r>
            <a:endParaRPr lang="en-US" sz="950" dirty="0"/>
          </a:p>
        </p:txBody>
      </p:sp>
      <p:pic>
        <p:nvPicPr>
          <p:cNvPr id="12" name="Image 0" descr="/home/claude/snowflake_deck/icons/arrowRight_lightgray.png">    </p:cNvPr>
          <p:cNvPicPr>
            <a:picLocks noChangeAspect="1"/>
          </p:cNvPicPr>
          <p:nvPr/>
        </p:nvPicPr>
        <p:blipFill>
          <a:blip r:embed="rId1"/>
          <a:stretch>
            <a:fillRect/>
          </a:stretch>
        </p:blipFill>
        <p:spPr>
          <a:xfrm>
            <a:off x="3153080" y="3392424"/>
            <a:ext cx="164592" cy="164592"/>
          </a:xfrm>
          <a:prstGeom prst="rect">
            <a:avLst/>
          </a:prstGeom>
        </p:spPr>
      </p:pic>
      <p:sp>
        <p:nvSpPr>
          <p:cNvPr id="13" name="Shape 10"/>
          <p:cNvSpPr/>
          <p:nvPr/>
        </p:nvSpPr>
        <p:spPr>
          <a:xfrm>
            <a:off x="3363392" y="2514600"/>
            <a:ext cx="2604440" cy="1920240"/>
          </a:xfrm>
          <a:prstGeom prst="roundRect">
            <a:avLst>
              <a:gd name="adj" fmla="val 3810"/>
            </a:avLst>
          </a:prstGeom>
          <a:solidFill>
            <a:srgbClr val="EAF0F8"/>
          </a:solidFill>
          <a:ln/>
        </p:spPr>
      </p:sp>
      <p:sp>
        <p:nvSpPr>
          <p:cNvPr id="14" name="Shape 11"/>
          <p:cNvSpPr/>
          <p:nvPr/>
        </p:nvSpPr>
        <p:spPr>
          <a:xfrm>
            <a:off x="4491876" y="2340864"/>
            <a:ext cx="347472" cy="347472"/>
          </a:xfrm>
          <a:prstGeom prst="ellipse">
            <a:avLst/>
          </a:prstGeom>
          <a:solidFill>
            <a:srgbClr val="5C7699"/>
          </a:solidFill>
          <a:ln w="25400">
            <a:solidFill>
              <a:srgbClr val="FFFFFF"/>
            </a:solidFill>
            <a:prstDash val="solid"/>
          </a:ln>
        </p:spPr>
      </p:sp>
      <p:sp>
        <p:nvSpPr>
          <p:cNvPr id="15" name="Text 12"/>
          <p:cNvSpPr/>
          <p:nvPr/>
        </p:nvSpPr>
        <p:spPr>
          <a:xfrm>
            <a:off x="4491876" y="23408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3473120" y="2715768"/>
            <a:ext cx="2384984"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App-Embedded Agents</a:t>
            </a:r>
            <a:endParaRPr lang="en-US" sz="1200" dirty="0"/>
          </a:p>
        </p:txBody>
      </p:sp>
      <p:sp>
        <p:nvSpPr>
          <p:cNvPr id="17" name="Text 14"/>
          <p:cNvSpPr/>
          <p:nvPr/>
        </p:nvSpPr>
        <p:spPr>
          <a:xfrm>
            <a:off x="3473120" y="3136392"/>
            <a:ext cx="2384984" cy="118872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Route to Bedrock + AgentCore — agents that live inside member portals, contact-center apps, or workflow tools outside Snowflake.</a:t>
            </a:r>
            <a:endParaRPr lang="en-US" sz="950" dirty="0"/>
          </a:p>
        </p:txBody>
      </p:sp>
      <p:pic>
        <p:nvPicPr>
          <p:cNvPr id="18" name="Image 1" descr="/home/claude/snowflake_deck/icons/arrowRight_lightgray.png">    </p:cNvPr>
          <p:cNvPicPr>
            <a:picLocks noChangeAspect="1"/>
          </p:cNvPicPr>
          <p:nvPr/>
        </p:nvPicPr>
        <p:blipFill>
          <a:blip r:embed="rId2"/>
          <a:stretch>
            <a:fillRect/>
          </a:stretch>
        </p:blipFill>
        <p:spPr>
          <a:xfrm>
            <a:off x="6013552" y="3392424"/>
            <a:ext cx="164592" cy="164592"/>
          </a:xfrm>
          <a:prstGeom prst="rect">
            <a:avLst/>
          </a:prstGeom>
        </p:spPr>
      </p:pic>
      <p:sp>
        <p:nvSpPr>
          <p:cNvPr id="19" name="Shape 15"/>
          <p:cNvSpPr/>
          <p:nvPr/>
        </p:nvSpPr>
        <p:spPr>
          <a:xfrm>
            <a:off x="6223864" y="2514600"/>
            <a:ext cx="2604440" cy="1920240"/>
          </a:xfrm>
          <a:prstGeom prst="roundRect">
            <a:avLst>
              <a:gd name="adj" fmla="val 3810"/>
            </a:avLst>
          </a:prstGeom>
          <a:solidFill>
            <a:srgbClr val="EAF0F8"/>
          </a:solidFill>
          <a:ln/>
        </p:spPr>
      </p:sp>
      <p:sp>
        <p:nvSpPr>
          <p:cNvPr id="20" name="Shape 16"/>
          <p:cNvSpPr/>
          <p:nvPr/>
        </p:nvSpPr>
        <p:spPr>
          <a:xfrm>
            <a:off x="7352348" y="2340864"/>
            <a:ext cx="347472" cy="347472"/>
          </a:xfrm>
          <a:prstGeom prst="ellipse">
            <a:avLst/>
          </a:prstGeom>
          <a:solidFill>
            <a:srgbClr val="5C7699"/>
          </a:solidFill>
          <a:ln w="25400">
            <a:solidFill>
              <a:srgbClr val="FFFFFF"/>
            </a:solidFill>
            <a:prstDash val="solid"/>
          </a:ln>
        </p:spPr>
      </p:sp>
      <p:sp>
        <p:nvSpPr>
          <p:cNvPr id="21" name="Text 17"/>
          <p:cNvSpPr/>
          <p:nvPr/>
        </p:nvSpPr>
        <p:spPr>
          <a:xfrm>
            <a:off x="7352348" y="23408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6333592" y="2715768"/>
            <a:ext cx="2384984"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Shared Governance</a:t>
            </a:r>
            <a:endParaRPr lang="en-US" sz="1200" dirty="0"/>
          </a:p>
        </p:txBody>
      </p:sp>
      <p:sp>
        <p:nvSpPr>
          <p:cNvPr id="23" name="Text 19"/>
          <p:cNvSpPr/>
          <p:nvPr/>
        </p:nvSpPr>
        <p:spPr>
          <a:xfrm>
            <a:off x="6333592" y="3136392"/>
            <a:ext cx="2384984" cy="118872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Both paths authenticate through the same enterprise identity provider and respect the same data classification policy.</a:t>
            </a:r>
            <a:endParaRPr lang="en-US" sz="950" dirty="0"/>
          </a:p>
        </p:txBody>
      </p:sp>
      <p:pic>
        <p:nvPicPr>
          <p:cNvPr id="24" name="Image 2" descr="/home/claude/snowflake_deck/icons/arrowRight_lightgray.png">    </p:cNvPr>
          <p:cNvPicPr>
            <a:picLocks noChangeAspect="1"/>
          </p:cNvPicPr>
          <p:nvPr/>
        </p:nvPicPr>
        <p:blipFill>
          <a:blip r:embed="rId3"/>
          <a:stretch>
            <a:fillRect/>
          </a:stretch>
        </p:blipFill>
        <p:spPr>
          <a:xfrm>
            <a:off x="8874023" y="3392424"/>
            <a:ext cx="164592" cy="164592"/>
          </a:xfrm>
          <a:prstGeom prst="rect">
            <a:avLst/>
          </a:prstGeom>
        </p:spPr>
      </p:pic>
      <p:sp>
        <p:nvSpPr>
          <p:cNvPr id="25" name="Shape 20"/>
          <p:cNvSpPr/>
          <p:nvPr/>
        </p:nvSpPr>
        <p:spPr>
          <a:xfrm>
            <a:off x="9084335" y="2514600"/>
            <a:ext cx="2604440" cy="1920240"/>
          </a:xfrm>
          <a:prstGeom prst="roundRect">
            <a:avLst>
              <a:gd name="adj" fmla="val 3810"/>
            </a:avLst>
          </a:prstGeom>
          <a:solidFill>
            <a:srgbClr val="EAF0F8"/>
          </a:solidFill>
          <a:ln/>
        </p:spPr>
      </p:sp>
      <p:sp>
        <p:nvSpPr>
          <p:cNvPr id="26" name="Shape 21"/>
          <p:cNvSpPr/>
          <p:nvPr/>
        </p:nvSpPr>
        <p:spPr>
          <a:xfrm>
            <a:off x="10212819" y="2340864"/>
            <a:ext cx="347472" cy="347472"/>
          </a:xfrm>
          <a:prstGeom prst="ellipse">
            <a:avLst/>
          </a:prstGeom>
          <a:solidFill>
            <a:srgbClr val="5C7699"/>
          </a:solidFill>
          <a:ln w="25400">
            <a:solidFill>
              <a:srgbClr val="FFFFFF"/>
            </a:solidFill>
            <a:prstDash val="solid"/>
          </a:ln>
        </p:spPr>
      </p:sp>
      <p:sp>
        <p:nvSpPr>
          <p:cNvPr id="27" name="Text 22"/>
          <p:cNvSpPr/>
          <p:nvPr/>
        </p:nvSpPr>
        <p:spPr>
          <a:xfrm>
            <a:off x="10212819" y="23408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3"/>
          <p:cNvSpPr/>
          <p:nvPr/>
        </p:nvSpPr>
        <p:spPr>
          <a:xfrm>
            <a:off x="9194063" y="2715768"/>
            <a:ext cx="2384984"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Single Source of Truth</a:t>
            </a:r>
            <a:endParaRPr lang="en-US" sz="1200" dirty="0"/>
          </a:p>
        </p:txBody>
      </p:sp>
      <p:sp>
        <p:nvSpPr>
          <p:cNvPr id="29" name="Text 24"/>
          <p:cNvSpPr/>
          <p:nvPr/>
        </p:nvSpPr>
        <p:spPr>
          <a:xfrm>
            <a:off x="9194063" y="3136392"/>
            <a:ext cx="2384984" cy="118872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Even AgentCore-built agents that need healthcare data call back into Snowflake via governed APIs — never a separate copy of the warehouse.</a:t>
            </a:r>
            <a:endParaRPr lang="en-US" sz="950" dirty="0"/>
          </a:p>
        </p:txBody>
      </p:sp>
      <p:sp>
        <p:nvSpPr>
          <p:cNvPr id="30" name="Shape 25"/>
          <p:cNvSpPr/>
          <p:nvPr/>
        </p:nvSpPr>
        <p:spPr>
          <a:xfrm>
            <a:off x="502920" y="4892040"/>
            <a:ext cx="11185855" cy="1051560"/>
          </a:xfrm>
          <a:prstGeom prst="roundRect">
            <a:avLst>
              <a:gd name="adj" fmla="val 6957"/>
            </a:avLst>
          </a:prstGeom>
          <a:solidFill>
            <a:srgbClr val="FBEEE6"/>
          </a:solidFill>
          <a:ln/>
        </p:spPr>
      </p:sp>
      <p:sp>
        <p:nvSpPr>
          <p:cNvPr id="31" name="Text 26"/>
          <p:cNvSpPr/>
          <p:nvPr/>
        </p:nvSpPr>
        <p:spPr>
          <a:xfrm>
            <a:off x="777240" y="4892040"/>
            <a:ext cx="10637215" cy="1051560"/>
          </a:xfrm>
          <a:prstGeom prst="rect">
            <a:avLst/>
          </a:prstGeom>
          <a:noFill/>
          <a:ln/>
        </p:spPr>
        <p:txBody>
          <a:bodyPr wrap="square" rtlCol="0" anchor="ctr"/>
          <a:lstStyle/>
          <a:p>
            <a:pPr algn="l" indent="0" marL="0">
              <a:lnSpc>
                <a:spcPct val="115000"/>
              </a:lnSpc>
              <a:buNone/>
            </a:pPr>
            <a:r>
              <a:rPr lang="en-US" sz="1300" i="1" dirty="0">
                <a:solidFill>
                  <a:srgbClr val="3A4556"/>
                </a:solidFill>
                <a:latin typeface="Calibri" pitchFamily="34" charset="0"/>
                <a:ea typeface="Calibri" pitchFamily="34" charset="-122"/>
                <a:cs typeface="Calibri" pitchFamily="34" charset="-120"/>
              </a:rPr>
              <a:t>This is not a compromise — it mirrors how most well-run AWS shops already treat their data warehouse: applications live where they live, but there is exactly one governed place the numbers come from.</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04</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Component-by-Component</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Step 3 of the research prompt: inside the platform — the medallion layers, the healthcare entity model, and how physical tables become governed business meaning.</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PHYSICAL SUBSTRATE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Snowflake's Physical Three-Layer Architecture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02920" y="1737360"/>
            <a:ext cx="11185855" cy="1188720"/>
          </a:xfrm>
          <a:prstGeom prst="roundRect">
            <a:avLst>
              <a:gd name="adj" fmla="val 6154"/>
            </a:avLst>
          </a:prstGeom>
          <a:solidFill>
            <a:srgbClr val="EAF0F8"/>
          </a:solidFill>
          <a:ln/>
        </p:spPr>
      </p:sp>
      <p:sp>
        <p:nvSpPr>
          <p:cNvPr id="7" name="Shape 5"/>
          <p:cNvSpPr/>
          <p:nvPr/>
        </p:nvSpPr>
        <p:spPr>
          <a:xfrm>
            <a:off x="731520" y="1965960"/>
            <a:ext cx="731520" cy="731520"/>
          </a:xfrm>
          <a:prstGeom prst="ellipse">
            <a:avLst/>
          </a:prstGeom>
          <a:solidFill>
            <a:srgbClr val="5C7699"/>
          </a:solidFill>
          <a:ln/>
        </p:spPr>
      </p:sp>
      <p:pic>
        <p:nvPicPr>
          <p:cNvPr id="8" name="Image 0" descr="/home/claude/snowflake_deck/icons/desktop_white.png">    </p:cNvPr>
          <p:cNvPicPr>
            <a:picLocks noChangeAspect="1"/>
          </p:cNvPicPr>
          <p:nvPr/>
        </p:nvPicPr>
        <p:blipFill>
          <a:blip r:embed="rId1"/>
          <a:stretch>
            <a:fillRect/>
          </a:stretch>
        </p:blipFill>
        <p:spPr>
          <a:xfrm>
            <a:off x="921715" y="2156155"/>
            <a:ext cx="351130" cy="351130"/>
          </a:xfrm>
          <a:prstGeom prst="rect">
            <a:avLst/>
          </a:prstGeom>
        </p:spPr>
      </p:pic>
      <p:sp>
        <p:nvSpPr>
          <p:cNvPr id="9" name="Text 6"/>
          <p:cNvSpPr/>
          <p:nvPr/>
        </p:nvSpPr>
        <p:spPr>
          <a:xfrm>
            <a:off x="1645920" y="1901952"/>
            <a:ext cx="3657600" cy="822960"/>
          </a:xfrm>
          <a:prstGeom prst="rect">
            <a:avLst/>
          </a:prstGeom>
          <a:noFill/>
          <a:ln/>
        </p:spPr>
        <p:txBody>
          <a:bodyPr wrap="square" rtlCol="0" anchor="t"/>
          <a:lstStyle/>
          <a:p>
            <a:pPr indent="0" marL="0">
              <a:buNone/>
            </a:pPr>
            <a:r>
              <a:rPr lang="en-US" sz="1450" b="1" dirty="0">
                <a:solidFill>
                  <a:srgbClr val="3A4556"/>
                </a:solidFill>
                <a:latin typeface="Calibri" pitchFamily="34" charset="0"/>
                <a:ea typeface="Calibri" pitchFamily="34" charset="-122"/>
                <a:cs typeface="Calibri" pitchFamily="34" charset="-120"/>
              </a:rPr>
              <a:t>Cloud Services Layer</a:t>
            </a:r>
            <a:endParaRPr lang="en-US" sz="1450" dirty="0"/>
          </a:p>
        </p:txBody>
      </p:sp>
      <p:sp>
        <p:nvSpPr>
          <p:cNvPr id="10" name="Text 7"/>
          <p:cNvSpPr/>
          <p:nvPr/>
        </p:nvSpPr>
        <p:spPr>
          <a:xfrm>
            <a:off x="5212080" y="1901952"/>
            <a:ext cx="6202375" cy="896112"/>
          </a:xfrm>
          <a:prstGeom prst="rect">
            <a:avLst/>
          </a:prstGeom>
          <a:noFill/>
          <a:ln/>
        </p:spPr>
        <p:txBody>
          <a:bodyPr wrap="square" rtlCol="0" anchor="t"/>
          <a:lstStyle/>
          <a:p>
            <a:pPr indent="0" marL="0">
              <a:lnSpc>
                <a:spcPct val="120000"/>
              </a:lnSpc>
              <a:buNone/>
            </a:pPr>
            <a:r>
              <a:rPr lang="en-US" sz="1100" dirty="0">
                <a:solidFill>
                  <a:srgbClr val="68758A"/>
                </a:solidFill>
                <a:latin typeface="Calibri" pitchFamily="34" charset="0"/>
                <a:ea typeface="Calibri" pitchFamily="34" charset="-122"/>
                <a:cs typeface="Calibri" pitchFamily="34" charset="-120"/>
              </a:rPr>
              <a:t>Stateless services handling authentication, RBAC, query parsing/optimization, and the global result cache. Every client — Snowsight, CoWork, TOAD, DBeaver — enters here first.</a:t>
            </a:r>
            <a:endParaRPr lang="en-US" sz="1100" dirty="0"/>
          </a:p>
        </p:txBody>
      </p:sp>
      <p:sp>
        <p:nvSpPr>
          <p:cNvPr id="11" name="Shape 8"/>
          <p:cNvSpPr/>
          <p:nvPr/>
        </p:nvSpPr>
        <p:spPr>
          <a:xfrm>
            <a:off x="502920" y="3154680"/>
            <a:ext cx="11185855" cy="1188720"/>
          </a:xfrm>
          <a:prstGeom prst="roundRect">
            <a:avLst>
              <a:gd name="adj" fmla="val 6154"/>
            </a:avLst>
          </a:prstGeom>
          <a:solidFill>
            <a:srgbClr val="3A4556"/>
          </a:solidFill>
          <a:ln/>
        </p:spPr>
      </p:sp>
      <p:sp>
        <p:nvSpPr>
          <p:cNvPr id="12" name="Shape 9"/>
          <p:cNvSpPr/>
          <p:nvPr/>
        </p:nvSpPr>
        <p:spPr>
          <a:xfrm>
            <a:off x="731520" y="3383280"/>
            <a:ext cx="731520" cy="731520"/>
          </a:xfrm>
          <a:prstGeom prst="ellipse">
            <a:avLst/>
          </a:prstGeom>
          <a:solidFill>
            <a:srgbClr val="E2A07E"/>
          </a:solidFill>
          <a:ln/>
        </p:spPr>
      </p:sp>
      <p:pic>
        <p:nvPicPr>
          <p:cNvPr id="13" name="Image 1" descr="/home/claude/snowflake_deck/icons/bolt_white.png">    </p:cNvPr>
          <p:cNvPicPr>
            <a:picLocks noChangeAspect="1"/>
          </p:cNvPicPr>
          <p:nvPr/>
        </p:nvPicPr>
        <p:blipFill>
          <a:blip r:embed="rId2"/>
          <a:stretch>
            <a:fillRect/>
          </a:stretch>
        </p:blipFill>
        <p:spPr>
          <a:xfrm>
            <a:off x="921715" y="3573475"/>
            <a:ext cx="351130" cy="351130"/>
          </a:xfrm>
          <a:prstGeom prst="rect">
            <a:avLst/>
          </a:prstGeom>
        </p:spPr>
      </p:pic>
      <p:sp>
        <p:nvSpPr>
          <p:cNvPr id="14" name="Text 10"/>
          <p:cNvSpPr/>
          <p:nvPr/>
        </p:nvSpPr>
        <p:spPr>
          <a:xfrm>
            <a:off x="1645920" y="3319272"/>
            <a:ext cx="3657600" cy="822960"/>
          </a:xfrm>
          <a:prstGeom prst="rect">
            <a:avLst/>
          </a:prstGeom>
          <a:noFill/>
          <a:ln/>
        </p:spPr>
        <p:txBody>
          <a:bodyPr wrap="square"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Compute Layer</a:t>
            </a:r>
            <a:endParaRPr lang="en-US" sz="1450" dirty="0"/>
          </a:p>
        </p:txBody>
      </p:sp>
      <p:sp>
        <p:nvSpPr>
          <p:cNvPr id="15" name="Text 11"/>
          <p:cNvSpPr/>
          <p:nvPr/>
        </p:nvSpPr>
        <p:spPr>
          <a:xfrm>
            <a:off x="5212080" y="3319272"/>
            <a:ext cx="6202375" cy="896112"/>
          </a:xfrm>
          <a:prstGeom prst="rect">
            <a:avLst/>
          </a:prstGeom>
          <a:noFill/>
          <a:ln/>
        </p:spPr>
        <p:txBody>
          <a:bodyPr wrap="square" rtlCol="0" anchor="t"/>
          <a:lstStyle/>
          <a:p>
            <a:pPr indent="0" marL="0">
              <a:lnSpc>
                <a:spcPct val="120000"/>
              </a:lnSpc>
              <a:buNone/>
            </a:pPr>
            <a:r>
              <a:rPr lang="en-US" sz="1100" dirty="0">
                <a:solidFill>
                  <a:srgbClr val="D8DEE9"/>
                </a:solidFill>
                <a:latin typeface="Calibri" pitchFamily="34" charset="0"/>
                <a:ea typeface="Calibri" pitchFamily="34" charset="-122"/>
                <a:cs typeface="Calibri" pitchFamily="34" charset="-120"/>
              </a:rPr>
              <a:t>Independently-scaling virtual warehouses (t-shirt sized) execute the optimized plan. Separate warehouses isolate ad-hoc analyst load from production pipelines.</a:t>
            </a:r>
            <a:endParaRPr lang="en-US" sz="1100" dirty="0"/>
          </a:p>
        </p:txBody>
      </p:sp>
      <p:sp>
        <p:nvSpPr>
          <p:cNvPr id="16" name="Shape 12"/>
          <p:cNvSpPr/>
          <p:nvPr/>
        </p:nvSpPr>
        <p:spPr>
          <a:xfrm>
            <a:off x="502920" y="4572000"/>
            <a:ext cx="11185855" cy="1188720"/>
          </a:xfrm>
          <a:prstGeom prst="roundRect">
            <a:avLst>
              <a:gd name="adj" fmla="val 6154"/>
            </a:avLst>
          </a:prstGeom>
          <a:solidFill>
            <a:srgbClr val="EAF0F8"/>
          </a:solidFill>
          <a:ln/>
        </p:spPr>
      </p:sp>
      <p:sp>
        <p:nvSpPr>
          <p:cNvPr id="17" name="Shape 13"/>
          <p:cNvSpPr/>
          <p:nvPr/>
        </p:nvSpPr>
        <p:spPr>
          <a:xfrm>
            <a:off x="731520" y="4800600"/>
            <a:ext cx="731520" cy="731520"/>
          </a:xfrm>
          <a:prstGeom prst="ellipse">
            <a:avLst/>
          </a:prstGeom>
          <a:solidFill>
            <a:srgbClr val="5C7699"/>
          </a:solidFill>
          <a:ln/>
        </p:spPr>
      </p:sp>
      <p:pic>
        <p:nvPicPr>
          <p:cNvPr id="18" name="Image 2" descr="/home/claude/snowflake_deck/icons/database_white.png">    </p:cNvPr>
          <p:cNvPicPr>
            <a:picLocks noChangeAspect="1"/>
          </p:cNvPicPr>
          <p:nvPr/>
        </p:nvPicPr>
        <p:blipFill>
          <a:blip r:embed="rId3"/>
          <a:stretch>
            <a:fillRect/>
          </a:stretch>
        </p:blipFill>
        <p:spPr>
          <a:xfrm>
            <a:off x="921715" y="4990795"/>
            <a:ext cx="351130" cy="351130"/>
          </a:xfrm>
          <a:prstGeom prst="rect">
            <a:avLst/>
          </a:prstGeom>
        </p:spPr>
      </p:pic>
      <p:sp>
        <p:nvSpPr>
          <p:cNvPr id="19" name="Text 14"/>
          <p:cNvSpPr/>
          <p:nvPr/>
        </p:nvSpPr>
        <p:spPr>
          <a:xfrm>
            <a:off x="1645920" y="4736592"/>
            <a:ext cx="3657600" cy="822960"/>
          </a:xfrm>
          <a:prstGeom prst="rect">
            <a:avLst/>
          </a:prstGeom>
          <a:noFill/>
          <a:ln/>
        </p:spPr>
        <p:txBody>
          <a:bodyPr wrap="square" rtlCol="0" anchor="t"/>
          <a:lstStyle/>
          <a:p>
            <a:pPr indent="0" marL="0">
              <a:buNone/>
            </a:pPr>
            <a:r>
              <a:rPr lang="en-US" sz="1450" b="1" dirty="0">
                <a:solidFill>
                  <a:srgbClr val="3A4556"/>
                </a:solidFill>
                <a:latin typeface="Calibri" pitchFamily="34" charset="0"/>
                <a:ea typeface="Calibri" pitchFamily="34" charset="-122"/>
                <a:cs typeface="Calibri" pitchFamily="34" charset="-120"/>
              </a:rPr>
              <a:t>Storage Layer</a:t>
            </a:r>
            <a:endParaRPr lang="en-US" sz="1450" dirty="0"/>
          </a:p>
        </p:txBody>
      </p:sp>
      <p:sp>
        <p:nvSpPr>
          <p:cNvPr id="20" name="Text 15"/>
          <p:cNvSpPr/>
          <p:nvPr/>
        </p:nvSpPr>
        <p:spPr>
          <a:xfrm>
            <a:off x="5212080" y="4736592"/>
            <a:ext cx="6202375" cy="896112"/>
          </a:xfrm>
          <a:prstGeom prst="rect">
            <a:avLst/>
          </a:prstGeom>
          <a:noFill/>
          <a:ln/>
        </p:spPr>
        <p:txBody>
          <a:bodyPr wrap="square" rtlCol="0" anchor="t"/>
          <a:lstStyle/>
          <a:p>
            <a:pPr indent="0" marL="0">
              <a:lnSpc>
                <a:spcPct val="120000"/>
              </a:lnSpc>
              <a:buNone/>
            </a:pPr>
            <a:r>
              <a:rPr lang="en-US" sz="1100" dirty="0">
                <a:solidFill>
                  <a:srgbClr val="68758A"/>
                </a:solidFill>
                <a:latin typeface="Calibri" pitchFamily="34" charset="0"/>
                <a:ea typeface="Calibri" pitchFamily="34" charset="-122"/>
                <a:cs typeface="Calibri" pitchFamily="34" charset="-120"/>
              </a:rPr>
              <a:t>Immutable, compressed micro-partitions in cloud object storage, with column-level metadata (min/max, nulls) enabling aggressive pruning.</a:t>
            </a:r>
            <a:endParaRPr lang="en-US" sz="1100" dirty="0"/>
          </a:p>
        </p:txBody>
      </p:sp>
      <p:sp>
        <p:nvSpPr>
          <p:cNvPr id="21" name="Shape 16"/>
          <p:cNvSpPr/>
          <p:nvPr/>
        </p:nvSpPr>
        <p:spPr>
          <a:xfrm>
            <a:off x="502920" y="6035040"/>
            <a:ext cx="11185855" cy="457200"/>
          </a:xfrm>
          <a:prstGeom prst="roundRect">
            <a:avLst>
              <a:gd name="adj" fmla="val 16000"/>
            </a:avLst>
          </a:prstGeom>
          <a:solidFill>
            <a:srgbClr val="FBEEE6"/>
          </a:solidFill>
          <a:ln/>
        </p:spPr>
      </p:sp>
      <p:sp>
        <p:nvSpPr>
          <p:cNvPr id="22" name="Text 17"/>
          <p:cNvSpPr/>
          <p:nvPr/>
        </p:nvSpPr>
        <p:spPr>
          <a:xfrm>
            <a:off x="777240" y="6035040"/>
            <a:ext cx="10637215" cy="457200"/>
          </a:xfrm>
          <a:prstGeom prst="rect">
            <a:avLst/>
          </a:prstGeom>
          <a:noFill/>
          <a:ln/>
        </p:spPr>
        <p:txBody>
          <a:bodyPr wrap="square" rtlCol="0" anchor="ctr"/>
          <a:lstStyle/>
          <a:p>
            <a:pPr algn="l" indent="0" marL="0">
              <a:lnSpc>
                <a:spcPct val="115000"/>
              </a:lnSpc>
              <a:buNone/>
            </a:pPr>
            <a:r>
              <a:rPr lang="en-US" sz="1150" i="1" dirty="0">
                <a:solidFill>
                  <a:srgbClr val="3A4556"/>
                </a:solidFill>
                <a:latin typeface="Calibri" pitchFamily="34" charset="0"/>
                <a:ea typeface="Calibri" pitchFamily="34" charset="-122"/>
                <a:cs typeface="Calibri" pitchFamily="34" charset="-120"/>
              </a:rPr>
              <a:t>A request flows top to bottom: Cloud Services compiles and prunes, Compute executes, Storage supplies the micro-partitions.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WORKING MENTAL MODEL</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Context, Semantic, and Data Layers — Mapped</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28</a:t>
            </a:r>
            <a:endParaRPr lang="en-US" sz="900" dirty="0"/>
          </a:p>
        </p:txBody>
      </p:sp>
      <p:sp>
        <p:nvSpPr>
          <p:cNvPr id="6" name="Text 4"/>
          <p:cNvSpPr/>
          <p:nvPr/>
        </p:nvSpPr>
        <p:spPr>
          <a:xfrm>
            <a:off x="502920" y="1691640"/>
            <a:ext cx="11185855" cy="685800"/>
          </a:xfrm>
          <a:prstGeom prst="rect">
            <a:avLst/>
          </a:prstGeom>
          <a:noFill/>
          <a:ln/>
        </p:spPr>
        <p:txBody>
          <a:bodyPr wrap="square" rtlCol="0" anchor="ctr"/>
          <a:lstStyle/>
          <a:p>
            <a:pPr indent="0" marL="0">
              <a:lnSpc>
                <a:spcPct val="125000"/>
              </a:lnSpc>
              <a:buNone/>
            </a:pPr>
            <a:r>
              <a:rPr lang="en-US" sz="1250" dirty="0">
                <a:solidFill>
                  <a:srgbClr val="3A4556"/>
                </a:solidFill>
                <a:latin typeface="Calibri" pitchFamily="34" charset="0"/>
                <a:ea typeface="Calibri" pitchFamily="34" charset="-122"/>
                <a:cs typeface="Calibri" pitchFamily="34" charset="-120"/>
              </a:rPr>
              <a:t>The physical three-layer architecture is what Snowflake runs on. Overlaid on top of it are three logical layers that determine what an AI request actually experiences — and these are the layers this research traces a prompt through.</a:t>
            </a:r>
            <a:endParaRPr lang="en-US" sz="1250" dirty="0"/>
          </a:p>
        </p:txBody>
      </p:sp>
      <p:sp>
        <p:nvSpPr>
          <p:cNvPr id="7" name="Shape 5"/>
          <p:cNvSpPr/>
          <p:nvPr/>
        </p:nvSpPr>
        <p:spPr>
          <a:xfrm>
            <a:off x="502920" y="2560320"/>
            <a:ext cx="11185855" cy="1170432"/>
          </a:xfrm>
          <a:prstGeom prst="roundRect">
            <a:avLst>
              <a:gd name="adj" fmla="val 6250"/>
            </a:avLst>
          </a:prstGeom>
          <a:solidFill>
            <a:srgbClr val="5C7699"/>
          </a:solidFill>
          <a:ln/>
        </p:spPr>
      </p:sp>
      <p:sp>
        <p:nvSpPr>
          <p:cNvPr id="8" name="Text 6"/>
          <p:cNvSpPr/>
          <p:nvPr/>
        </p:nvSpPr>
        <p:spPr>
          <a:xfrm>
            <a:off x="777240" y="2724912"/>
            <a:ext cx="2286000" cy="822960"/>
          </a:xfrm>
          <a:prstGeom prst="rect">
            <a:avLst/>
          </a:prstGeom>
          <a:noFill/>
          <a:ln/>
        </p:spPr>
        <p:txBody>
          <a:bodyPr wrap="square" rtlCol="0" anchor="t"/>
          <a:lstStyle/>
          <a:p>
            <a:pPr indent="0" marL="0">
              <a:buNone/>
            </a:pPr>
            <a:r>
              <a:rPr lang="en-US" sz="1200" b="1" spc="50" kern="0" dirty="0">
                <a:solidFill>
                  <a:srgbClr val="E2A07E"/>
                </a:solidFill>
                <a:latin typeface="Calibri" pitchFamily="34" charset="0"/>
                <a:ea typeface="Calibri" pitchFamily="34" charset="-122"/>
                <a:cs typeface="Calibri" pitchFamily="34" charset="-120"/>
              </a:rPr>
              <a:t>CONTEXT LAYER</a:t>
            </a:r>
            <a:endParaRPr lang="en-US" sz="1200" dirty="0"/>
          </a:p>
        </p:txBody>
      </p:sp>
      <p:sp>
        <p:nvSpPr>
          <p:cNvPr id="9" name="Text 7"/>
          <p:cNvSpPr/>
          <p:nvPr/>
        </p:nvSpPr>
        <p:spPr>
          <a:xfrm>
            <a:off x="3154680" y="2724912"/>
            <a:ext cx="2834640" cy="82296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Cortex Sense</a:t>
            </a:r>
            <a:endParaRPr lang="en-US" sz="1500" dirty="0"/>
          </a:p>
        </p:txBody>
      </p:sp>
      <p:sp>
        <p:nvSpPr>
          <p:cNvPr id="10" name="Text 8"/>
          <p:cNvSpPr/>
          <p:nvPr/>
        </p:nvSpPr>
        <p:spPr>
          <a:xfrm>
            <a:off x="6080760" y="2724912"/>
            <a:ext cx="5333695" cy="896112"/>
          </a:xfrm>
          <a:prstGeom prst="rect">
            <a:avLst/>
          </a:prstGeom>
          <a:noFill/>
          <a:ln/>
        </p:spPr>
        <p:txBody>
          <a:bodyPr wrap="square" rtlCol="0" anchor="t"/>
          <a:lstStyle/>
          <a:p>
            <a:pPr indent="0" marL="0">
              <a:lnSpc>
                <a:spcPct val="118000"/>
              </a:lnSpc>
              <a:buNone/>
            </a:pPr>
            <a:r>
              <a:rPr lang="en-US" sz="1080" dirty="0">
                <a:solidFill>
                  <a:srgbClr val="D8DEE9"/>
                </a:solidFill>
                <a:latin typeface="Calibri" pitchFamily="34" charset="0"/>
                <a:ea typeface="Calibri" pitchFamily="34" charset="-122"/>
                <a:cs typeface="Calibri" pitchFamily="34" charset="-120"/>
              </a:rPr>
              <a:t>Ranks and surfaces the right business definitions at query time — query history, metadata, BI definitions, semantic views.</a:t>
            </a:r>
            <a:endParaRPr lang="en-US" sz="1080" dirty="0"/>
          </a:p>
        </p:txBody>
      </p:sp>
      <p:sp>
        <p:nvSpPr>
          <p:cNvPr id="11" name="Shape 9"/>
          <p:cNvSpPr/>
          <p:nvPr/>
        </p:nvSpPr>
        <p:spPr>
          <a:xfrm>
            <a:off x="502920" y="3877056"/>
            <a:ext cx="11185855" cy="1170432"/>
          </a:xfrm>
          <a:prstGeom prst="roundRect">
            <a:avLst>
              <a:gd name="adj" fmla="val 6250"/>
            </a:avLst>
          </a:prstGeom>
          <a:solidFill>
            <a:srgbClr val="46577D"/>
          </a:solidFill>
          <a:ln/>
        </p:spPr>
      </p:sp>
      <p:sp>
        <p:nvSpPr>
          <p:cNvPr id="12" name="Text 10"/>
          <p:cNvSpPr/>
          <p:nvPr/>
        </p:nvSpPr>
        <p:spPr>
          <a:xfrm>
            <a:off x="777240" y="4041648"/>
            <a:ext cx="2286000" cy="822960"/>
          </a:xfrm>
          <a:prstGeom prst="rect">
            <a:avLst/>
          </a:prstGeom>
          <a:noFill/>
          <a:ln/>
        </p:spPr>
        <p:txBody>
          <a:bodyPr wrap="square" rtlCol="0" anchor="t"/>
          <a:lstStyle/>
          <a:p>
            <a:pPr indent="0" marL="0">
              <a:buNone/>
            </a:pPr>
            <a:r>
              <a:rPr lang="en-US" sz="1200" b="1" spc="50" kern="0" dirty="0">
                <a:solidFill>
                  <a:srgbClr val="E2A07E"/>
                </a:solidFill>
                <a:latin typeface="Calibri" pitchFamily="34" charset="0"/>
                <a:ea typeface="Calibri" pitchFamily="34" charset="-122"/>
                <a:cs typeface="Calibri" pitchFamily="34" charset="-120"/>
              </a:rPr>
              <a:t>SEMANTIC LAYER</a:t>
            </a:r>
            <a:endParaRPr lang="en-US" sz="1200" dirty="0"/>
          </a:p>
        </p:txBody>
      </p:sp>
      <p:sp>
        <p:nvSpPr>
          <p:cNvPr id="13" name="Text 11"/>
          <p:cNvSpPr/>
          <p:nvPr/>
        </p:nvSpPr>
        <p:spPr>
          <a:xfrm>
            <a:off x="3154680" y="4041648"/>
            <a:ext cx="2834640" cy="82296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Semantic Views / Cortex Analyst</a:t>
            </a:r>
            <a:endParaRPr lang="en-US" sz="1500" dirty="0"/>
          </a:p>
        </p:txBody>
      </p:sp>
      <p:sp>
        <p:nvSpPr>
          <p:cNvPr id="14" name="Text 12"/>
          <p:cNvSpPr/>
          <p:nvPr/>
        </p:nvSpPr>
        <p:spPr>
          <a:xfrm>
            <a:off x="6080760" y="4041648"/>
            <a:ext cx="5333695" cy="896112"/>
          </a:xfrm>
          <a:prstGeom prst="rect">
            <a:avLst/>
          </a:prstGeom>
          <a:noFill/>
          <a:ln/>
        </p:spPr>
        <p:txBody>
          <a:bodyPr wrap="square" rtlCol="0" anchor="t"/>
          <a:lstStyle/>
          <a:p>
            <a:pPr indent="0" marL="0">
              <a:lnSpc>
                <a:spcPct val="118000"/>
              </a:lnSpc>
              <a:buNone/>
            </a:pPr>
            <a:r>
              <a:rPr lang="en-US" sz="1080" dirty="0">
                <a:solidFill>
                  <a:srgbClr val="D8DEE9"/>
                </a:solidFill>
                <a:latin typeface="Calibri" pitchFamily="34" charset="0"/>
                <a:ea typeface="Calibri" pitchFamily="34" charset="-122"/>
                <a:cs typeface="Calibri" pitchFamily="34" charset="-120"/>
              </a:rPr>
              <a:t>Maps physical gold tables to business vocabulary — facts, dimensions, metrics, and declared relationships.</a:t>
            </a:r>
            <a:endParaRPr lang="en-US" sz="1080" dirty="0"/>
          </a:p>
        </p:txBody>
      </p:sp>
      <p:sp>
        <p:nvSpPr>
          <p:cNvPr id="15" name="Shape 13"/>
          <p:cNvSpPr/>
          <p:nvPr/>
        </p:nvSpPr>
        <p:spPr>
          <a:xfrm>
            <a:off x="502920" y="5193792"/>
            <a:ext cx="11185855" cy="1170432"/>
          </a:xfrm>
          <a:prstGeom prst="roundRect">
            <a:avLst>
              <a:gd name="adj" fmla="val 6250"/>
            </a:avLst>
          </a:prstGeom>
          <a:solidFill>
            <a:srgbClr val="3A4556"/>
          </a:solidFill>
          <a:ln/>
        </p:spPr>
      </p:sp>
      <p:sp>
        <p:nvSpPr>
          <p:cNvPr id="16" name="Text 14"/>
          <p:cNvSpPr/>
          <p:nvPr/>
        </p:nvSpPr>
        <p:spPr>
          <a:xfrm>
            <a:off x="777240" y="5358384"/>
            <a:ext cx="2286000" cy="822960"/>
          </a:xfrm>
          <a:prstGeom prst="rect">
            <a:avLst/>
          </a:prstGeom>
          <a:noFill/>
          <a:ln/>
        </p:spPr>
        <p:txBody>
          <a:bodyPr wrap="square" rtlCol="0" anchor="t"/>
          <a:lstStyle/>
          <a:p>
            <a:pPr indent="0" marL="0">
              <a:buNone/>
            </a:pPr>
            <a:r>
              <a:rPr lang="en-US" sz="1200" b="1" spc="50" kern="0" dirty="0">
                <a:solidFill>
                  <a:srgbClr val="E2A07E"/>
                </a:solidFill>
                <a:latin typeface="Calibri" pitchFamily="34" charset="0"/>
                <a:ea typeface="Calibri" pitchFamily="34" charset="-122"/>
                <a:cs typeface="Calibri" pitchFamily="34" charset="-120"/>
              </a:rPr>
              <a:t>DATA LAYER</a:t>
            </a:r>
            <a:endParaRPr lang="en-US" sz="1200" dirty="0"/>
          </a:p>
        </p:txBody>
      </p:sp>
      <p:sp>
        <p:nvSpPr>
          <p:cNvPr id="17" name="Text 15"/>
          <p:cNvSpPr/>
          <p:nvPr/>
        </p:nvSpPr>
        <p:spPr>
          <a:xfrm>
            <a:off x="3154680" y="5358384"/>
            <a:ext cx="2834640" cy="822960"/>
          </a:xfrm>
          <a:prstGeom prst="rect">
            <a:avLst/>
          </a:prstGeom>
          <a:noFill/>
          <a:ln/>
        </p:spPr>
        <p:txBody>
          <a:bodyPr wrap="square"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Bronze / Silver / Gold Tables</a:t>
            </a:r>
            <a:endParaRPr lang="en-US" sz="1500" dirty="0"/>
          </a:p>
        </p:txBody>
      </p:sp>
      <p:sp>
        <p:nvSpPr>
          <p:cNvPr id="18" name="Text 16"/>
          <p:cNvSpPr/>
          <p:nvPr/>
        </p:nvSpPr>
        <p:spPr>
          <a:xfrm>
            <a:off x="6080760" y="5358384"/>
            <a:ext cx="5333695" cy="896112"/>
          </a:xfrm>
          <a:prstGeom prst="rect">
            <a:avLst/>
          </a:prstGeom>
          <a:noFill/>
          <a:ln/>
        </p:spPr>
        <p:txBody>
          <a:bodyPr wrap="square" rtlCol="0" anchor="t"/>
          <a:lstStyle/>
          <a:p>
            <a:pPr indent="0" marL="0">
              <a:lnSpc>
                <a:spcPct val="118000"/>
              </a:lnSpc>
              <a:buNone/>
            </a:pPr>
            <a:r>
              <a:rPr lang="en-US" sz="1080" dirty="0">
                <a:solidFill>
                  <a:srgbClr val="D8DEE9"/>
                </a:solidFill>
                <a:latin typeface="Calibri" pitchFamily="34" charset="0"/>
                <a:ea typeface="Calibri" pitchFamily="34" charset="-122"/>
                <a:cs typeface="Calibri" pitchFamily="34" charset="-120"/>
              </a:rPr>
              <a:t>The physical, governed tables — the medallion architecture — living on the storage layer beneath everything above.</a:t>
            </a:r>
            <a:endParaRPr lang="en-US" sz="10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MEDALLION ARCHITECTURE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Bronze: Raw Domain Landing Zones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02920" y="1691640"/>
            <a:ext cx="6492240" cy="4023360"/>
          </a:xfrm>
          <a:prstGeom prst="roundRect">
            <a:avLst>
              <a:gd name="adj" fmla="val 1818"/>
            </a:avLst>
          </a:prstGeom>
          <a:solidFill>
            <a:srgbClr val="EAF0F8"/>
          </a:solidFill>
          <a:ln/>
        </p:spPr>
      </p:sp>
      <p:sp>
        <p:nvSpPr>
          <p:cNvPr id="7" name="Text 5"/>
          <p:cNvSpPr/>
          <p:nvPr/>
        </p:nvSpPr>
        <p:spPr>
          <a:xfrm>
            <a:off x="777240" y="1874520"/>
            <a:ext cx="5943600" cy="274320"/>
          </a:xfrm>
          <a:prstGeom prst="rect">
            <a:avLst/>
          </a:prstGeom>
          <a:noFill/>
          <a:ln/>
        </p:spPr>
        <p:txBody>
          <a:bodyPr wrap="square" rtlCol="0" anchor="ctr"/>
          <a:lstStyle/>
          <a:p>
            <a:pPr indent="0" marL="0">
              <a:buNone/>
            </a:pPr>
            <a:r>
              <a:rPr lang="en-US" sz="1100" b="1" spc="100" kern="0" dirty="0">
                <a:solidFill>
                  <a:srgbClr val="5C7699"/>
                </a:solidFill>
                <a:latin typeface="Calibri" pitchFamily="34" charset="0"/>
                <a:ea typeface="Calibri" pitchFamily="34" charset="-122"/>
                <a:cs typeface="Calibri" pitchFamily="34" charset="-120"/>
              </a:rPr>
              <a:t>WHAT LIVES HERE</a:t>
            </a:r>
            <a:endParaRPr lang="en-US" sz="1100" dirty="0"/>
          </a:p>
        </p:txBody>
      </p:sp>
      <p:sp>
        <p:nvSpPr>
          <p:cNvPr id="8" name="Text 6"/>
          <p:cNvSpPr/>
          <p:nvPr/>
        </p:nvSpPr>
        <p:spPr>
          <a:xfrm>
            <a:off x="777240" y="2194560"/>
            <a:ext cx="5943600" cy="3429000"/>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Source-system data landed unchanged — 834 enrollment files, 837 claims, provider-directory extracts, EHR feeds — duplicates and all.</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One schema per source domain (BRONZE.ENROLLMENT, BRONZE.CLAIMS, BRONZE.PROVIDER…), loaded via external stages, Snowpipe, or Openflow connectors.</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File-format objects and metadata functions (METADATA$FILENAME, load timestamp) preserve full lineage back to the originating extract.</a:t>
            </a:r>
            <a:endParaRPr lang="en-US" sz="1200" dirty="0"/>
          </a:p>
          <a:p>
            <a:pPr marL="177800" indent="-177800">
              <a:lnSpc>
                <a:spcPct val="112000"/>
              </a:lnSpc>
              <a:spcAft>
                <a:spcPts val="1000"/>
              </a:spcAft>
              <a:buSzPct val="100000"/>
              <a:buChar char="●"/>
            </a:pPr>
            <a:r>
              <a:rPr lang="en-US" sz="1200" dirty="0">
                <a:solidFill>
                  <a:srgbClr val="3A4556"/>
                </a:solidFill>
                <a:latin typeface="Calibri" pitchFamily="34" charset="0"/>
                <a:ea typeface="Calibri" pitchFamily="34" charset="-122"/>
                <a:cs typeface="Calibri" pitchFamily="34" charset="-120"/>
              </a:rPr>
              <a:t>No business logic applied here — the goal is a faithful, replayable copy of the source.</a:t>
            </a:r>
            <a:endParaRPr lang="en-US" sz="1200" dirty="0"/>
          </a:p>
        </p:txBody>
      </p:sp>
      <p:sp>
        <p:nvSpPr>
          <p:cNvPr id="9" name="Shape 7"/>
          <p:cNvSpPr/>
          <p:nvPr/>
        </p:nvSpPr>
        <p:spPr>
          <a:xfrm>
            <a:off x="7635240" y="1691640"/>
            <a:ext cx="4023360" cy="4023360"/>
          </a:xfrm>
          <a:prstGeom prst="roundRect">
            <a:avLst>
              <a:gd name="adj" fmla="val 1818"/>
            </a:avLst>
          </a:prstGeom>
          <a:solidFill>
            <a:srgbClr val="3A4556"/>
          </a:solidFill>
          <a:ln/>
        </p:spPr>
      </p:sp>
      <p:sp>
        <p:nvSpPr>
          <p:cNvPr id="10" name="Text 8"/>
          <p:cNvSpPr/>
          <p:nvPr/>
        </p:nvSpPr>
        <p:spPr>
          <a:xfrm>
            <a:off x="7863840" y="1920240"/>
            <a:ext cx="3566160" cy="274320"/>
          </a:xfrm>
          <a:prstGeom prst="rect">
            <a:avLst/>
          </a:prstGeom>
          <a:noFill/>
          <a:ln/>
        </p:spPr>
        <p:txBody>
          <a:bodyPr wrap="square" rtlCol="0" anchor="ctr"/>
          <a:lstStyle/>
          <a:p>
            <a:pPr indent="0" marL="0">
              <a:buNone/>
            </a:pPr>
            <a:r>
              <a:rPr lang="en-US" sz="1100" b="1" spc="100" kern="0" dirty="0">
                <a:solidFill>
                  <a:srgbClr val="E2A07E"/>
                </a:solidFill>
                <a:latin typeface="Calibri" pitchFamily="34" charset="0"/>
                <a:ea typeface="Calibri" pitchFamily="34" charset="-122"/>
                <a:cs typeface="Calibri" pitchFamily="34" charset="-120"/>
              </a:rPr>
              <a:t>OWNED BY</a:t>
            </a:r>
            <a:endParaRPr lang="en-US" sz="1100" dirty="0"/>
          </a:p>
        </p:txBody>
      </p:sp>
      <p:sp>
        <p:nvSpPr>
          <p:cNvPr id="11" name="Text 9"/>
          <p:cNvSpPr/>
          <p:nvPr/>
        </p:nvSpPr>
        <p:spPr>
          <a:xfrm>
            <a:off x="7863840" y="2212848"/>
            <a:ext cx="3566160" cy="6400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Data Engineers /</a:t>
            </a:r>
            <a:endParaRPr lang="en-US" sz="1600" dirty="0"/>
          </a:p>
          <a:p>
            <a:pPr indent="0" marL="0">
              <a:buNone/>
            </a:pPr>
            <a:r>
              <a:rPr lang="en-US" sz="1600" b="1" dirty="0">
                <a:solidFill>
                  <a:srgbClr val="FFFFFF"/>
                </a:solidFill>
                <a:latin typeface="Cambria" pitchFamily="34" charset="0"/>
                <a:ea typeface="Cambria" pitchFamily="34" charset="-122"/>
                <a:cs typeface="Cambria" pitchFamily="34" charset="-120"/>
              </a:rPr>
              <a:t>Ingestion Platform Team</a:t>
            </a:r>
            <a:endParaRPr lang="en-US" sz="1600" dirty="0"/>
          </a:p>
        </p:txBody>
      </p:sp>
      <p:sp>
        <p:nvSpPr>
          <p:cNvPr id="12" name="Text 10"/>
          <p:cNvSpPr/>
          <p:nvPr/>
        </p:nvSpPr>
        <p:spPr>
          <a:xfrm>
            <a:off x="7863840" y="2926080"/>
            <a:ext cx="3566160" cy="2651760"/>
          </a:xfrm>
          <a:prstGeom prst="rect">
            <a:avLst/>
          </a:prstGeom>
          <a:noFill/>
          <a:ln/>
        </p:spPr>
        <p:txBody>
          <a:bodyPr wrap="square" rtlCol="0" anchor="ctr"/>
          <a:lstStyle/>
          <a:p>
            <a:pPr indent="0" marL="0">
              <a:lnSpc>
                <a:spcPct val="125000"/>
              </a:lnSpc>
              <a:buNone/>
            </a:pPr>
            <a:r>
              <a:rPr lang="en-US" sz="1100" dirty="0">
                <a:solidFill>
                  <a:srgbClr val="D8DEE9"/>
                </a:solidFill>
                <a:latin typeface="Calibri" pitchFamily="34" charset="0"/>
                <a:ea typeface="Calibri" pitchFamily="34" charset="-122"/>
                <a:cs typeface="Calibri" pitchFamily="34" charset="-120"/>
              </a:rPr>
              <a:t>Configure external stages, authentication, file formats, and ingestion cadence. Accountable for source fidelity, not business meaning.</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MEDALLION ARCHITECTURE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Silver &amp; Gold: From Cleansed to Curated</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02920" y="1691640"/>
            <a:ext cx="5349240" cy="4023360"/>
          </a:xfrm>
          <a:prstGeom prst="roundRect">
            <a:avLst>
              <a:gd name="adj" fmla="val 1818"/>
            </a:avLst>
          </a:prstGeom>
          <a:solidFill>
            <a:srgbClr val="EAF4EE"/>
          </a:solidFill>
          <a:ln/>
        </p:spPr>
      </p:sp>
      <p:sp>
        <p:nvSpPr>
          <p:cNvPr id="7" name="Text 5"/>
          <p:cNvSpPr/>
          <p:nvPr/>
        </p:nvSpPr>
        <p:spPr>
          <a:xfrm>
            <a:off x="777240" y="1874520"/>
            <a:ext cx="4846320" cy="274320"/>
          </a:xfrm>
          <a:prstGeom prst="rect">
            <a:avLst/>
          </a:prstGeom>
          <a:noFill/>
          <a:ln/>
        </p:spPr>
        <p:txBody>
          <a:bodyPr wrap="square" rtlCol="0" anchor="ctr"/>
          <a:lstStyle/>
          <a:p>
            <a:pPr indent="0" marL="0">
              <a:buNone/>
            </a:pPr>
            <a:r>
              <a:rPr lang="en-US" sz="1100" b="1" spc="50" kern="0" dirty="0">
                <a:solidFill>
                  <a:srgbClr val="5E9C76"/>
                </a:solidFill>
                <a:latin typeface="Calibri" pitchFamily="34" charset="0"/>
                <a:ea typeface="Calibri" pitchFamily="34" charset="-122"/>
                <a:cs typeface="Calibri" pitchFamily="34" charset="-120"/>
              </a:rPr>
              <a:t>SILVER — CLEANSED &amp; CONFORMED</a:t>
            </a:r>
            <a:endParaRPr lang="en-US" sz="1100" dirty="0"/>
          </a:p>
        </p:txBody>
      </p:sp>
      <p:sp>
        <p:nvSpPr>
          <p:cNvPr id="8" name="Text 6"/>
          <p:cNvSpPr/>
          <p:nvPr/>
        </p:nvSpPr>
        <p:spPr>
          <a:xfrm>
            <a:off x="777240" y="2194560"/>
            <a:ext cx="4846320" cy="34290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Deduplicated, type-cast, and validated at the same grain as the bronze source.</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Records are conformed to shared keys — every domain's "member" resolves to one Member ID via match/merge logic.</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Dynamic Tables with declarative target freshness replace hand-written incremental MERGE jobs.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Owned by data engineers, with analytics engineers defining the conformance rules.</a:t>
            </a:r>
            <a:endParaRPr lang="en-US" sz="1150" dirty="0"/>
          </a:p>
        </p:txBody>
      </p:sp>
      <p:sp>
        <p:nvSpPr>
          <p:cNvPr id="9" name="Shape 7"/>
          <p:cNvSpPr/>
          <p:nvPr/>
        </p:nvSpPr>
        <p:spPr>
          <a:xfrm>
            <a:off x="6309360" y="1691640"/>
            <a:ext cx="5349240" cy="4023360"/>
          </a:xfrm>
          <a:prstGeom prst="roundRect">
            <a:avLst>
              <a:gd name="adj" fmla="val 1818"/>
            </a:avLst>
          </a:prstGeom>
          <a:solidFill>
            <a:srgbClr val="FBEEE6"/>
          </a:solidFill>
          <a:ln/>
        </p:spPr>
      </p:sp>
      <p:sp>
        <p:nvSpPr>
          <p:cNvPr id="10" name="Text 8"/>
          <p:cNvSpPr/>
          <p:nvPr/>
        </p:nvSpPr>
        <p:spPr>
          <a:xfrm>
            <a:off x="6583680" y="1874520"/>
            <a:ext cx="4846320" cy="274320"/>
          </a:xfrm>
          <a:prstGeom prst="rect">
            <a:avLst/>
          </a:prstGeom>
          <a:noFill/>
          <a:ln/>
        </p:spPr>
        <p:txBody>
          <a:bodyPr wrap="square" rtlCol="0" anchor="ctr"/>
          <a:lstStyle/>
          <a:p>
            <a:pPr indent="0" marL="0">
              <a:buNone/>
            </a:pPr>
            <a:r>
              <a:rPr lang="en-US" sz="1100" b="1" spc="50" kern="0" dirty="0">
                <a:solidFill>
                  <a:srgbClr val="C97F5C"/>
                </a:solidFill>
                <a:latin typeface="Calibri" pitchFamily="34" charset="0"/>
                <a:ea typeface="Calibri" pitchFamily="34" charset="-122"/>
                <a:cs typeface="Calibri" pitchFamily="34" charset="-120"/>
              </a:rPr>
              <a:t>GOLD — CURATED &amp; BUSINESS-READY</a:t>
            </a:r>
            <a:endParaRPr lang="en-US" sz="1100" dirty="0"/>
          </a:p>
        </p:txBody>
      </p:sp>
      <p:sp>
        <p:nvSpPr>
          <p:cNvPr id="11" name="Text 9"/>
          <p:cNvSpPr/>
          <p:nvPr/>
        </p:nvSpPr>
        <p:spPr>
          <a:xfrm>
            <a:off x="6583680" y="2194560"/>
            <a:ext cx="4846320" cy="34290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Dimensional models — Member, Provider, Group, and Claim facts — modeled star-schema style for analysis.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Aggregate and derived tables (member-months, paid-claims summaries) pre-built for common questions.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This is the layer semantic views and Cortex Analyst sit directly on top of.</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Owned jointly by analytics engineers (build) and the data architect (dimensional design standards).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GOVERNANCE ACROSS LAYERS</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Metadata, Tagging &amp; Lineage: The Horizon Catalog</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02920" y="1737360"/>
            <a:ext cx="11185855" cy="3931920"/>
          </a:xfrm>
          <a:prstGeom prst="rect">
            <a:avLst/>
          </a:prstGeom>
          <a:noFill/>
          <a:ln/>
        </p:spPr>
        <p:txBody>
          <a:bodyPr wrap="square" rtlCol="0" anchor="t"/>
          <a:lstStyle/>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Snowflake Horizon is the account-wide catalog spanning bronze, silver, and gold — one place lineage, classification tags, and access history live, regardless of which schema or database a table sits in.</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Automated column-level lineage traces a gold-layer metric back through every silver transformation to its bronze source file — essential for audit in a regulated payer environment.</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Sensitive-data classification (PHI, PII) can be tagged once, at the column, and inherited by every downstream view built on it — the same tag drives masking policies automatically.</a:t>
            </a:r>
            <a:endParaRPr lang="en-US" sz="1350" dirty="0"/>
          </a:p>
          <a:p>
            <a:pPr marL="177800" indent="-177800">
              <a:lnSpc>
                <a:spcPct val="112000"/>
              </a:lnSpc>
              <a:spcAft>
                <a:spcPts val="1400"/>
              </a:spcAft>
              <a:buSzPct val="100000"/>
              <a:buChar char="●"/>
            </a:pPr>
            <a:r>
              <a:rPr lang="en-US" sz="1350" dirty="0">
                <a:solidFill>
                  <a:srgbClr val="3A4556"/>
                </a:solidFill>
                <a:latin typeface="Calibri" pitchFamily="34" charset="0"/>
                <a:ea typeface="Calibri" pitchFamily="34" charset="-122"/>
                <a:cs typeface="Calibri" pitchFamily="34" charset="-120"/>
              </a:rPr>
              <a:t>Horizon is also where semantic view and dbt-project lineage is exposed, so an analyst can see which business metric a raw claims file ultimately feeds.</a:t>
            </a:r>
            <a:endParaRPr lang="en-US" sz="1350" dirty="0"/>
          </a:p>
        </p:txBody>
      </p:sp>
      <p:sp>
        <p:nvSpPr>
          <p:cNvPr id="7" name="Shape 5"/>
          <p:cNvSpPr/>
          <p:nvPr/>
        </p:nvSpPr>
        <p:spPr>
          <a:xfrm>
            <a:off x="502920" y="5806440"/>
            <a:ext cx="11185855" cy="594360"/>
          </a:xfrm>
          <a:prstGeom prst="roundRect">
            <a:avLst>
              <a:gd name="adj" fmla="val 12308"/>
            </a:avLst>
          </a:prstGeom>
          <a:solidFill>
            <a:srgbClr val="3A4556"/>
          </a:solidFill>
          <a:ln/>
        </p:spPr>
      </p:sp>
      <p:sp>
        <p:nvSpPr>
          <p:cNvPr id="8" name="Text 6"/>
          <p:cNvSpPr/>
          <p:nvPr/>
        </p:nvSpPr>
        <p:spPr>
          <a:xfrm>
            <a:off x="777240" y="5806440"/>
            <a:ext cx="10637215" cy="594360"/>
          </a:xfrm>
          <a:prstGeom prst="rect">
            <a:avLst/>
          </a:prstGeom>
          <a:noFill/>
          <a:ln/>
        </p:spPr>
        <p:txBody>
          <a:bodyPr wrap="square" rtlCol="0" anchor="ctr"/>
          <a:lstStyle/>
          <a:p>
            <a:pPr algn="l" indent="0" marL="0">
              <a:lnSpc>
                <a:spcPct val="115000"/>
              </a:lnSpc>
              <a:buNone/>
            </a:pPr>
            <a:r>
              <a:rPr lang="en-US" sz="1250" i="1" dirty="0">
                <a:solidFill>
                  <a:srgbClr val="FFFFFF"/>
                </a:solidFill>
                <a:latin typeface="Calibri" pitchFamily="34" charset="0"/>
                <a:ea typeface="Calibri" pitchFamily="34" charset="-122"/>
                <a:cs typeface="Calibri" pitchFamily="34" charset="-120"/>
              </a:rPr>
              <a:t>Governance and lineage are not a separate project bolted on after the medallion is built — they are metadata generated as a by-product of building it correctly.</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SEQUENCE FLOW</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From Raw Extract to Governed Insight</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02920" y="2286000"/>
            <a:ext cx="2032345" cy="2103120"/>
          </a:xfrm>
          <a:prstGeom prst="roundRect">
            <a:avLst>
              <a:gd name="adj" fmla="val 3599"/>
            </a:avLst>
          </a:prstGeom>
          <a:solidFill>
            <a:srgbClr val="EAF0F8"/>
          </a:solidFill>
          <a:ln/>
        </p:spPr>
      </p:sp>
      <p:sp>
        <p:nvSpPr>
          <p:cNvPr id="7" name="Shape 5"/>
          <p:cNvSpPr/>
          <p:nvPr/>
        </p:nvSpPr>
        <p:spPr>
          <a:xfrm>
            <a:off x="1345357" y="2112264"/>
            <a:ext cx="347472" cy="347472"/>
          </a:xfrm>
          <a:prstGeom prst="ellipse">
            <a:avLst/>
          </a:prstGeom>
          <a:solidFill>
            <a:srgbClr val="5C7699"/>
          </a:solidFill>
          <a:ln w="25400">
            <a:solidFill>
              <a:srgbClr val="FFFFFF"/>
            </a:solidFill>
            <a:prstDash val="solid"/>
          </a:ln>
        </p:spPr>
      </p:sp>
      <p:sp>
        <p:nvSpPr>
          <p:cNvPr id="8" name="Text 6"/>
          <p:cNvSpPr/>
          <p:nvPr/>
        </p:nvSpPr>
        <p:spPr>
          <a:xfrm>
            <a:off x="1345357" y="21122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612648" y="248716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Land</a:t>
            </a:r>
            <a:endParaRPr lang="en-US" sz="1200" dirty="0"/>
          </a:p>
        </p:txBody>
      </p:sp>
      <p:sp>
        <p:nvSpPr>
          <p:cNvPr id="10" name="Text 8"/>
          <p:cNvSpPr/>
          <p:nvPr/>
        </p:nvSpPr>
        <p:spPr>
          <a:xfrm>
            <a:off x="612648" y="290779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Vendor &amp; internal source files arrive (EDI 834/837/835, EHR extracts, provider feeds) and are staged into Bronze, unchanged.</a:t>
            </a:r>
            <a:endParaRPr lang="en-US" sz="950" dirty="0"/>
          </a:p>
        </p:txBody>
      </p:sp>
      <p:pic>
        <p:nvPicPr>
          <p:cNvPr id="11" name="Image 0" descr="/home/claude/snowflake_deck/icons/arrowRight_lightgray.png">    </p:cNvPr>
          <p:cNvPicPr>
            <a:picLocks noChangeAspect="1"/>
          </p:cNvPicPr>
          <p:nvPr/>
        </p:nvPicPr>
        <p:blipFill>
          <a:blip r:embed="rId1"/>
          <a:stretch>
            <a:fillRect/>
          </a:stretch>
        </p:blipFill>
        <p:spPr>
          <a:xfrm>
            <a:off x="2580985" y="3255264"/>
            <a:ext cx="164592" cy="164592"/>
          </a:xfrm>
          <a:prstGeom prst="rect">
            <a:avLst/>
          </a:prstGeom>
        </p:spPr>
      </p:pic>
      <p:sp>
        <p:nvSpPr>
          <p:cNvPr id="12" name="Shape 9"/>
          <p:cNvSpPr/>
          <p:nvPr/>
        </p:nvSpPr>
        <p:spPr>
          <a:xfrm>
            <a:off x="2791297" y="2286000"/>
            <a:ext cx="2032345" cy="2103120"/>
          </a:xfrm>
          <a:prstGeom prst="roundRect">
            <a:avLst>
              <a:gd name="adj" fmla="val 3599"/>
            </a:avLst>
          </a:prstGeom>
          <a:solidFill>
            <a:srgbClr val="EAF0F8"/>
          </a:solidFill>
          <a:ln/>
        </p:spPr>
      </p:sp>
      <p:sp>
        <p:nvSpPr>
          <p:cNvPr id="13" name="Shape 10"/>
          <p:cNvSpPr/>
          <p:nvPr/>
        </p:nvSpPr>
        <p:spPr>
          <a:xfrm>
            <a:off x="3633734" y="2112264"/>
            <a:ext cx="347472" cy="347472"/>
          </a:xfrm>
          <a:prstGeom prst="ellipse">
            <a:avLst/>
          </a:prstGeom>
          <a:solidFill>
            <a:srgbClr val="5C7699"/>
          </a:solidFill>
          <a:ln w="25400">
            <a:solidFill>
              <a:srgbClr val="FFFFFF"/>
            </a:solidFill>
            <a:prstDash val="solid"/>
          </a:ln>
        </p:spPr>
      </p:sp>
      <p:sp>
        <p:nvSpPr>
          <p:cNvPr id="14" name="Text 11"/>
          <p:cNvSpPr/>
          <p:nvPr/>
        </p:nvSpPr>
        <p:spPr>
          <a:xfrm>
            <a:off x="3633734" y="21122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2901025" y="248716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Conform</a:t>
            </a:r>
            <a:endParaRPr lang="en-US" sz="1200" dirty="0"/>
          </a:p>
        </p:txBody>
      </p:sp>
      <p:sp>
        <p:nvSpPr>
          <p:cNvPr id="16" name="Text 13"/>
          <p:cNvSpPr/>
          <p:nvPr/>
        </p:nvSpPr>
        <p:spPr>
          <a:xfrm>
            <a:off x="2901025" y="290779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Silver deduplicates, validates, and resolves every domain to shared Member/Provider/Group keys via Dynamic Tables.</a:t>
            </a:r>
            <a:endParaRPr lang="en-US" sz="950" dirty="0"/>
          </a:p>
        </p:txBody>
      </p:sp>
      <p:pic>
        <p:nvPicPr>
          <p:cNvPr id="17" name="Image 1" descr="/home/claude/snowflake_deck/icons/arrowRight_lightgray.png">    </p:cNvPr>
          <p:cNvPicPr>
            <a:picLocks noChangeAspect="1"/>
          </p:cNvPicPr>
          <p:nvPr/>
        </p:nvPicPr>
        <p:blipFill>
          <a:blip r:embed="rId2"/>
          <a:stretch>
            <a:fillRect/>
          </a:stretch>
        </p:blipFill>
        <p:spPr>
          <a:xfrm>
            <a:off x="4869363" y="3255264"/>
            <a:ext cx="164592" cy="164592"/>
          </a:xfrm>
          <a:prstGeom prst="rect">
            <a:avLst/>
          </a:prstGeom>
        </p:spPr>
      </p:pic>
      <p:sp>
        <p:nvSpPr>
          <p:cNvPr id="18" name="Shape 14"/>
          <p:cNvSpPr/>
          <p:nvPr/>
        </p:nvSpPr>
        <p:spPr>
          <a:xfrm>
            <a:off x="5079675" y="2286000"/>
            <a:ext cx="2032345" cy="2103120"/>
          </a:xfrm>
          <a:prstGeom prst="roundRect">
            <a:avLst>
              <a:gd name="adj" fmla="val 3599"/>
            </a:avLst>
          </a:prstGeom>
          <a:solidFill>
            <a:srgbClr val="EAF0F8"/>
          </a:solidFill>
          <a:ln/>
        </p:spPr>
      </p:sp>
      <p:sp>
        <p:nvSpPr>
          <p:cNvPr id="19" name="Shape 15"/>
          <p:cNvSpPr/>
          <p:nvPr/>
        </p:nvSpPr>
        <p:spPr>
          <a:xfrm>
            <a:off x="5922112" y="2112264"/>
            <a:ext cx="347472" cy="347472"/>
          </a:xfrm>
          <a:prstGeom prst="ellipse">
            <a:avLst/>
          </a:prstGeom>
          <a:solidFill>
            <a:srgbClr val="5C7699"/>
          </a:solidFill>
          <a:ln w="25400">
            <a:solidFill>
              <a:srgbClr val="FFFFFF"/>
            </a:solidFill>
            <a:prstDash val="solid"/>
          </a:ln>
        </p:spPr>
      </p:sp>
      <p:sp>
        <p:nvSpPr>
          <p:cNvPr id="20" name="Text 16"/>
          <p:cNvSpPr/>
          <p:nvPr/>
        </p:nvSpPr>
        <p:spPr>
          <a:xfrm>
            <a:off x="5922112" y="21122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5189403" y="248716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Curate</a:t>
            </a:r>
            <a:endParaRPr lang="en-US" sz="1200" dirty="0"/>
          </a:p>
        </p:txBody>
      </p:sp>
      <p:sp>
        <p:nvSpPr>
          <p:cNvPr id="22" name="Text 18"/>
          <p:cNvSpPr/>
          <p:nvPr/>
        </p:nvSpPr>
        <p:spPr>
          <a:xfrm>
            <a:off x="5189403" y="290779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Gold builds dimensional facts and aggregates — the business-ready layer BI and AI both consume.</a:t>
            </a:r>
            <a:endParaRPr lang="en-US" sz="950" dirty="0"/>
          </a:p>
        </p:txBody>
      </p:sp>
      <p:pic>
        <p:nvPicPr>
          <p:cNvPr id="23" name="Image 2" descr="/home/claude/snowflake_deck/icons/arrowRight_lightgray.png">    </p:cNvPr>
          <p:cNvPicPr>
            <a:picLocks noChangeAspect="1"/>
          </p:cNvPicPr>
          <p:nvPr/>
        </p:nvPicPr>
        <p:blipFill>
          <a:blip r:embed="rId3"/>
          <a:stretch>
            <a:fillRect/>
          </a:stretch>
        </p:blipFill>
        <p:spPr>
          <a:xfrm>
            <a:off x="7157740" y="3255264"/>
            <a:ext cx="164592" cy="164592"/>
          </a:xfrm>
          <a:prstGeom prst="rect">
            <a:avLst/>
          </a:prstGeom>
        </p:spPr>
      </p:pic>
      <p:sp>
        <p:nvSpPr>
          <p:cNvPr id="24" name="Shape 19"/>
          <p:cNvSpPr/>
          <p:nvPr/>
        </p:nvSpPr>
        <p:spPr>
          <a:xfrm>
            <a:off x="7368052" y="2286000"/>
            <a:ext cx="2032345" cy="2103120"/>
          </a:xfrm>
          <a:prstGeom prst="roundRect">
            <a:avLst>
              <a:gd name="adj" fmla="val 3599"/>
            </a:avLst>
          </a:prstGeom>
          <a:solidFill>
            <a:srgbClr val="EAF0F8"/>
          </a:solidFill>
          <a:ln/>
        </p:spPr>
      </p:sp>
      <p:sp>
        <p:nvSpPr>
          <p:cNvPr id="25" name="Shape 20"/>
          <p:cNvSpPr/>
          <p:nvPr/>
        </p:nvSpPr>
        <p:spPr>
          <a:xfrm>
            <a:off x="8210489" y="2112264"/>
            <a:ext cx="347472" cy="347472"/>
          </a:xfrm>
          <a:prstGeom prst="ellipse">
            <a:avLst/>
          </a:prstGeom>
          <a:solidFill>
            <a:srgbClr val="5C7699"/>
          </a:solidFill>
          <a:ln w="25400">
            <a:solidFill>
              <a:srgbClr val="FFFFFF"/>
            </a:solidFill>
            <a:prstDash val="solid"/>
          </a:ln>
        </p:spPr>
      </p:sp>
      <p:sp>
        <p:nvSpPr>
          <p:cNvPr id="26" name="Text 21"/>
          <p:cNvSpPr/>
          <p:nvPr/>
        </p:nvSpPr>
        <p:spPr>
          <a:xfrm>
            <a:off x="8210489" y="21122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2"/>
          <p:cNvSpPr/>
          <p:nvPr/>
        </p:nvSpPr>
        <p:spPr>
          <a:xfrm>
            <a:off x="7477780" y="248716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Model</a:t>
            </a:r>
            <a:endParaRPr lang="en-US" sz="1200" dirty="0"/>
          </a:p>
        </p:txBody>
      </p:sp>
      <p:sp>
        <p:nvSpPr>
          <p:cNvPr id="28" name="Text 23"/>
          <p:cNvSpPr/>
          <p:nvPr/>
        </p:nvSpPr>
        <p:spPr>
          <a:xfrm>
            <a:off x="7477780" y="290779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A Semantic View declares metrics, dimensions, and relationships on top of Gold — one governed vocabulary.</a:t>
            </a:r>
            <a:endParaRPr lang="en-US" sz="950" dirty="0"/>
          </a:p>
        </p:txBody>
      </p:sp>
      <p:pic>
        <p:nvPicPr>
          <p:cNvPr id="29" name="Image 3" descr="/home/claude/snowflake_deck/icons/arrowRight_lightgray.png">    </p:cNvPr>
          <p:cNvPicPr>
            <a:picLocks noChangeAspect="1"/>
          </p:cNvPicPr>
          <p:nvPr/>
        </p:nvPicPr>
        <p:blipFill>
          <a:blip r:embed="rId4"/>
          <a:stretch>
            <a:fillRect/>
          </a:stretch>
        </p:blipFill>
        <p:spPr>
          <a:xfrm>
            <a:off x="9446118" y="3255264"/>
            <a:ext cx="164592" cy="164592"/>
          </a:xfrm>
          <a:prstGeom prst="rect">
            <a:avLst/>
          </a:prstGeom>
        </p:spPr>
      </p:pic>
      <p:sp>
        <p:nvSpPr>
          <p:cNvPr id="30" name="Shape 24"/>
          <p:cNvSpPr/>
          <p:nvPr/>
        </p:nvSpPr>
        <p:spPr>
          <a:xfrm>
            <a:off x="9656430" y="2286000"/>
            <a:ext cx="2032345" cy="2103120"/>
          </a:xfrm>
          <a:prstGeom prst="roundRect">
            <a:avLst>
              <a:gd name="adj" fmla="val 3599"/>
            </a:avLst>
          </a:prstGeom>
          <a:solidFill>
            <a:srgbClr val="EAF0F8"/>
          </a:solidFill>
          <a:ln/>
        </p:spPr>
      </p:sp>
      <p:sp>
        <p:nvSpPr>
          <p:cNvPr id="31" name="Shape 25"/>
          <p:cNvSpPr/>
          <p:nvPr/>
        </p:nvSpPr>
        <p:spPr>
          <a:xfrm>
            <a:off x="10498866" y="2112264"/>
            <a:ext cx="347472" cy="347472"/>
          </a:xfrm>
          <a:prstGeom prst="ellipse">
            <a:avLst/>
          </a:prstGeom>
          <a:solidFill>
            <a:srgbClr val="5C7699"/>
          </a:solidFill>
          <a:ln w="25400">
            <a:solidFill>
              <a:srgbClr val="FFFFFF"/>
            </a:solidFill>
            <a:prstDash val="solid"/>
          </a:ln>
        </p:spPr>
      </p:sp>
      <p:sp>
        <p:nvSpPr>
          <p:cNvPr id="32" name="Text 26"/>
          <p:cNvSpPr/>
          <p:nvPr/>
        </p:nvSpPr>
        <p:spPr>
          <a:xfrm>
            <a:off x="10498866" y="211226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27"/>
          <p:cNvSpPr/>
          <p:nvPr/>
        </p:nvSpPr>
        <p:spPr>
          <a:xfrm>
            <a:off x="9766158" y="248716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Serve</a:t>
            </a:r>
            <a:endParaRPr lang="en-US" sz="1200" dirty="0"/>
          </a:p>
        </p:txBody>
      </p:sp>
      <p:sp>
        <p:nvSpPr>
          <p:cNvPr id="34" name="Text 28"/>
          <p:cNvSpPr/>
          <p:nvPr/>
        </p:nvSpPr>
        <p:spPr>
          <a:xfrm>
            <a:off x="9766158" y="290779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Snowsight, CoWork, SQL clients, and BI tools all query the same governed layer — through RBAC, every time.</a:t>
            </a:r>
            <a:endParaRPr lang="en-US" sz="950" dirty="0"/>
          </a:p>
        </p:txBody>
      </p:sp>
      <p:sp>
        <p:nvSpPr>
          <p:cNvPr id="35" name="Shape 29"/>
          <p:cNvSpPr/>
          <p:nvPr/>
        </p:nvSpPr>
        <p:spPr>
          <a:xfrm>
            <a:off x="502920" y="4846320"/>
            <a:ext cx="11185855" cy="1143000"/>
          </a:xfrm>
          <a:prstGeom prst="roundRect">
            <a:avLst>
              <a:gd name="adj" fmla="val 6400"/>
            </a:avLst>
          </a:prstGeom>
          <a:solidFill>
            <a:srgbClr val="FBEEE6"/>
          </a:solidFill>
          <a:ln/>
        </p:spPr>
      </p:sp>
      <p:sp>
        <p:nvSpPr>
          <p:cNvPr id="36" name="Text 30"/>
          <p:cNvSpPr/>
          <p:nvPr/>
        </p:nvSpPr>
        <p:spPr>
          <a:xfrm>
            <a:off x="777240" y="4846320"/>
            <a:ext cx="10637215" cy="1143000"/>
          </a:xfrm>
          <a:prstGeom prst="rect">
            <a:avLst/>
          </a:prstGeom>
          <a:noFill/>
          <a:ln/>
        </p:spPr>
        <p:txBody>
          <a:bodyPr wrap="square" rtlCol="0" anchor="ctr"/>
          <a:lstStyle/>
          <a:p>
            <a:pPr algn="l" indent="0" marL="0">
              <a:lnSpc>
                <a:spcPct val="115000"/>
              </a:lnSpc>
              <a:buNone/>
            </a:pPr>
            <a:r>
              <a:rPr lang="en-US" sz="1250" i="1" dirty="0">
                <a:solidFill>
                  <a:srgbClr val="3A4556"/>
                </a:solidFill>
                <a:latin typeface="Calibri" pitchFamily="34" charset="0"/>
                <a:ea typeface="Calibri" pitchFamily="34" charset="-122"/>
                <a:cs typeface="Calibri" pitchFamily="34" charset="-120"/>
              </a:rPr>
              <a:t>This is the answer to "where is the curated and unified data placed": bronze and silver are staging — nothing downstream should query them directly. Gold plus its semantic view is the one place both a human analyst and an AI agent are meant to point at.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HEALTHCARE ENTITY MODEL</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Entity Relationships I: Group → Member Enrollment</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1051560" y="2148840"/>
            <a:ext cx="2926080" cy="2148840"/>
          </a:xfrm>
          <a:prstGeom prst="roundRect">
            <a:avLst>
              <a:gd name="adj" fmla="val 3404"/>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7" name="Shape 5"/>
          <p:cNvSpPr/>
          <p:nvPr/>
        </p:nvSpPr>
        <p:spPr>
          <a:xfrm>
            <a:off x="1051560" y="2148840"/>
            <a:ext cx="2926080" cy="384048"/>
          </a:xfrm>
          <a:prstGeom prst="roundRect">
            <a:avLst>
              <a:gd name="adj" fmla="val 19048"/>
            </a:avLst>
          </a:prstGeom>
          <a:solidFill>
            <a:srgbClr val="5C7699"/>
          </a:solidFill>
          <a:ln/>
        </p:spPr>
      </p:sp>
      <p:sp>
        <p:nvSpPr>
          <p:cNvPr id="8" name="Shape 6"/>
          <p:cNvSpPr/>
          <p:nvPr/>
        </p:nvSpPr>
        <p:spPr>
          <a:xfrm>
            <a:off x="1051560" y="2340864"/>
            <a:ext cx="2926080" cy="192024"/>
          </a:xfrm>
          <a:prstGeom prst="rect">
            <a:avLst/>
          </a:prstGeom>
          <a:solidFill>
            <a:srgbClr val="5C7699"/>
          </a:solidFill>
          <a:ln/>
        </p:spPr>
      </p:sp>
      <p:sp>
        <p:nvSpPr>
          <p:cNvPr id="9" name="Text 7"/>
          <p:cNvSpPr/>
          <p:nvPr/>
        </p:nvSpPr>
        <p:spPr>
          <a:xfrm>
            <a:off x="1197864" y="2148840"/>
            <a:ext cx="263347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p>
        </p:txBody>
      </p:sp>
      <p:sp>
        <p:nvSpPr>
          <p:cNvPr id="10" name="Text 8"/>
          <p:cNvSpPr/>
          <p:nvPr/>
        </p:nvSpPr>
        <p:spPr>
          <a:xfrm>
            <a:off x="1197864" y="2642616"/>
            <a:ext cx="2633472" cy="154533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Group Number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Employer / Purchaser Name</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Plan Options Offered</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Benefit Plan Ref (FK)</a:t>
            </a:r>
            <a:endParaRPr lang="en-US" sz="950" dirty="0"/>
          </a:p>
        </p:txBody>
      </p:sp>
      <p:sp>
        <p:nvSpPr>
          <p:cNvPr id="11" name="Shape 9"/>
          <p:cNvSpPr/>
          <p:nvPr/>
        </p:nvSpPr>
        <p:spPr>
          <a:xfrm>
            <a:off x="6812280" y="1691640"/>
            <a:ext cx="3291840" cy="3063240"/>
          </a:xfrm>
          <a:prstGeom prst="roundRect">
            <a:avLst>
              <a:gd name="adj" fmla="val 2388"/>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2" name="Shape 10"/>
          <p:cNvSpPr/>
          <p:nvPr/>
        </p:nvSpPr>
        <p:spPr>
          <a:xfrm>
            <a:off x="6812280" y="1691640"/>
            <a:ext cx="3291840" cy="384048"/>
          </a:xfrm>
          <a:prstGeom prst="roundRect">
            <a:avLst>
              <a:gd name="adj" fmla="val 19048"/>
            </a:avLst>
          </a:prstGeom>
          <a:solidFill>
            <a:srgbClr val="3A4556"/>
          </a:solidFill>
          <a:ln/>
        </p:spPr>
      </p:sp>
      <p:sp>
        <p:nvSpPr>
          <p:cNvPr id="13" name="Shape 11"/>
          <p:cNvSpPr/>
          <p:nvPr/>
        </p:nvSpPr>
        <p:spPr>
          <a:xfrm>
            <a:off x="6812280" y="1883664"/>
            <a:ext cx="3291840" cy="192024"/>
          </a:xfrm>
          <a:prstGeom prst="rect">
            <a:avLst/>
          </a:prstGeom>
          <a:solidFill>
            <a:srgbClr val="3A4556"/>
          </a:solidFill>
          <a:ln/>
        </p:spPr>
      </p:sp>
      <p:sp>
        <p:nvSpPr>
          <p:cNvPr id="14" name="Text 12"/>
          <p:cNvSpPr/>
          <p:nvPr/>
        </p:nvSpPr>
        <p:spPr>
          <a:xfrm>
            <a:off x="6958584" y="1691640"/>
            <a:ext cx="299923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MEMBER ENROLLMENT</a:t>
            </a:r>
            <a:endParaRPr lang="en-US" sz="1200" dirty="0"/>
          </a:p>
        </p:txBody>
      </p:sp>
      <p:sp>
        <p:nvSpPr>
          <p:cNvPr id="15" name="Text 13"/>
          <p:cNvSpPr/>
          <p:nvPr/>
        </p:nvSpPr>
        <p:spPr>
          <a:xfrm>
            <a:off x="6958584" y="2185416"/>
            <a:ext cx="2999232" cy="245973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Member ID (PK)</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Group Number (FK)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Subscriber / Dependent Flag</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Plan Effective Date</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Coverage Tier</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Benefit Plan Ref (FK)</a:t>
            </a:r>
            <a:endParaRPr lang="en-US" sz="950" dirty="0"/>
          </a:p>
        </p:txBody>
      </p:sp>
      <p:sp>
        <p:nvSpPr>
          <p:cNvPr id="16" name="Shape 14"/>
          <p:cNvSpPr/>
          <p:nvPr/>
        </p:nvSpPr>
        <p:spPr>
          <a:xfrm>
            <a:off x="3977640" y="3223260"/>
            <a:ext cx="2834640" cy="0"/>
          </a:xfrm>
          <a:prstGeom prst="line">
            <a:avLst/>
          </a:prstGeom>
          <a:noFill/>
          <a:ln w="19050">
            <a:solidFill>
              <a:srgbClr val="5C7699"/>
            </a:solidFill>
            <a:prstDash val="solid"/>
            <a:tailEnd type="triangle"/>
          </a:ln>
        </p:spPr>
      </p:sp>
      <p:sp>
        <p:nvSpPr>
          <p:cNvPr id="17" name="Text 15"/>
          <p:cNvSpPr/>
          <p:nvPr/>
        </p:nvSpPr>
        <p:spPr>
          <a:xfrm>
            <a:off x="3840480" y="310438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18" name="Text 16"/>
          <p:cNvSpPr/>
          <p:nvPr/>
        </p:nvSpPr>
        <p:spPr>
          <a:xfrm>
            <a:off x="6675120" y="310438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19" name="Text 17"/>
          <p:cNvSpPr/>
          <p:nvPr/>
        </p:nvSpPr>
        <p:spPr>
          <a:xfrm>
            <a:off x="4434840" y="2720340"/>
            <a:ext cx="1920240" cy="274320"/>
          </a:xfrm>
          <a:prstGeom prst="rect">
            <a:avLst/>
          </a:prstGeom>
          <a:noFill/>
          <a:ln/>
        </p:spPr>
        <p:txBody>
          <a:bodyPr wrap="square" rtlCol="0" anchor="ctr"/>
          <a:lstStyle/>
          <a:p>
            <a:pPr algn="ctr" indent="0" marL="0">
              <a:buNone/>
            </a:pPr>
            <a:r>
              <a:rPr lang="en-US" sz="1000" i="1" dirty="0">
                <a:solidFill>
                  <a:srgbClr val="68758A"/>
                </a:solidFill>
                <a:latin typeface="Calibri" pitchFamily="34" charset="0"/>
                <a:ea typeface="Calibri" pitchFamily="34" charset="-122"/>
                <a:cs typeface="Calibri" pitchFamily="34" charset="-120"/>
              </a:rPr>
              <a:t>enrolls under</a:t>
            </a:r>
            <a:endParaRPr lang="en-US" sz="1000" dirty="0"/>
          </a:p>
        </p:txBody>
      </p:sp>
      <p:sp>
        <p:nvSpPr>
          <p:cNvPr id="20" name="Text 18"/>
          <p:cNvSpPr/>
          <p:nvPr/>
        </p:nvSpPr>
        <p:spPr>
          <a:xfrm>
            <a:off x="777240" y="5074920"/>
            <a:ext cx="11155680" cy="1325880"/>
          </a:xfrm>
          <a:prstGeom prst="rect">
            <a:avLst/>
          </a:prstGeom>
          <a:noFill/>
          <a:ln/>
        </p:spPr>
        <p:txBody>
          <a:bodyPr wrap="square" rtlCol="0" anchor="t"/>
          <a:lstStyle/>
          <a:p>
            <a:pPr marL="177800" indent="-177800">
              <a:lnSpc>
                <a:spcPct val="112000"/>
              </a:lnSpc>
              <a:spcAft>
                <a:spcPts val="600"/>
              </a:spcAft>
              <a:buSzPct val="100000"/>
              <a:buChar char="●"/>
            </a:pPr>
            <a:r>
              <a:rPr lang="en-US" sz="1150" dirty="0">
                <a:solidFill>
                  <a:srgbClr val="3A4556"/>
                </a:solidFill>
                <a:latin typeface="Calibri" pitchFamily="34" charset="0"/>
                <a:ea typeface="Calibri" pitchFamily="34" charset="-122"/>
                <a:cs typeface="Calibri" pitchFamily="34" charset="-120"/>
              </a:rPr>
              <a:t>A Group establishes the purchaser-level contract — the plan options, rates, and effective dates an employer or purchaser negotiates.</a:t>
            </a:r>
            <a:endParaRPr lang="en-US" sz="1150" dirty="0"/>
          </a:p>
          <a:p>
            <a:pPr marL="177800" indent="-177800">
              <a:lnSpc>
                <a:spcPct val="112000"/>
              </a:lnSpc>
              <a:spcAft>
                <a:spcPts val="600"/>
              </a:spcAft>
              <a:buSzPct val="100000"/>
              <a:buChar char="●"/>
            </a:pPr>
            <a:r>
              <a:rPr lang="en-US" sz="1150" dirty="0">
                <a:solidFill>
                  <a:srgbClr val="3A4556"/>
                </a:solidFill>
                <a:latin typeface="Calibri" pitchFamily="34" charset="0"/>
                <a:ea typeface="Calibri" pitchFamily="34" charset="-122"/>
                <a:cs typeface="Calibri" pitchFamily="34" charset="-120"/>
              </a:rPr>
              <a:t>Every Member Enrollment record carries the Group Number as a foreign key, plus its own subscriber/dependent relationship and coverage tier.</a:t>
            </a:r>
            <a:endParaRPr lang="en-US" sz="1150" dirty="0"/>
          </a:p>
          <a:p>
            <a:pPr marL="177800" indent="-177800">
              <a:lnSpc>
                <a:spcPct val="112000"/>
              </a:lnSpc>
              <a:spcAft>
                <a:spcPts val="600"/>
              </a:spcAft>
              <a:buSzPct val="100000"/>
              <a:buChar char="●"/>
            </a:pPr>
            <a:r>
              <a:rPr lang="en-US" sz="1150" dirty="0">
                <a:solidFill>
                  <a:srgbClr val="3A4556"/>
                </a:solidFill>
                <a:latin typeface="Calibri" pitchFamily="34" charset="0"/>
                <a:ea typeface="Calibri" pitchFamily="34" charset="-122"/>
                <a:cs typeface="Calibri" pitchFamily="34" charset="-120"/>
              </a:rPr>
              <a:t>This is the join Silver enforces: no member row survives conformance without resolving to a valid, current group.</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HEALTHCARE ENTITY MODEL</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Entity Relationships II: Member → Provider / PCP</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94360" y="1554480"/>
            <a:ext cx="3200400" cy="3566160"/>
          </a:xfrm>
          <a:prstGeom prst="roundRect">
            <a:avLst>
              <a:gd name="adj" fmla="val 228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7" name="Shape 5"/>
          <p:cNvSpPr/>
          <p:nvPr/>
        </p:nvSpPr>
        <p:spPr>
          <a:xfrm>
            <a:off x="594360" y="1554480"/>
            <a:ext cx="3200400" cy="384048"/>
          </a:xfrm>
          <a:prstGeom prst="roundRect">
            <a:avLst>
              <a:gd name="adj" fmla="val 19048"/>
            </a:avLst>
          </a:prstGeom>
          <a:solidFill>
            <a:srgbClr val="3A4556"/>
          </a:solidFill>
          <a:ln/>
        </p:spPr>
      </p:sp>
      <p:sp>
        <p:nvSpPr>
          <p:cNvPr id="8" name="Shape 6"/>
          <p:cNvSpPr/>
          <p:nvPr/>
        </p:nvSpPr>
        <p:spPr>
          <a:xfrm>
            <a:off x="594360" y="1746504"/>
            <a:ext cx="3200400" cy="192024"/>
          </a:xfrm>
          <a:prstGeom prst="rect">
            <a:avLst/>
          </a:prstGeom>
          <a:solidFill>
            <a:srgbClr val="3A4556"/>
          </a:solidFill>
          <a:ln/>
        </p:spPr>
      </p:sp>
      <p:sp>
        <p:nvSpPr>
          <p:cNvPr id="9" name="Text 7"/>
          <p:cNvSpPr/>
          <p:nvPr/>
        </p:nvSpPr>
        <p:spPr>
          <a:xfrm>
            <a:off x="740664" y="1554480"/>
            <a:ext cx="2907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MEMBER ENROLLMENT</a:t>
            </a:r>
            <a:endParaRPr lang="en-US" sz="1200" dirty="0"/>
          </a:p>
        </p:txBody>
      </p:sp>
      <p:sp>
        <p:nvSpPr>
          <p:cNvPr id="10" name="Text 8"/>
          <p:cNvSpPr/>
          <p:nvPr/>
        </p:nvSpPr>
        <p:spPr>
          <a:xfrm>
            <a:off x="740664" y="2048256"/>
            <a:ext cx="2907792" cy="296265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Member ID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Coverage Tier</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Eligibility Status</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Plan Effective Date</a:t>
            </a:r>
            <a:endParaRPr lang="en-US" sz="950" dirty="0"/>
          </a:p>
        </p:txBody>
      </p:sp>
      <p:sp>
        <p:nvSpPr>
          <p:cNvPr id="11" name="Shape 9"/>
          <p:cNvSpPr/>
          <p:nvPr/>
        </p:nvSpPr>
        <p:spPr>
          <a:xfrm>
            <a:off x="4754880" y="2148840"/>
            <a:ext cx="3200400" cy="2468880"/>
          </a:xfrm>
          <a:prstGeom prst="roundRect">
            <a:avLst>
              <a:gd name="adj" fmla="val 2963"/>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2" name="Shape 10"/>
          <p:cNvSpPr/>
          <p:nvPr/>
        </p:nvSpPr>
        <p:spPr>
          <a:xfrm>
            <a:off x="4754880" y="2148840"/>
            <a:ext cx="3200400" cy="384048"/>
          </a:xfrm>
          <a:prstGeom prst="roundRect">
            <a:avLst>
              <a:gd name="adj" fmla="val 19048"/>
            </a:avLst>
          </a:prstGeom>
          <a:solidFill>
            <a:srgbClr val="5C7699"/>
          </a:solidFill>
          <a:ln/>
        </p:spPr>
      </p:sp>
      <p:sp>
        <p:nvSpPr>
          <p:cNvPr id="13" name="Shape 11"/>
          <p:cNvSpPr/>
          <p:nvPr/>
        </p:nvSpPr>
        <p:spPr>
          <a:xfrm>
            <a:off x="4754880" y="2340864"/>
            <a:ext cx="3200400" cy="192024"/>
          </a:xfrm>
          <a:prstGeom prst="rect">
            <a:avLst/>
          </a:prstGeom>
          <a:solidFill>
            <a:srgbClr val="5C7699"/>
          </a:solidFill>
          <a:ln/>
        </p:spPr>
      </p:sp>
      <p:sp>
        <p:nvSpPr>
          <p:cNvPr id="14" name="Text 12"/>
          <p:cNvSpPr/>
          <p:nvPr/>
        </p:nvSpPr>
        <p:spPr>
          <a:xfrm>
            <a:off x="4901184" y="2148840"/>
            <a:ext cx="2907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PCP ASSIGNMENT</a:t>
            </a:r>
            <a:endParaRPr lang="en-US" sz="1200" dirty="0"/>
          </a:p>
        </p:txBody>
      </p:sp>
      <p:sp>
        <p:nvSpPr>
          <p:cNvPr id="15" name="Text 13"/>
          <p:cNvSpPr/>
          <p:nvPr/>
        </p:nvSpPr>
        <p:spPr>
          <a:xfrm>
            <a:off x="4901184" y="2642616"/>
            <a:ext cx="2907792" cy="186537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Member ID (FK)</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Provider NPI (FK)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PCP Effective Date</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Assignment Source (auto / member-selected)</a:t>
            </a:r>
            <a:endParaRPr lang="en-US" sz="950" dirty="0"/>
          </a:p>
        </p:txBody>
      </p:sp>
      <p:sp>
        <p:nvSpPr>
          <p:cNvPr id="16" name="Shape 14"/>
          <p:cNvSpPr/>
          <p:nvPr/>
        </p:nvSpPr>
        <p:spPr>
          <a:xfrm>
            <a:off x="8915400" y="1554480"/>
            <a:ext cx="3200400" cy="3566160"/>
          </a:xfrm>
          <a:prstGeom prst="roundRect">
            <a:avLst>
              <a:gd name="adj" fmla="val 228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7" name="Shape 15"/>
          <p:cNvSpPr/>
          <p:nvPr/>
        </p:nvSpPr>
        <p:spPr>
          <a:xfrm>
            <a:off x="8915400" y="1554480"/>
            <a:ext cx="3200400" cy="384048"/>
          </a:xfrm>
          <a:prstGeom prst="roundRect">
            <a:avLst>
              <a:gd name="adj" fmla="val 19048"/>
            </a:avLst>
          </a:prstGeom>
          <a:solidFill>
            <a:srgbClr val="3A4556"/>
          </a:solidFill>
          <a:ln/>
        </p:spPr>
      </p:sp>
      <p:sp>
        <p:nvSpPr>
          <p:cNvPr id="18" name="Shape 16"/>
          <p:cNvSpPr/>
          <p:nvPr/>
        </p:nvSpPr>
        <p:spPr>
          <a:xfrm>
            <a:off x="8915400" y="1746504"/>
            <a:ext cx="3200400" cy="192024"/>
          </a:xfrm>
          <a:prstGeom prst="rect">
            <a:avLst/>
          </a:prstGeom>
          <a:solidFill>
            <a:srgbClr val="3A4556"/>
          </a:solidFill>
          <a:ln/>
        </p:spPr>
      </p:sp>
      <p:sp>
        <p:nvSpPr>
          <p:cNvPr id="19" name="Text 17"/>
          <p:cNvSpPr/>
          <p:nvPr/>
        </p:nvSpPr>
        <p:spPr>
          <a:xfrm>
            <a:off x="9061704" y="1554480"/>
            <a:ext cx="2907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p>
        </p:txBody>
      </p:sp>
      <p:sp>
        <p:nvSpPr>
          <p:cNvPr id="20" name="Text 18"/>
          <p:cNvSpPr/>
          <p:nvPr/>
        </p:nvSpPr>
        <p:spPr>
          <a:xfrm>
            <a:off x="9061704" y="2048256"/>
            <a:ext cx="2907792" cy="296265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Provider NPI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Provider Name</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Specialty / Taxonomy</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Network Status</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Panel Capacity</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Credentialing Status</a:t>
            </a:r>
            <a:endParaRPr lang="en-US" sz="950" dirty="0"/>
          </a:p>
        </p:txBody>
      </p:sp>
      <p:sp>
        <p:nvSpPr>
          <p:cNvPr id="21" name="Shape 19"/>
          <p:cNvSpPr/>
          <p:nvPr/>
        </p:nvSpPr>
        <p:spPr>
          <a:xfrm>
            <a:off x="3794760" y="3291840"/>
            <a:ext cx="960120" cy="0"/>
          </a:xfrm>
          <a:prstGeom prst="line">
            <a:avLst/>
          </a:prstGeom>
          <a:noFill/>
          <a:ln w="19050">
            <a:solidFill>
              <a:srgbClr val="5C7699"/>
            </a:solidFill>
            <a:prstDash val="solid"/>
            <a:tailEnd type="triangle"/>
          </a:ln>
        </p:spPr>
      </p:sp>
      <p:sp>
        <p:nvSpPr>
          <p:cNvPr id="22" name="Text 20"/>
          <p:cNvSpPr/>
          <p:nvPr/>
        </p:nvSpPr>
        <p:spPr>
          <a:xfrm>
            <a:off x="3657600" y="317296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23" name="Text 21"/>
          <p:cNvSpPr/>
          <p:nvPr/>
        </p:nvSpPr>
        <p:spPr>
          <a:xfrm>
            <a:off x="4617720" y="317296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24" name="Shape 22"/>
          <p:cNvSpPr/>
          <p:nvPr/>
        </p:nvSpPr>
        <p:spPr>
          <a:xfrm>
            <a:off x="7955280" y="3291840"/>
            <a:ext cx="960120" cy="0"/>
          </a:xfrm>
          <a:prstGeom prst="line">
            <a:avLst/>
          </a:prstGeom>
          <a:noFill/>
          <a:ln w="19050">
            <a:solidFill>
              <a:srgbClr val="5C7699"/>
            </a:solidFill>
            <a:prstDash val="solid"/>
            <a:tailEnd type="triangle"/>
          </a:ln>
        </p:spPr>
      </p:sp>
      <p:sp>
        <p:nvSpPr>
          <p:cNvPr id="25" name="Text 23"/>
          <p:cNvSpPr/>
          <p:nvPr/>
        </p:nvSpPr>
        <p:spPr>
          <a:xfrm>
            <a:off x="7818120" y="317296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26" name="Text 24"/>
          <p:cNvSpPr/>
          <p:nvPr/>
        </p:nvSpPr>
        <p:spPr>
          <a:xfrm>
            <a:off x="8778240" y="317296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27" name="Text 25"/>
          <p:cNvSpPr/>
          <p:nvPr/>
        </p:nvSpPr>
        <p:spPr>
          <a:xfrm>
            <a:off x="594360" y="5257800"/>
            <a:ext cx="11521440" cy="118872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PCP Assignment is the resolving entity between Member and Provider — a member can change PCPs over time, so this is a dated, versioned relationship, not a single foreign key on Member.</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The same Provider entity is reused across network directory, credentialing, and claims — one governed record, several consumers.</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HEALTHCARE ENTITY MODEL</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Entity Relationships III: Claims Linkage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4983480" y="1143000"/>
            <a:ext cx="3200400" cy="1965960"/>
          </a:xfrm>
          <a:prstGeom prst="roundRect">
            <a:avLst>
              <a:gd name="adj" fmla="val 3721"/>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7" name="Shape 5"/>
          <p:cNvSpPr/>
          <p:nvPr/>
        </p:nvSpPr>
        <p:spPr>
          <a:xfrm>
            <a:off x="4983480" y="1143000"/>
            <a:ext cx="3200400" cy="384048"/>
          </a:xfrm>
          <a:prstGeom prst="roundRect">
            <a:avLst>
              <a:gd name="adj" fmla="val 19048"/>
            </a:avLst>
          </a:prstGeom>
          <a:solidFill>
            <a:srgbClr val="3A4556"/>
          </a:solidFill>
          <a:ln/>
        </p:spPr>
      </p:sp>
      <p:sp>
        <p:nvSpPr>
          <p:cNvPr id="8" name="Shape 6"/>
          <p:cNvSpPr/>
          <p:nvPr/>
        </p:nvSpPr>
        <p:spPr>
          <a:xfrm>
            <a:off x="4983480" y="1335024"/>
            <a:ext cx="3200400" cy="192024"/>
          </a:xfrm>
          <a:prstGeom prst="rect">
            <a:avLst/>
          </a:prstGeom>
          <a:solidFill>
            <a:srgbClr val="3A4556"/>
          </a:solidFill>
          <a:ln/>
        </p:spPr>
      </p:sp>
      <p:sp>
        <p:nvSpPr>
          <p:cNvPr id="9" name="Text 7"/>
          <p:cNvSpPr/>
          <p:nvPr/>
        </p:nvSpPr>
        <p:spPr>
          <a:xfrm>
            <a:off x="5129784" y="1143000"/>
            <a:ext cx="2907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CLAIM HEADER</a:t>
            </a:r>
            <a:endParaRPr lang="en-US" sz="1200" dirty="0"/>
          </a:p>
        </p:txBody>
      </p:sp>
      <p:sp>
        <p:nvSpPr>
          <p:cNvPr id="10" name="Text 8"/>
          <p:cNvSpPr/>
          <p:nvPr/>
        </p:nvSpPr>
        <p:spPr>
          <a:xfrm>
            <a:off x="5129784" y="1636776"/>
            <a:ext cx="2907792" cy="136245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Claim ID (PK)</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Member ID (FK)</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Rendering Provider NPI (FK)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Claim Type / Paid Amount</a:t>
            </a:r>
            <a:endParaRPr lang="en-US" sz="950" dirty="0"/>
          </a:p>
        </p:txBody>
      </p:sp>
      <p:sp>
        <p:nvSpPr>
          <p:cNvPr id="11" name="Shape 9"/>
          <p:cNvSpPr/>
          <p:nvPr/>
        </p:nvSpPr>
        <p:spPr>
          <a:xfrm>
            <a:off x="685800" y="3703320"/>
            <a:ext cx="3017520" cy="1691640"/>
          </a:xfrm>
          <a:prstGeom prst="roundRect">
            <a:avLst>
              <a:gd name="adj" fmla="val 4324"/>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2" name="Shape 10"/>
          <p:cNvSpPr/>
          <p:nvPr/>
        </p:nvSpPr>
        <p:spPr>
          <a:xfrm>
            <a:off x="685800" y="3703320"/>
            <a:ext cx="3017520" cy="384048"/>
          </a:xfrm>
          <a:prstGeom prst="roundRect">
            <a:avLst>
              <a:gd name="adj" fmla="val 19048"/>
            </a:avLst>
          </a:prstGeom>
          <a:solidFill>
            <a:srgbClr val="5C7699"/>
          </a:solidFill>
          <a:ln/>
        </p:spPr>
      </p:sp>
      <p:sp>
        <p:nvSpPr>
          <p:cNvPr id="13" name="Shape 11"/>
          <p:cNvSpPr/>
          <p:nvPr/>
        </p:nvSpPr>
        <p:spPr>
          <a:xfrm>
            <a:off x="685800" y="3895344"/>
            <a:ext cx="3017520" cy="192024"/>
          </a:xfrm>
          <a:prstGeom prst="rect">
            <a:avLst/>
          </a:prstGeom>
          <a:solidFill>
            <a:srgbClr val="5C7699"/>
          </a:solidFill>
          <a:ln/>
        </p:spPr>
      </p:sp>
      <p:sp>
        <p:nvSpPr>
          <p:cNvPr id="14" name="Text 12"/>
          <p:cNvSpPr/>
          <p:nvPr/>
        </p:nvSpPr>
        <p:spPr>
          <a:xfrm>
            <a:off x="832104" y="3703320"/>
            <a:ext cx="27249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MEMBER ENROLLMENT</a:t>
            </a:r>
            <a:endParaRPr lang="en-US" sz="1200" dirty="0"/>
          </a:p>
        </p:txBody>
      </p:sp>
      <p:sp>
        <p:nvSpPr>
          <p:cNvPr id="15" name="Text 13"/>
          <p:cNvSpPr/>
          <p:nvPr/>
        </p:nvSpPr>
        <p:spPr>
          <a:xfrm>
            <a:off x="832104" y="4197096"/>
            <a:ext cx="2724912" cy="108813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Member ID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Coverage Tier</a:t>
            </a:r>
            <a:endParaRPr lang="en-US" sz="950" dirty="0"/>
          </a:p>
        </p:txBody>
      </p:sp>
      <p:sp>
        <p:nvSpPr>
          <p:cNvPr id="16" name="Shape 14"/>
          <p:cNvSpPr/>
          <p:nvPr/>
        </p:nvSpPr>
        <p:spPr>
          <a:xfrm>
            <a:off x="9372600" y="3703320"/>
            <a:ext cx="2743200" cy="1691640"/>
          </a:xfrm>
          <a:prstGeom prst="roundRect">
            <a:avLst>
              <a:gd name="adj" fmla="val 4324"/>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7" name="Shape 15"/>
          <p:cNvSpPr/>
          <p:nvPr/>
        </p:nvSpPr>
        <p:spPr>
          <a:xfrm>
            <a:off x="9372600" y="3703320"/>
            <a:ext cx="2743200" cy="384048"/>
          </a:xfrm>
          <a:prstGeom prst="roundRect">
            <a:avLst>
              <a:gd name="adj" fmla="val 19048"/>
            </a:avLst>
          </a:prstGeom>
          <a:solidFill>
            <a:srgbClr val="5C7699"/>
          </a:solidFill>
          <a:ln/>
        </p:spPr>
      </p:sp>
      <p:sp>
        <p:nvSpPr>
          <p:cNvPr id="18" name="Shape 16"/>
          <p:cNvSpPr/>
          <p:nvPr/>
        </p:nvSpPr>
        <p:spPr>
          <a:xfrm>
            <a:off x="9372600" y="3895344"/>
            <a:ext cx="2743200" cy="192024"/>
          </a:xfrm>
          <a:prstGeom prst="rect">
            <a:avLst/>
          </a:prstGeom>
          <a:solidFill>
            <a:srgbClr val="5C7699"/>
          </a:solidFill>
          <a:ln/>
        </p:spPr>
      </p:sp>
      <p:sp>
        <p:nvSpPr>
          <p:cNvPr id="19" name="Text 17"/>
          <p:cNvSpPr/>
          <p:nvPr/>
        </p:nvSpPr>
        <p:spPr>
          <a:xfrm>
            <a:off x="9518904" y="3703320"/>
            <a:ext cx="24505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p>
        </p:txBody>
      </p:sp>
      <p:sp>
        <p:nvSpPr>
          <p:cNvPr id="20" name="Text 18"/>
          <p:cNvSpPr/>
          <p:nvPr/>
        </p:nvSpPr>
        <p:spPr>
          <a:xfrm>
            <a:off x="9518904" y="4197096"/>
            <a:ext cx="2450592" cy="108813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Provider NPI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Specialty</a:t>
            </a:r>
            <a:endParaRPr lang="en-US" sz="950" dirty="0"/>
          </a:p>
        </p:txBody>
      </p:sp>
      <p:sp>
        <p:nvSpPr>
          <p:cNvPr id="21" name="Shape 19"/>
          <p:cNvSpPr/>
          <p:nvPr/>
        </p:nvSpPr>
        <p:spPr>
          <a:xfrm>
            <a:off x="4983480" y="3703320"/>
            <a:ext cx="3200400" cy="1691640"/>
          </a:xfrm>
          <a:prstGeom prst="roundRect">
            <a:avLst>
              <a:gd name="adj" fmla="val 4324"/>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22" name="Shape 20"/>
          <p:cNvSpPr/>
          <p:nvPr/>
        </p:nvSpPr>
        <p:spPr>
          <a:xfrm>
            <a:off x="4983480" y="3703320"/>
            <a:ext cx="3200400" cy="384048"/>
          </a:xfrm>
          <a:prstGeom prst="roundRect">
            <a:avLst>
              <a:gd name="adj" fmla="val 19048"/>
            </a:avLst>
          </a:prstGeom>
          <a:solidFill>
            <a:srgbClr val="3A4556"/>
          </a:solidFill>
          <a:ln/>
        </p:spPr>
      </p:sp>
      <p:sp>
        <p:nvSpPr>
          <p:cNvPr id="23" name="Shape 21"/>
          <p:cNvSpPr/>
          <p:nvPr/>
        </p:nvSpPr>
        <p:spPr>
          <a:xfrm>
            <a:off x="4983480" y="3895344"/>
            <a:ext cx="3200400" cy="192024"/>
          </a:xfrm>
          <a:prstGeom prst="rect">
            <a:avLst/>
          </a:prstGeom>
          <a:solidFill>
            <a:srgbClr val="3A4556"/>
          </a:solidFill>
          <a:ln/>
        </p:spPr>
      </p:sp>
      <p:sp>
        <p:nvSpPr>
          <p:cNvPr id="24" name="Text 22"/>
          <p:cNvSpPr/>
          <p:nvPr/>
        </p:nvSpPr>
        <p:spPr>
          <a:xfrm>
            <a:off x="5129784" y="3703320"/>
            <a:ext cx="2907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CLAIM LINE</a:t>
            </a:r>
            <a:endParaRPr lang="en-US" sz="1200" dirty="0"/>
          </a:p>
        </p:txBody>
      </p:sp>
      <p:sp>
        <p:nvSpPr>
          <p:cNvPr id="25" name="Text 23"/>
          <p:cNvSpPr/>
          <p:nvPr/>
        </p:nvSpPr>
        <p:spPr>
          <a:xfrm>
            <a:off x="5129784" y="4197096"/>
            <a:ext cx="2907792" cy="1088136"/>
          </a:xfrm>
          <a:prstGeom prst="rect">
            <a:avLst/>
          </a:prstGeom>
          <a:noFill/>
          <a:ln/>
        </p:spPr>
        <p:txBody>
          <a:bodyPr wrap="square" rtlCol="0" anchor="t"/>
          <a:lstStyle/>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Claim ID (FK)</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Line Number (PK)</a:t>
            </a:r>
            <a:endParaRPr lang="en-US" sz="950" dirty="0"/>
          </a:p>
          <a:p>
            <a:pPr indent="0" marL="0">
              <a:lnSpc>
                <a:spcPct val="105000"/>
              </a:lnSpc>
              <a:spcAft>
                <a:spcPts val="500"/>
              </a:spcAft>
              <a:buNone/>
            </a:pPr>
            <a:r>
              <a:rPr lang="en-US" sz="950" dirty="0">
                <a:solidFill>
                  <a:srgbClr val="68758A"/>
                </a:solidFill>
                <a:latin typeface="Calibri" pitchFamily="34" charset="0"/>
                <a:ea typeface="Calibri" pitchFamily="34" charset="-122"/>
                <a:cs typeface="Calibri" pitchFamily="34" charset="-120"/>
              </a:rPr>
              <a:t>Procedure / NDC Code</a:t>
            </a:r>
            <a:endParaRPr lang="en-US" sz="950" dirty="0"/>
          </a:p>
          <a:p>
            <a:pPr indent="0" marL="0">
              <a:lnSpc>
                <a:spcPct val="105000"/>
              </a:lnSpc>
              <a:spcAft>
                <a:spcPts val="500"/>
              </a:spcAft>
              <a:buNone/>
            </a:pPr>
            <a:r>
              <a:rPr lang="en-US" sz="950" b="1" dirty="0">
                <a:solidFill>
                  <a:srgbClr val="5C7699"/>
                </a:solidFill>
                <a:latin typeface="Calibri" pitchFamily="34" charset="0"/>
                <a:ea typeface="Calibri" pitchFamily="34" charset="-122"/>
                <a:cs typeface="Calibri" pitchFamily="34" charset="-120"/>
              </a:rPr>
              <a:t>Diagnosis Code (FK)</a:t>
            </a:r>
            <a:endParaRPr lang="en-US" sz="950" dirty="0"/>
          </a:p>
        </p:txBody>
      </p:sp>
      <p:sp>
        <p:nvSpPr>
          <p:cNvPr id="26" name="Shape 24"/>
          <p:cNvSpPr/>
          <p:nvPr/>
        </p:nvSpPr>
        <p:spPr>
          <a:xfrm flipV="1">
            <a:off x="2194560" y="3108960"/>
            <a:ext cx="3611880" cy="594360"/>
          </a:xfrm>
          <a:prstGeom prst="line">
            <a:avLst/>
          </a:prstGeom>
          <a:noFill/>
          <a:ln w="19050">
            <a:solidFill>
              <a:srgbClr val="5C7699"/>
            </a:solidFill>
            <a:prstDash val="solid"/>
            <a:tailEnd type="triangle"/>
          </a:ln>
        </p:spPr>
      </p:sp>
      <p:sp>
        <p:nvSpPr>
          <p:cNvPr id="27" name="Text 25"/>
          <p:cNvSpPr/>
          <p:nvPr/>
        </p:nvSpPr>
        <p:spPr>
          <a:xfrm>
            <a:off x="2057400" y="358444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28" name="Text 26"/>
          <p:cNvSpPr/>
          <p:nvPr/>
        </p:nvSpPr>
        <p:spPr>
          <a:xfrm>
            <a:off x="5669280" y="299008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29" name="Shape 27"/>
          <p:cNvSpPr/>
          <p:nvPr/>
        </p:nvSpPr>
        <p:spPr>
          <a:xfrm flipH="1" flipV="1">
            <a:off x="7909560" y="3108960"/>
            <a:ext cx="2834640" cy="594360"/>
          </a:xfrm>
          <a:prstGeom prst="line">
            <a:avLst/>
          </a:prstGeom>
          <a:noFill/>
          <a:ln w="19050">
            <a:solidFill>
              <a:srgbClr val="5C7699"/>
            </a:solidFill>
            <a:prstDash val="solid"/>
            <a:tailEnd type="triangle"/>
          </a:ln>
        </p:spPr>
      </p:sp>
      <p:sp>
        <p:nvSpPr>
          <p:cNvPr id="30" name="Text 28"/>
          <p:cNvSpPr/>
          <p:nvPr/>
        </p:nvSpPr>
        <p:spPr>
          <a:xfrm>
            <a:off x="10607040" y="358444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31" name="Text 29"/>
          <p:cNvSpPr/>
          <p:nvPr/>
        </p:nvSpPr>
        <p:spPr>
          <a:xfrm>
            <a:off x="7772400" y="299008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32" name="Shape 30"/>
          <p:cNvSpPr/>
          <p:nvPr/>
        </p:nvSpPr>
        <p:spPr>
          <a:xfrm>
            <a:off x="6583680" y="3108960"/>
            <a:ext cx="0" cy="594360"/>
          </a:xfrm>
          <a:prstGeom prst="line">
            <a:avLst/>
          </a:prstGeom>
          <a:noFill/>
          <a:ln w="19050">
            <a:solidFill>
              <a:srgbClr val="5C7699"/>
            </a:solidFill>
            <a:prstDash val="solid"/>
            <a:tailEnd type="triangle"/>
          </a:ln>
        </p:spPr>
      </p:sp>
      <p:sp>
        <p:nvSpPr>
          <p:cNvPr id="33" name="Text 31"/>
          <p:cNvSpPr/>
          <p:nvPr/>
        </p:nvSpPr>
        <p:spPr>
          <a:xfrm>
            <a:off x="6446520" y="299008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34" name="Text 32"/>
          <p:cNvSpPr/>
          <p:nvPr/>
        </p:nvSpPr>
        <p:spPr>
          <a:xfrm>
            <a:off x="6446520" y="358444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35" name="Text 33"/>
          <p:cNvSpPr/>
          <p:nvPr/>
        </p:nvSpPr>
        <p:spPr>
          <a:xfrm>
            <a:off x="685800" y="5669280"/>
            <a:ext cx="11521440" cy="731520"/>
          </a:xfrm>
          <a:prstGeom prst="rect">
            <a:avLst/>
          </a:prstGeom>
          <a:noFill/>
          <a:ln/>
        </p:spPr>
        <p:txBody>
          <a:bodyPr wrap="square" rtlCol="0" anchor="t"/>
          <a:lstStyle/>
          <a:p>
            <a:pPr marL="177800" indent="-177800">
              <a:lnSpc>
                <a:spcPct val="112000"/>
              </a:lnSpc>
              <a:spcAft>
                <a:spcPts val="600"/>
              </a:spcAft>
              <a:buSzPct val="100000"/>
              <a:buChar char="●"/>
            </a:pPr>
            <a:r>
              <a:rPr lang="en-US" sz="1100" dirty="0">
                <a:solidFill>
                  <a:srgbClr val="3A4556"/>
                </a:solidFill>
                <a:latin typeface="Calibri" pitchFamily="34" charset="0"/>
                <a:ea typeface="Calibri" pitchFamily="34" charset="-122"/>
                <a:cs typeface="Calibri" pitchFamily="34" charset="-120"/>
              </a:rPr>
              <a:t>A Claim Header always resolves to exactly one Member and one rendering Provider/PCP — the two foreign keys built in Entity Relationships I and II.</a:t>
            </a:r>
            <a:endParaRPr lang="en-US" sz="1100" dirty="0"/>
          </a:p>
          <a:p>
            <a:pPr marL="177800" indent="-177800">
              <a:lnSpc>
                <a:spcPct val="112000"/>
              </a:lnSpc>
              <a:spcAft>
                <a:spcPts val="600"/>
              </a:spcAft>
              <a:buSzPct val="100000"/>
              <a:buChar char="●"/>
            </a:pPr>
            <a:r>
              <a:rPr lang="en-US" sz="1100" dirty="0">
                <a:solidFill>
                  <a:srgbClr val="3A4556"/>
                </a:solidFill>
                <a:latin typeface="Calibri" pitchFamily="34" charset="0"/>
                <a:ea typeface="Calibri" pitchFamily="34" charset="-122"/>
                <a:cs typeface="Calibri" pitchFamily="34" charset="-120"/>
              </a:rPr>
              <a:t>Claim Lines carry the clinical/financial detail — procedure or NDC code, diagnosis, and paid amount — many lines to one header.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HEALTHCARE ENTITY MODEL</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Unified Healthcare Entity Model</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94360" y="155448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7" name="Shape 5"/>
          <p:cNvSpPr/>
          <p:nvPr/>
        </p:nvSpPr>
        <p:spPr>
          <a:xfrm>
            <a:off x="594360" y="1554480"/>
            <a:ext cx="2331720" cy="384048"/>
          </a:xfrm>
          <a:prstGeom prst="roundRect">
            <a:avLst>
              <a:gd name="adj" fmla="val 19048"/>
            </a:avLst>
          </a:prstGeom>
          <a:solidFill>
            <a:srgbClr val="5C7699"/>
          </a:solidFill>
          <a:ln/>
        </p:spPr>
      </p:sp>
      <p:sp>
        <p:nvSpPr>
          <p:cNvPr id="8" name="Shape 6"/>
          <p:cNvSpPr/>
          <p:nvPr/>
        </p:nvSpPr>
        <p:spPr>
          <a:xfrm>
            <a:off x="594360" y="1746504"/>
            <a:ext cx="2331720" cy="192024"/>
          </a:xfrm>
          <a:prstGeom prst="rect">
            <a:avLst/>
          </a:prstGeom>
          <a:solidFill>
            <a:srgbClr val="5C7699"/>
          </a:solidFill>
          <a:ln/>
        </p:spPr>
      </p:sp>
      <p:sp>
        <p:nvSpPr>
          <p:cNvPr id="9" name="Text 7"/>
          <p:cNvSpPr/>
          <p:nvPr/>
        </p:nvSpPr>
        <p:spPr>
          <a:xfrm>
            <a:off x="740664" y="155448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p>
        </p:txBody>
      </p:sp>
      <p:sp>
        <p:nvSpPr>
          <p:cNvPr id="10" name="Text 8"/>
          <p:cNvSpPr/>
          <p:nvPr/>
        </p:nvSpPr>
        <p:spPr>
          <a:xfrm>
            <a:off x="740664" y="2048256"/>
            <a:ext cx="2039112" cy="630936"/>
          </a:xfrm>
          <a:prstGeom prst="rect">
            <a:avLst/>
          </a:prstGeom>
          <a:noFill/>
          <a:ln/>
        </p:spPr>
        <p:txBody>
          <a:bodyPr wrap="square" rtlCol="0" anchor="t"/>
          <a:lstStyle/>
          <a:p>
            <a:pPr indent="0" marL="0">
              <a:lnSpc>
                <a:spcPct val="105000"/>
              </a:lnSpc>
              <a:buNone/>
            </a:pPr>
            <a:endParaRPr lang="en-US" dirty="0"/>
          </a:p>
        </p:txBody>
      </p:sp>
      <p:sp>
        <p:nvSpPr>
          <p:cNvPr id="11" name="Shape 9"/>
          <p:cNvSpPr/>
          <p:nvPr/>
        </p:nvSpPr>
        <p:spPr>
          <a:xfrm>
            <a:off x="3429000" y="155448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2" name="Shape 10"/>
          <p:cNvSpPr/>
          <p:nvPr/>
        </p:nvSpPr>
        <p:spPr>
          <a:xfrm>
            <a:off x="3429000" y="1554480"/>
            <a:ext cx="2331720" cy="384048"/>
          </a:xfrm>
          <a:prstGeom prst="roundRect">
            <a:avLst>
              <a:gd name="adj" fmla="val 19048"/>
            </a:avLst>
          </a:prstGeom>
          <a:solidFill>
            <a:srgbClr val="3A4556"/>
          </a:solidFill>
          <a:ln/>
        </p:spPr>
      </p:sp>
      <p:sp>
        <p:nvSpPr>
          <p:cNvPr id="13" name="Shape 11"/>
          <p:cNvSpPr/>
          <p:nvPr/>
        </p:nvSpPr>
        <p:spPr>
          <a:xfrm>
            <a:off x="3429000" y="1746504"/>
            <a:ext cx="2331720" cy="192024"/>
          </a:xfrm>
          <a:prstGeom prst="rect">
            <a:avLst/>
          </a:prstGeom>
          <a:solidFill>
            <a:srgbClr val="3A4556"/>
          </a:solidFill>
          <a:ln/>
        </p:spPr>
      </p:sp>
      <p:sp>
        <p:nvSpPr>
          <p:cNvPr id="14" name="Text 12"/>
          <p:cNvSpPr/>
          <p:nvPr/>
        </p:nvSpPr>
        <p:spPr>
          <a:xfrm>
            <a:off x="3575304" y="155448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MEMBER</a:t>
            </a:r>
            <a:endParaRPr lang="en-US" sz="1200" dirty="0"/>
          </a:p>
        </p:txBody>
      </p:sp>
      <p:sp>
        <p:nvSpPr>
          <p:cNvPr id="15" name="Text 13"/>
          <p:cNvSpPr/>
          <p:nvPr/>
        </p:nvSpPr>
        <p:spPr>
          <a:xfrm>
            <a:off x="3575304" y="2048256"/>
            <a:ext cx="2039112" cy="630936"/>
          </a:xfrm>
          <a:prstGeom prst="rect">
            <a:avLst/>
          </a:prstGeom>
          <a:noFill/>
          <a:ln/>
        </p:spPr>
        <p:txBody>
          <a:bodyPr wrap="square" rtlCol="0" anchor="t"/>
          <a:lstStyle/>
          <a:p>
            <a:pPr indent="0" marL="0">
              <a:lnSpc>
                <a:spcPct val="105000"/>
              </a:lnSpc>
              <a:buNone/>
            </a:pPr>
            <a:endParaRPr lang="en-US" dirty="0"/>
          </a:p>
        </p:txBody>
      </p:sp>
      <p:sp>
        <p:nvSpPr>
          <p:cNvPr id="16" name="Shape 14"/>
          <p:cNvSpPr/>
          <p:nvPr/>
        </p:nvSpPr>
        <p:spPr>
          <a:xfrm>
            <a:off x="6263640" y="155448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17" name="Shape 15"/>
          <p:cNvSpPr/>
          <p:nvPr/>
        </p:nvSpPr>
        <p:spPr>
          <a:xfrm>
            <a:off x="6263640" y="1554480"/>
            <a:ext cx="2331720" cy="384048"/>
          </a:xfrm>
          <a:prstGeom prst="roundRect">
            <a:avLst>
              <a:gd name="adj" fmla="val 19048"/>
            </a:avLst>
          </a:prstGeom>
          <a:solidFill>
            <a:srgbClr val="5C7699"/>
          </a:solidFill>
          <a:ln/>
        </p:spPr>
      </p:sp>
      <p:sp>
        <p:nvSpPr>
          <p:cNvPr id="18" name="Shape 16"/>
          <p:cNvSpPr/>
          <p:nvPr/>
        </p:nvSpPr>
        <p:spPr>
          <a:xfrm>
            <a:off x="6263640" y="1746504"/>
            <a:ext cx="2331720" cy="192024"/>
          </a:xfrm>
          <a:prstGeom prst="rect">
            <a:avLst/>
          </a:prstGeom>
          <a:solidFill>
            <a:srgbClr val="5C7699"/>
          </a:solidFill>
          <a:ln/>
        </p:spPr>
      </p:sp>
      <p:sp>
        <p:nvSpPr>
          <p:cNvPr id="19" name="Text 17"/>
          <p:cNvSpPr/>
          <p:nvPr/>
        </p:nvSpPr>
        <p:spPr>
          <a:xfrm>
            <a:off x="6409944" y="155448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PCP ASSIGNMENT</a:t>
            </a:r>
            <a:endParaRPr lang="en-US" sz="1200" dirty="0"/>
          </a:p>
        </p:txBody>
      </p:sp>
      <p:sp>
        <p:nvSpPr>
          <p:cNvPr id="20" name="Text 18"/>
          <p:cNvSpPr/>
          <p:nvPr/>
        </p:nvSpPr>
        <p:spPr>
          <a:xfrm>
            <a:off x="6409944" y="2048256"/>
            <a:ext cx="2039112" cy="630936"/>
          </a:xfrm>
          <a:prstGeom prst="rect">
            <a:avLst/>
          </a:prstGeom>
          <a:noFill/>
          <a:ln/>
        </p:spPr>
        <p:txBody>
          <a:bodyPr wrap="square" rtlCol="0" anchor="t"/>
          <a:lstStyle/>
          <a:p>
            <a:pPr indent="0" marL="0">
              <a:lnSpc>
                <a:spcPct val="105000"/>
              </a:lnSpc>
              <a:buNone/>
            </a:pPr>
            <a:endParaRPr lang="en-US" dirty="0"/>
          </a:p>
        </p:txBody>
      </p:sp>
      <p:sp>
        <p:nvSpPr>
          <p:cNvPr id="21" name="Shape 19"/>
          <p:cNvSpPr/>
          <p:nvPr/>
        </p:nvSpPr>
        <p:spPr>
          <a:xfrm>
            <a:off x="9098280" y="155448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22" name="Shape 20"/>
          <p:cNvSpPr/>
          <p:nvPr/>
        </p:nvSpPr>
        <p:spPr>
          <a:xfrm>
            <a:off x="9098280" y="1554480"/>
            <a:ext cx="2331720" cy="384048"/>
          </a:xfrm>
          <a:prstGeom prst="roundRect">
            <a:avLst>
              <a:gd name="adj" fmla="val 19048"/>
            </a:avLst>
          </a:prstGeom>
          <a:solidFill>
            <a:srgbClr val="3A4556"/>
          </a:solidFill>
          <a:ln/>
        </p:spPr>
      </p:sp>
      <p:sp>
        <p:nvSpPr>
          <p:cNvPr id="23" name="Shape 21"/>
          <p:cNvSpPr/>
          <p:nvPr/>
        </p:nvSpPr>
        <p:spPr>
          <a:xfrm>
            <a:off x="9098280" y="1746504"/>
            <a:ext cx="2331720" cy="192024"/>
          </a:xfrm>
          <a:prstGeom prst="rect">
            <a:avLst/>
          </a:prstGeom>
          <a:solidFill>
            <a:srgbClr val="3A4556"/>
          </a:solidFill>
          <a:ln/>
        </p:spPr>
      </p:sp>
      <p:sp>
        <p:nvSpPr>
          <p:cNvPr id="24" name="Text 22"/>
          <p:cNvSpPr/>
          <p:nvPr/>
        </p:nvSpPr>
        <p:spPr>
          <a:xfrm>
            <a:off x="9244584" y="155448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PROVIDER</a:t>
            </a:r>
            <a:endParaRPr lang="en-US" sz="1200" dirty="0"/>
          </a:p>
        </p:txBody>
      </p:sp>
      <p:sp>
        <p:nvSpPr>
          <p:cNvPr id="25" name="Text 23"/>
          <p:cNvSpPr/>
          <p:nvPr/>
        </p:nvSpPr>
        <p:spPr>
          <a:xfrm>
            <a:off x="9244584" y="2048256"/>
            <a:ext cx="2039112" cy="630936"/>
          </a:xfrm>
          <a:prstGeom prst="rect">
            <a:avLst/>
          </a:prstGeom>
          <a:noFill/>
          <a:ln/>
        </p:spPr>
        <p:txBody>
          <a:bodyPr wrap="square" rtlCol="0" anchor="t"/>
          <a:lstStyle/>
          <a:p>
            <a:pPr indent="0" marL="0">
              <a:lnSpc>
                <a:spcPct val="105000"/>
              </a:lnSpc>
              <a:buNone/>
            </a:pPr>
            <a:endParaRPr lang="en-US" dirty="0"/>
          </a:p>
        </p:txBody>
      </p:sp>
      <p:sp>
        <p:nvSpPr>
          <p:cNvPr id="26" name="Shape 24"/>
          <p:cNvSpPr/>
          <p:nvPr/>
        </p:nvSpPr>
        <p:spPr>
          <a:xfrm>
            <a:off x="3429000" y="397764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27" name="Shape 25"/>
          <p:cNvSpPr/>
          <p:nvPr/>
        </p:nvSpPr>
        <p:spPr>
          <a:xfrm>
            <a:off x="3429000" y="3977640"/>
            <a:ext cx="2331720" cy="384048"/>
          </a:xfrm>
          <a:prstGeom prst="roundRect">
            <a:avLst>
              <a:gd name="adj" fmla="val 19048"/>
            </a:avLst>
          </a:prstGeom>
          <a:solidFill>
            <a:srgbClr val="2C3646"/>
          </a:solidFill>
          <a:ln/>
        </p:spPr>
      </p:sp>
      <p:sp>
        <p:nvSpPr>
          <p:cNvPr id="28" name="Shape 26"/>
          <p:cNvSpPr/>
          <p:nvPr/>
        </p:nvSpPr>
        <p:spPr>
          <a:xfrm>
            <a:off x="3429000" y="4169664"/>
            <a:ext cx="2331720" cy="192024"/>
          </a:xfrm>
          <a:prstGeom prst="rect">
            <a:avLst/>
          </a:prstGeom>
          <a:solidFill>
            <a:srgbClr val="2C3646"/>
          </a:solidFill>
          <a:ln/>
        </p:spPr>
      </p:sp>
      <p:sp>
        <p:nvSpPr>
          <p:cNvPr id="29" name="Text 27"/>
          <p:cNvSpPr/>
          <p:nvPr/>
        </p:nvSpPr>
        <p:spPr>
          <a:xfrm>
            <a:off x="3575304" y="397764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CLAIM HEADER</a:t>
            </a:r>
            <a:endParaRPr lang="en-US" sz="1200" dirty="0"/>
          </a:p>
        </p:txBody>
      </p:sp>
      <p:sp>
        <p:nvSpPr>
          <p:cNvPr id="30" name="Text 28"/>
          <p:cNvSpPr/>
          <p:nvPr/>
        </p:nvSpPr>
        <p:spPr>
          <a:xfrm>
            <a:off x="3575304" y="4471416"/>
            <a:ext cx="2039112" cy="630936"/>
          </a:xfrm>
          <a:prstGeom prst="rect">
            <a:avLst/>
          </a:prstGeom>
          <a:noFill/>
          <a:ln/>
        </p:spPr>
        <p:txBody>
          <a:bodyPr wrap="square" rtlCol="0" anchor="t"/>
          <a:lstStyle/>
          <a:p>
            <a:pPr indent="0" marL="0">
              <a:lnSpc>
                <a:spcPct val="105000"/>
              </a:lnSpc>
              <a:buNone/>
            </a:pPr>
            <a:endParaRPr lang="en-US" dirty="0"/>
          </a:p>
        </p:txBody>
      </p:sp>
      <p:sp>
        <p:nvSpPr>
          <p:cNvPr id="31" name="Shape 29"/>
          <p:cNvSpPr/>
          <p:nvPr/>
        </p:nvSpPr>
        <p:spPr>
          <a:xfrm>
            <a:off x="6263640" y="3977640"/>
            <a:ext cx="2331720" cy="1234440"/>
          </a:xfrm>
          <a:prstGeom prst="roundRect">
            <a:avLst>
              <a:gd name="adj" fmla="val 5926"/>
            </a:avLst>
          </a:prstGeom>
          <a:solidFill>
            <a:srgbClr val="FFFFFF"/>
          </a:solidFill>
          <a:ln w="9525">
            <a:solidFill>
              <a:srgbClr val="E7EAF0"/>
            </a:solidFill>
            <a:prstDash val="solid"/>
          </a:ln>
          <a:effectLst>
            <a:outerShdw sx="100000" sy="100000" kx="0" ky="0" algn="bl" rotWithShape="0" blurRad="76200" dist="25400" dir="5400000">
              <a:srgbClr val="9AA7BC">
                <a:alpha val="25000"/>
              </a:srgbClr>
            </a:outerShdw>
          </a:effectLst>
        </p:spPr>
      </p:sp>
      <p:sp>
        <p:nvSpPr>
          <p:cNvPr id="32" name="Shape 30"/>
          <p:cNvSpPr/>
          <p:nvPr/>
        </p:nvSpPr>
        <p:spPr>
          <a:xfrm>
            <a:off x="6263640" y="3977640"/>
            <a:ext cx="2331720" cy="384048"/>
          </a:xfrm>
          <a:prstGeom prst="roundRect">
            <a:avLst>
              <a:gd name="adj" fmla="val 19048"/>
            </a:avLst>
          </a:prstGeom>
          <a:solidFill>
            <a:srgbClr val="68758A"/>
          </a:solidFill>
          <a:ln/>
        </p:spPr>
      </p:sp>
      <p:sp>
        <p:nvSpPr>
          <p:cNvPr id="33" name="Shape 31"/>
          <p:cNvSpPr/>
          <p:nvPr/>
        </p:nvSpPr>
        <p:spPr>
          <a:xfrm>
            <a:off x="6263640" y="4169664"/>
            <a:ext cx="2331720" cy="192024"/>
          </a:xfrm>
          <a:prstGeom prst="rect">
            <a:avLst/>
          </a:prstGeom>
          <a:solidFill>
            <a:srgbClr val="68758A"/>
          </a:solidFill>
          <a:ln/>
        </p:spPr>
      </p:sp>
      <p:sp>
        <p:nvSpPr>
          <p:cNvPr id="34" name="Text 32"/>
          <p:cNvSpPr/>
          <p:nvPr/>
        </p:nvSpPr>
        <p:spPr>
          <a:xfrm>
            <a:off x="6409944" y="3977640"/>
            <a:ext cx="203911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CLAIM LINE</a:t>
            </a:r>
            <a:endParaRPr lang="en-US" sz="1200" dirty="0"/>
          </a:p>
        </p:txBody>
      </p:sp>
      <p:sp>
        <p:nvSpPr>
          <p:cNvPr id="35" name="Text 33"/>
          <p:cNvSpPr/>
          <p:nvPr/>
        </p:nvSpPr>
        <p:spPr>
          <a:xfrm>
            <a:off x="6409944" y="4471416"/>
            <a:ext cx="2039112" cy="630936"/>
          </a:xfrm>
          <a:prstGeom prst="rect">
            <a:avLst/>
          </a:prstGeom>
          <a:noFill/>
          <a:ln/>
        </p:spPr>
        <p:txBody>
          <a:bodyPr wrap="square" rtlCol="0" anchor="t"/>
          <a:lstStyle/>
          <a:p>
            <a:pPr indent="0" marL="0">
              <a:lnSpc>
                <a:spcPct val="105000"/>
              </a:lnSpc>
              <a:buNone/>
            </a:pPr>
            <a:endParaRPr lang="en-US" dirty="0"/>
          </a:p>
        </p:txBody>
      </p:sp>
      <p:sp>
        <p:nvSpPr>
          <p:cNvPr id="36" name="Shape 34"/>
          <p:cNvSpPr/>
          <p:nvPr/>
        </p:nvSpPr>
        <p:spPr>
          <a:xfrm>
            <a:off x="2926080" y="2171700"/>
            <a:ext cx="502920" cy="0"/>
          </a:xfrm>
          <a:prstGeom prst="line">
            <a:avLst/>
          </a:prstGeom>
          <a:noFill/>
          <a:ln w="19050">
            <a:solidFill>
              <a:srgbClr val="5C7699"/>
            </a:solidFill>
            <a:prstDash val="solid"/>
            <a:tailEnd type="triangle"/>
          </a:ln>
        </p:spPr>
      </p:sp>
      <p:sp>
        <p:nvSpPr>
          <p:cNvPr id="37" name="Text 35"/>
          <p:cNvSpPr/>
          <p:nvPr/>
        </p:nvSpPr>
        <p:spPr>
          <a:xfrm>
            <a:off x="278892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38" name="Text 36"/>
          <p:cNvSpPr/>
          <p:nvPr/>
        </p:nvSpPr>
        <p:spPr>
          <a:xfrm>
            <a:off x="329184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39" name="Shape 37"/>
          <p:cNvSpPr/>
          <p:nvPr/>
        </p:nvSpPr>
        <p:spPr>
          <a:xfrm>
            <a:off x="5760720" y="2171700"/>
            <a:ext cx="502920" cy="0"/>
          </a:xfrm>
          <a:prstGeom prst="line">
            <a:avLst/>
          </a:prstGeom>
          <a:noFill/>
          <a:ln w="19050">
            <a:solidFill>
              <a:srgbClr val="5C7699"/>
            </a:solidFill>
            <a:prstDash val="solid"/>
            <a:tailEnd type="triangle"/>
          </a:ln>
        </p:spPr>
      </p:sp>
      <p:sp>
        <p:nvSpPr>
          <p:cNvPr id="40" name="Text 38"/>
          <p:cNvSpPr/>
          <p:nvPr/>
        </p:nvSpPr>
        <p:spPr>
          <a:xfrm>
            <a:off x="562356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41" name="Text 39"/>
          <p:cNvSpPr/>
          <p:nvPr/>
        </p:nvSpPr>
        <p:spPr>
          <a:xfrm>
            <a:off x="612648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42" name="Shape 40"/>
          <p:cNvSpPr/>
          <p:nvPr/>
        </p:nvSpPr>
        <p:spPr>
          <a:xfrm>
            <a:off x="8595360" y="2171700"/>
            <a:ext cx="502920" cy="0"/>
          </a:xfrm>
          <a:prstGeom prst="line">
            <a:avLst/>
          </a:prstGeom>
          <a:noFill/>
          <a:ln w="19050">
            <a:solidFill>
              <a:srgbClr val="5C7699"/>
            </a:solidFill>
            <a:prstDash val="solid"/>
            <a:tailEnd type="triangle"/>
          </a:ln>
        </p:spPr>
      </p:sp>
      <p:sp>
        <p:nvSpPr>
          <p:cNvPr id="43" name="Text 41"/>
          <p:cNvSpPr/>
          <p:nvPr/>
        </p:nvSpPr>
        <p:spPr>
          <a:xfrm>
            <a:off x="845820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M</a:t>
            </a:r>
            <a:endParaRPr lang="en-US" sz="900" dirty="0"/>
          </a:p>
        </p:txBody>
      </p:sp>
      <p:sp>
        <p:nvSpPr>
          <p:cNvPr id="44" name="Text 42"/>
          <p:cNvSpPr/>
          <p:nvPr/>
        </p:nvSpPr>
        <p:spPr>
          <a:xfrm>
            <a:off x="8961120" y="2052828"/>
            <a:ext cx="365760" cy="237744"/>
          </a:xfrm>
          <a:prstGeom prst="rect">
            <a:avLst/>
          </a:prstGeom>
          <a:solidFill>
            <a:srgbClr val="FFFFFF"/>
          </a:solidFill>
          <a:ln/>
        </p:spPr>
        <p:txBody>
          <a:bodyPr wrap="square" rtlCol="0" anchor="ctr"/>
          <a:lstStyle/>
          <a:p>
            <a:pPr algn="ctr" indent="0" marL="0">
              <a:buNone/>
            </a:pPr>
            <a:r>
              <a:rPr lang="en-US" sz="900" b="1" dirty="0">
                <a:solidFill>
                  <a:srgbClr val="5C7699"/>
                </a:solidFill>
                <a:latin typeface="Calibri" pitchFamily="34" charset="0"/>
                <a:ea typeface="Calibri" pitchFamily="34" charset="-122"/>
                <a:cs typeface="Calibri" pitchFamily="34" charset="-120"/>
              </a:rPr>
              <a:t>1</a:t>
            </a:r>
            <a:endParaRPr lang="en-US" sz="900" dirty="0"/>
          </a:p>
        </p:txBody>
      </p:sp>
      <p:sp>
        <p:nvSpPr>
          <p:cNvPr id="45" name="Shape 43"/>
          <p:cNvSpPr/>
          <p:nvPr/>
        </p:nvSpPr>
        <p:spPr>
          <a:xfrm>
            <a:off x="4594860" y="2788920"/>
            <a:ext cx="0" cy="1188720"/>
          </a:xfrm>
          <a:prstGeom prst="line">
            <a:avLst/>
          </a:prstGeom>
          <a:noFill/>
          <a:ln w="19050">
            <a:solidFill>
              <a:srgbClr val="3A4556"/>
            </a:solidFill>
            <a:prstDash val="solid"/>
            <a:tailEnd type="triangle"/>
          </a:ln>
        </p:spPr>
      </p:sp>
      <p:sp>
        <p:nvSpPr>
          <p:cNvPr id="46" name="Text 44"/>
          <p:cNvSpPr/>
          <p:nvPr/>
        </p:nvSpPr>
        <p:spPr>
          <a:xfrm>
            <a:off x="4457700" y="267004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1</a:t>
            </a:r>
            <a:endParaRPr lang="en-US" sz="900" dirty="0"/>
          </a:p>
        </p:txBody>
      </p:sp>
      <p:sp>
        <p:nvSpPr>
          <p:cNvPr id="47" name="Text 45"/>
          <p:cNvSpPr/>
          <p:nvPr/>
        </p:nvSpPr>
        <p:spPr>
          <a:xfrm>
            <a:off x="4457700" y="385876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M</a:t>
            </a:r>
            <a:endParaRPr lang="en-US" sz="900" dirty="0"/>
          </a:p>
        </p:txBody>
      </p:sp>
      <p:sp>
        <p:nvSpPr>
          <p:cNvPr id="48" name="Shape 46"/>
          <p:cNvSpPr/>
          <p:nvPr/>
        </p:nvSpPr>
        <p:spPr>
          <a:xfrm>
            <a:off x="5760720" y="4594860"/>
            <a:ext cx="502920" cy="0"/>
          </a:xfrm>
          <a:prstGeom prst="line">
            <a:avLst/>
          </a:prstGeom>
          <a:noFill/>
          <a:ln w="19050">
            <a:solidFill>
              <a:srgbClr val="3A4556"/>
            </a:solidFill>
            <a:prstDash val="solid"/>
            <a:tailEnd type="triangle"/>
          </a:ln>
        </p:spPr>
      </p:sp>
      <p:sp>
        <p:nvSpPr>
          <p:cNvPr id="49" name="Text 47"/>
          <p:cNvSpPr/>
          <p:nvPr/>
        </p:nvSpPr>
        <p:spPr>
          <a:xfrm>
            <a:off x="5623560" y="447598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1</a:t>
            </a:r>
            <a:endParaRPr lang="en-US" sz="900" dirty="0"/>
          </a:p>
        </p:txBody>
      </p:sp>
      <p:sp>
        <p:nvSpPr>
          <p:cNvPr id="50" name="Text 48"/>
          <p:cNvSpPr/>
          <p:nvPr/>
        </p:nvSpPr>
        <p:spPr>
          <a:xfrm>
            <a:off x="6126480" y="447598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M</a:t>
            </a:r>
            <a:endParaRPr lang="en-US" sz="900" dirty="0"/>
          </a:p>
        </p:txBody>
      </p:sp>
      <p:sp>
        <p:nvSpPr>
          <p:cNvPr id="51" name="Shape 49"/>
          <p:cNvSpPr/>
          <p:nvPr/>
        </p:nvSpPr>
        <p:spPr>
          <a:xfrm flipH="1">
            <a:off x="7703820" y="2788920"/>
            <a:ext cx="2560320" cy="1188720"/>
          </a:xfrm>
          <a:prstGeom prst="line">
            <a:avLst/>
          </a:prstGeom>
          <a:noFill/>
          <a:ln w="19050">
            <a:solidFill>
              <a:srgbClr val="3A4556"/>
            </a:solidFill>
            <a:prstDash val="dash"/>
            <a:tailEnd type="triangle"/>
          </a:ln>
        </p:spPr>
      </p:sp>
      <p:sp>
        <p:nvSpPr>
          <p:cNvPr id="52" name="Text 50"/>
          <p:cNvSpPr/>
          <p:nvPr/>
        </p:nvSpPr>
        <p:spPr>
          <a:xfrm>
            <a:off x="10126980" y="267004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1</a:t>
            </a:r>
            <a:endParaRPr lang="en-US" sz="900" dirty="0"/>
          </a:p>
        </p:txBody>
      </p:sp>
      <p:sp>
        <p:nvSpPr>
          <p:cNvPr id="53" name="Text 51"/>
          <p:cNvSpPr/>
          <p:nvPr/>
        </p:nvSpPr>
        <p:spPr>
          <a:xfrm>
            <a:off x="7566660" y="3858768"/>
            <a:ext cx="365760" cy="237744"/>
          </a:xfrm>
          <a:prstGeom prst="rect">
            <a:avLst/>
          </a:prstGeom>
          <a:solidFill>
            <a:srgbClr val="FFFFFF"/>
          </a:solidFill>
          <a:ln/>
        </p:spPr>
        <p:txBody>
          <a:bodyPr wrap="square" rtlCol="0" anchor="ctr"/>
          <a:lstStyle/>
          <a:p>
            <a:pPr algn="ctr" indent="0" marL="0">
              <a:buNone/>
            </a:pPr>
            <a:r>
              <a:rPr lang="en-US" sz="900" b="1" dirty="0">
                <a:solidFill>
                  <a:srgbClr val="3A4556"/>
                </a:solidFill>
                <a:latin typeface="Calibri" pitchFamily="34" charset="0"/>
                <a:ea typeface="Calibri" pitchFamily="34" charset="-122"/>
                <a:cs typeface="Calibri" pitchFamily="34" charset="-120"/>
              </a:rPr>
              <a:t>M</a:t>
            </a:r>
            <a:endParaRPr lang="en-US" sz="900" dirty="0"/>
          </a:p>
        </p:txBody>
      </p:sp>
      <p:sp>
        <p:nvSpPr>
          <p:cNvPr id="54" name="Shape 52"/>
          <p:cNvSpPr/>
          <p:nvPr/>
        </p:nvSpPr>
        <p:spPr>
          <a:xfrm>
            <a:off x="502920" y="5532120"/>
            <a:ext cx="11185855" cy="868680"/>
          </a:xfrm>
          <a:prstGeom prst="roundRect">
            <a:avLst>
              <a:gd name="adj" fmla="val 8421"/>
            </a:avLst>
          </a:prstGeom>
          <a:solidFill>
            <a:srgbClr val="FBEEE6"/>
          </a:solidFill>
          <a:ln/>
        </p:spPr>
      </p:sp>
      <p:sp>
        <p:nvSpPr>
          <p:cNvPr id="55" name="Text 53"/>
          <p:cNvSpPr/>
          <p:nvPr/>
        </p:nvSpPr>
        <p:spPr>
          <a:xfrm>
            <a:off x="731520" y="5623560"/>
            <a:ext cx="10728655" cy="685800"/>
          </a:xfrm>
          <a:prstGeom prst="rect">
            <a:avLst/>
          </a:prstGeom>
          <a:noFill/>
          <a:ln/>
        </p:spPr>
        <p:txBody>
          <a:bodyPr wrap="square" rtlCol="0" anchor="ctr"/>
          <a:lstStyle/>
          <a:p>
            <a:pPr indent="0" marL="0">
              <a:lnSpc>
                <a:spcPct val="115000"/>
              </a:lnSpc>
              <a:buNone/>
            </a:pPr>
            <a:r>
              <a:rPr lang="en-US" sz="1080" i="1" dirty="0">
                <a:solidFill>
                  <a:srgbClr val="3A4556"/>
                </a:solidFill>
                <a:latin typeface="Calibri" pitchFamily="34" charset="0"/>
                <a:ea typeface="Calibri" pitchFamily="34" charset="-122"/>
                <a:cs typeface="Calibri" pitchFamily="34" charset="-120"/>
              </a:rPr>
              <a:t>Read this diagram as the answer to "how are the domains connected": Group anchors Member; Member and Provider resolve through PCP Assignment; Member and rendering Provider each attach directly to Claim Header; Claim Line carries the clinical/financial detail underneath. Every arrow is a foreign key enforced during Silver conformance.</a:t>
            </a:r>
            <a:endParaRPr lang="en-US" sz="10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SEMANTIC LAYER</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Semantic Views: Gold Tables Become Business Meaning</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37</a:t>
            </a:r>
            <a:endParaRPr lang="en-US" sz="900" dirty="0"/>
          </a:p>
        </p:txBody>
      </p:sp>
      <p:sp>
        <p:nvSpPr>
          <p:cNvPr id="6" name="Text 4"/>
          <p:cNvSpPr/>
          <p:nvPr/>
        </p:nvSpPr>
        <p:spPr>
          <a:xfrm>
            <a:off x="502920" y="1691640"/>
            <a:ext cx="11185855" cy="594360"/>
          </a:xfrm>
          <a:prstGeom prst="rect">
            <a:avLst/>
          </a:prstGeom>
          <a:noFill/>
          <a:ln/>
        </p:spPr>
        <p:txBody>
          <a:bodyPr wrap="square" rtlCol="0" anchor="ctr"/>
          <a:lstStyle/>
          <a:p>
            <a:pPr indent="0" marL="0">
              <a:lnSpc>
                <a:spcPct val="125000"/>
              </a:lnSpc>
              <a:buNone/>
            </a:pPr>
            <a:r>
              <a:rPr lang="en-US" sz="1300" dirty="0">
                <a:solidFill>
                  <a:srgbClr val="3A4556"/>
                </a:solidFill>
                <a:latin typeface="Calibri" pitchFamily="34" charset="0"/>
                <a:ea typeface="Calibri" pitchFamily="34" charset="-122"/>
                <a:cs typeface="Calibri" pitchFamily="34" charset="-120"/>
              </a:rPr>
              <a:t>A Semantic View is a schema-level object that overlays business vocabulary on physical Gold tables — the same mechanism whether a BI tool or an AI agent is asking.</a:t>
            </a:r>
            <a:endParaRPr lang="en-US" sz="1300" dirty="0"/>
          </a:p>
        </p:txBody>
      </p:sp>
      <p:sp>
        <p:nvSpPr>
          <p:cNvPr id="7" name="Shape 5"/>
          <p:cNvSpPr/>
          <p:nvPr/>
        </p:nvSpPr>
        <p:spPr>
          <a:xfrm>
            <a:off x="502920" y="2468880"/>
            <a:ext cx="2606040" cy="1920240"/>
          </a:xfrm>
          <a:prstGeom prst="roundRect">
            <a:avLst>
              <a:gd name="adj" fmla="val 3810"/>
            </a:avLst>
          </a:prstGeom>
          <a:solidFill>
            <a:srgbClr val="EAF0F8"/>
          </a:solidFill>
          <a:ln/>
        </p:spPr>
      </p:sp>
      <p:sp>
        <p:nvSpPr>
          <p:cNvPr id="8" name="Shape 6"/>
          <p:cNvSpPr/>
          <p:nvPr/>
        </p:nvSpPr>
        <p:spPr>
          <a:xfrm>
            <a:off x="667512" y="2633472"/>
            <a:ext cx="438912" cy="438912"/>
          </a:xfrm>
          <a:prstGeom prst="ellipse">
            <a:avLst/>
          </a:prstGeom>
          <a:solidFill>
            <a:srgbClr val="5C7699"/>
          </a:solidFill>
          <a:ln/>
        </p:spPr>
      </p:sp>
      <p:pic>
        <p:nvPicPr>
          <p:cNvPr id="9" name="Image 0" descr="/home/claude/snowflake_deck/icons/table_white.png">    </p:cNvPr>
          <p:cNvPicPr>
            <a:picLocks noChangeAspect="1"/>
          </p:cNvPicPr>
          <p:nvPr/>
        </p:nvPicPr>
        <p:blipFill>
          <a:blip r:embed="rId1"/>
          <a:stretch>
            <a:fillRect/>
          </a:stretch>
        </p:blipFill>
        <p:spPr>
          <a:xfrm>
            <a:off x="781629" y="2747589"/>
            <a:ext cx="210678" cy="210678"/>
          </a:xfrm>
          <a:prstGeom prst="rect">
            <a:avLst/>
          </a:prstGeom>
        </p:spPr>
      </p:pic>
      <p:sp>
        <p:nvSpPr>
          <p:cNvPr id="10" name="Text 7"/>
          <p:cNvSpPr/>
          <p:nvPr/>
        </p:nvSpPr>
        <p:spPr>
          <a:xfrm>
            <a:off x="667512" y="3182112"/>
            <a:ext cx="2276856" cy="292608"/>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Logical Tables</a:t>
            </a:r>
            <a:endParaRPr lang="en-US" sz="1150" dirty="0"/>
          </a:p>
        </p:txBody>
      </p:sp>
      <p:sp>
        <p:nvSpPr>
          <p:cNvPr id="11" name="Text 8"/>
          <p:cNvSpPr/>
          <p:nvPr/>
        </p:nvSpPr>
        <p:spPr>
          <a:xfrm>
            <a:off x="667512" y="3474720"/>
            <a:ext cx="2276856" cy="822960"/>
          </a:xfrm>
          <a:prstGeom prst="rect">
            <a:avLst/>
          </a:prstGeom>
          <a:noFill/>
          <a:ln/>
        </p:spPr>
        <p:txBody>
          <a:bodyPr wrap="square" rtlCol="0" anchor="ctr"/>
          <a:lstStyle/>
          <a:p>
            <a:pPr indent="0" marL="0">
              <a:lnSpc>
                <a:spcPct val="112000"/>
              </a:lnSpc>
              <a:buNone/>
            </a:pPr>
            <a:r>
              <a:rPr lang="en-US" sz="930" dirty="0">
                <a:solidFill>
                  <a:srgbClr val="68758A"/>
                </a:solidFill>
                <a:latin typeface="Calibri" pitchFamily="34" charset="0"/>
                <a:ea typeface="Calibri" pitchFamily="34" charset="-122"/>
                <a:cs typeface="Calibri" pitchFamily="34" charset="-120"/>
              </a:rPr>
              <a:t>Business entities — Member, Provider, Claim — each mapped to its Gold physical table.</a:t>
            </a:r>
            <a:endParaRPr lang="en-US" sz="930" dirty="0"/>
          </a:p>
        </p:txBody>
      </p:sp>
      <p:sp>
        <p:nvSpPr>
          <p:cNvPr id="12" name="Shape 9"/>
          <p:cNvSpPr/>
          <p:nvPr/>
        </p:nvSpPr>
        <p:spPr>
          <a:xfrm>
            <a:off x="3291840" y="2468880"/>
            <a:ext cx="2606040" cy="1920240"/>
          </a:xfrm>
          <a:prstGeom prst="roundRect">
            <a:avLst>
              <a:gd name="adj" fmla="val 3810"/>
            </a:avLst>
          </a:prstGeom>
          <a:solidFill>
            <a:srgbClr val="EAF0F8"/>
          </a:solidFill>
          <a:ln/>
        </p:spPr>
      </p:sp>
      <p:sp>
        <p:nvSpPr>
          <p:cNvPr id="13" name="Shape 10"/>
          <p:cNvSpPr/>
          <p:nvPr/>
        </p:nvSpPr>
        <p:spPr>
          <a:xfrm>
            <a:off x="3456432" y="2633472"/>
            <a:ext cx="438912" cy="438912"/>
          </a:xfrm>
          <a:prstGeom prst="ellipse">
            <a:avLst/>
          </a:prstGeom>
          <a:solidFill>
            <a:srgbClr val="5C7699"/>
          </a:solidFill>
          <a:ln/>
        </p:spPr>
      </p:sp>
      <p:pic>
        <p:nvPicPr>
          <p:cNvPr id="14" name="Image 1" descr="/home/claude/snowflake_deck/icons/filter_white.png">    </p:cNvPr>
          <p:cNvPicPr>
            <a:picLocks noChangeAspect="1"/>
          </p:cNvPicPr>
          <p:nvPr/>
        </p:nvPicPr>
        <p:blipFill>
          <a:blip r:embed="rId2"/>
          <a:stretch>
            <a:fillRect/>
          </a:stretch>
        </p:blipFill>
        <p:spPr>
          <a:xfrm>
            <a:off x="3570549" y="2747589"/>
            <a:ext cx="210678" cy="210678"/>
          </a:xfrm>
          <a:prstGeom prst="rect">
            <a:avLst/>
          </a:prstGeom>
        </p:spPr>
      </p:pic>
      <p:sp>
        <p:nvSpPr>
          <p:cNvPr id="15" name="Text 11"/>
          <p:cNvSpPr/>
          <p:nvPr/>
        </p:nvSpPr>
        <p:spPr>
          <a:xfrm>
            <a:off x="3456432" y="3182112"/>
            <a:ext cx="2276856" cy="292608"/>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Dimensions</a:t>
            </a:r>
            <a:endParaRPr lang="en-US" sz="1150" dirty="0"/>
          </a:p>
        </p:txBody>
      </p:sp>
      <p:sp>
        <p:nvSpPr>
          <p:cNvPr id="16" name="Text 12"/>
          <p:cNvSpPr/>
          <p:nvPr/>
        </p:nvSpPr>
        <p:spPr>
          <a:xfrm>
            <a:off x="3456432" y="3474720"/>
            <a:ext cx="2276856" cy="822960"/>
          </a:xfrm>
          <a:prstGeom prst="rect">
            <a:avLst/>
          </a:prstGeom>
          <a:noFill/>
          <a:ln/>
        </p:spPr>
        <p:txBody>
          <a:bodyPr wrap="square" rtlCol="0" anchor="ctr"/>
          <a:lstStyle/>
          <a:p>
            <a:pPr indent="0" marL="0">
              <a:lnSpc>
                <a:spcPct val="112000"/>
              </a:lnSpc>
              <a:buNone/>
            </a:pPr>
            <a:r>
              <a:rPr lang="en-US" sz="930" dirty="0">
                <a:solidFill>
                  <a:srgbClr val="68758A"/>
                </a:solidFill>
                <a:latin typeface="Calibri" pitchFamily="34" charset="0"/>
                <a:ea typeface="Calibri" pitchFamily="34" charset="-122"/>
                <a:cs typeface="Calibri" pitchFamily="34" charset="-120"/>
              </a:rPr>
              <a:t>Categorical context: plan type, provider specialty, claim status, region — the "who/what/where/when."</a:t>
            </a:r>
            <a:endParaRPr lang="en-US" sz="930" dirty="0"/>
          </a:p>
        </p:txBody>
      </p:sp>
      <p:sp>
        <p:nvSpPr>
          <p:cNvPr id="17" name="Shape 13"/>
          <p:cNvSpPr/>
          <p:nvPr/>
        </p:nvSpPr>
        <p:spPr>
          <a:xfrm>
            <a:off x="6080760" y="2468880"/>
            <a:ext cx="2606040" cy="1920240"/>
          </a:xfrm>
          <a:prstGeom prst="roundRect">
            <a:avLst>
              <a:gd name="adj" fmla="val 3810"/>
            </a:avLst>
          </a:prstGeom>
          <a:solidFill>
            <a:srgbClr val="EAF0F8"/>
          </a:solidFill>
          <a:ln/>
        </p:spPr>
      </p:sp>
      <p:sp>
        <p:nvSpPr>
          <p:cNvPr id="18" name="Shape 14"/>
          <p:cNvSpPr/>
          <p:nvPr/>
        </p:nvSpPr>
        <p:spPr>
          <a:xfrm>
            <a:off x="6245352" y="2633472"/>
            <a:ext cx="438912" cy="438912"/>
          </a:xfrm>
          <a:prstGeom prst="ellipse">
            <a:avLst/>
          </a:prstGeom>
          <a:solidFill>
            <a:srgbClr val="5C7699"/>
          </a:solidFill>
          <a:ln/>
        </p:spPr>
      </p:sp>
      <p:pic>
        <p:nvPicPr>
          <p:cNvPr id="19" name="Image 2" descr="/home/claude/snowflake_deck/icons/database_white.png">    </p:cNvPr>
          <p:cNvPicPr>
            <a:picLocks noChangeAspect="1"/>
          </p:cNvPicPr>
          <p:nvPr/>
        </p:nvPicPr>
        <p:blipFill>
          <a:blip r:embed="rId3"/>
          <a:stretch>
            <a:fillRect/>
          </a:stretch>
        </p:blipFill>
        <p:spPr>
          <a:xfrm>
            <a:off x="6359469" y="2747589"/>
            <a:ext cx="210678" cy="210678"/>
          </a:xfrm>
          <a:prstGeom prst="rect">
            <a:avLst/>
          </a:prstGeom>
        </p:spPr>
      </p:pic>
      <p:sp>
        <p:nvSpPr>
          <p:cNvPr id="20" name="Text 15"/>
          <p:cNvSpPr/>
          <p:nvPr/>
        </p:nvSpPr>
        <p:spPr>
          <a:xfrm>
            <a:off x="6245352" y="3182112"/>
            <a:ext cx="2276856" cy="292608"/>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Facts</a:t>
            </a:r>
            <a:endParaRPr lang="en-US" sz="1150" dirty="0"/>
          </a:p>
        </p:txBody>
      </p:sp>
      <p:sp>
        <p:nvSpPr>
          <p:cNvPr id="21" name="Text 16"/>
          <p:cNvSpPr/>
          <p:nvPr/>
        </p:nvSpPr>
        <p:spPr>
          <a:xfrm>
            <a:off x="6245352" y="3474720"/>
            <a:ext cx="2276856" cy="822960"/>
          </a:xfrm>
          <a:prstGeom prst="rect">
            <a:avLst/>
          </a:prstGeom>
          <a:noFill/>
          <a:ln/>
        </p:spPr>
        <p:txBody>
          <a:bodyPr wrap="square" rtlCol="0" anchor="ctr"/>
          <a:lstStyle/>
          <a:p>
            <a:pPr indent="0" marL="0">
              <a:lnSpc>
                <a:spcPct val="112000"/>
              </a:lnSpc>
              <a:buNone/>
            </a:pPr>
            <a:r>
              <a:rPr lang="en-US" sz="930" dirty="0">
                <a:solidFill>
                  <a:srgbClr val="68758A"/>
                </a:solidFill>
                <a:latin typeface="Calibri" pitchFamily="34" charset="0"/>
                <a:ea typeface="Calibri" pitchFamily="34" charset="-122"/>
                <a:cs typeface="Calibri" pitchFamily="34" charset="-120"/>
              </a:rPr>
              <a:t>Row-level measures: paid amount, allowed amount, units of service.</a:t>
            </a:r>
            <a:endParaRPr lang="en-US" sz="930" dirty="0"/>
          </a:p>
        </p:txBody>
      </p:sp>
      <p:sp>
        <p:nvSpPr>
          <p:cNvPr id="22" name="Shape 17"/>
          <p:cNvSpPr/>
          <p:nvPr/>
        </p:nvSpPr>
        <p:spPr>
          <a:xfrm>
            <a:off x="8869680" y="2468880"/>
            <a:ext cx="2606040" cy="1920240"/>
          </a:xfrm>
          <a:prstGeom prst="roundRect">
            <a:avLst>
              <a:gd name="adj" fmla="val 3810"/>
            </a:avLst>
          </a:prstGeom>
          <a:solidFill>
            <a:srgbClr val="EAF0F8"/>
          </a:solidFill>
          <a:ln/>
        </p:spPr>
      </p:sp>
      <p:sp>
        <p:nvSpPr>
          <p:cNvPr id="23" name="Shape 18"/>
          <p:cNvSpPr/>
          <p:nvPr/>
        </p:nvSpPr>
        <p:spPr>
          <a:xfrm>
            <a:off x="9034272" y="2633472"/>
            <a:ext cx="438912" cy="438912"/>
          </a:xfrm>
          <a:prstGeom prst="ellipse">
            <a:avLst/>
          </a:prstGeom>
          <a:solidFill>
            <a:srgbClr val="5C7699"/>
          </a:solidFill>
          <a:ln/>
        </p:spPr>
      </p:sp>
      <p:pic>
        <p:nvPicPr>
          <p:cNvPr id="24" name="Image 3" descr="/home/claude/snowflake_deck/icons/chartLine_white.png">    </p:cNvPr>
          <p:cNvPicPr>
            <a:picLocks noChangeAspect="1"/>
          </p:cNvPicPr>
          <p:nvPr/>
        </p:nvPicPr>
        <p:blipFill>
          <a:blip r:embed="rId4"/>
          <a:stretch>
            <a:fillRect/>
          </a:stretch>
        </p:blipFill>
        <p:spPr>
          <a:xfrm>
            <a:off x="9148389" y="2747589"/>
            <a:ext cx="210678" cy="210678"/>
          </a:xfrm>
          <a:prstGeom prst="rect">
            <a:avLst/>
          </a:prstGeom>
        </p:spPr>
      </p:pic>
      <p:sp>
        <p:nvSpPr>
          <p:cNvPr id="25" name="Text 19"/>
          <p:cNvSpPr/>
          <p:nvPr/>
        </p:nvSpPr>
        <p:spPr>
          <a:xfrm>
            <a:off x="9034272" y="3182112"/>
            <a:ext cx="2276856" cy="292608"/>
          </a:xfrm>
          <a:prstGeom prst="rect">
            <a:avLst/>
          </a:prstGeom>
          <a:noFill/>
          <a:ln/>
        </p:spPr>
        <p:txBody>
          <a:bodyPr wrap="square" rtlCol="0" anchor="ctr"/>
          <a:lstStyle/>
          <a:p>
            <a:pPr indent="0" marL="0">
              <a:buNone/>
            </a:pPr>
            <a:r>
              <a:rPr lang="en-US" sz="1150" b="1" dirty="0">
                <a:solidFill>
                  <a:srgbClr val="3A4556"/>
                </a:solidFill>
                <a:latin typeface="Calibri" pitchFamily="34" charset="0"/>
                <a:ea typeface="Calibri" pitchFamily="34" charset="-122"/>
                <a:cs typeface="Calibri" pitchFamily="34" charset="-120"/>
              </a:rPr>
              <a:t>Metrics</a:t>
            </a:r>
            <a:endParaRPr lang="en-US" sz="1150" dirty="0"/>
          </a:p>
        </p:txBody>
      </p:sp>
      <p:sp>
        <p:nvSpPr>
          <p:cNvPr id="26" name="Text 20"/>
          <p:cNvSpPr/>
          <p:nvPr/>
        </p:nvSpPr>
        <p:spPr>
          <a:xfrm>
            <a:off x="9034272" y="3474720"/>
            <a:ext cx="2276856" cy="822960"/>
          </a:xfrm>
          <a:prstGeom prst="rect">
            <a:avLst/>
          </a:prstGeom>
          <a:noFill/>
          <a:ln/>
        </p:spPr>
        <p:txBody>
          <a:bodyPr wrap="square" rtlCol="0" anchor="ctr"/>
          <a:lstStyle/>
          <a:p>
            <a:pPr indent="0" marL="0">
              <a:lnSpc>
                <a:spcPct val="112000"/>
              </a:lnSpc>
              <a:buNone/>
            </a:pPr>
            <a:r>
              <a:rPr lang="en-US" sz="930" dirty="0">
                <a:solidFill>
                  <a:srgbClr val="68758A"/>
                </a:solidFill>
                <a:latin typeface="Calibri" pitchFamily="34" charset="0"/>
                <a:ea typeface="Calibri" pitchFamily="34" charset="-122"/>
                <a:cs typeface="Calibri" pitchFamily="34" charset="-120"/>
              </a:rPr>
              <a:t>Governed aggregations: medical loss ratio, PMPM cost, claims-per-member — defined once, computed the same way everywhere.</a:t>
            </a:r>
            <a:endParaRPr lang="en-US" sz="930" dirty="0"/>
          </a:p>
        </p:txBody>
      </p:sp>
      <p:sp>
        <p:nvSpPr>
          <p:cNvPr id="27" name="Text 21"/>
          <p:cNvSpPr/>
          <p:nvPr/>
        </p:nvSpPr>
        <p:spPr>
          <a:xfrm>
            <a:off x="502920" y="4617720"/>
            <a:ext cx="11185855" cy="365760"/>
          </a:xfrm>
          <a:prstGeom prst="rect">
            <a:avLst/>
          </a:prstGeom>
          <a:noFill/>
          <a:ln/>
        </p:spPr>
        <p:txBody>
          <a:bodyPr wrap="square" rtlCol="0" anchor="ctr"/>
          <a:lstStyle/>
          <a:p>
            <a:pPr indent="0" marL="0">
              <a:buNone/>
            </a:pPr>
            <a:r>
              <a:rPr lang="en-US" sz="1100" i="1" dirty="0">
                <a:solidFill>
                  <a:srgbClr val="C97F5C"/>
                </a:solidFill>
                <a:latin typeface="Courier New" pitchFamily="34" charset="0"/>
                <a:ea typeface="Courier New" pitchFamily="34" charset="-122"/>
                <a:cs typeface="Courier New" pitchFamily="34" charset="-120"/>
              </a:rPr>
              <a:t>gross revenue → SUM(amt_ttl_pre_dsc)   ·   attributed member → member with an active PCP Assignment on date of service</a:t>
            </a:r>
            <a:endParaRPr lang="en-US" sz="1100" dirty="0"/>
          </a:p>
        </p:txBody>
      </p:sp>
      <p:sp>
        <p:nvSpPr>
          <p:cNvPr id="28" name="Shape 22"/>
          <p:cNvSpPr/>
          <p:nvPr/>
        </p:nvSpPr>
        <p:spPr>
          <a:xfrm>
            <a:off x="502920" y="5166360"/>
            <a:ext cx="11185855" cy="1051560"/>
          </a:xfrm>
          <a:prstGeom prst="roundRect">
            <a:avLst>
              <a:gd name="adj" fmla="val 6957"/>
            </a:avLst>
          </a:prstGeom>
          <a:solidFill>
            <a:srgbClr val="3A4556"/>
          </a:solidFill>
          <a:ln/>
        </p:spPr>
      </p:sp>
      <p:sp>
        <p:nvSpPr>
          <p:cNvPr id="29" name="Text 23"/>
          <p:cNvSpPr/>
          <p:nvPr/>
        </p:nvSpPr>
        <p:spPr>
          <a:xfrm>
            <a:off x="777240" y="5166360"/>
            <a:ext cx="10637215" cy="1051560"/>
          </a:xfrm>
          <a:prstGeom prst="rect">
            <a:avLst/>
          </a:prstGeom>
          <a:noFill/>
          <a:ln/>
        </p:spPr>
        <p:txBody>
          <a:bodyPr wrap="square" rtlCol="0" anchor="ctr"/>
          <a:lstStyle/>
          <a:p>
            <a:pPr algn="l" indent="0" marL="0">
              <a:lnSpc>
                <a:spcPct val="115000"/>
              </a:lnSpc>
              <a:buNone/>
            </a:pPr>
            <a:r>
              <a:rPr lang="en-US" sz="1200" i="1" dirty="0">
                <a:solidFill>
                  <a:srgbClr val="FFFFFF"/>
                </a:solidFill>
                <a:latin typeface="Calibri" pitchFamily="34" charset="0"/>
                <a:ea typeface="Calibri" pitchFamily="34" charset="-122"/>
                <a:cs typeface="Calibri" pitchFamily="34" charset="-120"/>
              </a:rPr>
              <a:t>Cortex Agents read the Semantic View definition and generate SQL against the physical Gold tables for natural-language processing; BI tools consume the same view for dashboards — one definition of "medical loss ratio," used everywhere, instead of duplicated logic per tool.</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05</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How the Prompt Actually Routes</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The question this research was specifically asked to answer: what happens, layer by layer, when an AI prompt is issued from the Snowflake web interface — versus a query issued from TOAD or DBeaver?</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INVOCATION PATH</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Two Entry Points: Snowsight vs. SQL IDE Clients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02920" y="1737360"/>
            <a:ext cx="5349240" cy="3977640"/>
          </a:xfrm>
          <a:prstGeom prst="roundRect">
            <a:avLst>
              <a:gd name="adj" fmla="val 1839"/>
            </a:avLst>
          </a:prstGeom>
          <a:solidFill>
            <a:srgbClr val="EAF0F8"/>
          </a:solidFill>
          <a:ln/>
        </p:spPr>
      </p:sp>
      <p:sp>
        <p:nvSpPr>
          <p:cNvPr id="7" name="Shape 5"/>
          <p:cNvSpPr/>
          <p:nvPr/>
        </p:nvSpPr>
        <p:spPr>
          <a:xfrm>
            <a:off x="777240" y="1965960"/>
            <a:ext cx="502920" cy="502920"/>
          </a:xfrm>
          <a:prstGeom prst="ellipse">
            <a:avLst/>
          </a:prstGeom>
          <a:solidFill>
            <a:srgbClr val="5C7699"/>
          </a:solidFill>
          <a:ln/>
        </p:spPr>
      </p:sp>
      <p:pic>
        <p:nvPicPr>
          <p:cNvPr id="8" name="Image 0" descr="/home/claude/snowflake_deck/icons/desktop_white.png">    </p:cNvPr>
          <p:cNvPicPr>
            <a:picLocks noChangeAspect="1"/>
          </p:cNvPicPr>
          <p:nvPr/>
        </p:nvPicPr>
        <p:blipFill>
          <a:blip r:embed="rId1"/>
          <a:stretch>
            <a:fillRect/>
          </a:stretch>
        </p:blipFill>
        <p:spPr>
          <a:xfrm>
            <a:off x="907999" y="2096719"/>
            <a:ext cx="241402" cy="241402"/>
          </a:xfrm>
          <a:prstGeom prst="rect">
            <a:avLst/>
          </a:prstGeom>
        </p:spPr>
      </p:pic>
      <p:sp>
        <p:nvSpPr>
          <p:cNvPr id="9" name="Text 6"/>
          <p:cNvSpPr/>
          <p:nvPr/>
        </p:nvSpPr>
        <p:spPr>
          <a:xfrm>
            <a:off x="1463040" y="2011680"/>
            <a:ext cx="4114800" cy="411480"/>
          </a:xfrm>
          <a:prstGeom prst="rect">
            <a:avLst/>
          </a:prstGeom>
          <a:noFill/>
          <a:ln/>
        </p:spPr>
        <p:txBody>
          <a:bodyPr wrap="square" rtlCol="0" anchor="ctr"/>
          <a:lstStyle/>
          <a:p>
            <a:pPr indent="0" marL="0">
              <a:buNone/>
            </a:pPr>
            <a:r>
              <a:rPr lang="en-US" sz="1300" b="1" dirty="0">
                <a:solidFill>
                  <a:srgbClr val="3A4556"/>
                </a:solidFill>
                <a:latin typeface="Calibri" pitchFamily="34" charset="0"/>
                <a:ea typeface="Calibri" pitchFamily="34" charset="-122"/>
                <a:cs typeface="Calibri" pitchFamily="34" charset="-120"/>
              </a:rPr>
              <a:t>SNOWSIGHT (BROWSER)</a:t>
            </a:r>
            <a:endParaRPr lang="en-US" sz="1300" dirty="0"/>
          </a:p>
        </p:txBody>
      </p:sp>
      <p:sp>
        <p:nvSpPr>
          <p:cNvPr id="10" name="Text 7"/>
          <p:cNvSpPr/>
          <p:nvPr/>
        </p:nvSpPr>
        <p:spPr>
          <a:xfrm>
            <a:off x="777240" y="2606040"/>
            <a:ext cx="4892040" cy="301752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 first-party web application Snowflake operates — not a generic SQL client with a UI skin.</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Speaks both the SQL protocol and Snowflake's internal application/REST APIs — worksheets, Cortex Analyst chat, CoWork, Streamlit apps, Notebooks.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This dual capability is what lets it reach the agentic layer: Cortex Sense, Cortex Agents, and CoWork orchestration are exposed here, not over the SQL wire protocol.</a:t>
            </a:r>
            <a:endParaRPr lang="en-US" sz="1150" dirty="0"/>
          </a:p>
        </p:txBody>
      </p:sp>
      <p:sp>
        <p:nvSpPr>
          <p:cNvPr id="11" name="Shape 8"/>
          <p:cNvSpPr/>
          <p:nvPr/>
        </p:nvSpPr>
        <p:spPr>
          <a:xfrm>
            <a:off x="6309360" y="1737360"/>
            <a:ext cx="5349240" cy="3977640"/>
          </a:xfrm>
          <a:prstGeom prst="roundRect">
            <a:avLst>
              <a:gd name="adj" fmla="val 1839"/>
            </a:avLst>
          </a:prstGeom>
          <a:solidFill>
            <a:srgbClr val="FBEEE6"/>
          </a:solidFill>
          <a:ln/>
        </p:spPr>
      </p:sp>
      <p:sp>
        <p:nvSpPr>
          <p:cNvPr id="12" name="Shape 9"/>
          <p:cNvSpPr/>
          <p:nvPr/>
        </p:nvSpPr>
        <p:spPr>
          <a:xfrm>
            <a:off x="6583680" y="1965960"/>
            <a:ext cx="502920" cy="502920"/>
          </a:xfrm>
          <a:prstGeom prst="ellipse">
            <a:avLst/>
          </a:prstGeom>
          <a:solidFill>
            <a:srgbClr val="C97F5C"/>
          </a:solidFill>
          <a:ln/>
        </p:spPr>
      </p:sp>
      <p:pic>
        <p:nvPicPr>
          <p:cNvPr id="13" name="Image 1" descr="/home/claude/snowflake_deck/icons/terminal_white.png">    </p:cNvPr>
          <p:cNvPicPr>
            <a:picLocks noChangeAspect="1"/>
          </p:cNvPicPr>
          <p:nvPr/>
        </p:nvPicPr>
        <p:blipFill>
          <a:blip r:embed="rId2"/>
          <a:stretch>
            <a:fillRect/>
          </a:stretch>
        </p:blipFill>
        <p:spPr>
          <a:xfrm>
            <a:off x="6714439" y="2096719"/>
            <a:ext cx="241402" cy="241402"/>
          </a:xfrm>
          <a:prstGeom prst="rect">
            <a:avLst/>
          </a:prstGeom>
        </p:spPr>
      </p:pic>
      <p:sp>
        <p:nvSpPr>
          <p:cNvPr id="14" name="Text 10"/>
          <p:cNvSpPr/>
          <p:nvPr/>
        </p:nvSpPr>
        <p:spPr>
          <a:xfrm>
            <a:off x="7269480" y="2011680"/>
            <a:ext cx="4114800" cy="411480"/>
          </a:xfrm>
          <a:prstGeom prst="rect">
            <a:avLst/>
          </a:prstGeom>
          <a:noFill/>
          <a:ln/>
        </p:spPr>
        <p:txBody>
          <a:bodyPr wrap="square" rtlCol="0" anchor="ctr"/>
          <a:lstStyle/>
          <a:p>
            <a:pPr indent="0" marL="0">
              <a:buNone/>
            </a:pPr>
            <a:r>
              <a:rPr lang="en-US" sz="1300" b="1" dirty="0">
                <a:solidFill>
                  <a:srgbClr val="3A4556"/>
                </a:solidFill>
                <a:latin typeface="Calibri" pitchFamily="34" charset="0"/>
                <a:ea typeface="Calibri" pitchFamily="34" charset="-122"/>
                <a:cs typeface="Calibri" pitchFamily="34" charset="-120"/>
              </a:rPr>
              <a:t>TOAD / DBEAVER (SQL IDE)</a:t>
            </a:r>
            <a:endParaRPr lang="en-US" sz="1300" dirty="0"/>
          </a:p>
        </p:txBody>
      </p:sp>
      <p:sp>
        <p:nvSpPr>
          <p:cNvPr id="15" name="Text 11"/>
          <p:cNvSpPr/>
          <p:nvPr/>
        </p:nvSpPr>
        <p:spPr>
          <a:xfrm>
            <a:off x="6583680" y="2606040"/>
            <a:ext cx="4892040" cy="301752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General-purpose desktop SQL IDEs that connect to many database vendors, not only Snowflake.</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Speak exactly one protocol to Snowflake: JDBC or ODBC — the same driver-level SQL wire protocol any BI tool or script uses.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They can authenticate, browse objects, and run any statement the connected role is entitled to — including calling SQL functions — but they never call Snowflake's application-layer REST APIs.</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INVOCATION PATH</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Path A — A Business Prompt via Snowsight / CoWork</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02920" y="1691640"/>
            <a:ext cx="3611880" cy="1536192"/>
          </a:xfrm>
          <a:prstGeom prst="roundRect">
            <a:avLst>
              <a:gd name="adj" fmla="val 4762"/>
            </a:avLst>
          </a:prstGeom>
          <a:solidFill>
            <a:srgbClr val="EAF0F8"/>
          </a:solidFill>
          <a:ln/>
        </p:spPr>
      </p:sp>
      <p:sp>
        <p:nvSpPr>
          <p:cNvPr id="7" name="Shape 5"/>
          <p:cNvSpPr/>
          <p:nvPr/>
        </p:nvSpPr>
        <p:spPr>
          <a:xfrm>
            <a:off x="667512" y="1837944"/>
            <a:ext cx="329184" cy="329184"/>
          </a:xfrm>
          <a:prstGeom prst="ellipse">
            <a:avLst/>
          </a:prstGeom>
          <a:solidFill>
            <a:srgbClr val="5C7699"/>
          </a:solidFill>
          <a:ln/>
        </p:spPr>
      </p:sp>
      <p:sp>
        <p:nvSpPr>
          <p:cNvPr id="8" name="Text 6"/>
          <p:cNvSpPr/>
          <p:nvPr/>
        </p:nvSpPr>
        <p:spPr>
          <a:xfrm>
            <a:off x="667512"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97280"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Browser → Cloud Services</a:t>
            </a:r>
            <a:endParaRPr lang="en-US" sz="1100" dirty="0"/>
          </a:p>
        </p:txBody>
      </p:sp>
      <p:sp>
        <p:nvSpPr>
          <p:cNvPr id="10" name="Text 8"/>
          <p:cNvSpPr/>
          <p:nvPr/>
        </p:nvSpPr>
        <p:spPr>
          <a:xfrm>
            <a:off x="667512"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The user types a question in Snowsight or CoWork. The browser session authenticates via SSO/MFA; Cloud Services resolves the user's role and RBAC entitlements.</a:t>
            </a:r>
            <a:endParaRPr lang="en-US" sz="880" dirty="0"/>
          </a:p>
        </p:txBody>
      </p:sp>
      <p:sp>
        <p:nvSpPr>
          <p:cNvPr id="11" name="Shape 9"/>
          <p:cNvSpPr/>
          <p:nvPr/>
        </p:nvSpPr>
        <p:spPr>
          <a:xfrm>
            <a:off x="4315968" y="1691640"/>
            <a:ext cx="3611880" cy="1536192"/>
          </a:xfrm>
          <a:prstGeom prst="roundRect">
            <a:avLst>
              <a:gd name="adj" fmla="val 4762"/>
            </a:avLst>
          </a:prstGeom>
          <a:solidFill>
            <a:srgbClr val="EAF0F8"/>
          </a:solidFill>
          <a:ln/>
        </p:spPr>
      </p:sp>
      <p:sp>
        <p:nvSpPr>
          <p:cNvPr id="12" name="Shape 10"/>
          <p:cNvSpPr/>
          <p:nvPr/>
        </p:nvSpPr>
        <p:spPr>
          <a:xfrm>
            <a:off x="4480560" y="1837944"/>
            <a:ext cx="329184" cy="329184"/>
          </a:xfrm>
          <a:prstGeom prst="ellipse">
            <a:avLst/>
          </a:prstGeom>
          <a:solidFill>
            <a:srgbClr val="5C7699"/>
          </a:solidFill>
          <a:ln/>
        </p:spPr>
      </p:sp>
      <p:sp>
        <p:nvSpPr>
          <p:cNvPr id="13" name="Text 11"/>
          <p:cNvSpPr/>
          <p:nvPr/>
        </p:nvSpPr>
        <p:spPr>
          <a:xfrm>
            <a:off x="4480560"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910328"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Cortex Sense → Context</a:t>
            </a:r>
            <a:endParaRPr lang="en-US" sz="1100" dirty="0"/>
          </a:p>
        </p:txBody>
      </p:sp>
      <p:sp>
        <p:nvSpPr>
          <p:cNvPr id="15" name="Text 13"/>
          <p:cNvSpPr/>
          <p:nvPr/>
        </p:nvSpPr>
        <p:spPr>
          <a:xfrm>
            <a:off x="4480560"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Before any SQL is written, Cortex Sense retrieves and ranks the relevant business definitions — query history, metadata, BI definitions, semantic views — for this question.</a:t>
            </a:r>
            <a:endParaRPr lang="en-US" sz="880" dirty="0"/>
          </a:p>
        </p:txBody>
      </p:sp>
      <p:sp>
        <p:nvSpPr>
          <p:cNvPr id="16" name="Shape 14"/>
          <p:cNvSpPr/>
          <p:nvPr/>
        </p:nvSpPr>
        <p:spPr>
          <a:xfrm>
            <a:off x="8129016" y="1691640"/>
            <a:ext cx="3611880" cy="1536192"/>
          </a:xfrm>
          <a:prstGeom prst="roundRect">
            <a:avLst>
              <a:gd name="adj" fmla="val 4762"/>
            </a:avLst>
          </a:prstGeom>
          <a:solidFill>
            <a:srgbClr val="EAF0F8"/>
          </a:solidFill>
          <a:ln/>
        </p:spPr>
      </p:sp>
      <p:sp>
        <p:nvSpPr>
          <p:cNvPr id="17" name="Shape 15"/>
          <p:cNvSpPr/>
          <p:nvPr/>
        </p:nvSpPr>
        <p:spPr>
          <a:xfrm>
            <a:off x="8293608" y="1837944"/>
            <a:ext cx="329184" cy="329184"/>
          </a:xfrm>
          <a:prstGeom prst="ellipse">
            <a:avLst/>
          </a:prstGeom>
          <a:solidFill>
            <a:srgbClr val="5C7699"/>
          </a:solidFill>
          <a:ln/>
        </p:spPr>
      </p:sp>
      <p:sp>
        <p:nvSpPr>
          <p:cNvPr id="18" name="Text 16"/>
          <p:cNvSpPr/>
          <p:nvPr/>
        </p:nvSpPr>
        <p:spPr>
          <a:xfrm>
            <a:off x="8293608"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23376"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Cortex Analyst / Agents → Semantic Layer</a:t>
            </a:r>
            <a:endParaRPr lang="en-US" sz="1100" dirty="0"/>
          </a:p>
        </p:txBody>
      </p:sp>
      <p:sp>
        <p:nvSpPr>
          <p:cNvPr id="20" name="Text 18"/>
          <p:cNvSpPr/>
          <p:nvPr/>
        </p:nvSpPr>
        <p:spPr>
          <a:xfrm>
            <a:off x="8293608"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The ranked context plus the question go to Cortex Analyst (or a Cortex Agent orchestrating Analyst + Search). It consults the Semantic View for the correct joins, metrics, and business logic.</a:t>
            </a:r>
            <a:endParaRPr lang="en-US" sz="880" dirty="0"/>
          </a:p>
        </p:txBody>
      </p:sp>
      <p:sp>
        <p:nvSpPr>
          <p:cNvPr id="21" name="Shape 19"/>
          <p:cNvSpPr/>
          <p:nvPr/>
        </p:nvSpPr>
        <p:spPr>
          <a:xfrm>
            <a:off x="502920" y="3410712"/>
            <a:ext cx="3611880" cy="1536192"/>
          </a:xfrm>
          <a:prstGeom prst="roundRect">
            <a:avLst>
              <a:gd name="adj" fmla="val 4762"/>
            </a:avLst>
          </a:prstGeom>
          <a:solidFill>
            <a:srgbClr val="EAF0F8"/>
          </a:solidFill>
          <a:ln/>
        </p:spPr>
      </p:sp>
      <p:sp>
        <p:nvSpPr>
          <p:cNvPr id="22" name="Shape 20"/>
          <p:cNvSpPr/>
          <p:nvPr/>
        </p:nvSpPr>
        <p:spPr>
          <a:xfrm>
            <a:off x="667512" y="3557016"/>
            <a:ext cx="329184" cy="329184"/>
          </a:xfrm>
          <a:prstGeom prst="ellipse">
            <a:avLst/>
          </a:prstGeom>
          <a:solidFill>
            <a:srgbClr val="5C7699"/>
          </a:solidFill>
          <a:ln/>
        </p:spPr>
      </p:sp>
      <p:sp>
        <p:nvSpPr>
          <p:cNvPr id="23" name="Text 21"/>
          <p:cNvSpPr/>
          <p:nvPr/>
        </p:nvSpPr>
        <p:spPr>
          <a:xfrm>
            <a:off x="667512"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097280"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SQL Generation &amp; Compute</a:t>
            </a:r>
            <a:endParaRPr lang="en-US" sz="1100" dirty="0"/>
          </a:p>
        </p:txBody>
      </p:sp>
      <p:sp>
        <p:nvSpPr>
          <p:cNvPr id="25" name="Text 23"/>
          <p:cNvSpPr/>
          <p:nvPr/>
        </p:nvSpPr>
        <p:spPr>
          <a:xfrm>
            <a:off x="667512"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An LLM generates SQL against the semantic model. Cloud Services compiles and optimizes it; a virtual warehouse in the Compute layer executes it.</a:t>
            </a:r>
            <a:endParaRPr lang="en-US" sz="880" dirty="0"/>
          </a:p>
        </p:txBody>
      </p:sp>
      <p:sp>
        <p:nvSpPr>
          <p:cNvPr id="26" name="Shape 24"/>
          <p:cNvSpPr/>
          <p:nvPr/>
        </p:nvSpPr>
        <p:spPr>
          <a:xfrm>
            <a:off x="4315968" y="3410712"/>
            <a:ext cx="3611880" cy="1536192"/>
          </a:xfrm>
          <a:prstGeom prst="roundRect">
            <a:avLst>
              <a:gd name="adj" fmla="val 4762"/>
            </a:avLst>
          </a:prstGeom>
          <a:solidFill>
            <a:srgbClr val="EAF0F8"/>
          </a:solidFill>
          <a:ln/>
        </p:spPr>
      </p:sp>
      <p:sp>
        <p:nvSpPr>
          <p:cNvPr id="27" name="Shape 25"/>
          <p:cNvSpPr/>
          <p:nvPr/>
        </p:nvSpPr>
        <p:spPr>
          <a:xfrm>
            <a:off x="4480560" y="3557016"/>
            <a:ext cx="329184" cy="329184"/>
          </a:xfrm>
          <a:prstGeom prst="ellipse">
            <a:avLst/>
          </a:prstGeom>
          <a:solidFill>
            <a:srgbClr val="5C7699"/>
          </a:solidFill>
          <a:ln/>
        </p:spPr>
      </p:sp>
      <p:sp>
        <p:nvSpPr>
          <p:cNvPr id="28" name="Text 26"/>
          <p:cNvSpPr/>
          <p:nvPr/>
        </p:nvSpPr>
        <p:spPr>
          <a:xfrm>
            <a:off x="4480560"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4910328"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Storage → Result</a:t>
            </a:r>
            <a:endParaRPr lang="en-US" sz="1100" dirty="0"/>
          </a:p>
        </p:txBody>
      </p:sp>
      <p:sp>
        <p:nvSpPr>
          <p:cNvPr id="30" name="Text 28"/>
          <p:cNvSpPr/>
          <p:nvPr/>
        </p:nvSpPr>
        <p:spPr>
          <a:xfrm>
            <a:off x="4480560"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Gold-layer micro-partitions are read from Storage, filtered by any row-access or masking policy tied to the user's role.</a:t>
            </a:r>
            <a:endParaRPr lang="en-US" sz="880" dirty="0"/>
          </a:p>
        </p:txBody>
      </p:sp>
      <p:sp>
        <p:nvSpPr>
          <p:cNvPr id="31" name="Shape 29"/>
          <p:cNvSpPr/>
          <p:nvPr/>
        </p:nvSpPr>
        <p:spPr>
          <a:xfrm>
            <a:off x="8129016" y="3410712"/>
            <a:ext cx="3611880" cy="1536192"/>
          </a:xfrm>
          <a:prstGeom prst="roundRect">
            <a:avLst>
              <a:gd name="adj" fmla="val 4762"/>
            </a:avLst>
          </a:prstGeom>
          <a:solidFill>
            <a:srgbClr val="EAF0F8"/>
          </a:solidFill>
          <a:ln/>
        </p:spPr>
      </p:sp>
      <p:sp>
        <p:nvSpPr>
          <p:cNvPr id="32" name="Shape 30"/>
          <p:cNvSpPr/>
          <p:nvPr/>
        </p:nvSpPr>
        <p:spPr>
          <a:xfrm>
            <a:off x="8293608" y="3557016"/>
            <a:ext cx="329184" cy="329184"/>
          </a:xfrm>
          <a:prstGeom prst="ellipse">
            <a:avLst/>
          </a:prstGeom>
          <a:solidFill>
            <a:srgbClr val="5C7699"/>
          </a:solidFill>
          <a:ln/>
        </p:spPr>
      </p:sp>
      <p:sp>
        <p:nvSpPr>
          <p:cNvPr id="33" name="Text 31"/>
          <p:cNvSpPr/>
          <p:nvPr/>
        </p:nvSpPr>
        <p:spPr>
          <a:xfrm>
            <a:off x="8293608"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723376"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CoWork Orchestration → Answer</a:t>
            </a:r>
            <a:endParaRPr lang="en-US" sz="1100" dirty="0"/>
          </a:p>
        </p:txBody>
      </p:sp>
      <p:sp>
        <p:nvSpPr>
          <p:cNvPr id="35" name="Text 33"/>
          <p:cNvSpPr/>
          <p:nvPr/>
        </p:nvSpPr>
        <p:spPr>
          <a:xfrm>
            <a:off x="8293608"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CoWork wraps the result with interpretation, can chart it, save it as a live Artifact, or hand off to a Skill/MCP connector — entirely inside the governed session.</a:t>
            </a:r>
            <a:endParaRPr lang="en-US" sz="8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INVOCATION PATH</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Path B — A Query via TOAD / DBeaver (JDBC / ODBC)</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02920" y="1691640"/>
            <a:ext cx="3611880" cy="1536192"/>
          </a:xfrm>
          <a:prstGeom prst="roundRect">
            <a:avLst>
              <a:gd name="adj" fmla="val 4762"/>
            </a:avLst>
          </a:prstGeom>
          <a:solidFill>
            <a:srgbClr val="EAF0F8"/>
          </a:solidFill>
          <a:ln/>
        </p:spPr>
      </p:sp>
      <p:sp>
        <p:nvSpPr>
          <p:cNvPr id="7" name="Shape 5"/>
          <p:cNvSpPr/>
          <p:nvPr/>
        </p:nvSpPr>
        <p:spPr>
          <a:xfrm>
            <a:off x="667512" y="1837944"/>
            <a:ext cx="329184" cy="329184"/>
          </a:xfrm>
          <a:prstGeom prst="ellipse">
            <a:avLst/>
          </a:prstGeom>
          <a:solidFill>
            <a:srgbClr val="5C7699"/>
          </a:solidFill>
          <a:ln/>
        </p:spPr>
      </p:sp>
      <p:sp>
        <p:nvSpPr>
          <p:cNvPr id="8" name="Text 6"/>
          <p:cNvSpPr/>
          <p:nvPr/>
        </p:nvSpPr>
        <p:spPr>
          <a:xfrm>
            <a:off x="667512"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97280"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Client → JDBC/ODBC Driver</a:t>
            </a:r>
            <a:endParaRPr lang="en-US" sz="1100" dirty="0"/>
          </a:p>
        </p:txBody>
      </p:sp>
      <p:sp>
        <p:nvSpPr>
          <p:cNvPr id="10" name="Text 8"/>
          <p:cNvSpPr/>
          <p:nvPr/>
        </p:nvSpPr>
        <p:spPr>
          <a:xfrm>
            <a:off x="667512"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The analyst writes SQL directly in TOAD or DBeaver. The Snowflake JDBC/ODBC driver serializes it and opens an authenticated connection.</a:t>
            </a:r>
            <a:endParaRPr lang="en-US" sz="880" dirty="0"/>
          </a:p>
        </p:txBody>
      </p:sp>
      <p:sp>
        <p:nvSpPr>
          <p:cNvPr id="11" name="Shape 9"/>
          <p:cNvSpPr/>
          <p:nvPr/>
        </p:nvSpPr>
        <p:spPr>
          <a:xfrm>
            <a:off x="4315968" y="1691640"/>
            <a:ext cx="3611880" cy="1536192"/>
          </a:xfrm>
          <a:prstGeom prst="roundRect">
            <a:avLst>
              <a:gd name="adj" fmla="val 4762"/>
            </a:avLst>
          </a:prstGeom>
          <a:solidFill>
            <a:srgbClr val="EAF0F8"/>
          </a:solidFill>
          <a:ln/>
        </p:spPr>
      </p:sp>
      <p:sp>
        <p:nvSpPr>
          <p:cNvPr id="12" name="Shape 10"/>
          <p:cNvSpPr/>
          <p:nvPr/>
        </p:nvSpPr>
        <p:spPr>
          <a:xfrm>
            <a:off x="4480560" y="1837944"/>
            <a:ext cx="329184" cy="329184"/>
          </a:xfrm>
          <a:prstGeom prst="ellipse">
            <a:avLst/>
          </a:prstGeom>
          <a:solidFill>
            <a:srgbClr val="5C7699"/>
          </a:solidFill>
          <a:ln/>
        </p:spPr>
      </p:sp>
      <p:sp>
        <p:nvSpPr>
          <p:cNvPr id="13" name="Text 11"/>
          <p:cNvSpPr/>
          <p:nvPr/>
        </p:nvSpPr>
        <p:spPr>
          <a:xfrm>
            <a:off x="4480560"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910328"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Driver → Cloud Services</a:t>
            </a:r>
            <a:endParaRPr lang="en-US" sz="1100" dirty="0"/>
          </a:p>
        </p:txBody>
      </p:sp>
      <p:sp>
        <p:nvSpPr>
          <p:cNvPr id="15" name="Text 13"/>
          <p:cNvSpPr/>
          <p:nvPr/>
        </p:nvSpPr>
        <p:spPr>
          <a:xfrm>
            <a:off x="4480560"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The exact same Cloud Services layer authenticates the session, resolves RBAC, and parses/optimizes the statement — no different from Snowsight's path at this point.</a:t>
            </a:r>
            <a:endParaRPr lang="en-US" sz="880" dirty="0"/>
          </a:p>
        </p:txBody>
      </p:sp>
      <p:sp>
        <p:nvSpPr>
          <p:cNvPr id="16" name="Shape 14"/>
          <p:cNvSpPr/>
          <p:nvPr/>
        </p:nvSpPr>
        <p:spPr>
          <a:xfrm>
            <a:off x="8129016" y="1691640"/>
            <a:ext cx="3611880" cy="1536192"/>
          </a:xfrm>
          <a:prstGeom prst="roundRect">
            <a:avLst>
              <a:gd name="adj" fmla="val 4762"/>
            </a:avLst>
          </a:prstGeom>
          <a:solidFill>
            <a:srgbClr val="EAF0F8"/>
          </a:solidFill>
          <a:ln/>
        </p:spPr>
      </p:sp>
      <p:sp>
        <p:nvSpPr>
          <p:cNvPr id="17" name="Shape 15"/>
          <p:cNvSpPr/>
          <p:nvPr/>
        </p:nvSpPr>
        <p:spPr>
          <a:xfrm>
            <a:off x="8293608" y="1837944"/>
            <a:ext cx="329184" cy="329184"/>
          </a:xfrm>
          <a:prstGeom prst="ellipse">
            <a:avLst/>
          </a:prstGeom>
          <a:solidFill>
            <a:srgbClr val="5C7699"/>
          </a:solidFill>
          <a:ln/>
        </p:spPr>
      </p:sp>
      <p:sp>
        <p:nvSpPr>
          <p:cNvPr id="18" name="Text 16"/>
          <p:cNvSpPr/>
          <p:nvPr/>
        </p:nvSpPr>
        <p:spPr>
          <a:xfrm>
            <a:off x="8293608" y="18379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23376" y="1810512"/>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Compute Layer Executes</a:t>
            </a:r>
            <a:endParaRPr lang="en-US" sz="1100" dirty="0"/>
          </a:p>
        </p:txBody>
      </p:sp>
      <p:sp>
        <p:nvSpPr>
          <p:cNvPr id="20" name="Text 18"/>
          <p:cNvSpPr/>
          <p:nvPr/>
        </p:nvSpPr>
        <p:spPr>
          <a:xfrm>
            <a:off x="8293608" y="2258568"/>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The optimized plan runs on a virtual warehouse, exactly as it would for any other client.</a:t>
            </a:r>
            <a:endParaRPr lang="en-US" sz="880" dirty="0"/>
          </a:p>
        </p:txBody>
      </p:sp>
      <p:sp>
        <p:nvSpPr>
          <p:cNvPr id="21" name="Shape 19"/>
          <p:cNvSpPr/>
          <p:nvPr/>
        </p:nvSpPr>
        <p:spPr>
          <a:xfrm>
            <a:off x="502920" y="3410712"/>
            <a:ext cx="3611880" cy="1536192"/>
          </a:xfrm>
          <a:prstGeom prst="roundRect">
            <a:avLst>
              <a:gd name="adj" fmla="val 4762"/>
            </a:avLst>
          </a:prstGeom>
          <a:solidFill>
            <a:srgbClr val="EAF0F8"/>
          </a:solidFill>
          <a:ln/>
        </p:spPr>
      </p:sp>
      <p:sp>
        <p:nvSpPr>
          <p:cNvPr id="22" name="Shape 20"/>
          <p:cNvSpPr/>
          <p:nvPr/>
        </p:nvSpPr>
        <p:spPr>
          <a:xfrm>
            <a:off x="667512" y="3557016"/>
            <a:ext cx="329184" cy="329184"/>
          </a:xfrm>
          <a:prstGeom prst="ellipse">
            <a:avLst/>
          </a:prstGeom>
          <a:solidFill>
            <a:srgbClr val="5C7699"/>
          </a:solidFill>
          <a:ln/>
        </p:spPr>
      </p:sp>
      <p:sp>
        <p:nvSpPr>
          <p:cNvPr id="23" name="Text 21"/>
          <p:cNvSpPr/>
          <p:nvPr/>
        </p:nvSpPr>
        <p:spPr>
          <a:xfrm>
            <a:off x="667512"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097280"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Storage → Result Set</a:t>
            </a:r>
            <a:endParaRPr lang="en-US" sz="1100" dirty="0"/>
          </a:p>
        </p:txBody>
      </p:sp>
      <p:sp>
        <p:nvSpPr>
          <p:cNvPr id="25" name="Text 23"/>
          <p:cNvSpPr/>
          <p:nvPr/>
        </p:nvSpPr>
        <p:spPr>
          <a:xfrm>
            <a:off x="667512"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Micro-partitions are read, the same masking and row-access policies apply, and rows return over the driver connection.</a:t>
            </a:r>
            <a:endParaRPr lang="en-US" sz="880" dirty="0"/>
          </a:p>
        </p:txBody>
      </p:sp>
      <p:sp>
        <p:nvSpPr>
          <p:cNvPr id="26" name="Shape 24"/>
          <p:cNvSpPr/>
          <p:nvPr/>
        </p:nvSpPr>
        <p:spPr>
          <a:xfrm>
            <a:off x="4315968" y="3410712"/>
            <a:ext cx="3611880" cy="1536192"/>
          </a:xfrm>
          <a:prstGeom prst="roundRect">
            <a:avLst>
              <a:gd name="adj" fmla="val 4762"/>
            </a:avLst>
          </a:prstGeom>
          <a:solidFill>
            <a:srgbClr val="FBEEE6"/>
          </a:solidFill>
          <a:ln/>
        </p:spPr>
      </p:sp>
      <p:sp>
        <p:nvSpPr>
          <p:cNvPr id="27" name="Shape 25"/>
          <p:cNvSpPr/>
          <p:nvPr/>
        </p:nvSpPr>
        <p:spPr>
          <a:xfrm>
            <a:off x="4480560" y="3557016"/>
            <a:ext cx="329184" cy="329184"/>
          </a:xfrm>
          <a:prstGeom prst="ellipse">
            <a:avLst/>
          </a:prstGeom>
          <a:solidFill>
            <a:srgbClr val="C97F5C"/>
          </a:solidFill>
          <a:ln/>
        </p:spPr>
      </p:sp>
      <p:sp>
        <p:nvSpPr>
          <p:cNvPr id="28" name="Text 26"/>
          <p:cNvSpPr/>
          <p:nvPr/>
        </p:nvSpPr>
        <p:spPr>
          <a:xfrm>
            <a:off x="4480560"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4910328"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No Agentic Layer Reached</a:t>
            </a:r>
            <a:endParaRPr lang="en-US" sz="1100" dirty="0"/>
          </a:p>
        </p:txBody>
      </p:sp>
      <p:sp>
        <p:nvSpPr>
          <p:cNvPr id="30" name="Text 28"/>
          <p:cNvSpPr/>
          <p:nvPr/>
        </p:nvSpPr>
        <p:spPr>
          <a:xfrm>
            <a:off x="4480560"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Cortex Sense, Cortex Analyst's NL routing, and CoWork orchestration are Snowsight/REST-API features — a SQL IDE has no code path that calls them.</a:t>
            </a:r>
            <a:endParaRPr lang="en-US" sz="880" dirty="0"/>
          </a:p>
        </p:txBody>
      </p:sp>
      <p:sp>
        <p:nvSpPr>
          <p:cNvPr id="31" name="Shape 29"/>
          <p:cNvSpPr/>
          <p:nvPr/>
        </p:nvSpPr>
        <p:spPr>
          <a:xfrm>
            <a:off x="8129016" y="3410712"/>
            <a:ext cx="3611880" cy="1536192"/>
          </a:xfrm>
          <a:prstGeom prst="roundRect">
            <a:avLst>
              <a:gd name="adj" fmla="val 4762"/>
            </a:avLst>
          </a:prstGeom>
          <a:solidFill>
            <a:srgbClr val="FBEEE6"/>
          </a:solidFill>
          <a:ln/>
        </p:spPr>
      </p:sp>
      <p:sp>
        <p:nvSpPr>
          <p:cNvPr id="32" name="Shape 30"/>
          <p:cNvSpPr/>
          <p:nvPr/>
        </p:nvSpPr>
        <p:spPr>
          <a:xfrm>
            <a:off x="8293608" y="3557016"/>
            <a:ext cx="329184" cy="329184"/>
          </a:xfrm>
          <a:prstGeom prst="ellipse">
            <a:avLst/>
          </a:prstGeom>
          <a:solidFill>
            <a:srgbClr val="C97F5C"/>
          </a:solidFill>
          <a:ln/>
        </p:spPr>
      </p:sp>
      <p:sp>
        <p:nvSpPr>
          <p:cNvPr id="33" name="Text 31"/>
          <p:cNvSpPr/>
          <p:nvPr/>
        </p:nvSpPr>
        <p:spPr>
          <a:xfrm>
            <a:off x="8293608" y="35570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723376" y="3529584"/>
            <a:ext cx="2834640" cy="411480"/>
          </a:xfrm>
          <a:prstGeom prst="rect">
            <a:avLst/>
          </a:prstGeom>
          <a:noFill/>
          <a:ln/>
        </p:spPr>
        <p:txBody>
          <a:bodyPr wrap="square" rtlCol="0" anchor="t"/>
          <a:lstStyle/>
          <a:p>
            <a:pPr indent="0" marL="0">
              <a:buNone/>
            </a:pPr>
            <a:r>
              <a:rPr lang="en-US" sz="1100" b="1" dirty="0">
                <a:solidFill>
                  <a:srgbClr val="3A4556"/>
                </a:solidFill>
                <a:latin typeface="Calibri" pitchFamily="34" charset="0"/>
                <a:ea typeface="Calibri" pitchFamily="34" charset="-122"/>
                <a:cs typeface="Calibri" pitchFamily="34" charset="-120"/>
              </a:rPr>
              <a:t>Cortex SQL Functions: The Exception</a:t>
            </a:r>
            <a:endParaRPr lang="en-US" sz="1100" dirty="0"/>
          </a:p>
        </p:txBody>
      </p:sp>
      <p:sp>
        <p:nvSpPr>
          <p:cNvPr id="35" name="Text 33"/>
          <p:cNvSpPr/>
          <p:nvPr/>
        </p:nvSpPr>
        <p:spPr>
          <a:xfrm>
            <a:off x="8293608" y="3977640"/>
            <a:ext cx="3282696" cy="850392"/>
          </a:xfrm>
          <a:prstGeom prst="rect">
            <a:avLst/>
          </a:prstGeom>
          <a:noFill/>
          <a:ln/>
        </p:spPr>
        <p:txBody>
          <a:bodyPr wrap="square" rtlCol="0" anchor="t"/>
          <a:lstStyle/>
          <a:p>
            <a:pPr indent="0" marL="0">
              <a:lnSpc>
                <a:spcPct val="112000"/>
              </a:lnSpc>
              <a:buNone/>
            </a:pPr>
            <a:r>
              <a:rPr lang="en-US" sz="880" dirty="0">
                <a:solidFill>
                  <a:srgbClr val="68758A"/>
                </a:solidFill>
                <a:latin typeface="Calibri" pitchFamily="34" charset="0"/>
                <a:ea typeface="Calibri" pitchFamily="34" charset="-122"/>
                <a:cs typeface="Calibri" pitchFamily="34" charset="-120"/>
              </a:rPr>
              <a:t>If the analyst explicitly writes SELECT SNOWFLAKE.CORTEX.COMPLETE(...), that runs — it is an ordinary SQL function call, not an agentic session.</a:t>
            </a:r>
            <a:endParaRPr lang="en-US" sz="8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THE KEY NUANCE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The Nuance: SQL-Callable vs. Agentic-Only</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02920" y="1691640"/>
            <a:ext cx="11185855" cy="548640"/>
          </a:xfrm>
          <a:prstGeom prst="rect">
            <a:avLst/>
          </a:prstGeom>
          <a:noFill/>
          <a:ln/>
        </p:spPr>
        <p:txBody>
          <a:bodyPr wrap="square" rtlCol="0" anchor="ctr"/>
          <a:lstStyle/>
          <a:p>
            <a:pPr indent="0" marL="0">
              <a:buNone/>
            </a:pPr>
            <a:r>
              <a:rPr lang="en-US" sz="1600" b="1" i="1" dirty="0">
                <a:solidFill>
                  <a:srgbClr val="3A4556"/>
                </a:solidFill>
                <a:latin typeface="Cambria" pitchFamily="34" charset="0"/>
                <a:ea typeface="Cambria" pitchFamily="34" charset="-122"/>
                <a:cs typeface="Cambria" pitchFamily="34" charset="-120"/>
              </a:rPr>
              <a:t>"Can TOAD or DBeaver use Cortex AI?" has two different correct answers, depending on what "use" means.</a:t>
            </a:r>
            <a:endParaRPr lang="en-US" sz="1600" dirty="0"/>
          </a:p>
        </p:txBody>
      </p:sp>
      <p:sp>
        <p:nvSpPr>
          <p:cNvPr id="7" name="Shape 5"/>
          <p:cNvSpPr/>
          <p:nvPr/>
        </p:nvSpPr>
        <p:spPr>
          <a:xfrm>
            <a:off x="502920" y="2423160"/>
            <a:ext cx="5349240" cy="3383280"/>
          </a:xfrm>
          <a:prstGeom prst="roundRect">
            <a:avLst>
              <a:gd name="adj" fmla="val 2162"/>
            </a:avLst>
          </a:prstGeom>
          <a:solidFill>
            <a:srgbClr val="EAF4EE"/>
          </a:solidFill>
          <a:ln/>
        </p:spPr>
      </p:sp>
      <p:sp>
        <p:nvSpPr>
          <p:cNvPr id="8" name="Text 6"/>
          <p:cNvSpPr/>
          <p:nvPr/>
        </p:nvSpPr>
        <p:spPr>
          <a:xfrm>
            <a:off x="731520" y="2606040"/>
            <a:ext cx="4846320" cy="320040"/>
          </a:xfrm>
          <a:prstGeom prst="rect">
            <a:avLst/>
          </a:prstGeom>
          <a:noFill/>
          <a:ln/>
        </p:spPr>
        <p:txBody>
          <a:bodyPr wrap="square" rtlCol="0" anchor="ctr"/>
          <a:lstStyle/>
          <a:p>
            <a:pPr indent="0" marL="0">
              <a:buNone/>
            </a:pPr>
            <a:r>
              <a:rPr lang="en-US" sz="1150" b="1" spc="50" kern="0" dirty="0">
                <a:solidFill>
                  <a:srgbClr val="5E9C76"/>
                </a:solidFill>
                <a:latin typeface="Calibri" pitchFamily="34" charset="0"/>
                <a:ea typeface="Calibri" pitchFamily="34" charset="-122"/>
                <a:cs typeface="Calibri" pitchFamily="34" charset="-120"/>
              </a:rPr>
              <a:t>YES — RAW CORTEX SQL FUNCTIONS</a:t>
            </a:r>
            <a:endParaRPr lang="en-US" sz="1150" dirty="0"/>
          </a:p>
        </p:txBody>
      </p:sp>
      <p:sp>
        <p:nvSpPr>
          <p:cNvPr id="9" name="Text 7"/>
          <p:cNvSpPr/>
          <p:nvPr/>
        </p:nvSpPr>
        <p:spPr>
          <a:xfrm>
            <a:off x="731520" y="2971800"/>
            <a:ext cx="4892040" cy="27432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COMPLETE, EXTRACT, SUMMARIZE, TRANSLATE, and AI_REDACT are native SQL/Python functions.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Any authenticated JDBC/ODBC client can call them, because to Snowflake they are just SQL — the same call path as SUM() or UPPER().</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Requires the calling role to hold USE AI FUNCTIONS plus CORTEX_USER or AI_FUNCTIONS_USER.</a:t>
            </a:r>
            <a:endParaRPr lang="en-US" sz="1150" dirty="0"/>
          </a:p>
        </p:txBody>
      </p:sp>
      <p:sp>
        <p:nvSpPr>
          <p:cNvPr id="10" name="Shape 8"/>
          <p:cNvSpPr/>
          <p:nvPr/>
        </p:nvSpPr>
        <p:spPr>
          <a:xfrm>
            <a:off x="6309360" y="2423160"/>
            <a:ext cx="5349240" cy="3383280"/>
          </a:xfrm>
          <a:prstGeom prst="roundRect">
            <a:avLst>
              <a:gd name="adj" fmla="val 2162"/>
            </a:avLst>
          </a:prstGeom>
          <a:solidFill>
            <a:srgbClr val="FBEEE6"/>
          </a:solidFill>
          <a:ln/>
        </p:spPr>
      </p:sp>
      <p:sp>
        <p:nvSpPr>
          <p:cNvPr id="11" name="Text 9"/>
          <p:cNvSpPr/>
          <p:nvPr/>
        </p:nvSpPr>
        <p:spPr>
          <a:xfrm>
            <a:off x="6537960" y="2606040"/>
            <a:ext cx="4846320" cy="320040"/>
          </a:xfrm>
          <a:prstGeom prst="rect">
            <a:avLst/>
          </a:prstGeom>
          <a:noFill/>
          <a:ln/>
        </p:spPr>
        <p:txBody>
          <a:bodyPr wrap="square" rtlCol="0" anchor="ctr"/>
          <a:lstStyle/>
          <a:p>
            <a:pPr indent="0" marL="0">
              <a:buNone/>
            </a:pPr>
            <a:r>
              <a:rPr lang="en-US" sz="1150" b="1" spc="50" kern="0" dirty="0">
                <a:solidFill>
                  <a:srgbClr val="C97F5C"/>
                </a:solidFill>
                <a:latin typeface="Calibri" pitchFamily="34" charset="0"/>
                <a:ea typeface="Calibri" pitchFamily="34" charset="-122"/>
                <a:cs typeface="Calibri" pitchFamily="34" charset="-120"/>
              </a:rPr>
              <a:t>NO — THE AGENTIC ORCHESTRATION LAYER</a:t>
            </a:r>
            <a:endParaRPr lang="en-US" sz="1150" dirty="0"/>
          </a:p>
        </p:txBody>
      </p:sp>
      <p:sp>
        <p:nvSpPr>
          <p:cNvPr id="12" name="Text 10"/>
          <p:cNvSpPr/>
          <p:nvPr/>
        </p:nvSpPr>
        <p:spPr>
          <a:xfrm>
            <a:off x="6537960" y="2971800"/>
            <a:ext cx="4892040" cy="2743200"/>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Cortex Sense's context ranking, Cortex Analyst's NL-to-SQL routing, Cortex Agents' tool orchestration, and CoWork's memory/Skills/Artifacts are REST-API and Snowsight-native features.</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A SQL IDE has no protocol handshake for them — it isn't a gap to configure around, it's a different API surface entirely.</a:t>
            </a:r>
            <a:endParaRPr lang="en-US" sz="1150" dirty="0"/>
          </a:p>
          <a:p>
            <a:pPr marL="177800" indent="-177800">
              <a:lnSpc>
                <a:spcPct val="112000"/>
              </a:lnSpc>
              <a:spcAft>
                <a:spcPts val="1000"/>
              </a:spcAft>
              <a:buSzPct val="100000"/>
              <a:buChar char="●"/>
            </a:pPr>
            <a:r>
              <a:rPr lang="en-US" sz="1150" dirty="0">
                <a:solidFill>
                  <a:srgbClr val="3A4556"/>
                </a:solidFill>
                <a:latin typeface="Calibri" pitchFamily="34" charset="0"/>
                <a:ea typeface="Calibri" pitchFamily="34" charset="-122"/>
                <a:cs typeface="Calibri" pitchFamily="34" charset="-120"/>
              </a:rPr>
              <a:t>Reaching them from outside Snowsight means calling the REST API directly (e.g., from a custom app), not from a SQL worksheet.</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TOOL COMPARISON</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Tool Capability Matrix</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3703320"/>
                <a:gridCol w="2743200"/>
                <a:gridCol w="2651760"/>
                <a:gridCol w="192024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3A455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Snowsight / CoWork</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5C769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TOAD</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68758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DBeaver</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68758A"/>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SQL execution</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Cortex SQL functions (COMPLETE, etc.)</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Cortex Analyst NL chat</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Cortex Sense context ranking</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CoWork agent (memory, Skills, MCP)</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Semantic View wizard / builder</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Native charting &amp; dashboards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99A3E"/>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99A3E"/>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Multi-vendor database support</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C0604B"/>
                          </a:solidFill>
                          <a:latin typeface="Calibri" pitchFamily="34" charset="0"/>
                          <a:ea typeface="Calibri" pitchFamily="34" charset="-122"/>
                          <a:cs typeface="Calibri" pitchFamily="34" charset="-120"/>
                        </a:rPr>
                        <a:t>No (Snowflake only)</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5E9C76"/>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384048">
                <a:tc>
                  <a:txBody>
                    <a:bodyPr/>
                    <a:lstStyle/>
                    <a:p>
                      <a:pPr algn="l" indent="0" marL="0">
                        <a:buNone/>
                      </a:pPr>
                      <a:r>
                        <a:rPr lang="en-US" sz="1100" b="1" dirty="0">
                          <a:solidFill>
                            <a:srgbClr val="3A4556"/>
                          </a:solidFill>
                          <a:latin typeface="Calibri" pitchFamily="34" charset="0"/>
                          <a:ea typeface="Calibri" pitchFamily="34" charset="-122"/>
                          <a:cs typeface="Calibri" pitchFamily="34" charset="-120"/>
                        </a:rPr>
                        <a:t>Governance / audit trail</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556"/>
                          </a:solidFill>
                          <a:latin typeface="Calibri" pitchFamily="34" charset="0"/>
                          <a:ea typeface="Calibri" pitchFamily="34" charset="-122"/>
                          <a:cs typeface="Calibri" pitchFamily="34" charset="-120"/>
                        </a:rPr>
                        <a:t>Full (RBAC + activity log)</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556"/>
                          </a:solidFill>
                          <a:latin typeface="Calibri" pitchFamily="34" charset="0"/>
                          <a:ea typeface="Calibri" pitchFamily="34" charset="-122"/>
                          <a:cs typeface="Calibri" pitchFamily="34" charset="-120"/>
                        </a:rPr>
                        <a:t>Via Snowflake RBAC</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556"/>
                          </a:solidFill>
                          <a:latin typeface="Calibri" pitchFamily="34" charset="0"/>
                          <a:ea typeface="Calibri" pitchFamily="34" charset="-122"/>
                          <a:cs typeface="Calibri" pitchFamily="34" charset="-120"/>
                        </a:rPr>
                        <a:t>Via Snowflake RBAC</a:t>
                      </a:r>
                      <a:endParaRPr lang="en-US" sz="110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STEP 3 · END-TO-END TOOLCHAIN</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From Analyst Desk to Dashboard: The Full Toolchain</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44</a:t>
            </a:r>
            <a:endParaRPr lang="en-US" sz="900" dirty="0"/>
          </a:p>
        </p:txBody>
      </p:sp>
      <p:sp>
        <p:nvSpPr>
          <p:cNvPr id="6" name="Shape 4"/>
          <p:cNvSpPr/>
          <p:nvPr/>
        </p:nvSpPr>
        <p:spPr>
          <a:xfrm>
            <a:off x="502920" y="2103120"/>
            <a:ext cx="2032345" cy="2103120"/>
          </a:xfrm>
          <a:prstGeom prst="roundRect">
            <a:avLst>
              <a:gd name="adj" fmla="val 3599"/>
            </a:avLst>
          </a:prstGeom>
          <a:solidFill>
            <a:srgbClr val="EAF0F8"/>
          </a:solidFill>
          <a:ln/>
        </p:spPr>
      </p:sp>
      <p:sp>
        <p:nvSpPr>
          <p:cNvPr id="7" name="Shape 5"/>
          <p:cNvSpPr/>
          <p:nvPr/>
        </p:nvSpPr>
        <p:spPr>
          <a:xfrm>
            <a:off x="1345357" y="1929384"/>
            <a:ext cx="347472" cy="347472"/>
          </a:xfrm>
          <a:prstGeom prst="ellipse">
            <a:avLst/>
          </a:prstGeom>
          <a:solidFill>
            <a:srgbClr val="5C7699"/>
          </a:solidFill>
          <a:ln w="25400">
            <a:solidFill>
              <a:srgbClr val="FFFFFF"/>
            </a:solidFill>
            <a:prstDash val="solid"/>
          </a:ln>
        </p:spPr>
      </p:sp>
      <p:sp>
        <p:nvSpPr>
          <p:cNvPr id="8" name="Text 6"/>
          <p:cNvSpPr/>
          <p:nvPr/>
        </p:nvSpPr>
        <p:spPr>
          <a:xfrm>
            <a:off x="1345357"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612648"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Connect</a:t>
            </a:r>
            <a:endParaRPr lang="en-US" sz="1200" dirty="0"/>
          </a:p>
        </p:txBody>
      </p:sp>
      <p:sp>
        <p:nvSpPr>
          <p:cNvPr id="10" name="Text 8"/>
          <p:cNvSpPr/>
          <p:nvPr/>
        </p:nvSpPr>
        <p:spPr>
          <a:xfrm>
            <a:off x="612648" y="272491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Snowsight (browser), or TOAD/DBeaver over JDBC/ODBC — same account, same RBAC role either way.</a:t>
            </a:r>
            <a:endParaRPr lang="en-US" sz="950" dirty="0"/>
          </a:p>
        </p:txBody>
      </p:sp>
      <p:pic>
        <p:nvPicPr>
          <p:cNvPr id="11" name="Image 0" descr="/home/claude/snowflake_deck/icons/arrowRight_lightgray.png">    </p:cNvPr>
          <p:cNvPicPr>
            <a:picLocks noChangeAspect="1"/>
          </p:cNvPicPr>
          <p:nvPr/>
        </p:nvPicPr>
        <p:blipFill>
          <a:blip r:embed="rId1"/>
          <a:stretch>
            <a:fillRect/>
          </a:stretch>
        </p:blipFill>
        <p:spPr>
          <a:xfrm>
            <a:off x="2580985" y="3072384"/>
            <a:ext cx="164592" cy="164592"/>
          </a:xfrm>
          <a:prstGeom prst="rect">
            <a:avLst/>
          </a:prstGeom>
        </p:spPr>
      </p:pic>
      <p:sp>
        <p:nvSpPr>
          <p:cNvPr id="12" name="Shape 9"/>
          <p:cNvSpPr/>
          <p:nvPr/>
        </p:nvSpPr>
        <p:spPr>
          <a:xfrm>
            <a:off x="2791297" y="2103120"/>
            <a:ext cx="2032345" cy="2103120"/>
          </a:xfrm>
          <a:prstGeom prst="roundRect">
            <a:avLst>
              <a:gd name="adj" fmla="val 3599"/>
            </a:avLst>
          </a:prstGeom>
          <a:solidFill>
            <a:srgbClr val="EAF0F8"/>
          </a:solidFill>
          <a:ln/>
        </p:spPr>
      </p:sp>
      <p:sp>
        <p:nvSpPr>
          <p:cNvPr id="13" name="Shape 10"/>
          <p:cNvSpPr/>
          <p:nvPr/>
        </p:nvSpPr>
        <p:spPr>
          <a:xfrm>
            <a:off x="3633734" y="1929384"/>
            <a:ext cx="347472" cy="347472"/>
          </a:xfrm>
          <a:prstGeom prst="ellipse">
            <a:avLst/>
          </a:prstGeom>
          <a:solidFill>
            <a:srgbClr val="5C7699"/>
          </a:solidFill>
          <a:ln w="25400">
            <a:solidFill>
              <a:srgbClr val="FFFFFF"/>
            </a:solidFill>
            <a:prstDash val="solid"/>
          </a:ln>
        </p:spPr>
      </p:sp>
      <p:sp>
        <p:nvSpPr>
          <p:cNvPr id="14" name="Text 11"/>
          <p:cNvSpPr/>
          <p:nvPr/>
        </p:nvSpPr>
        <p:spPr>
          <a:xfrm>
            <a:off x="3633734"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2901025"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Ask or Query</a:t>
            </a:r>
            <a:endParaRPr lang="en-US" sz="1200" dirty="0"/>
          </a:p>
        </p:txBody>
      </p:sp>
      <p:sp>
        <p:nvSpPr>
          <p:cNvPr id="16" name="Text 13"/>
          <p:cNvSpPr/>
          <p:nvPr/>
        </p:nvSpPr>
        <p:spPr>
          <a:xfrm>
            <a:off x="2901025" y="272491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A natural-language question (Snowsight/CoWork) or hand-written SQL against Gold tables / Semantic Views (any client).</a:t>
            </a:r>
            <a:endParaRPr lang="en-US" sz="950" dirty="0"/>
          </a:p>
        </p:txBody>
      </p:sp>
      <p:pic>
        <p:nvPicPr>
          <p:cNvPr id="17" name="Image 1" descr="/home/claude/snowflake_deck/icons/arrowRight_lightgray.png">    </p:cNvPr>
          <p:cNvPicPr>
            <a:picLocks noChangeAspect="1"/>
          </p:cNvPicPr>
          <p:nvPr/>
        </p:nvPicPr>
        <p:blipFill>
          <a:blip r:embed="rId2"/>
          <a:stretch>
            <a:fillRect/>
          </a:stretch>
        </p:blipFill>
        <p:spPr>
          <a:xfrm>
            <a:off x="4869363" y="3072384"/>
            <a:ext cx="164592" cy="164592"/>
          </a:xfrm>
          <a:prstGeom prst="rect">
            <a:avLst/>
          </a:prstGeom>
        </p:spPr>
      </p:pic>
      <p:sp>
        <p:nvSpPr>
          <p:cNvPr id="18" name="Shape 14"/>
          <p:cNvSpPr/>
          <p:nvPr/>
        </p:nvSpPr>
        <p:spPr>
          <a:xfrm>
            <a:off x="5079675" y="2103120"/>
            <a:ext cx="2032345" cy="2103120"/>
          </a:xfrm>
          <a:prstGeom prst="roundRect">
            <a:avLst>
              <a:gd name="adj" fmla="val 3599"/>
            </a:avLst>
          </a:prstGeom>
          <a:solidFill>
            <a:srgbClr val="EAF0F8"/>
          </a:solidFill>
          <a:ln/>
        </p:spPr>
      </p:sp>
      <p:sp>
        <p:nvSpPr>
          <p:cNvPr id="19" name="Shape 15"/>
          <p:cNvSpPr/>
          <p:nvPr/>
        </p:nvSpPr>
        <p:spPr>
          <a:xfrm>
            <a:off x="5922112" y="1929384"/>
            <a:ext cx="347472" cy="347472"/>
          </a:xfrm>
          <a:prstGeom prst="ellipse">
            <a:avLst/>
          </a:prstGeom>
          <a:solidFill>
            <a:srgbClr val="5C7699"/>
          </a:solidFill>
          <a:ln w="25400">
            <a:solidFill>
              <a:srgbClr val="FFFFFF"/>
            </a:solidFill>
            <a:prstDash val="solid"/>
          </a:ln>
        </p:spPr>
      </p:sp>
      <p:sp>
        <p:nvSpPr>
          <p:cNvPr id="20" name="Text 16"/>
          <p:cNvSpPr/>
          <p:nvPr/>
        </p:nvSpPr>
        <p:spPr>
          <a:xfrm>
            <a:off x="5922112"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5189403"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Execute</a:t>
            </a:r>
            <a:endParaRPr lang="en-US" sz="1200" dirty="0"/>
          </a:p>
        </p:txBody>
      </p:sp>
      <p:sp>
        <p:nvSpPr>
          <p:cNvPr id="22" name="Text 18"/>
          <p:cNvSpPr/>
          <p:nvPr/>
        </p:nvSpPr>
        <p:spPr>
          <a:xfrm>
            <a:off x="5189403" y="272491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Cloud Services optimizes, a virtual warehouse computes, Storage supplies governed, masked micro-partitions.</a:t>
            </a:r>
            <a:endParaRPr lang="en-US" sz="950" dirty="0"/>
          </a:p>
        </p:txBody>
      </p:sp>
      <p:pic>
        <p:nvPicPr>
          <p:cNvPr id="23" name="Image 2" descr="/home/claude/snowflake_deck/icons/arrowRight_lightgray.png">    </p:cNvPr>
          <p:cNvPicPr>
            <a:picLocks noChangeAspect="1"/>
          </p:cNvPicPr>
          <p:nvPr/>
        </p:nvPicPr>
        <p:blipFill>
          <a:blip r:embed="rId3"/>
          <a:stretch>
            <a:fillRect/>
          </a:stretch>
        </p:blipFill>
        <p:spPr>
          <a:xfrm>
            <a:off x="7157740" y="3072384"/>
            <a:ext cx="164592" cy="164592"/>
          </a:xfrm>
          <a:prstGeom prst="rect">
            <a:avLst/>
          </a:prstGeom>
        </p:spPr>
      </p:pic>
      <p:sp>
        <p:nvSpPr>
          <p:cNvPr id="24" name="Shape 19"/>
          <p:cNvSpPr/>
          <p:nvPr/>
        </p:nvSpPr>
        <p:spPr>
          <a:xfrm>
            <a:off x="7368052" y="2103120"/>
            <a:ext cx="2032345" cy="2103120"/>
          </a:xfrm>
          <a:prstGeom prst="roundRect">
            <a:avLst>
              <a:gd name="adj" fmla="val 3599"/>
            </a:avLst>
          </a:prstGeom>
          <a:solidFill>
            <a:srgbClr val="EAF0F8"/>
          </a:solidFill>
          <a:ln/>
        </p:spPr>
      </p:sp>
      <p:sp>
        <p:nvSpPr>
          <p:cNvPr id="25" name="Shape 20"/>
          <p:cNvSpPr/>
          <p:nvPr/>
        </p:nvSpPr>
        <p:spPr>
          <a:xfrm>
            <a:off x="8210489" y="1929384"/>
            <a:ext cx="347472" cy="347472"/>
          </a:xfrm>
          <a:prstGeom prst="ellipse">
            <a:avLst/>
          </a:prstGeom>
          <a:solidFill>
            <a:srgbClr val="5C7699"/>
          </a:solidFill>
          <a:ln w="25400">
            <a:solidFill>
              <a:srgbClr val="FFFFFF"/>
            </a:solidFill>
            <a:prstDash val="solid"/>
          </a:ln>
        </p:spPr>
      </p:sp>
      <p:sp>
        <p:nvSpPr>
          <p:cNvPr id="26" name="Text 21"/>
          <p:cNvSpPr/>
          <p:nvPr/>
        </p:nvSpPr>
        <p:spPr>
          <a:xfrm>
            <a:off x="8210489"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2"/>
          <p:cNvSpPr/>
          <p:nvPr/>
        </p:nvSpPr>
        <p:spPr>
          <a:xfrm>
            <a:off x="7477780"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Return Results</a:t>
            </a:r>
            <a:endParaRPr lang="en-US" sz="1200" dirty="0"/>
          </a:p>
        </p:txBody>
      </p:sp>
      <p:sp>
        <p:nvSpPr>
          <p:cNvPr id="28" name="Text 23"/>
          <p:cNvSpPr/>
          <p:nvPr/>
        </p:nvSpPr>
        <p:spPr>
          <a:xfrm>
            <a:off x="7477780" y="272491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A result set — to the IDE's grid, or to CoWork for interpretation and formatting.</a:t>
            </a:r>
            <a:endParaRPr lang="en-US" sz="950" dirty="0"/>
          </a:p>
        </p:txBody>
      </p:sp>
      <p:pic>
        <p:nvPicPr>
          <p:cNvPr id="29" name="Image 3" descr="/home/claude/snowflake_deck/icons/arrowRight_lightgray.png">    </p:cNvPr>
          <p:cNvPicPr>
            <a:picLocks noChangeAspect="1"/>
          </p:cNvPicPr>
          <p:nvPr/>
        </p:nvPicPr>
        <p:blipFill>
          <a:blip r:embed="rId4"/>
          <a:stretch>
            <a:fillRect/>
          </a:stretch>
        </p:blipFill>
        <p:spPr>
          <a:xfrm>
            <a:off x="9446118" y="3072384"/>
            <a:ext cx="164592" cy="164592"/>
          </a:xfrm>
          <a:prstGeom prst="rect">
            <a:avLst/>
          </a:prstGeom>
        </p:spPr>
      </p:pic>
      <p:sp>
        <p:nvSpPr>
          <p:cNvPr id="30" name="Shape 24"/>
          <p:cNvSpPr/>
          <p:nvPr/>
        </p:nvSpPr>
        <p:spPr>
          <a:xfrm>
            <a:off x="9656430" y="2103120"/>
            <a:ext cx="2032345" cy="2103120"/>
          </a:xfrm>
          <a:prstGeom prst="roundRect">
            <a:avLst>
              <a:gd name="adj" fmla="val 3599"/>
            </a:avLst>
          </a:prstGeom>
          <a:solidFill>
            <a:srgbClr val="EAF0F8"/>
          </a:solidFill>
          <a:ln/>
        </p:spPr>
      </p:sp>
      <p:sp>
        <p:nvSpPr>
          <p:cNvPr id="31" name="Shape 25"/>
          <p:cNvSpPr/>
          <p:nvPr/>
        </p:nvSpPr>
        <p:spPr>
          <a:xfrm>
            <a:off x="10498866" y="1929384"/>
            <a:ext cx="347472" cy="347472"/>
          </a:xfrm>
          <a:prstGeom prst="ellipse">
            <a:avLst/>
          </a:prstGeom>
          <a:solidFill>
            <a:srgbClr val="5C7699"/>
          </a:solidFill>
          <a:ln w="25400">
            <a:solidFill>
              <a:srgbClr val="FFFFFF"/>
            </a:solidFill>
            <a:prstDash val="solid"/>
          </a:ln>
        </p:spPr>
      </p:sp>
      <p:sp>
        <p:nvSpPr>
          <p:cNvPr id="32" name="Text 26"/>
          <p:cNvSpPr/>
          <p:nvPr/>
        </p:nvSpPr>
        <p:spPr>
          <a:xfrm>
            <a:off x="10498866"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27"/>
          <p:cNvSpPr/>
          <p:nvPr/>
        </p:nvSpPr>
        <p:spPr>
          <a:xfrm>
            <a:off x="9766158"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Visualize</a:t>
            </a:r>
            <a:endParaRPr lang="en-US" sz="1200" dirty="0"/>
          </a:p>
        </p:txBody>
      </p:sp>
      <p:sp>
        <p:nvSpPr>
          <p:cNvPr id="34" name="Text 28"/>
          <p:cNvSpPr/>
          <p:nvPr/>
        </p:nvSpPr>
        <p:spPr>
          <a:xfrm>
            <a:off x="9766158" y="2724912"/>
            <a:ext cx="1812889" cy="137160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Snowsight charts/dashboards, a Streamlit app, or export to Tableau / Power BI for the final visualization.</a:t>
            </a:r>
            <a:endParaRPr lang="en-US" sz="950" dirty="0"/>
          </a:p>
        </p:txBody>
      </p:sp>
      <p:sp>
        <p:nvSpPr>
          <p:cNvPr id="35" name="Shape 29"/>
          <p:cNvSpPr/>
          <p:nvPr/>
        </p:nvSpPr>
        <p:spPr>
          <a:xfrm>
            <a:off x="502920" y="4572000"/>
            <a:ext cx="11185855" cy="1463040"/>
          </a:xfrm>
          <a:prstGeom prst="roundRect">
            <a:avLst>
              <a:gd name="adj" fmla="val 5000"/>
            </a:avLst>
          </a:prstGeom>
          <a:solidFill>
            <a:srgbClr val="3A4556"/>
          </a:solidFill>
          <a:ln/>
        </p:spPr>
      </p:sp>
      <p:sp>
        <p:nvSpPr>
          <p:cNvPr id="36" name="Text 30"/>
          <p:cNvSpPr/>
          <p:nvPr/>
        </p:nvSpPr>
        <p:spPr>
          <a:xfrm>
            <a:off x="777240" y="4572000"/>
            <a:ext cx="10637215" cy="1463040"/>
          </a:xfrm>
          <a:prstGeom prst="rect">
            <a:avLst/>
          </a:prstGeom>
          <a:noFill/>
          <a:ln/>
        </p:spPr>
        <p:txBody>
          <a:bodyPr wrap="square" rtlCol="0" anchor="ctr"/>
          <a:lstStyle/>
          <a:p>
            <a:pPr algn="l" indent="0" marL="0">
              <a:lnSpc>
                <a:spcPct val="115000"/>
              </a:lnSpc>
              <a:buNone/>
            </a:pPr>
            <a:r>
              <a:rPr lang="en-US" sz="1300" i="1" dirty="0">
                <a:solidFill>
                  <a:srgbClr val="FFFFFF"/>
                </a:solidFill>
                <a:latin typeface="Calibri" pitchFamily="34" charset="0"/>
                <a:ea typeface="Calibri" pitchFamily="34" charset="-122"/>
                <a:cs typeface="Calibri" pitchFamily="34" charset="-120"/>
              </a:rPr>
              <a:t>The physical path — Cloud Services, Compute, Storage — is identical no matter which client opens the connection. What differs is entirely at the top: whether the client can also speak Snowflake's agentic and semantic-modeling APIs, which today only Snowsight, the CoWork surfaces, and direct REST/API calls can do.</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5C7699"/>
        </a:solidFill>
      </p:bgPr>
    </p:bg>
    <p:spTree>
      <p:nvGrpSpPr>
        <p:cNvPr id="1" name=""/>
        <p:cNvGrpSpPr/>
        <p:nvPr/>
      </p:nvGrpSpPr>
      <p:grpSpPr>
        <a:xfrm>
          <a:off x="0" y="0"/>
          <a:ext cx="0" cy="0"/>
          <a:chOff x="0" y="0"/>
          <a:chExt cx="0" cy="0"/>
        </a:xfrm>
      </p:grpSpPr>
      <p:sp>
        <p:nvSpPr>
          <p:cNvPr id="2" name="Text 0"/>
          <p:cNvSpPr/>
          <p:nvPr/>
        </p:nvSpPr>
        <p:spPr>
          <a:xfrm>
            <a:off x="502920" y="2331720"/>
            <a:ext cx="9144000" cy="320040"/>
          </a:xfrm>
          <a:prstGeom prst="rect">
            <a:avLst/>
          </a:prstGeom>
          <a:noFill/>
          <a:ln/>
        </p:spPr>
        <p:txBody>
          <a:bodyPr wrap="square" rtlCol="0" anchor="ctr"/>
          <a:lstStyle/>
          <a:p>
            <a:pPr indent="0" marL="0">
              <a:buNone/>
            </a:pPr>
            <a:r>
              <a:rPr lang="en-US" sz="1300" b="1" spc="250" kern="0" dirty="0">
                <a:solidFill>
                  <a:srgbClr val="FFFFFF"/>
                </a:solidFill>
                <a:latin typeface="Calibri" pitchFamily="34" charset="0"/>
                <a:ea typeface="Calibri" pitchFamily="34" charset="-122"/>
                <a:cs typeface="Calibri" pitchFamily="34" charset="-120"/>
              </a:rPr>
              <a:t>SNOWFLAKE AI ARCHITECTURE  •  HEALTHCARE DATA PLATFORM RESEARCH</a:t>
            </a:r>
            <a:endParaRPr lang="en-US" sz="1300" dirty="0"/>
          </a:p>
        </p:txBody>
      </p:sp>
      <p:sp>
        <p:nvSpPr>
          <p:cNvPr id="3" name="Text 1"/>
          <p:cNvSpPr/>
          <p:nvPr/>
        </p:nvSpPr>
        <p:spPr>
          <a:xfrm>
            <a:off x="10088575" y="502920"/>
            <a:ext cx="1463040" cy="1188720"/>
          </a:xfrm>
          <a:prstGeom prst="rect">
            <a:avLst/>
          </a:prstGeom>
          <a:noFill/>
          <a:ln/>
        </p:spPr>
        <p:txBody>
          <a:bodyPr wrap="square" rtlCol="0" anchor="ctr"/>
          <a:lstStyle/>
          <a:p>
            <a:pPr algn="r" indent="0" marL="0">
              <a:buNone/>
            </a:pPr>
            <a:r>
              <a:rPr lang="en-US" sz="6000" b="1" dirty="0">
                <a:solidFill>
                  <a:srgbClr val="FFFFFF">
                    <a:alpha val="45000"/>
                  </a:srgbClr>
                </a:solidFill>
                <a:latin typeface="Cambria" pitchFamily="34" charset="0"/>
                <a:ea typeface="Cambria" pitchFamily="34" charset="-122"/>
                <a:cs typeface="Cambria" pitchFamily="34" charset="-120"/>
              </a:rPr>
              <a:t>06</a:t>
            </a:r>
            <a:endParaRPr lang="en-US" sz="6000" dirty="0"/>
          </a:p>
        </p:txBody>
      </p:sp>
      <p:sp>
        <p:nvSpPr>
          <p:cNvPr id="4" name="Text 2"/>
          <p:cNvSpPr/>
          <p:nvPr/>
        </p:nvSpPr>
        <p:spPr>
          <a:xfrm>
            <a:off x="502920" y="2697480"/>
            <a:ext cx="10271455" cy="1371600"/>
          </a:xfrm>
          <a:prstGeom prst="rect">
            <a:avLst/>
          </a:prstGeom>
          <a:noFill/>
          <a:ln/>
        </p:spPr>
        <p:txBody>
          <a:bodyPr wrap="square"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Governance, Roles &amp; the Path Forward</a:t>
            </a:r>
            <a:endParaRPr lang="en-US" sz="3800" dirty="0"/>
          </a:p>
        </p:txBody>
      </p:sp>
      <p:sp>
        <p:nvSpPr>
          <p:cNvPr id="5" name="Text 3"/>
          <p:cNvSpPr/>
          <p:nvPr/>
        </p:nvSpPr>
        <p:spPr>
          <a:xfrm>
            <a:off x="502920" y="3977640"/>
            <a:ext cx="9357055" cy="822960"/>
          </a:xfrm>
          <a:prstGeom prst="rect">
            <a:avLst/>
          </a:prstGeom>
          <a:noFill/>
          <a:ln/>
        </p:spPr>
        <p:txBody>
          <a:bodyPr wrap="square" rtlCol="0" anchor="t"/>
          <a:lstStyle/>
          <a:p>
            <a:pPr algn="l" indent="0" marL="0">
              <a:lnSpc>
                <a:spcPct val="125000"/>
              </a:lnSpc>
              <a:buNone/>
            </a:pPr>
            <a:r>
              <a:rPr lang="en-US" sz="1400" dirty="0">
                <a:solidFill>
                  <a:srgbClr val="E9EFF8"/>
                </a:solidFill>
                <a:latin typeface="Calibri" pitchFamily="34" charset="0"/>
                <a:ea typeface="Calibri" pitchFamily="34" charset="-122"/>
                <a:cs typeface="Calibri" pitchFamily="34" charset="-120"/>
              </a:rPr>
              <a:t>Who owns each artifact in a software delivery organization, whether business users can safely self-serve, and how the pieces come together into a target architecture and roadmap.</a:t>
            </a:r>
            <a:endParaRPr lang="en-US" sz="1400" dirty="0"/>
          </a:p>
        </p:txBody>
      </p:sp>
      <p:sp>
        <p:nvSpPr>
          <p:cNvPr id="6" name="Text 4"/>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7" name="Text 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ROLES &amp; GOVERNANCE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Who Builds What: Role Responsibility Across Layers</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46</a:t>
            </a:r>
            <a:endParaRPr lang="en-US" sz="9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3611880"/>
                <a:gridCol w="4297680"/>
                <a:gridCol w="324612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Layer / Artifact</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3A455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Primary Owner</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5C7699"/>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Typical RBAC Role</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68758A"/>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Bronze (raw landing)</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Data Engineers / Ingestion Platform Team</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Custom LOAD_* functional role, via SYSADMIN hierarchy</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Silver (conform &amp; key)</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Data Engineers, with Analytics Engineers defining rules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Custom TRANSFORM_* functional role</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Gold (dimensional/curated)</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Analytics Engineers, standards set by the Data Architect</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Custom MODEL_* functional role</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Semantic Views / Cortex Analyst models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Analytics Engineers + Business/Data Analysts (definitions)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Custom SEMANTIC_* role with view-create grant</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Cortex Sense / context signals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Platform team (enablement) — content is emergent, not hand-built</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Inherited from underlying object grants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CoWork Skills &amp; MCP connectors</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Business Analysts / Power Users (author), Platform team (approve)</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CORTEX_USER / AI_FUNCTIONS_USER</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Masking, row-access, classification</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Security &amp; Governance / Data Governance Council</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SECURITYADMIN</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02336">
                <a:tc>
                  <a:txBody>
                    <a:bodyPr/>
                    <a:lstStyle/>
                    <a:p>
                      <a:pPr algn="l" indent="0" marL="0">
                        <a:buNone/>
                      </a:pPr>
                      <a:r>
                        <a:rPr lang="en-US" sz="1030" b="1" dirty="0">
                          <a:solidFill>
                            <a:srgbClr val="3A4556"/>
                          </a:solidFill>
                          <a:latin typeface="Calibri" pitchFamily="34" charset="0"/>
                          <a:ea typeface="Calibri" pitchFamily="34" charset="-122"/>
                          <a:cs typeface="Calibri" pitchFamily="34" charset="-120"/>
                        </a:rPr>
                        <a:t>Ad-hoc query &amp; reporting</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Business Users, Data Analysts, Data Scientists (consume only)</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30" dirty="0">
                          <a:solidFill>
                            <a:srgbClr val="68758A"/>
                          </a:solidFill>
                          <a:latin typeface="Calibri" pitchFamily="34" charset="0"/>
                          <a:ea typeface="Calibri" pitchFamily="34" charset="-122"/>
                          <a:cs typeface="Calibri" pitchFamily="34" charset="-120"/>
                        </a:rPr>
                        <a:t>Read-scoped custom role, least privilege</a:t>
                      </a:r>
                      <a:endParaRPr lang="en-US" sz="103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bl>
          </a:graphicData>
        </a:graphic>
      </p:graphicFrame>
      <p:sp>
        <p:nvSpPr>
          <p:cNvPr id="7" name="Shape 4"/>
          <p:cNvSpPr/>
          <p:nvPr/>
        </p:nvSpPr>
        <p:spPr>
          <a:xfrm>
            <a:off x="502920" y="5806440"/>
            <a:ext cx="11185855" cy="594360"/>
          </a:xfrm>
          <a:prstGeom prst="roundRect">
            <a:avLst>
              <a:gd name="adj" fmla="val 12308"/>
            </a:avLst>
          </a:prstGeom>
          <a:solidFill>
            <a:srgbClr val="FBEEE6"/>
          </a:solidFill>
          <a:ln/>
        </p:spPr>
      </p:sp>
      <p:sp>
        <p:nvSpPr>
          <p:cNvPr id="8" name="Text 5"/>
          <p:cNvSpPr/>
          <p:nvPr/>
        </p:nvSpPr>
        <p:spPr>
          <a:xfrm>
            <a:off x="777240" y="5806440"/>
            <a:ext cx="10637215" cy="594360"/>
          </a:xfrm>
          <a:prstGeom prst="rect">
            <a:avLst/>
          </a:prstGeom>
          <a:noFill/>
          <a:ln/>
        </p:spPr>
        <p:txBody>
          <a:bodyPr wrap="square" rtlCol="0" anchor="ctr"/>
          <a:lstStyle/>
          <a:p>
            <a:pPr algn="l" indent="0" marL="0">
              <a:lnSpc>
                <a:spcPct val="115000"/>
              </a:lnSpc>
              <a:buNone/>
            </a:pPr>
            <a:r>
              <a:rPr lang="en-US" sz="1150" i="1" dirty="0">
                <a:solidFill>
                  <a:srgbClr val="3A4556"/>
                </a:solidFill>
                <a:latin typeface="Calibri" pitchFamily="34" charset="0"/>
                <a:ea typeface="Calibri" pitchFamily="34" charset="-122"/>
                <a:cs typeface="Calibri" pitchFamily="34" charset="-120"/>
              </a:rPr>
              <a:t>The golden rule carried over from the platform team: never use ACCOUNTADMIN for daily work — every layer above is reached through a purpose-built custom role under SYSADMIN or SECURITYADMIN.</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ROLES &amp; GOVERNANCE</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Can a Business User Run Analysis from the CoWork Workspace?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47</a:t>
            </a:r>
            <a:endParaRPr lang="en-US" sz="900" dirty="0"/>
          </a:p>
        </p:txBody>
      </p:sp>
      <p:sp>
        <p:nvSpPr>
          <p:cNvPr id="6" name="Text 4"/>
          <p:cNvSpPr/>
          <p:nvPr/>
        </p:nvSpPr>
        <p:spPr>
          <a:xfrm>
            <a:off x="502920" y="1691640"/>
            <a:ext cx="11185855" cy="685800"/>
          </a:xfrm>
          <a:prstGeom prst="rect">
            <a:avLst/>
          </a:prstGeom>
          <a:noFill/>
          <a:ln/>
        </p:spPr>
        <p:txBody>
          <a:bodyPr wrap="square" rtlCol="0" anchor="ctr"/>
          <a:lstStyle/>
          <a:p>
            <a:pPr indent="0" marL="0">
              <a:lnSpc>
                <a:spcPct val="130000"/>
              </a:lnSpc>
              <a:buNone/>
            </a:pPr>
            <a:r>
              <a:rPr lang="en-US" sz="1400" dirty="0">
                <a:solidFill>
                  <a:srgbClr val="3A4556"/>
                </a:solidFill>
                <a:latin typeface="Calibri" pitchFamily="34" charset="0"/>
                <a:ea typeface="Calibri" pitchFamily="34" charset="-122"/>
                <a:cs typeface="Calibri" pitchFamily="34" charset="-120"/>
              </a:rPr>
              <a:t>Yes — by design. That is the point of the semantic and context layers described in this research. But "yes" comes with three built-in guardrails, not an open door to the warehouse.</a:t>
            </a:r>
            <a:endParaRPr lang="en-US" sz="1400" dirty="0"/>
          </a:p>
        </p:txBody>
      </p:sp>
      <p:sp>
        <p:nvSpPr>
          <p:cNvPr id="7" name="Shape 5"/>
          <p:cNvSpPr/>
          <p:nvPr/>
        </p:nvSpPr>
        <p:spPr>
          <a:xfrm>
            <a:off x="502920" y="2514600"/>
            <a:ext cx="3520440" cy="3200400"/>
          </a:xfrm>
          <a:prstGeom prst="roundRect">
            <a:avLst>
              <a:gd name="adj" fmla="val 2286"/>
            </a:avLst>
          </a:prstGeom>
          <a:solidFill>
            <a:srgbClr val="EAF0F8"/>
          </a:solidFill>
          <a:ln/>
        </p:spPr>
      </p:sp>
      <p:sp>
        <p:nvSpPr>
          <p:cNvPr id="8" name="Shape 6"/>
          <p:cNvSpPr/>
          <p:nvPr/>
        </p:nvSpPr>
        <p:spPr>
          <a:xfrm>
            <a:off x="704088" y="2715768"/>
            <a:ext cx="502920" cy="502920"/>
          </a:xfrm>
          <a:prstGeom prst="ellipse">
            <a:avLst/>
          </a:prstGeom>
          <a:solidFill>
            <a:srgbClr val="5C7699"/>
          </a:solidFill>
          <a:ln/>
        </p:spPr>
      </p:sp>
      <p:pic>
        <p:nvPicPr>
          <p:cNvPr id="9" name="Image 0" descr="/home/claude/snowflake_deck/icons/userShield_white.png">    </p:cNvPr>
          <p:cNvPicPr>
            <a:picLocks noChangeAspect="1"/>
          </p:cNvPicPr>
          <p:nvPr/>
        </p:nvPicPr>
        <p:blipFill>
          <a:blip r:embed="rId1"/>
          <a:stretch>
            <a:fillRect/>
          </a:stretch>
        </p:blipFill>
        <p:spPr>
          <a:xfrm>
            <a:off x="834847" y="2846527"/>
            <a:ext cx="241402" cy="241402"/>
          </a:xfrm>
          <a:prstGeom prst="rect">
            <a:avLst/>
          </a:prstGeom>
        </p:spPr>
      </p:pic>
      <p:sp>
        <p:nvSpPr>
          <p:cNvPr id="10" name="Text 7"/>
          <p:cNvSpPr/>
          <p:nvPr/>
        </p:nvSpPr>
        <p:spPr>
          <a:xfrm>
            <a:off x="1353312" y="269748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RBAC Is Inherited, Not Bypassed</a:t>
            </a:r>
            <a:endParaRPr lang="en-US" sz="1300" dirty="0"/>
          </a:p>
        </p:txBody>
      </p:sp>
      <p:sp>
        <p:nvSpPr>
          <p:cNvPr id="11" name="Text 8"/>
          <p:cNvSpPr/>
          <p:nvPr/>
        </p:nvSpPr>
        <p:spPr>
          <a:xfrm>
            <a:off x="704088" y="3328416"/>
            <a:ext cx="3118104" cy="22494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CoWork executes every generated query as the requesting user's own role. A business user sees exactly the rows and columns their role already permits — masking and row-access policies apply identically to an AI-generated query and a hand-written one.</a:t>
            </a:r>
            <a:endParaRPr lang="en-US" sz="1050" dirty="0"/>
          </a:p>
        </p:txBody>
      </p:sp>
      <p:sp>
        <p:nvSpPr>
          <p:cNvPr id="12" name="Shape 9"/>
          <p:cNvSpPr/>
          <p:nvPr/>
        </p:nvSpPr>
        <p:spPr>
          <a:xfrm>
            <a:off x="4206240" y="2514600"/>
            <a:ext cx="3520440" cy="3200400"/>
          </a:xfrm>
          <a:prstGeom prst="roundRect">
            <a:avLst>
              <a:gd name="adj" fmla="val 2286"/>
            </a:avLst>
          </a:prstGeom>
          <a:solidFill>
            <a:srgbClr val="EAF0F8"/>
          </a:solidFill>
          <a:ln/>
        </p:spPr>
      </p:sp>
      <p:sp>
        <p:nvSpPr>
          <p:cNvPr id="13" name="Shape 10"/>
          <p:cNvSpPr/>
          <p:nvPr/>
        </p:nvSpPr>
        <p:spPr>
          <a:xfrm>
            <a:off x="4407408" y="2715768"/>
            <a:ext cx="502920" cy="502920"/>
          </a:xfrm>
          <a:prstGeom prst="ellipse">
            <a:avLst/>
          </a:prstGeom>
          <a:solidFill>
            <a:srgbClr val="5C7699"/>
          </a:solidFill>
          <a:ln/>
        </p:spPr>
      </p:sp>
      <p:pic>
        <p:nvPicPr>
          <p:cNvPr id="14" name="Image 1" descr="/home/claude/snowflake_deck/icons/sitemap_white.png">    </p:cNvPr>
          <p:cNvPicPr>
            <a:picLocks noChangeAspect="1"/>
          </p:cNvPicPr>
          <p:nvPr/>
        </p:nvPicPr>
        <p:blipFill>
          <a:blip r:embed="rId2"/>
          <a:stretch>
            <a:fillRect/>
          </a:stretch>
        </p:blipFill>
        <p:spPr>
          <a:xfrm>
            <a:off x="4538167" y="2846527"/>
            <a:ext cx="241402" cy="241402"/>
          </a:xfrm>
          <a:prstGeom prst="rect">
            <a:avLst/>
          </a:prstGeom>
        </p:spPr>
      </p:pic>
      <p:sp>
        <p:nvSpPr>
          <p:cNvPr id="15" name="Text 11"/>
          <p:cNvSpPr/>
          <p:nvPr/>
        </p:nvSpPr>
        <p:spPr>
          <a:xfrm>
            <a:off x="5056632" y="269748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The Semantic Layer Is the Guardrail</a:t>
            </a:r>
            <a:endParaRPr lang="en-US" sz="1300" dirty="0"/>
          </a:p>
        </p:txBody>
      </p:sp>
      <p:sp>
        <p:nvSpPr>
          <p:cNvPr id="16" name="Text 12"/>
          <p:cNvSpPr/>
          <p:nvPr/>
        </p:nvSpPr>
        <p:spPr>
          <a:xfrm>
            <a:off x="4407408" y="3328416"/>
            <a:ext cx="3118104" cy="22494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Business users never write SQL or touch Bronze/Silver directly. They ask questions in business language; Cortex Analyst can only resolve them against metrics and joins a data/analytics engineer has already declared and validated in the Semantic View.</a:t>
            </a:r>
            <a:endParaRPr lang="en-US" sz="1050" dirty="0"/>
          </a:p>
        </p:txBody>
      </p:sp>
      <p:sp>
        <p:nvSpPr>
          <p:cNvPr id="17" name="Shape 13"/>
          <p:cNvSpPr/>
          <p:nvPr/>
        </p:nvSpPr>
        <p:spPr>
          <a:xfrm>
            <a:off x="7909560" y="2514600"/>
            <a:ext cx="3520440" cy="3200400"/>
          </a:xfrm>
          <a:prstGeom prst="roundRect">
            <a:avLst>
              <a:gd name="adj" fmla="val 2286"/>
            </a:avLst>
          </a:prstGeom>
          <a:solidFill>
            <a:srgbClr val="EAF0F8"/>
          </a:solidFill>
          <a:ln/>
        </p:spPr>
      </p:sp>
      <p:sp>
        <p:nvSpPr>
          <p:cNvPr id="18" name="Shape 14"/>
          <p:cNvSpPr/>
          <p:nvPr/>
        </p:nvSpPr>
        <p:spPr>
          <a:xfrm>
            <a:off x="8110728" y="2715768"/>
            <a:ext cx="502920" cy="502920"/>
          </a:xfrm>
          <a:prstGeom prst="ellipse">
            <a:avLst/>
          </a:prstGeom>
          <a:solidFill>
            <a:srgbClr val="5C7699"/>
          </a:solidFill>
          <a:ln/>
        </p:spPr>
      </p:sp>
      <p:pic>
        <p:nvPicPr>
          <p:cNvPr id="19" name="Image 2" descr="/home/claude/snowflake_deck/icons/eye_white.png">    </p:cNvPr>
          <p:cNvPicPr>
            <a:picLocks noChangeAspect="1"/>
          </p:cNvPicPr>
          <p:nvPr/>
        </p:nvPicPr>
        <p:blipFill>
          <a:blip r:embed="rId3"/>
          <a:stretch>
            <a:fillRect/>
          </a:stretch>
        </p:blipFill>
        <p:spPr>
          <a:xfrm>
            <a:off x="8241487" y="2846527"/>
            <a:ext cx="241402" cy="241402"/>
          </a:xfrm>
          <a:prstGeom prst="rect">
            <a:avLst/>
          </a:prstGeom>
        </p:spPr>
      </p:pic>
      <p:sp>
        <p:nvSpPr>
          <p:cNvPr id="20" name="Text 15"/>
          <p:cNvSpPr/>
          <p:nvPr/>
        </p:nvSpPr>
        <p:spPr>
          <a:xfrm>
            <a:off x="8759952" y="2697480"/>
            <a:ext cx="2487168" cy="457200"/>
          </a:xfrm>
          <a:prstGeom prst="rect">
            <a:avLst/>
          </a:prstGeom>
          <a:noFill/>
          <a:ln/>
        </p:spPr>
        <p:txBody>
          <a:bodyPr wrap="square" rtlCol="0" anchor="t"/>
          <a:lstStyle/>
          <a:p>
            <a:pPr indent="0" marL="0">
              <a:buNone/>
            </a:pPr>
            <a:r>
              <a:rPr lang="en-US" sz="1300" b="1" dirty="0">
                <a:solidFill>
                  <a:srgbClr val="3A4556"/>
                </a:solidFill>
                <a:latin typeface="Calibri" pitchFamily="34" charset="0"/>
                <a:ea typeface="Calibri" pitchFamily="34" charset="-122"/>
                <a:cs typeface="Calibri" pitchFamily="34" charset="-120"/>
              </a:rPr>
              <a:t>Every Action Is Governed and Logged</a:t>
            </a:r>
            <a:endParaRPr lang="en-US" sz="1300" dirty="0"/>
          </a:p>
        </p:txBody>
      </p:sp>
      <p:sp>
        <p:nvSpPr>
          <p:cNvPr id="21" name="Text 16"/>
          <p:cNvSpPr/>
          <p:nvPr/>
        </p:nvSpPr>
        <p:spPr>
          <a:xfrm>
            <a:off x="8110728" y="3328416"/>
            <a:ext cx="3118104" cy="2249424"/>
          </a:xfrm>
          <a:prstGeom prst="rect">
            <a:avLst/>
          </a:prstGeom>
          <a:noFill/>
          <a:ln/>
        </p:spPr>
        <p:txBody>
          <a:bodyPr wrap="square" rtlCol="0" anchor="t"/>
          <a:lstStyle/>
          <a:p>
            <a:pPr indent="0" marL="0">
              <a:lnSpc>
                <a:spcPct val="115000"/>
              </a:lnSpc>
              <a:buNone/>
            </a:pPr>
            <a:r>
              <a:rPr lang="en-US" sz="1050" dirty="0">
                <a:solidFill>
                  <a:srgbClr val="68758A"/>
                </a:solidFill>
                <a:latin typeface="Calibri" pitchFamily="34" charset="0"/>
                <a:ea typeface="Calibri" pitchFamily="34" charset="-122"/>
                <a:cs typeface="Calibri" pitchFamily="34" charset="-120"/>
              </a:rPr>
              <a:t>Admin-defined policies control what CoWork may do autonomously versus what needs approval, and every interaction — question, generated SQL, and result — is captured in the same audit trail as any other Snowflake activity.</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Synthesis Scorecard: The Recommended Target Architecture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48</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2148840"/>
                <a:gridCol w="5029200"/>
                <a:gridCol w="393192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3A455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Recommended: Snowflake-Native Blueprint</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5E9C7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Avoid: Fragmented Multi-Hop Stack</a:t>
                      </a:r>
                      <a:endParaRPr lang="en-US" sz="115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C0604B"/>
                    </a:solidFill>
                  </a:tcPr>
                </a:tc>
              </a:tr>
              <a:tr h="457200">
                <a:tc>
                  <a:txBody>
                    <a:bodyPr/>
                    <a:lstStyle/>
                    <a:p>
                      <a:pPr algn="l" indent="0" marL="0">
                        <a:buNone/>
                      </a:pPr>
                      <a:r>
                        <a:rPr lang="en-US" sz="1080" b="1" dirty="0">
                          <a:solidFill>
                            <a:srgbClr val="3A4556"/>
                          </a:solidFill>
                          <a:latin typeface="Calibri" pitchFamily="34" charset="0"/>
                          <a:ea typeface="Calibri" pitchFamily="34" charset="-122"/>
                          <a:cs typeface="Calibri" pitchFamily="34" charset="-120"/>
                        </a:rPr>
                        <a:t>Data Security</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Zero-egress, intrinsic RBAC — data never leaves the account</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Multi-hop vulnerabilities; higher incident exposure</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080" b="1" dirty="0">
                          <a:solidFill>
                            <a:srgbClr val="3A4556"/>
                          </a:solidFill>
                          <a:latin typeface="Calibri" pitchFamily="34" charset="0"/>
                          <a:ea typeface="Calibri" pitchFamily="34" charset="-122"/>
                          <a:cs typeface="Calibri" pitchFamily="34" charset="-120"/>
                        </a:rPr>
                        <a:t>Data Model</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One medallion architecture, one entity model, one semantic layer</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Duplicated logic per tool; drifting definitions of "member"</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57200">
                <a:tc>
                  <a:txBody>
                    <a:bodyPr/>
                    <a:lstStyle/>
                    <a:p>
                      <a:pPr algn="l" indent="0" marL="0">
                        <a:buNone/>
                      </a:pPr>
                      <a:r>
                        <a:rPr lang="en-US" sz="1080" b="1" dirty="0">
                          <a:solidFill>
                            <a:srgbClr val="3A4556"/>
                          </a:solidFill>
                          <a:latin typeface="Calibri" pitchFamily="34" charset="0"/>
                          <a:ea typeface="Calibri" pitchFamily="34" charset="-122"/>
                          <a:cs typeface="Calibri" pitchFamily="34" charset="-120"/>
                        </a:rPr>
                        <a:t>AI Access</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CoWork + Cortex for governed self-service; AgentCore for app-embedded agents</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A single framework stretched to cover both use cases poorly</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r h="457200">
                <a:tc>
                  <a:txBody>
                    <a:bodyPr/>
                    <a:lstStyle/>
                    <a:p>
                      <a:pPr algn="l" indent="0" marL="0">
                        <a:buNone/>
                      </a:pPr>
                      <a:r>
                        <a:rPr lang="en-US" sz="1080" b="1" dirty="0">
                          <a:solidFill>
                            <a:srgbClr val="3A4556"/>
                          </a:solidFill>
                          <a:latin typeface="Calibri" pitchFamily="34" charset="0"/>
                          <a:ea typeface="Calibri" pitchFamily="34" charset="-122"/>
                          <a:cs typeface="Calibri" pitchFamily="34" charset="-120"/>
                        </a:rPr>
                        <a:t>Tooling</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Snowsight for AI-native work; TOAD/DBeaver kept for SQL-native work</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Forcing every workflow into one tool</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5F7FB"/>
                    </a:solidFill>
                  </a:tcPr>
                </a:tc>
              </a:tr>
              <a:tr h="457200">
                <a:tc>
                  <a:txBody>
                    <a:bodyPr/>
                    <a:lstStyle/>
                    <a:p>
                      <a:pPr algn="l" indent="0" marL="0">
                        <a:buNone/>
                      </a:pPr>
                      <a:r>
                        <a:rPr lang="en-US" sz="1080" b="1" dirty="0">
                          <a:solidFill>
                            <a:srgbClr val="3A4556"/>
                          </a:solidFill>
                          <a:latin typeface="Calibri" pitchFamily="34" charset="0"/>
                          <a:ea typeface="Calibri" pitchFamily="34" charset="-122"/>
                          <a:cs typeface="Calibri" pitchFamily="34" charset="-120"/>
                        </a:rPr>
                        <a:t>TCO &amp; Effort</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Native dbt, Snowpark, serverless AI — minimal new infrastructure</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68758A"/>
                          </a:solidFill>
                          <a:latin typeface="Calibri" pitchFamily="34" charset="0"/>
                          <a:ea typeface="Calibri" pitchFamily="34" charset="-122"/>
                          <a:cs typeface="Calibri" pitchFamily="34" charset="-120"/>
                        </a:rPr>
                        <a:t>High engineering overhead for custom RAG and orchestration</a:t>
                      </a:r>
                      <a:endParaRPr lang="en-US" sz="1080" dirty="0">
                        <a:latin typeface="Calibri" charset="0"/>
                        <a:ea typeface="Calibri" charset="0"/>
                        <a:cs typeface="Calibri" charset="0"/>
                      </a:endParaRPr>
                    </a:p>
                  </a:txBody>
                  <a:tcPr marL="101600" marR="101600" marT="50800" marB="50800" anchor="ctr">
                    <a:lnL w="9525" cap="flat" cmpd="sng" algn="ctr">
                      <a:solidFill>
                        <a:srgbClr val="E7EAF0"/>
                      </a:solidFill>
                      <a:prstDash val="solid"/>
                      <a:round/>
                      <a:headEnd type="none" w="med" len="med"/>
                      <a:tailEnd type="none" w="med" len="med"/>
                    </a:lnL>
                    <a:lnR w="9525" cap="flat" cmpd="sng" algn="ctr">
                      <a:solidFill>
                        <a:srgbClr val="E7EAF0"/>
                      </a:solidFill>
                      <a:prstDash val="solid"/>
                      <a:round/>
                      <a:headEnd type="none" w="med" len="med"/>
                      <a:tailEnd type="none" w="med" len="med"/>
                    </a:lnR>
                    <a:lnT w="9525" cap="flat" cmpd="sng" algn="ctr">
                      <a:solidFill>
                        <a:srgbClr val="E7EAF0"/>
                      </a:solidFill>
                      <a:prstDash val="solid"/>
                      <a:round/>
                      <a:headEnd type="none" w="med" len="med"/>
                      <a:tailEnd type="none" w="med" len="med"/>
                    </a:lnT>
                    <a:lnB w="9525" cap="flat" cmpd="sng" algn="ctr">
                      <a:solidFill>
                        <a:srgbClr val="E7EAF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892040"/>
            <a:ext cx="11185855" cy="1417320"/>
          </a:xfrm>
          <a:prstGeom prst="roundRect">
            <a:avLst>
              <a:gd name="adj" fmla="val 5161"/>
            </a:avLst>
          </a:prstGeom>
          <a:solidFill>
            <a:srgbClr val="3A4556"/>
          </a:solidFill>
          <a:ln/>
        </p:spPr>
      </p:sp>
      <p:sp>
        <p:nvSpPr>
          <p:cNvPr id="8" name="Text 5"/>
          <p:cNvSpPr/>
          <p:nvPr/>
        </p:nvSpPr>
        <p:spPr>
          <a:xfrm>
            <a:off x="777240" y="5029200"/>
            <a:ext cx="10698480" cy="274320"/>
          </a:xfrm>
          <a:prstGeom prst="rect">
            <a:avLst/>
          </a:prstGeom>
          <a:noFill/>
          <a:ln/>
        </p:spPr>
        <p:txBody>
          <a:bodyPr wrap="square" rtlCol="0" anchor="ctr"/>
          <a:lstStyle/>
          <a:p>
            <a:pPr indent="0" marL="0">
              <a:buNone/>
            </a:pPr>
            <a:r>
              <a:rPr lang="en-US" sz="1050" b="1" spc="50" kern="0" dirty="0">
                <a:solidFill>
                  <a:srgbClr val="E2A07E"/>
                </a:solidFill>
                <a:latin typeface="Calibri" pitchFamily="34" charset="0"/>
                <a:ea typeface="Calibri" pitchFamily="34" charset="-122"/>
                <a:cs typeface="Calibri" pitchFamily="34" charset="-120"/>
              </a:rPr>
              <a:t>PROOF POINT — THE PAYER CONTACT CENTRE PATTERN</a:t>
            </a:r>
            <a:endParaRPr lang="en-US" sz="1050" dirty="0"/>
          </a:p>
        </p:txBody>
      </p:sp>
      <p:sp>
        <p:nvSpPr>
          <p:cNvPr id="9" name="Text 6"/>
          <p:cNvSpPr/>
          <p:nvPr/>
        </p:nvSpPr>
        <p:spPr>
          <a:xfrm>
            <a:off x="777240" y="5321808"/>
            <a:ext cx="10637215" cy="868680"/>
          </a:xfrm>
          <a:prstGeom prst="rect">
            <a:avLst/>
          </a:prstGeom>
          <a:noFill/>
          <a:ln/>
        </p:spPr>
        <p:txBody>
          <a:bodyPr wrap="square" rtlCol="0" anchor="ctr"/>
          <a:lstStyle/>
          <a:p>
            <a:pPr indent="0" marL="0">
              <a:lnSpc>
                <a:spcPct val="120000"/>
              </a:lnSpc>
              <a:buNone/>
            </a:pPr>
            <a:r>
              <a:rPr lang="en-US" sz="1080" dirty="0">
                <a:solidFill>
                  <a:srgbClr val="FFFFFF"/>
                </a:solidFill>
                <a:latin typeface="Calibri" pitchFamily="34" charset="0"/>
                <a:ea typeface="Calibri" pitchFamily="34" charset="-122"/>
                <a:cs typeface="Calibri" pitchFamily="34" charset="-120"/>
              </a:rPr>
              <a:t>Structured Member 360 data, unstructured benefit PDFs, and call-interaction transcripts converge in one Snowflake semantic layer — powering caller-intent prediction and next-best-action, entirely in place. Sanofi rebuilt equivalent contact-centre workflows natively on Snowflake, eliminating legacy SaaS lock-in — the same pattern this healthcare platform can reuse for enrollment, claims, and provider support.</a:t>
            </a:r>
            <a:endParaRPr lang="en-US" sz="10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C97F5C"/>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02920" y="676656"/>
            <a:ext cx="11185855" cy="777240"/>
          </a:xfrm>
          <a:prstGeom prst="rect">
            <a:avLst/>
          </a:prstGeom>
          <a:noFill/>
          <a:ln/>
        </p:spPr>
        <p:txBody>
          <a:bodyPr wrap="square" lIns="0" tIns="0" rIns="0" bIns="0" rtlCol="0" anchor="t"/>
          <a:lstStyle/>
          <a:p>
            <a:pPr algn="l" indent="0" marL="0">
              <a:buNone/>
            </a:pPr>
            <a:r>
              <a:rPr lang="en-US" sz="3000" b="1" dirty="0">
                <a:solidFill>
                  <a:srgbClr val="3A4556"/>
                </a:solidFill>
                <a:latin typeface="Cambria" pitchFamily="34" charset="0"/>
                <a:ea typeface="Cambria" pitchFamily="34" charset="-122"/>
                <a:cs typeface="Cambria" pitchFamily="34" charset="-120"/>
              </a:rPr>
              <a:t>Migration Roadmap: A Phased Path to the Target State</a:t>
            </a:r>
            <a:endParaRPr lang="en-US" sz="3000" dirty="0"/>
          </a:p>
        </p:txBody>
      </p:sp>
      <p:sp>
        <p:nvSpPr>
          <p:cNvPr id="4" name="Text 2"/>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5" name="Text 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49</a:t>
            </a:r>
            <a:endParaRPr lang="en-US" sz="900" dirty="0"/>
          </a:p>
        </p:txBody>
      </p:sp>
      <p:sp>
        <p:nvSpPr>
          <p:cNvPr id="6" name="Shape 4"/>
          <p:cNvSpPr/>
          <p:nvPr/>
        </p:nvSpPr>
        <p:spPr>
          <a:xfrm>
            <a:off x="502920" y="2103120"/>
            <a:ext cx="2032345" cy="2286000"/>
          </a:xfrm>
          <a:prstGeom prst="roundRect">
            <a:avLst>
              <a:gd name="adj" fmla="val 3599"/>
            </a:avLst>
          </a:prstGeom>
          <a:solidFill>
            <a:srgbClr val="EAF0F8"/>
          </a:solidFill>
          <a:ln/>
        </p:spPr>
      </p:sp>
      <p:sp>
        <p:nvSpPr>
          <p:cNvPr id="7" name="Shape 5"/>
          <p:cNvSpPr/>
          <p:nvPr/>
        </p:nvSpPr>
        <p:spPr>
          <a:xfrm>
            <a:off x="1345357" y="1929384"/>
            <a:ext cx="347472" cy="347472"/>
          </a:xfrm>
          <a:prstGeom prst="ellipse">
            <a:avLst/>
          </a:prstGeom>
          <a:solidFill>
            <a:srgbClr val="5C7699"/>
          </a:solidFill>
          <a:ln w="25400">
            <a:solidFill>
              <a:srgbClr val="FFFFFF"/>
            </a:solidFill>
            <a:prstDash val="solid"/>
          </a:ln>
        </p:spPr>
      </p:sp>
      <p:sp>
        <p:nvSpPr>
          <p:cNvPr id="8" name="Text 6"/>
          <p:cNvSpPr/>
          <p:nvPr/>
        </p:nvSpPr>
        <p:spPr>
          <a:xfrm>
            <a:off x="1345357"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612648"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Foundation</a:t>
            </a:r>
            <a:endParaRPr lang="en-US" sz="1200" dirty="0"/>
          </a:p>
        </p:txBody>
      </p:sp>
      <p:sp>
        <p:nvSpPr>
          <p:cNvPr id="10" name="Text 8"/>
          <p:cNvSpPr/>
          <p:nvPr/>
        </p:nvSpPr>
        <p:spPr>
          <a:xfrm>
            <a:off x="612648" y="2724912"/>
            <a:ext cx="1812889" cy="155448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Stand up the Snowflake account; land Bronze for the highest-value domains (Enrollment, Claims) via structured assessment and dependency mapping.</a:t>
            </a:r>
            <a:endParaRPr lang="en-US" sz="950" dirty="0"/>
          </a:p>
        </p:txBody>
      </p:sp>
      <p:pic>
        <p:nvPicPr>
          <p:cNvPr id="11" name="Image 0" descr="/home/claude/snowflake_deck/icons/arrowRight_lightgray.png">    </p:cNvPr>
          <p:cNvPicPr>
            <a:picLocks noChangeAspect="1"/>
          </p:cNvPicPr>
          <p:nvPr/>
        </p:nvPicPr>
        <p:blipFill>
          <a:blip r:embed="rId1"/>
          <a:stretch>
            <a:fillRect/>
          </a:stretch>
        </p:blipFill>
        <p:spPr>
          <a:xfrm>
            <a:off x="2580985" y="3163824"/>
            <a:ext cx="164592" cy="164592"/>
          </a:xfrm>
          <a:prstGeom prst="rect">
            <a:avLst/>
          </a:prstGeom>
        </p:spPr>
      </p:pic>
      <p:sp>
        <p:nvSpPr>
          <p:cNvPr id="12" name="Shape 9"/>
          <p:cNvSpPr/>
          <p:nvPr/>
        </p:nvSpPr>
        <p:spPr>
          <a:xfrm>
            <a:off x="2791297" y="2103120"/>
            <a:ext cx="2032345" cy="2286000"/>
          </a:xfrm>
          <a:prstGeom prst="roundRect">
            <a:avLst>
              <a:gd name="adj" fmla="val 3599"/>
            </a:avLst>
          </a:prstGeom>
          <a:solidFill>
            <a:srgbClr val="EAF0F8"/>
          </a:solidFill>
          <a:ln/>
        </p:spPr>
      </p:sp>
      <p:sp>
        <p:nvSpPr>
          <p:cNvPr id="13" name="Shape 10"/>
          <p:cNvSpPr/>
          <p:nvPr/>
        </p:nvSpPr>
        <p:spPr>
          <a:xfrm>
            <a:off x="3633734" y="1929384"/>
            <a:ext cx="347472" cy="347472"/>
          </a:xfrm>
          <a:prstGeom prst="ellipse">
            <a:avLst/>
          </a:prstGeom>
          <a:solidFill>
            <a:srgbClr val="5C7699"/>
          </a:solidFill>
          <a:ln w="25400">
            <a:solidFill>
              <a:srgbClr val="FFFFFF"/>
            </a:solidFill>
            <a:prstDash val="solid"/>
          </a:ln>
        </p:spPr>
      </p:sp>
      <p:sp>
        <p:nvSpPr>
          <p:cNvPr id="14" name="Text 11"/>
          <p:cNvSpPr/>
          <p:nvPr/>
        </p:nvSpPr>
        <p:spPr>
          <a:xfrm>
            <a:off x="3633734"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2901025"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Conform &amp; Curate</a:t>
            </a:r>
            <a:endParaRPr lang="en-US" sz="1200" dirty="0"/>
          </a:p>
        </p:txBody>
      </p:sp>
      <p:sp>
        <p:nvSpPr>
          <p:cNvPr id="16" name="Text 13"/>
          <p:cNvSpPr/>
          <p:nvPr/>
        </p:nvSpPr>
        <p:spPr>
          <a:xfrm>
            <a:off x="2901025" y="2724912"/>
            <a:ext cx="1812889" cy="155448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Build Silver conformance to unified Member/Provider/Group keys; ship first Gold dimensional models and Semantic Views.</a:t>
            </a:r>
            <a:endParaRPr lang="en-US" sz="950" dirty="0"/>
          </a:p>
        </p:txBody>
      </p:sp>
      <p:pic>
        <p:nvPicPr>
          <p:cNvPr id="17" name="Image 1" descr="/home/claude/snowflake_deck/icons/arrowRight_lightgray.png">    </p:cNvPr>
          <p:cNvPicPr>
            <a:picLocks noChangeAspect="1"/>
          </p:cNvPicPr>
          <p:nvPr/>
        </p:nvPicPr>
        <p:blipFill>
          <a:blip r:embed="rId2"/>
          <a:stretch>
            <a:fillRect/>
          </a:stretch>
        </p:blipFill>
        <p:spPr>
          <a:xfrm>
            <a:off x="4869363" y="3163824"/>
            <a:ext cx="164592" cy="164592"/>
          </a:xfrm>
          <a:prstGeom prst="rect">
            <a:avLst/>
          </a:prstGeom>
        </p:spPr>
      </p:pic>
      <p:sp>
        <p:nvSpPr>
          <p:cNvPr id="18" name="Shape 14"/>
          <p:cNvSpPr/>
          <p:nvPr/>
        </p:nvSpPr>
        <p:spPr>
          <a:xfrm>
            <a:off x="5079675" y="2103120"/>
            <a:ext cx="2032345" cy="2286000"/>
          </a:xfrm>
          <a:prstGeom prst="roundRect">
            <a:avLst>
              <a:gd name="adj" fmla="val 3599"/>
            </a:avLst>
          </a:prstGeom>
          <a:solidFill>
            <a:srgbClr val="EAF0F8"/>
          </a:solidFill>
          <a:ln/>
        </p:spPr>
      </p:sp>
      <p:sp>
        <p:nvSpPr>
          <p:cNvPr id="19" name="Shape 15"/>
          <p:cNvSpPr/>
          <p:nvPr/>
        </p:nvSpPr>
        <p:spPr>
          <a:xfrm>
            <a:off x="5922112" y="1929384"/>
            <a:ext cx="347472" cy="347472"/>
          </a:xfrm>
          <a:prstGeom prst="ellipse">
            <a:avLst/>
          </a:prstGeom>
          <a:solidFill>
            <a:srgbClr val="5C7699"/>
          </a:solidFill>
          <a:ln w="25400">
            <a:solidFill>
              <a:srgbClr val="FFFFFF"/>
            </a:solidFill>
            <a:prstDash val="solid"/>
          </a:ln>
        </p:spPr>
      </p:sp>
      <p:sp>
        <p:nvSpPr>
          <p:cNvPr id="20" name="Text 16"/>
          <p:cNvSpPr/>
          <p:nvPr/>
        </p:nvSpPr>
        <p:spPr>
          <a:xfrm>
            <a:off x="5922112"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5189403"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Enable Self-Service</a:t>
            </a:r>
            <a:endParaRPr lang="en-US" sz="1200" dirty="0"/>
          </a:p>
        </p:txBody>
      </p:sp>
      <p:sp>
        <p:nvSpPr>
          <p:cNvPr id="22" name="Text 18"/>
          <p:cNvSpPr/>
          <p:nvPr/>
        </p:nvSpPr>
        <p:spPr>
          <a:xfrm>
            <a:off x="5189403" y="2724912"/>
            <a:ext cx="1812889" cy="155448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Turn on Cortex Analyst and CoWork against the validated Semantic Views; migrate ad-hoc TOAD/DBeaver users to governed workflows where it adds value.</a:t>
            </a:r>
            <a:endParaRPr lang="en-US" sz="950" dirty="0"/>
          </a:p>
        </p:txBody>
      </p:sp>
      <p:pic>
        <p:nvPicPr>
          <p:cNvPr id="23" name="Image 2" descr="/home/claude/snowflake_deck/icons/arrowRight_lightgray.png">    </p:cNvPr>
          <p:cNvPicPr>
            <a:picLocks noChangeAspect="1"/>
          </p:cNvPicPr>
          <p:nvPr/>
        </p:nvPicPr>
        <p:blipFill>
          <a:blip r:embed="rId3"/>
          <a:stretch>
            <a:fillRect/>
          </a:stretch>
        </p:blipFill>
        <p:spPr>
          <a:xfrm>
            <a:off x="7157740" y="3163824"/>
            <a:ext cx="164592" cy="164592"/>
          </a:xfrm>
          <a:prstGeom prst="rect">
            <a:avLst/>
          </a:prstGeom>
        </p:spPr>
      </p:pic>
      <p:sp>
        <p:nvSpPr>
          <p:cNvPr id="24" name="Shape 19"/>
          <p:cNvSpPr/>
          <p:nvPr/>
        </p:nvSpPr>
        <p:spPr>
          <a:xfrm>
            <a:off x="7368052" y="2103120"/>
            <a:ext cx="2032345" cy="2286000"/>
          </a:xfrm>
          <a:prstGeom prst="roundRect">
            <a:avLst>
              <a:gd name="adj" fmla="val 3599"/>
            </a:avLst>
          </a:prstGeom>
          <a:solidFill>
            <a:srgbClr val="EAF0F8"/>
          </a:solidFill>
          <a:ln/>
        </p:spPr>
      </p:sp>
      <p:sp>
        <p:nvSpPr>
          <p:cNvPr id="25" name="Shape 20"/>
          <p:cNvSpPr/>
          <p:nvPr/>
        </p:nvSpPr>
        <p:spPr>
          <a:xfrm>
            <a:off x="8210489" y="1929384"/>
            <a:ext cx="347472" cy="347472"/>
          </a:xfrm>
          <a:prstGeom prst="ellipse">
            <a:avLst/>
          </a:prstGeom>
          <a:solidFill>
            <a:srgbClr val="5C7699"/>
          </a:solidFill>
          <a:ln w="25400">
            <a:solidFill>
              <a:srgbClr val="FFFFFF"/>
            </a:solidFill>
            <a:prstDash val="solid"/>
          </a:ln>
        </p:spPr>
      </p:sp>
      <p:sp>
        <p:nvSpPr>
          <p:cNvPr id="26" name="Text 21"/>
          <p:cNvSpPr/>
          <p:nvPr/>
        </p:nvSpPr>
        <p:spPr>
          <a:xfrm>
            <a:off x="8210489"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2"/>
          <p:cNvSpPr/>
          <p:nvPr/>
        </p:nvSpPr>
        <p:spPr>
          <a:xfrm>
            <a:off x="7477780"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Extend &amp; Automate</a:t>
            </a:r>
            <a:endParaRPr lang="en-US" sz="1200" dirty="0"/>
          </a:p>
        </p:txBody>
      </p:sp>
      <p:sp>
        <p:nvSpPr>
          <p:cNvPr id="28" name="Text 23"/>
          <p:cNvSpPr/>
          <p:nvPr/>
        </p:nvSpPr>
        <p:spPr>
          <a:xfrm>
            <a:off x="7477780" y="2724912"/>
            <a:ext cx="1812889" cy="155448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Add remaining domains, Cortex Search over unstructured documents, and CoWork Skills/Automations for recurring analyst tasks.</a:t>
            </a:r>
            <a:endParaRPr lang="en-US" sz="950" dirty="0"/>
          </a:p>
        </p:txBody>
      </p:sp>
      <p:pic>
        <p:nvPicPr>
          <p:cNvPr id="29" name="Image 3" descr="/home/claude/snowflake_deck/icons/arrowRight_lightgray.png">    </p:cNvPr>
          <p:cNvPicPr>
            <a:picLocks noChangeAspect="1"/>
          </p:cNvPicPr>
          <p:nvPr/>
        </p:nvPicPr>
        <p:blipFill>
          <a:blip r:embed="rId4"/>
          <a:stretch>
            <a:fillRect/>
          </a:stretch>
        </p:blipFill>
        <p:spPr>
          <a:xfrm>
            <a:off x="9446118" y="3163824"/>
            <a:ext cx="164592" cy="164592"/>
          </a:xfrm>
          <a:prstGeom prst="rect">
            <a:avLst/>
          </a:prstGeom>
        </p:spPr>
      </p:pic>
      <p:sp>
        <p:nvSpPr>
          <p:cNvPr id="30" name="Shape 24"/>
          <p:cNvSpPr/>
          <p:nvPr/>
        </p:nvSpPr>
        <p:spPr>
          <a:xfrm>
            <a:off x="9656430" y="2103120"/>
            <a:ext cx="2032345" cy="2286000"/>
          </a:xfrm>
          <a:prstGeom prst="roundRect">
            <a:avLst>
              <a:gd name="adj" fmla="val 3599"/>
            </a:avLst>
          </a:prstGeom>
          <a:solidFill>
            <a:srgbClr val="EAF0F8"/>
          </a:solidFill>
          <a:ln/>
        </p:spPr>
      </p:sp>
      <p:sp>
        <p:nvSpPr>
          <p:cNvPr id="31" name="Shape 25"/>
          <p:cNvSpPr/>
          <p:nvPr/>
        </p:nvSpPr>
        <p:spPr>
          <a:xfrm>
            <a:off x="10498866" y="1929384"/>
            <a:ext cx="347472" cy="347472"/>
          </a:xfrm>
          <a:prstGeom prst="ellipse">
            <a:avLst/>
          </a:prstGeom>
          <a:solidFill>
            <a:srgbClr val="5C7699"/>
          </a:solidFill>
          <a:ln w="25400">
            <a:solidFill>
              <a:srgbClr val="FFFFFF"/>
            </a:solidFill>
            <a:prstDash val="solid"/>
          </a:ln>
        </p:spPr>
      </p:sp>
      <p:sp>
        <p:nvSpPr>
          <p:cNvPr id="32" name="Text 26"/>
          <p:cNvSpPr/>
          <p:nvPr/>
        </p:nvSpPr>
        <p:spPr>
          <a:xfrm>
            <a:off x="10498866" y="1929384"/>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27"/>
          <p:cNvSpPr/>
          <p:nvPr/>
        </p:nvSpPr>
        <p:spPr>
          <a:xfrm>
            <a:off x="9766158" y="2304288"/>
            <a:ext cx="1812889" cy="457200"/>
          </a:xfrm>
          <a:prstGeom prst="rect">
            <a:avLst/>
          </a:prstGeom>
          <a:noFill/>
          <a:ln/>
        </p:spPr>
        <p:txBody>
          <a:bodyPr wrap="square" rtlCol="0" anchor="t"/>
          <a:lstStyle/>
          <a:p>
            <a:pPr algn="l" indent="0" marL="0">
              <a:buNone/>
            </a:pPr>
            <a:r>
              <a:rPr lang="en-US" sz="1200" b="1" dirty="0">
                <a:solidFill>
                  <a:srgbClr val="3A4556"/>
                </a:solidFill>
                <a:latin typeface="Calibri" pitchFamily="34" charset="0"/>
                <a:ea typeface="Calibri" pitchFamily="34" charset="-122"/>
                <a:cs typeface="Calibri" pitchFamily="34" charset="-120"/>
              </a:rPr>
              <a:t>Optimize &amp; Govern</a:t>
            </a:r>
            <a:endParaRPr lang="en-US" sz="1200" dirty="0"/>
          </a:p>
        </p:txBody>
      </p:sp>
      <p:sp>
        <p:nvSpPr>
          <p:cNvPr id="34" name="Text 28"/>
          <p:cNvSpPr/>
          <p:nvPr/>
        </p:nvSpPr>
        <p:spPr>
          <a:xfrm>
            <a:off x="9766158" y="2724912"/>
            <a:ext cx="1812889" cy="1554480"/>
          </a:xfrm>
          <a:prstGeom prst="rect">
            <a:avLst/>
          </a:prstGeom>
          <a:noFill/>
          <a:ln/>
        </p:spPr>
        <p:txBody>
          <a:bodyPr wrap="square" rtlCol="0" anchor="t"/>
          <a:lstStyle/>
          <a:p>
            <a:pPr algn="l" indent="0" marL="0">
              <a:lnSpc>
                <a:spcPct val="112000"/>
              </a:lnSpc>
              <a:buNone/>
            </a:pPr>
            <a:r>
              <a:rPr lang="en-US" sz="950" dirty="0">
                <a:solidFill>
                  <a:srgbClr val="68758A"/>
                </a:solidFill>
                <a:latin typeface="Calibri" pitchFamily="34" charset="0"/>
                <a:ea typeface="Calibri" pitchFamily="34" charset="-122"/>
                <a:cs typeface="Calibri" pitchFamily="34" charset="-120"/>
              </a:rPr>
              <a:t>Decommission on-premise sources; mature Horizon governance, lineage, and the RBAC model as steady-state operations.</a:t>
            </a:r>
            <a:endParaRPr lang="en-US" sz="950" dirty="0"/>
          </a:p>
        </p:txBody>
      </p:sp>
      <p:sp>
        <p:nvSpPr>
          <p:cNvPr id="35" name="Shape 29"/>
          <p:cNvSpPr/>
          <p:nvPr/>
        </p:nvSpPr>
        <p:spPr>
          <a:xfrm>
            <a:off x="502920" y="4709160"/>
            <a:ext cx="11185855" cy="868680"/>
          </a:xfrm>
          <a:prstGeom prst="roundRect">
            <a:avLst>
              <a:gd name="adj" fmla="val 8421"/>
            </a:avLst>
          </a:prstGeom>
          <a:solidFill>
            <a:srgbClr val="FBEEE6"/>
          </a:solidFill>
          <a:ln/>
        </p:spPr>
      </p:sp>
      <p:sp>
        <p:nvSpPr>
          <p:cNvPr id="36" name="Text 30"/>
          <p:cNvSpPr/>
          <p:nvPr/>
        </p:nvSpPr>
        <p:spPr>
          <a:xfrm>
            <a:off x="777240" y="4709160"/>
            <a:ext cx="10637215" cy="868680"/>
          </a:xfrm>
          <a:prstGeom prst="rect">
            <a:avLst/>
          </a:prstGeom>
          <a:noFill/>
          <a:ln/>
        </p:spPr>
        <p:txBody>
          <a:bodyPr wrap="square" rtlCol="0" anchor="ctr"/>
          <a:lstStyle/>
          <a:p>
            <a:pPr algn="l" indent="0" marL="0">
              <a:lnSpc>
                <a:spcPct val="115000"/>
              </a:lnSpc>
              <a:buNone/>
            </a:pPr>
            <a:r>
              <a:rPr lang="en-US" sz="1250" i="1" dirty="0">
                <a:solidFill>
                  <a:srgbClr val="3A4556"/>
                </a:solidFill>
                <a:latin typeface="Calibri" pitchFamily="34" charset="0"/>
                <a:ea typeface="Calibri" pitchFamily="34" charset="-122"/>
                <a:cs typeface="Calibri" pitchFamily="34" charset="-120"/>
              </a:rPr>
              <a:t>IT operations can shift to AWS on a parallel, largely independent track — the two migrations are coupled at the data layer (Step 1), not at the infrastructure layer.</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3A4556"/>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algn="l" indent="0" marL="0">
              <a:buNone/>
            </a:pPr>
            <a:r>
              <a:rPr lang="en-US" sz="1200" b="1" spc="200" kern="0" dirty="0">
                <a:solidFill>
                  <a:srgbClr val="E2A07E"/>
                </a:solidFill>
                <a:latin typeface="Calibri" pitchFamily="34" charset="0"/>
                <a:ea typeface="Calibri" pitchFamily="34" charset="-122"/>
                <a:cs typeface="Calibri" pitchFamily="34" charset="-120"/>
              </a:rPr>
              <a:t>CLOSING</a:t>
            </a:r>
            <a:endParaRPr lang="en-US" sz="1200" dirty="0"/>
          </a:p>
        </p:txBody>
      </p:sp>
      <p:sp>
        <p:nvSpPr>
          <p:cNvPr id="3" name="Text 1"/>
          <p:cNvSpPr/>
          <p:nvPr/>
        </p:nvSpPr>
        <p:spPr>
          <a:xfrm>
            <a:off x="502920" y="86868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Living Architecture</a:t>
            </a:r>
            <a:endParaRPr lang="en-US" sz="3000" dirty="0"/>
          </a:p>
        </p:txBody>
      </p:sp>
      <p:sp>
        <p:nvSpPr>
          <p:cNvPr id="4" name="Text 2"/>
          <p:cNvSpPr/>
          <p:nvPr/>
        </p:nvSpPr>
        <p:spPr>
          <a:xfrm>
            <a:off x="502920" y="1691640"/>
            <a:ext cx="10881360" cy="1371600"/>
          </a:xfrm>
          <a:prstGeom prst="rect">
            <a:avLst/>
          </a:prstGeom>
          <a:noFill/>
          <a:ln/>
        </p:spPr>
        <p:txBody>
          <a:bodyPr wrap="square" rtlCol="0" anchor="ctr"/>
          <a:lstStyle/>
          <a:p>
            <a:pPr indent="0" marL="0">
              <a:lnSpc>
                <a:spcPct val="135000"/>
              </a:lnSpc>
              <a:buNone/>
            </a:pPr>
            <a:r>
              <a:rPr lang="en-US" sz="1300" dirty="0">
                <a:solidFill>
                  <a:srgbClr val="E9EFF8"/>
                </a:solidFill>
                <a:latin typeface="Calibri" pitchFamily="34" charset="0"/>
                <a:ea typeface="Calibri" pitchFamily="34" charset="-122"/>
                <a:cs typeface="Calibri" pitchFamily="34" charset="-120"/>
              </a:rPr>
              <a:t>By anchoring context, semantics, and governance to the data itself — rather than to whichever client happens to connect — Snowflake turns "which tool can run this analysis" into a solved problem. Snowsight and CoWork reach further because they speak more of the platform's language, not because the underlying data is any less available to TOAD or DBeaver. Every layer, from Bronze to CoWork, is designed to be owned by a named role and reused by every consumer above it.</a:t>
            </a:r>
            <a:endParaRPr lang="en-US" sz="1300" dirty="0"/>
          </a:p>
        </p:txBody>
      </p:sp>
      <p:sp>
        <p:nvSpPr>
          <p:cNvPr id="5" name="Shape 3"/>
          <p:cNvSpPr/>
          <p:nvPr/>
        </p:nvSpPr>
        <p:spPr>
          <a:xfrm>
            <a:off x="502920" y="3246120"/>
            <a:ext cx="10881360" cy="0"/>
          </a:xfrm>
          <a:prstGeom prst="line">
            <a:avLst/>
          </a:prstGeom>
          <a:noFill/>
          <a:ln w="12700">
            <a:solidFill>
              <a:srgbClr val="5C7699"/>
            </a:solidFill>
            <a:prstDash val="solid"/>
          </a:ln>
        </p:spPr>
      </p:sp>
      <p:sp>
        <p:nvSpPr>
          <p:cNvPr id="6" name="Text 4"/>
          <p:cNvSpPr/>
          <p:nvPr/>
        </p:nvSpPr>
        <p:spPr>
          <a:xfrm>
            <a:off x="502920" y="3429000"/>
            <a:ext cx="5486400" cy="274320"/>
          </a:xfrm>
          <a:prstGeom prst="rect">
            <a:avLst/>
          </a:prstGeom>
          <a:noFill/>
          <a:ln/>
        </p:spPr>
        <p:txBody>
          <a:bodyPr wrap="square" rtlCol="0" anchor="ctr"/>
          <a:lstStyle/>
          <a:p>
            <a:pPr indent="0" marL="0">
              <a:buNone/>
            </a:pPr>
            <a:r>
              <a:rPr lang="en-US" sz="1100" b="1" spc="100" kern="0" dirty="0">
                <a:solidFill>
                  <a:srgbClr val="E2A07E"/>
                </a:solidFill>
                <a:latin typeface="Calibri" pitchFamily="34" charset="0"/>
                <a:ea typeface="Calibri" pitchFamily="34" charset="-122"/>
                <a:cs typeface="Calibri" pitchFamily="34" charset="-120"/>
              </a:rPr>
              <a:t>SOURCES &amp; REFERENCES</a:t>
            </a:r>
            <a:endParaRPr lang="en-US" sz="1100" dirty="0"/>
          </a:p>
        </p:txBody>
      </p:sp>
      <p:sp>
        <p:nvSpPr>
          <p:cNvPr id="7" name="Text 5"/>
          <p:cNvSpPr/>
          <p:nvPr/>
        </p:nvSpPr>
        <p:spPr>
          <a:xfrm>
            <a:off x="502920" y="3749040"/>
            <a:ext cx="5349240" cy="2651760"/>
          </a:xfrm>
          <a:prstGeom prst="rect">
            <a:avLst/>
          </a:prstGeom>
          <a:noFill/>
          <a:ln/>
        </p:spPr>
        <p:txBody>
          <a:bodyPr wrap="square" rtlCol="0" anchor="t"/>
          <a:lstStyle/>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Snowflake CoWork: The Personal Work Agent for Every Knowledge Worker — snowflake.com/blog</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Snowflake Cortex AI Explained: Capabilities, Pricing, and Real-World Use Cases — Keyrus</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AI Data Engineering: New Smart Pipelines in Snowflake — snowflake.com/blog</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AI Agents in Healthcare: 3 Snowflake Summit Takeaways — snowflake.com/blog</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Data Governance in Healthcare for Trustworthy AI — snowflake.com/blog</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Best AI Agents for Business Automation in 2026: Tested &amp; Ranked — AI Buzz</a:t>
            </a:r>
            <a:endParaRPr lang="en-US" sz="900" dirty="0"/>
          </a:p>
        </p:txBody>
      </p:sp>
      <p:sp>
        <p:nvSpPr>
          <p:cNvPr id="8" name="Text 6"/>
          <p:cNvSpPr/>
          <p:nvPr/>
        </p:nvSpPr>
        <p:spPr>
          <a:xfrm>
            <a:off x="6080760" y="3749040"/>
            <a:ext cx="5349240" cy="2651760"/>
          </a:xfrm>
          <a:prstGeom prst="rect">
            <a:avLst/>
          </a:prstGeom>
          <a:noFill/>
          <a:ln/>
        </p:spPr>
        <p:txBody>
          <a:bodyPr wrap="square" rtlCol="0" anchor="t"/>
          <a:lstStyle/>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Best Private LLM: Top Self-Hosted &amp; Managed Options 2026 — AmasaTech</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Cloud Migration Strategies for Enterprise Data Warehouses — Int'l Journal of Science, Engineering &amp; Technology</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Building An AI Agent For Healthcare Payers Contact Center in Snowflake — Snowflake Developers (YouTube)</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Snowflake Documentation: Cortex Analyst, Semantic Views, Snowsight, Cortex AI SQL Functions — docs.snowflake.com</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Amazon Bedrock AgentCore — aws.amazon.com/bedrock/agentcore</a:t>
            </a:r>
            <a:endParaRPr lang="en-US" sz="900" dirty="0"/>
          </a:p>
          <a:p>
            <a:pPr marL="177800" indent="-177800">
              <a:lnSpc>
                <a:spcPct val="112000"/>
              </a:lnSpc>
              <a:spcAft>
                <a:spcPts val="700"/>
              </a:spcAft>
              <a:buSzPct val="100000"/>
              <a:buChar char="●"/>
            </a:pPr>
            <a:r>
              <a:rPr lang="en-US" sz="900" dirty="0">
                <a:solidFill>
                  <a:srgbClr val="E9EFF8"/>
                </a:solidFill>
                <a:latin typeface="Calibri" pitchFamily="34" charset="0"/>
                <a:ea typeface="Calibri" pitchFamily="34" charset="-122"/>
                <a:cs typeface="Calibri" pitchFamily="34" charset="-120"/>
              </a:rPr>
              <a:t>The Secure Healthcare AI Blueprint &amp; The Zero-Egress Blueprint — internal NotebookLM research decks</a:t>
            </a:r>
            <a:endParaRPr lang="en-US" sz="900" dirty="0"/>
          </a:p>
        </p:txBody>
      </p:sp>
      <p:sp>
        <p:nvSpPr>
          <p:cNvPr id="9" name="Text 7"/>
          <p:cNvSpPr/>
          <p:nvPr/>
        </p:nvSpPr>
        <p:spPr>
          <a:xfrm>
            <a:off x="502920" y="6547104"/>
            <a:ext cx="7315200" cy="256032"/>
          </a:xfrm>
          <a:prstGeom prst="rect">
            <a:avLst/>
          </a:prstGeom>
          <a:noFill/>
          <a:ln/>
        </p:spPr>
        <p:txBody>
          <a:bodyPr wrap="square" rtlCol="0" anchor="ctr"/>
          <a:lstStyle/>
          <a:p>
            <a:pPr algn="l" indent="0" marL="0">
              <a:buNone/>
            </a:pPr>
            <a:r>
              <a:rPr lang="en-US" sz="800" spc="120" kern="0" dirty="0">
                <a:solidFill>
                  <a:srgbClr val="9AA7BC"/>
                </a:solidFill>
                <a:latin typeface="Calibri" pitchFamily="34" charset="0"/>
                <a:ea typeface="Calibri" pitchFamily="34" charset="-122"/>
                <a:cs typeface="Calibri" pitchFamily="34" charset="-120"/>
              </a:rPr>
              <a:t>SNOWFLAKE AI ARCHITECTURE  •  HEALTHCARE DATA PLATFORM RESEARCH</a:t>
            </a:r>
            <a:endParaRPr lang="en-US" sz="800" dirty="0"/>
          </a:p>
        </p:txBody>
      </p:sp>
      <p:sp>
        <p:nvSpPr>
          <p:cNvPr id="10" name="Text 8"/>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9AA7BC"/>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Snowflake AI Architecture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 AI Architecture: From Prompt to Data — A Healthcare Deep Dive</dc:title>
  <dc:subject>PptxGenJS Presentation</dc:subject>
  <dc:creator>Enterprise Architecture Research</dc:creator>
  <cp:lastModifiedBy>Enterprise Architecture Research</cp:lastModifiedBy>
  <cp:revision>1</cp:revision>
  <dcterms:created xsi:type="dcterms:W3CDTF">2026-09-02T00:20:11Z</dcterms:created>
  <dcterms:modified xsi:type="dcterms:W3CDTF">2026-09-02T00:20:11Z</dcterms:modified>
</cp:coreProperties>
</file>