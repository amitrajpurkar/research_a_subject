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 1 is cut off mid-way through the FHCP and Triple-S section, so some text between screenshots 1 and 2 may be missing. Tim Moylan (Sr. IT Director) reports to the CIO; a VP of IT is partly legible.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Next-phase items connect to in-flight work: AI pattern standardization and data integration rationalization.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097280"/>
            <a:ext cx="1005840" cy="100584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155" y="1378915"/>
            <a:ext cx="442570" cy="44257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Making the Safe Path the Fast Path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4747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CIO technology strategy announcement means for Enterprise Architecture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5760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 team briefing  |  September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CIO said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should feel as easy as banking on your phone. Tech and AI are how we get there.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"N-of-1" vision: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personalized, connected experiences through easier digital tools, connected data, fewer extra steps, lower costs, and platforms that scale.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E3EFF1"/>
          </a:solidFill>
          <a:ln w="6350">
            <a:solidFill>
              <a:srgbClr val="E3EF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926080"/>
            <a:ext cx="548640" cy="548640"/>
          </a:xfrm>
          <a:prstGeom prst="ellipse">
            <a:avLst/>
          </a:prstGeom>
          <a:solidFill>
            <a:srgbClr val="1B7F8C"/>
          </a:solidFill>
          <a:ln w="12700">
            <a:solidFill>
              <a:srgbClr val="1B7F8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139" y="3079699"/>
            <a:ext cx="241402" cy="24140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17320" y="29260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FHCP and Triple-S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356616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tech work together across the Enterprise; operate consistently; FHCP fully integrated into Technology.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297680" y="2743200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E3EFF1"/>
          </a:solidFill>
          <a:ln w="6350">
            <a:solidFill>
              <a:srgbClr val="E3EFF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80560" y="2926080"/>
            <a:ext cx="548640" cy="548640"/>
          </a:xfrm>
          <a:prstGeom prst="ellipse">
            <a:avLst/>
          </a:prstGeom>
          <a:solidFill>
            <a:srgbClr val="1B7F8C"/>
          </a:solidFill>
          <a:ln w="12700">
            <a:solidFill>
              <a:srgbClr val="1B7F8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4179" y="3079699"/>
            <a:ext cx="241402" cy="24140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166360" y="29260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Technology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4480560" y="356616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Digital, mobile, CRM, martech, and AI personalization. New VP David Atkins leads.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046720" y="2743200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FDF1DC"/>
          </a:solidFill>
          <a:ln w="25400">
            <a:solidFill>
              <a:srgbClr val="F2A541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229600" y="2926080"/>
            <a:ext cx="548640" cy="54864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3219" y="3079699"/>
            <a:ext cx="241402" cy="24140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915400" y="29260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Architecture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8229600" y="356616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Standards, governance, and safeguards for safe, responsible AI.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548640" y="4617720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E3EFF1"/>
          </a:solidFill>
          <a:ln w="6350">
            <a:solidFill>
              <a:srgbClr val="E3EFF1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31520" y="4800600"/>
            <a:ext cx="548640" cy="548640"/>
          </a:xfrm>
          <a:prstGeom prst="ellipse">
            <a:avLst/>
          </a:prstGeom>
          <a:solidFill>
            <a:srgbClr val="1B7F8C"/>
          </a:solidFill>
          <a:ln w="12700">
            <a:solidFill>
              <a:srgbClr val="1B7F8C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139" y="4954219"/>
            <a:ext cx="241402" cy="24140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417320" y="48006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731520" y="54406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phishing is rising; strengthening security architecture and engineering.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4297680" y="4617720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E3EFF1"/>
          </a:solidFill>
          <a:ln w="6350">
            <a:solidFill>
              <a:srgbClr val="E3EFF1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4480560" y="4800600"/>
            <a:ext cx="548640" cy="548640"/>
          </a:xfrm>
          <a:prstGeom prst="ellipse">
            <a:avLst/>
          </a:prstGeom>
          <a:solidFill>
            <a:srgbClr val="1B7F8C"/>
          </a:solidFill>
          <a:ln w="12700">
            <a:solidFill>
              <a:srgbClr val="1B7F8C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4179" y="4954219"/>
            <a:ext cx="241402" cy="241402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166360" y="48006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and AI Foundations</a:t>
            </a:r>
            <a:endParaRPr lang="en-US" sz="1600" dirty="0"/>
          </a:p>
        </p:txBody>
      </p:sp>
      <p:sp>
        <p:nvSpPr>
          <p:cNvPr id="30" name="Text 23"/>
          <p:cNvSpPr txBox="1"/>
          <p:nvPr/>
        </p:nvSpPr>
        <p:spPr>
          <a:xfrm>
            <a:off x="4480560" y="54406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Trusted, connected, well-governed data. Stronger platforms, engineering, and governance.</a:t>
            </a:r>
            <a:endParaRPr lang="en-US" sz="1250" dirty="0"/>
          </a:p>
        </p:txBody>
      </p:sp>
      <p:sp>
        <p:nvSpPr>
          <p:cNvPr id="31" name="Shape 24"/>
          <p:cNvSpPr/>
          <p:nvPr/>
        </p:nvSpPr>
        <p:spPr>
          <a:xfrm>
            <a:off x="8046720" y="4617720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E3EFF1"/>
          </a:solidFill>
          <a:ln w="6350">
            <a:solidFill>
              <a:srgbClr val="E3EFF1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8229600" y="4800600"/>
            <a:ext cx="548640" cy="548640"/>
          </a:xfrm>
          <a:prstGeom prst="ellipse">
            <a:avLst/>
          </a:prstGeom>
          <a:solidFill>
            <a:srgbClr val="1B7F8C"/>
          </a:solidFill>
          <a:ln w="12700">
            <a:solidFill>
              <a:srgbClr val="1B7F8C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3219" y="4954219"/>
            <a:ext cx="241402" cy="241402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8915400" y="48006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600" dirty="0"/>
          </a:p>
        </p:txBody>
      </p:sp>
      <p:sp>
        <p:nvSpPr>
          <p:cNvPr id="35" name="Text 27"/>
          <p:cNvSpPr txBox="1"/>
          <p:nvPr/>
        </p:nvSpPr>
        <p:spPr>
          <a:xfrm>
            <a:off x="8229600" y="54406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speed, consistency, and security. Embrace new tools and partner differently.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EA's explicit mandate: the trust layer for AI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63040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</a:t>
            </a:r>
            <a:endParaRPr lang="en-US" sz="80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46888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AI safely and responsibly is key to our success. That is why we are strengthening our technology standards, governance, and safeguards.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5212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CIO announcement, Enterprise Architecture section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0" y="1463040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0" y="1783080"/>
            <a:ext cx="594360" cy="594360"/>
          </a:xfrm>
          <a:prstGeom prst="ellipse">
            <a:avLst/>
          </a:prstGeom>
          <a:solidFill>
            <a:srgbClr val="1B7F8C"/>
          </a:solidFill>
          <a:ln w="12700">
            <a:solidFill>
              <a:srgbClr val="1B7F8C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50101" y="1949501"/>
            <a:ext cx="261518" cy="26151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315200" y="164592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9052560" y="1463040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235440" y="1783080"/>
            <a:ext cx="594360" cy="594360"/>
          </a:xfrm>
          <a:prstGeom prst="ellipse">
            <a:avLst/>
          </a:prstGeom>
          <a:solidFill>
            <a:srgbClr val="1B7F8C"/>
          </a:solidFill>
          <a:ln w="12700">
            <a:solidFill>
              <a:srgbClr val="1B7F8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1861" y="1949501"/>
            <a:ext cx="261518" cy="26151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9966960" y="164592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6400800" y="2880360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583680" y="3200400"/>
            <a:ext cx="594360" cy="594360"/>
          </a:xfrm>
          <a:prstGeom prst="ellipse">
            <a:avLst/>
          </a:prstGeom>
          <a:solidFill>
            <a:srgbClr val="1B7F8C"/>
          </a:solidFill>
          <a:ln w="12700">
            <a:solidFill>
              <a:srgbClr val="1B7F8C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0101" y="3366821"/>
            <a:ext cx="261518" cy="26151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315200" y="306324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9052560" y="2880360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235440" y="3200400"/>
            <a:ext cx="594360" cy="594360"/>
          </a:xfrm>
          <a:prstGeom prst="ellipse">
            <a:avLst/>
          </a:prstGeom>
          <a:solidFill>
            <a:srgbClr val="1B7F8C"/>
          </a:solidFill>
          <a:ln w="12700">
            <a:solidFill>
              <a:srgbClr val="1B7F8C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1861" y="3366821"/>
            <a:ext cx="261518" cy="26151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966960" y="306324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oversight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6400800" y="4434840"/>
            <a:ext cx="52120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Elevation: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is a top healthcare risk, and EA owns it.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Narrowing risk: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 must still show value beyond AI governance (rationalization, target state, integration).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between the lines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underlying intent behind the announcement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40080" cy="640080"/>
          </a:xfrm>
          <a:prstGeom prst="ellipse">
            <a:avLst/>
          </a:prstGeom>
          <a:solidFill>
            <a:srgbClr val="1B7F8C"/>
          </a:solidFill>
          <a:ln w="12700">
            <a:solidFill>
              <a:srgbClr val="1B7F8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7862" y="1825142"/>
            <a:ext cx="281635" cy="28163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64592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the organizing principle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394960" y="164592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appears in nearly every section. The org is being arranged around AI delivery.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560320"/>
            <a:ext cx="640080" cy="640080"/>
          </a:xfrm>
          <a:prstGeom prst="ellipse">
            <a:avLst/>
          </a:prstGeom>
          <a:solidFill>
            <a:srgbClr val="1B7F8C"/>
          </a:solidFill>
          <a:ln w="12700">
            <a:solidFill>
              <a:srgbClr val="1B7F8C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862" y="2739542"/>
            <a:ext cx="281635" cy="28163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17320" y="256032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 is the trust layer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5394960" y="256032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function framed entirely as standards, governance, and safeguards.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474720"/>
            <a:ext cx="640080" cy="64008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862" y="3653942"/>
            <a:ext cx="281635" cy="28163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17320" y="347472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at business speed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5394960" y="347472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"Greater speed" and "fewer extra steps": guardrails, not gates.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548640" y="4389120"/>
            <a:ext cx="640080" cy="640080"/>
          </a:xfrm>
          <a:prstGeom prst="ellipse">
            <a:avLst/>
          </a:prstGeom>
          <a:solidFill>
            <a:srgbClr val="1B7F8C"/>
          </a:solidFill>
          <a:ln w="12700">
            <a:solidFill>
              <a:srgbClr val="1B7F8C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862" y="4568342"/>
            <a:ext cx="281635" cy="281635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417320" y="438912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Consolidation and cost discipline</a:t>
            </a:r>
            <a:endParaRPr lang="en-US" sz="1700" dirty="0"/>
          </a:p>
        </p:txBody>
      </p:sp>
      <p:sp>
        <p:nvSpPr>
          <p:cNvPr id="19" name="Text 13"/>
          <p:cNvSpPr txBox="1"/>
          <p:nvPr/>
        </p:nvSpPr>
        <p:spPr>
          <a:xfrm>
            <a:off x="5394960" y="438912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integration, consistency, lower costs, and platforms that scale.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548640" y="5303520"/>
            <a:ext cx="640080" cy="640080"/>
          </a:xfrm>
          <a:prstGeom prst="ellipse">
            <a:avLst/>
          </a:prstGeom>
          <a:solidFill>
            <a:srgbClr val="1B7F8C"/>
          </a:solidFill>
          <a:ln w="12700">
            <a:solidFill>
              <a:srgbClr val="1B7F8C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862" y="5482742"/>
            <a:ext cx="281635" cy="281635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417320" y="530352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partnership</a:t>
            </a:r>
            <a:endParaRPr lang="en-US" sz="1700" dirty="0"/>
          </a:p>
        </p:txBody>
      </p:sp>
      <p:sp>
        <p:nvSpPr>
          <p:cNvPr id="23" name="Text 16"/>
          <p:cNvSpPr txBox="1"/>
          <p:nvPr/>
        </p:nvSpPr>
        <p:spPr>
          <a:xfrm>
            <a:off x="5394960" y="530352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"Work more closely" and "partner differently": EA as connective tissue.</a:t>
            </a:r>
            <a:endParaRPr lang="en-US" sz="1400" dirty="0"/>
          </a:p>
        </p:txBody>
      </p:sp>
      <p:sp>
        <p:nvSpPr>
          <p:cNvPr id="24" name="Text 1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said: no named EA leader in the visible text, no metrics or timelines, no explicit mention of tech debt.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Mapping the email to EA core values</a:t>
            </a:r>
            <a:endParaRPr lang="en-US" sz="3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206240"/>
                <a:gridCol w="4663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 core 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 in the CIO email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EA must deliver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velocity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"greater speed", "fewer extra steps"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Pre-approved patterns, time-boxed decisions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Frictionless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"work more closely", "partner differently"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Embedded architects, one intake front door, API-first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F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Predictable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"operate in a more consistent way"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Published standards, clear decision rights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efficient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"lower costs", FHCP and Triple-S consolidation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Rationalization, reuse, license consolidation, AI FinOps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F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Stability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"quality", "trust", "strengthen security"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Resilience standards, AI evaluation and monitoring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Future proof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"platforms that scale", connected data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Composable, model-agnostic reference architectures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F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safeguards, AI-driven phishing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Secure-by-design patterns, AI threat modeling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9893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B7F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Mission: EA is the business enabler delivering value quickly at the right time in a secure and cost-efficient way.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tension to resolve: governance vs. velocity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383280" cy="3291840"/>
          </a:xfrm>
          <a:prstGeom prst="roundRect">
            <a:avLst>
              <a:gd name="adj" fmla="val 2222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1B7F8C"/>
          </a:solidFill>
          <a:ln w="12700">
            <a:solidFill>
              <a:srgbClr val="1B7F8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6462" y="1870862"/>
            <a:ext cx="281635" cy="28163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6916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mandate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560320"/>
            <a:ext cx="2971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Safeguards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oversight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183880" y="1463040"/>
            <a:ext cx="3383280" cy="3291840"/>
          </a:xfrm>
          <a:prstGeom prst="roundRect">
            <a:avLst>
              <a:gd name="adj" fmla="val 2222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412480" y="1691640"/>
            <a:ext cx="640080" cy="64008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1702" y="1870862"/>
            <a:ext cx="281635" cy="28163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9189720" y="16916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values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8412480" y="2560320"/>
            <a:ext cx="2971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velocity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Frictionless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extra steps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+ consistency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206240" y="1463040"/>
            <a:ext cx="3749040" cy="3291840"/>
          </a:xfrm>
          <a:prstGeom prst="roundRect">
            <a:avLst>
              <a:gd name="adj" fmla="val 2222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434840" y="16459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4434840" y="210312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Risk-tiered, automated, pattern-based governance</a:t>
            </a:r>
            <a:endParaRPr lang="en-US" sz="2100" dirty="0"/>
          </a:p>
        </p:txBody>
      </p:sp>
      <p:sp>
        <p:nvSpPr>
          <p:cNvPr id="16" name="Text 12"/>
          <p:cNvSpPr txBox="1"/>
          <p:nvPr/>
        </p:nvSpPr>
        <p:spPr>
          <a:xfrm>
            <a:off x="4434840" y="320040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Low-risk work on approved patterns goes straight through. Scrutiny focuses on PHI, member-facing, and clinical or coverage-impacting AI.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548640" y="5120640"/>
            <a:ext cx="640080" cy="640080"/>
          </a:xfrm>
          <a:prstGeom prst="ellipse">
            <a:avLst/>
          </a:prstGeom>
          <a:solidFill>
            <a:srgbClr val="1B7F8C"/>
          </a:solidFill>
          <a:ln w="12700">
            <a:solidFill>
              <a:srgbClr val="1B7F8C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862" y="5299862"/>
            <a:ext cx="281635" cy="28163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371600" y="51206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tension: standardization vs. N-of-1. </a:t>
            </a:r>
            <a:pPr indent="0" marL="0">
              <a:buNone/>
            </a:pPr>
            <a:r>
              <a:rPr lang="en-US" sz="16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standard platforms, personalized experiences.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actions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914400" y="1874520"/>
            <a:ext cx="10332720" cy="0"/>
          </a:xfrm>
          <a:prstGeom prst="line">
            <a:avLst/>
          </a:prstGeom>
          <a:noFill/>
          <a:ln w="25400">
            <a:solidFill>
              <a:srgbClr val="1B7F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645920"/>
            <a:ext cx="457200" cy="457200"/>
          </a:xfrm>
          <a:prstGeom prst="ellipse">
            <a:avLst/>
          </a:prstGeom>
          <a:solidFill>
            <a:srgbClr val="F2A54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25880" y="14630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874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 days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3566160" cy="3657600"/>
          </a:xfrm>
          <a:prstGeom prst="roundRect">
            <a:avLst>
              <a:gd name="adj" fmla="val 2051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606040"/>
            <a:ext cx="3200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Clarify EA mandate, decision rights, reporting line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a one-page EA operating promise with decision SLAs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AI intake with risk tiering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Engagement, Data, Cyber, FHCP, and Triple-S leads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80560" y="1645920"/>
            <a:ext cx="457200" cy="457200"/>
          </a:xfrm>
          <a:prstGeom prst="ellipse">
            <a:avLst/>
          </a:prstGeom>
          <a:solidFill>
            <a:srgbClr val="1B7F8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74920" y="14630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074920" y="1874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30–90 days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97680" y="2423160"/>
            <a:ext cx="3566160" cy="3657600"/>
          </a:xfrm>
          <a:prstGeom prst="roundRect">
            <a:avLst>
              <a:gd name="adj" fmla="val 2051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80560" y="2606040"/>
            <a:ext cx="3200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approved AI patterns ("paved roads") with built-in guardrails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governance on NIST AI RMF, mapped to healthcare obligations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FHCP and Triple-S capabilities and apps; rationalize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Co-author N-of-1 reference architecture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0" y="1645920"/>
            <a:ext cx="457200" cy="457200"/>
          </a:xfrm>
          <a:prstGeom prst="ellipse">
            <a:avLst/>
          </a:prstGeom>
          <a:solidFill>
            <a:srgbClr val="1B7F8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823960" y="14630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LATER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8823960" y="1874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90+ days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046720" y="2423160"/>
            <a:ext cx="3566160" cy="3657600"/>
          </a:xfrm>
          <a:prstGeom prst="roundRect">
            <a:avLst>
              <a:gd name="adj" fmla="val 2051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0" y="2606040"/>
            <a:ext cx="3200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as code in CI/CD and platform templates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the EA scorecard regularly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to continuous architecture: embedded architects and ADRs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EA scorecard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EA against the values leadership set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2057400"/>
          </a:xfrm>
          <a:prstGeom prst="roundRect">
            <a:avLst>
              <a:gd name="adj" fmla="val 3556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74520"/>
            <a:ext cx="548640" cy="548640"/>
          </a:xfrm>
          <a:prstGeom prst="ellipse">
            <a:avLst/>
          </a:prstGeom>
          <a:solidFill>
            <a:srgbClr val="1B7F8C"/>
          </a:solidFill>
          <a:ln w="12700">
            <a:solidFill>
              <a:srgbClr val="1B7F8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139" y="2028139"/>
            <a:ext cx="241402" cy="2414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5146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velocity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8803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time to architecture decision; % on fast lane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337560" y="1691640"/>
            <a:ext cx="2606040" cy="2057400"/>
          </a:xfrm>
          <a:prstGeom prst="roundRect">
            <a:avLst>
              <a:gd name="adj" fmla="val 3556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20440" y="1874520"/>
            <a:ext cx="548640" cy="548640"/>
          </a:xfrm>
          <a:prstGeom prst="ellipse">
            <a:avLst/>
          </a:prstGeom>
          <a:solidFill>
            <a:srgbClr val="1B7F8C"/>
          </a:solidFill>
          <a:ln w="12700">
            <a:solidFill>
              <a:srgbClr val="1B7F8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4059" y="202813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20440" y="25146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Frictionless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3520440" y="28803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NPS; reviews per initiative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126480" y="1691640"/>
            <a:ext cx="2606040" cy="2057400"/>
          </a:xfrm>
          <a:prstGeom prst="roundRect">
            <a:avLst>
              <a:gd name="adj" fmla="val 3556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309360" y="1874520"/>
            <a:ext cx="548640" cy="548640"/>
          </a:xfrm>
          <a:prstGeom prst="ellipse">
            <a:avLst/>
          </a:prstGeom>
          <a:solidFill>
            <a:srgbClr val="1B7F8C"/>
          </a:solidFill>
          <a:ln w="12700">
            <a:solidFill>
              <a:srgbClr val="1B7F8C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2979" y="2028139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09360" y="25146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6309360" y="28803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decisions against published standards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8915400" y="1691640"/>
            <a:ext cx="2606040" cy="2057400"/>
          </a:xfrm>
          <a:prstGeom prst="roundRect">
            <a:avLst>
              <a:gd name="adj" fmla="val 3556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098280" y="1874520"/>
            <a:ext cx="548640" cy="548640"/>
          </a:xfrm>
          <a:prstGeom prst="ellipse">
            <a:avLst/>
          </a:prstGeom>
          <a:solidFill>
            <a:srgbClr val="1B7F8C"/>
          </a:solidFill>
          <a:ln w="12700">
            <a:solidFill>
              <a:srgbClr val="1B7F8C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1899" y="2028139"/>
            <a:ext cx="241402" cy="24140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098280" y="25146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efficient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9098280" y="28803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retired; cost avoided; AI run-cost per use case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548640" y="3931920"/>
            <a:ext cx="2606040" cy="2057400"/>
          </a:xfrm>
          <a:prstGeom prst="roundRect">
            <a:avLst>
              <a:gd name="adj" fmla="val 3556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31520" y="4114800"/>
            <a:ext cx="548640" cy="548640"/>
          </a:xfrm>
          <a:prstGeom prst="ellipse">
            <a:avLst/>
          </a:prstGeom>
          <a:solidFill>
            <a:srgbClr val="1B7F8C"/>
          </a:solidFill>
          <a:ln w="12700">
            <a:solidFill>
              <a:srgbClr val="1B7F8C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139" y="4268419"/>
            <a:ext cx="241402" cy="24140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31520" y="47548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731520" y="51206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tied to non-compliance; AI drift caught pre-release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3337560" y="3931920"/>
            <a:ext cx="2606040" cy="2057400"/>
          </a:xfrm>
          <a:prstGeom prst="roundRect">
            <a:avLst>
              <a:gd name="adj" fmla="val 3556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3520440" y="4114800"/>
            <a:ext cx="548640" cy="548640"/>
          </a:xfrm>
          <a:prstGeom prst="ellipse">
            <a:avLst/>
          </a:prstGeom>
          <a:solidFill>
            <a:srgbClr val="1B7F8C"/>
          </a:solidFill>
          <a:ln w="12700">
            <a:solidFill>
              <a:srgbClr val="1B7F8C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74059" y="4268419"/>
            <a:ext cx="241402" cy="241402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3520440" y="47548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proof</a:t>
            </a:r>
            <a:endParaRPr lang="en-US" sz="1500" dirty="0"/>
          </a:p>
        </p:txBody>
      </p:sp>
      <p:sp>
        <p:nvSpPr>
          <p:cNvPr id="33" name="Text 25"/>
          <p:cNvSpPr txBox="1"/>
          <p:nvPr/>
        </p:nvSpPr>
        <p:spPr>
          <a:xfrm>
            <a:off x="3520440" y="51206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new builds on strategic patterns; reuse rate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6126480" y="3931920"/>
            <a:ext cx="2606040" cy="2057400"/>
          </a:xfrm>
          <a:prstGeom prst="roundRect">
            <a:avLst>
              <a:gd name="adj" fmla="val 3556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6309360" y="4114800"/>
            <a:ext cx="548640" cy="548640"/>
          </a:xfrm>
          <a:prstGeom prst="ellipse">
            <a:avLst/>
          </a:prstGeom>
          <a:solidFill>
            <a:srgbClr val="1B7F8C"/>
          </a:solidFill>
          <a:ln w="12700">
            <a:solidFill>
              <a:srgbClr val="1B7F8C"/>
            </a:solidFill>
            <a:prstDash val="solid"/>
          </a:ln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2979" y="4268419"/>
            <a:ext cx="241402" cy="241402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6309360" y="47548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</a:t>
            </a:r>
            <a:endParaRPr lang="en-US" sz="1500" dirty="0"/>
          </a:p>
        </p:txBody>
      </p:sp>
      <p:sp>
        <p:nvSpPr>
          <p:cNvPr id="38" name="Text 29"/>
          <p:cNvSpPr txBox="1"/>
          <p:nvPr/>
        </p:nvSpPr>
        <p:spPr>
          <a:xfrm>
            <a:off x="6309360" y="51206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AI use cases with risk assessment and oversight controls</a:t>
            </a:r>
            <a:endParaRPr lang="en-US" sz="1200" dirty="0"/>
          </a:p>
        </p:txBody>
      </p:sp>
      <p:sp>
        <p:nvSpPr>
          <p:cNvPr id="39" name="Shape 30"/>
          <p:cNvSpPr/>
          <p:nvPr/>
        </p:nvSpPr>
        <p:spPr>
          <a:xfrm>
            <a:off x="8915400" y="3931920"/>
            <a:ext cx="2606040" cy="2057400"/>
          </a:xfrm>
          <a:prstGeom prst="roundRect">
            <a:avLst>
              <a:gd name="adj" fmla="val 3556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9098280" y="4114800"/>
            <a:ext cx="548640" cy="54864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51899" y="4268419"/>
            <a:ext cx="241402" cy="241402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9098280" y="47548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500" dirty="0"/>
          </a:p>
        </p:txBody>
      </p:sp>
      <p:sp>
        <p:nvSpPr>
          <p:cNvPr id="43" name="Text 33"/>
          <p:cNvSpPr txBox="1"/>
          <p:nvPr/>
        </p:nvSpPr>
        <p:spPr>
          <a:xfrm>
            <a:off x="9098280" y="51206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scorecard to CIO in business terms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questions for leadership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828800"/>
            <a:ext cx="640080" cy="640080"/>
          </a:xfrm>
          <a:prstGeom prst="ellipse">
            <a:avLst/>
          </a:prstGeom>
          <a:solidFill>
            <a:srgbClr val="1B7F8C"/>
          </a:solidFill>
          <a:ln w="12700">
            <a:solidFill>
              <a:srgbClr val="1B7F8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60020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leads EA, and where does it report in the new structure?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72200" y="146304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1828800"/>
            <a:ext cx="640080" cy="640080"/>
          </a:xfrm>
          <a:prstGeom prst="ellipse">
            <a:avLst/>
          </a:prstGeom>
          <a:solidFill>
            <a:srgbClr val="1B7F8C"/>
          </a:solidFill>
          <a:ln w="12700">
            <a:solidFill>
              <a:srgbClr val="1B7F8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223760" y="160020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EA's mandate AI governance only, or all standards with AI first?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01752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3383280"/>
            <a:ext cx="640080" cy="640080"/>
          </a:xfrm>
          <a:prstGeom prst="ellipse">
            <a:avLst/>
          </a:prstGeom>
          <a:solidFill>
            <a:srgbClr val="1B7F8C"/>
          </a:solidFill>
          <a:ln w="12700">
            <a:solidFill>
              <a:srgbClr val="1B7F8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383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315468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EA standards advisory or binding? What is the escalation path?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172200" y="301752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3383280"/>
            <a:ext cx="640080" cy="640080"/>
          </a:xfrm>
          <a:prstGeom prst="ellipse">
            <a:avLst/>
          </a:prstGeom>
          <a:solidFill>
            <a:srgbClr val="1B7F8C"/>
          </a:solidFill>
          <a:ln w="12700">
            <a:solidFill>
              <a:srgbClr val="1B7F8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0" y="3383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7223760" y="315468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FHCP and Triple-S in scope for EA standards now or post-integration?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457200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937760"/>
            <a:ext cx="640080" cy="640080"/>
          </a:xfrm>
          <a:prstGeom prst="ellipse">
            <a:avLst/>
          </a:prstGeom>
          <a:solidFill>
            <a:srgbClr val="1B7F8C"/>
          </a:solidFill>
          <a:ln w="12700">
            <a:solidFill>
              <a:srgbClr val="1B7F8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4937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600200" y="470916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will "speed, consistency, security" be measured? Can EA help define it?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172200" y="457200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0" y="4937760"/>
            <a:ext cx="640080" cy="640080"/>
          </a:xfrm>
          <a:prstGeom prst="ellipse">
            <a:avLst/>
          </a:prstGeom>
          <a:solidFill>
            <a:srgbClr val="1B7F8C"/>
          </a:solidFill>
          <a:ln w="12700">
            <a:solidFill>
              <a:srgbClr val="1B7F8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0" y="4937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7223760" y="470916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owns which controls between EA AI governance and data governance?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914400"/>
            <a:ext cx="914400" cy="9144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170432"/>
            <a:ext cx="402336" cy="40233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21031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26517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the safe path the fast path.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74904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CIO gave EA the trust mandate for AI inside a reorganization built for speed, consistency, and AI-enabled member experience. EA wins with pre-approved patterns, risk-tiered reviews, automated guardrails, and early partnership with Engagement, Data, Cyber, and the integrating entities.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5669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EA: the business enabler delivering value quickly, at the right time, securely and cost-efficiently.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CIO Strategy: Implications for EA</dc:title>
  <dc:subject>PptxGenJS Presentation</dc:subject>
  <dc:creator>PptxGenJS</dc:creator>
  <cp:lastModifiedBy>PptxGenJS</cp:lastModifiedBy>
  <cp:revision>1</cp:revision>
  <dcterms:created xsi:type="dcterms:W3CDTF">2026-09-28T13:52:41Z</dcterms:created>
  <dcterms:modified xsi:type="dcterms:W3CDTF">2026-09-28T13:52:41Z</dcterms:modified>
</cp:coreProperties>
</file>